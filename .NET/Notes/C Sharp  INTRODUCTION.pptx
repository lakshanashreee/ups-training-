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464" r:id="rId48"/>
    <p:sldId id="465" r:id="rId49"/>
    <p:sldId id="466" r:id="rId50"/>
    <p:sldId id="467" r:id="rId51"/>
    <p:sldId id="468" r:id="rId52"/>
    <p:sldId id="469" r:id="rId53"/>
    <p:sldId id="470"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 id="402" r:id="rId155"/>
    <p:sldId id="403" r:id="rId156"/>
    <p:sldId id="404" r:id="rId157"/>
    <p:sldId id="405" r:id="rId158"/>
    <p:sldId id="406" r:id="rId159"/>
    <p:sldId id="407" r:id="rId160"/>
    <p:sldId id="408" r:id="rId161"/>
    <p:sldId id="409" r:id="rId162"/>
    <p:sldId id="410" r:id="rId163"/>
    <p:sldId id="411" r:id="rId164"/>
    <p:sldId id="412" r:id="rId165"/>
    <p:sldId id="413" r:id="rId166"/>
    <p:sldId id="414" r:id="rId167"/>
    <p:sldId id="415" r:id="rId168"/>
    <p:sldId id="416" r:id="rId169"/>
    <p:sldId id="417" r:id="rId170"/>
    <p:sldId id="418" r:id="rId171"/>
    <p:sldId id="419" r:id="rId172"/>
    <p:sldId id="420" r:id="rId173"/>
    <p:sldId id="421" r:id="rId174"/>
    <p:sldId id="422" r:id="rId175"/>
    <p:sldId id="423" r:id="rId176"/>
    <p:sldId id="424" r:id="rId177"/>
    <p:sldId id="425" r:id="rId178"/>
    <p:sldId id="426" r:id="rId179"/>
    <p:sldId id="427" r:id="rId180"/>
    <p:sldId id="428" r:id="rId181"/>
    <p:sldId id="429" r:id="rId182"/>
    <p:sldId id="430" r:id="rId183"/>
    <p:sldId id="431" r:id="rId184"/>
    <p:sldId id="432" r:id="rId185"/>
    <p:sldId id="434" r:id="rId186"/>
    <p:sldId id="435" r:id="rId187"/>
    <p:sldId id="433" r:id="rId188"/>
    <p:sldId id="436" r:id="rId189"/>
    <p:sldId id="437" r:id="rId190"/>
    <p:sldId id="438" r:id="rId191"/>
    <p:sldId id="439" r:id="rId192"/>
    <p:sldId id="440" r:id="rId193"/>
    <p:sldId id="441" r:id="rId194"/>
    <p:sldId id="442" r:id="rId195"/>
    <p:sldId id="443" r:id="rId196"/>
    <p:sldId id="444" r:id="rId197"/>
    <p:sldId id="445" r:id="rId198"/>
    <p:sldId id="446" r:id="rId199"/>
    <p:sldId id="447" r:id="rId200"/>
    <p:sldId id="448" r:id="rId201"/>
    <p:sldId id="449" r:id="rId202"/>
    <p:sldId id="450" r:id="rId203"/>
    <p:sldId id="451" r:id="rId204"/>
    <p:sldId id="452" r:id="rId205"/>
    <p:sldId id="453" r:id="rId206"/>
    <p:sldId id="454" r:id="rId207"/>
    <p:sldId id="455" r:id="rId208"/>
    <p:sldId id="456" r:id="rId209"/>
    <p:sldId id="457" r:id="rId210"/>
    <p:sldId id="458" r:id="rId211"/>
    <p:sldId id="459" r:id="rId212"/>
    <p:sldId id="460" r:id="rId213"/>
    <p:sldId id="461" r:id="rId214"/>
    <p:sldId id="462" r:id="rId215"/>
    <p:sldId id="463" r:id="rId216"/>
  </p:sldIdLst>
  <p:sldSz cx="9144000" cy="5143500" type="screen16x9"/>
  <p:notesSz cx="6858000" cy="9144000"/>
  <p:embeddedFontLst>
    <p:embeddedFont>
      <p:font typeface="Century Gothic" panose="020B0502020202020204" pitchFamily="34" charset="0"/>
      <p:regular r:id="rId218"/>
      <p:bold r:id="rId219"/>
      <p:italic r:id="rId220"/>
      <p:boldItalic r:id="rId221"/>
    </p:embeddedFont>
    <p:embeddedFont>
      <p:font typeface="Nunito" pitchFamily="2" charset="0"/>
      <p:regular r:id="rId222"/>
      <p:bold r:id="rId223"/>
      <p:italic r:id="rId224"/>
      <p:boldItalic r:id="rId225"/>
    </p:embeddedFont>
    <p:embeddedFont>
      <p:font typeface="Roboto" panose="02000000000000000000" pitchFamily="2" charset="0"/>
      <p:regular r:id="rId226"/>
      <p:bold r:id="rId227"/>
      <p:italic r:id="rId228"/>
      <p:boldItalic r:id="rId229"/>
    </p:embeddedFont>
    <p:embeddedFont>
      <p:font typeface="Roboto Mono" panose="00000009000000000000" pitchFamily="49" charset="0"/>
      <p:regular r:id="rId230"/>
      <p:bold r:id="rId231"/>
      <p:italic r:id="rId232"/>
      <p:boldItalic r:id="rId233"/>
    </p:embeddedFont>
    <p:embeddedFont>
      <p:font typeface="Verdana" panose="020B0604030504040204" pitchFamily="34" charset="0"/>
      <p:regular r:id="rId234"/>
      <p:bold r:id="rId235"/>
      <p:italic r:id="rId236"/>
      <p:boldItalic r:id="rId2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08A2B5-FEC1-4821-B64D-F3B82E1F7B7F}">
  <a:tblStyle styleId="{AE08A2B5-FEC1-4821-B64D-F3B82E1F7B7F}" styleName="Table_0">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9E7E7"/>
          </a:solidFill>
        </a:fill>
      </a:tcStyle>
    </a:wholeTbl>
    <a:band1H>
      <a:tcTxStyle/>
      <a:tcStyle>
        <a:tcBdr/>
        <a:fill>
          <a:solidFill>
            <a:srgbClr val="F3CCCB"/>
          </a:solidFill>
        </a:fill>
      </a:tcStyle>
    </a:band1H>
    <a:band2H>
      <a:tcTxStyle/>
      <a:tcStyle>
        <a:tcBdr/>
      </a:tcStyle>
    </a:band2H>
    <a:band1V>
      <a:tcTxStyle/>
      <a:tcStyle>
        <a:tcBdr/>
        <a:fill>
          <a:solidFill>
            <a:srgbClr val="F3CCCB"/>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2AF7735-1A30-4EDB-8E02-57A44A24922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font" Target="fonts/font9.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font" Target="fonts/font20.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font" Target="fonts/font10.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notesMaster" Target="notesMasters/notesMaster1.xml"/><Relationship Id="rId6" Type="http://schemas.openxmlformats.org/officeDocument/2006/relationships/slide" Target="slides/slide5.xml"/><Relationship Id="rId238" Type="http://schemas.openxmlformats.org/officeDocument/2006/relationships/presProps" Target="pres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font" Target="fonts/font11.fntdata"/><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font" Target="fonts/font1.fntdata"/><Relationship Id="rId239"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font" Target="fonts/font12.fntdata"/><Relationship Id="rId240" Type="http://schemas.openxmlformats.org/officeDocument/2006/relationships/theme" Target="theme/theme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font" Target="fonts/font2.fntdata"/><Relationship Id="rId230" Type="http://schemas.openxmlformats.org/officeDocument/2006/relationships/font" Target="fonts/font13.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font" Target="fonts/font3.fntdata"/><Relationship Id="rId241"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font" Target="fonts/font19.fntdata"/><Relationship Id="rId26" Type="http://schemas.openxmlformats.org/officeDocument/2006/relationships/slide" Target="slides/slide25.xml"/><Relationship Id="rId231" Type="http://schemas.openxmlformats.org/officeDocument/2006/relationships/font" Target="fonts/font14.fntdata"/><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font" Target="fonts/font4.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font" Target="fonts/font15.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font" Target="fonts/font5.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font" Target="fonts/font16.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font" Target="fonts/font6.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font" Target="fonts/font17.fntdata"/><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font" Target="fonts/font7.fntdata"/><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font" Target="fonts/font18.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9c04a372f8_2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9c04a372f8_2_1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9c04a372f8_2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39c04a372f8_2_1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9c04a372f8_2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g39c04a372f8_2_1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9c04a372f8_2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39c04a372f8_2_1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9c04a372f8_2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39c04a372f8_2_1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9c04a372f8_2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39c04a372f8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9c04a372f8_2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39c04a372f8_2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9c04a372f8_2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39c04a372f8_2_1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9c04a372f8_2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39c04a372f8_2_1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9c04a372f8_2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39c04a372f8_2_1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9c04a372f8_2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g39c04a372f8_2_18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9c04a372f8_2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g39c04a372f8_2_19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9c04a372f8_2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g39c04a372f8_2_19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9c04a372f8_2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39c04a372f8_2_20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9c04a372f8_2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39c04a372f8_2_20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9c04a372f8_2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9c04a372f8_2_2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9c04a372f8_2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g39c04a372f8_2_2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9c04a372f8_2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g39c04a372f8_2_2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9c04a372f8_2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g39c04a372f8_2_2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9c04a372f8_2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g39c04a372f8_2_2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9c04a372f8_2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g39c04a372f8_2_2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9c04a372f8_2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9c04a372f8_2_2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9c04a372f8_2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g39c04a372f8_2_2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9c04a372f8_2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39c04a372f8_2_2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9c04a372f8_2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g39c04a372f8_2_2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9c04a372f8_2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g39c04a372f8_2_2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9c04a372f8_2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g39c04a372f8_2_2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9c04a372f8_2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g39c04a372f8_2_2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9c04a372f8_2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39c04a372f8_2_2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9c04a372f8_2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g39c04a372f8_2_2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9c04a372f8_2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g39c04a372f8_2_28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9c04a372f8_2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g39c04a372f8_2_29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9c04a372f8_2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g39c04a372f8_2_29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9c04a372f8_2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g39c04a372f8_2_30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9c04a372f8_2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g39c04a372f8_2_30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9c04a372f8_2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39c04a372f8_2_3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9c04a372f8_2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g39c04a372f8_2_3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9c04a372f8_2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g39c04a372f8_2_3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9c04a372f8_2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8" name="Google Shape;418;g39c04a372f8_2_3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9c04a372f8_2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g39c04a372f8_2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9c04a372f8_2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g39c04a372f8_2_3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9c04a372f8_2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g39c04a372f8_2_3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9c04a372f8_2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g39c04a372f8_2_3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9c04a372f8_2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g39c04a372f8_2_3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9c04a372f8_2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g39c04a372f8_2_3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9c04a372f8_2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g39c04a372f8_2_3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9c04a372f8_2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g39c04a372f8_2_3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9c04a372f8_2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g39c04a372f8_2_3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9c04a372f8_2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g39c04a372f8_2_3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9c04a372f8_2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g39c04a372f8_2_3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9c04a372f8_2_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g39c04a372f8_2_38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9c04a372f8_2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9c04a372f8_2_39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9c04a372f8_2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1" name="Google Shape;501;g39c04a372f8_2_39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9c04a372f8_2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7" name="Google Shape;507;g39c04a372f8_2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9c04a372f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9c04a372f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9c04a372f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9c04a372f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9c04a372f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9c04a372f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9c04a372f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9c04a372f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9c04a372f8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9c04a372f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9c04a372f8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39c04a372f8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9c04a372f8_3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39c04a372f8_3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9c04a372f8_3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9c04a372f8_3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9c04a372f8_3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39c04a372f8_3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9c04a372f8_3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9c04a372f8_3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9c04a372f8_3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9c04a372f8_3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9c04a372f8_3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9c04a372f8_3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9c04a372f8_3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39c04a372f8_3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9c04a372f8_3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39c04a372f8_3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39c04a372f8_3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39c04a372f8_3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9c04a372f8_3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39c04a372f8_3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9c04a372f8_3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9c04a372f8_3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9c04a372f8_3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39c04a372f8_3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9c04a372f8_3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39c04a372f8_3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95297fdd7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95297fdd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95297fdd7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95297fdd7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95297fdd79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95297fdd7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95297fdd79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95297fdd7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95297fdd7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395297fdd7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395297fdd79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395297fdd7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95297fdd79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395297fdd79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95297fdd79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395297fdd79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95297fdd79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95297fdd7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95297fdd79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395297fdd79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395297fdd79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395297fdd7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395297fdd79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395297fdd7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97d3855265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397d385526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397d3855265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397d385526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397d3855265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397d3855265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397d3855265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97d3855265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97d3855265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97d3855265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397d3855265_1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397d3855265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97d3855265_1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397d3855265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97d3855265_1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97d3855265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397d3855265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397d3855265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397d3855265_1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397d3855265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397d3855265_1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397d3855265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97d3855265_1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397d3855265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97d3855265_1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97d3855265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397d3855265_1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397d3855265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397d3855265_1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9" name="Google Shape;799;g397d3855265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397d3855265_1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397d3855265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97d3855265_1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397d3855265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97ff62866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397ff62866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397ff628669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397ff62866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397ff628669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397ff628669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97ff628669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397ff628669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97ff628669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397ff628669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97ff628669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397ff628669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397ff628669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397ff628669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97ff628669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397ff628669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9d5f29748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39d5f2974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39d71980ff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39d71980ff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39d71980ff9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39d71980ff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386487ee005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386487ee005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386487ee005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386487ee005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386487ee005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86487ee005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39e03e0790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39e03e0790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9e03e0790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9e03e079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39e03e07908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39e03e07908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39e03e07908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39e03e07908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39e03e07908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4" name="Google Shape;924;g39e03e07908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9e03e07908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39e03e07908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39e03e07908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6" name="Google Shape;936;g39e03e07908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9e03e07908_1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39e03e07908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9e03e07908_1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39e03e07908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9e03e07908_1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4" name="Google Shape;954;g39e03e07908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39e03e07908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39e03e07908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39e03e07908_1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g39e03e07908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39e03e07908_1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2" name="Google Shape;972;g39e03e07908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39e3d630e7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8" name="Google Shape;978;g39e3d630e7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39e3d630e7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39e3d630e7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9e62c8123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39e62c8123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39e62c8123b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6" name="Google Shape;996;g39e62c8123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39e62c8123b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39e62c8123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9e62c8123b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39e62c8123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39e62c8123b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4" name="Google Shape;1014;g39e62c8123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39e62c8123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39e62c8123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39e62c8123b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39e62c8123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39ed4b27f7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39ed4b27f7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9ed4b27f73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9ed4b27f7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39ed4b27f73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39ed4b27f7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39e62c8123b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39e62c8123b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39ed4b27f73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7" name="Google Shape;1057;g39ed4b27f73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9ed4b27f73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39ed4b27f7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39ed4b27f73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39ed4b27f7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39ed4b27f73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39ed4b27f73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9f590cdbe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9f590cdbe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39f590cdbed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39f590cdbed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39f590cdbed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39f590cdbed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39f590cdbed_2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8" name="Google Shape;1098;g39f590cdbed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39f590cdbed_2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4" name="Google Shape;1104;g39f590cdbed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39f590cdbed_2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0" name="Google Shape;1110;g39f590cdbed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9f590cdbed_2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39f590cdbed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39f590cdbed_2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2" name="Google Shape;1122;g39f590cdbed_2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39f590cdbed_2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8" name="Google Shape;1128;g39f590cdbed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39f590cdbed_2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39f590cdbed_2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39f590cdbed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0" name="Google Shape;1140;g39f590cdbed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39f590cdbed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39f590cdbed_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g39fa54aafa5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2" name="Google Shape;1152;g39fa54aafa5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g39fa54aafa5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8" name="Google Shape;1158;g39fa54aafa5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39fa54aafa5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39fa54aafa5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39fa54aafa5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39fa54aafa5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9fa54aafa5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6" name="Google Shape;1176;g39fa54aafa5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39fa54aafa5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39fa54aafa5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39fa54aafa5_1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8" name="Google Shape;1188;g39fa54aafa5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g39fa54aafa5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4" name="Google Shape;1194;g39fa54aafa5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39fa54aafa5_1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0" name="Google Shape;1200;g39fa54aafa5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g39fa54aafa5_1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6" name="Google Shape;1206;g39fa54aafa5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3a012c8ad3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3a012c8ad3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g3a012c8ad3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7" name="Google Shape;1217;g3a012c8ad3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3a012c8ad37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3a012c8ad3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g3a012c8ad3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3a012c8ad3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3a012c8ad37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3a012c8ad3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3a012c8ad37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3a012c8ad3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3a012c8ad37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3a012c8ad37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
        <p:cNvGrpSpPr/>
        <p:nvPr/>
      </p:nvGrpSpPr>
      <p:grpSpPr>
        <a:xfrm>
          <a:off x="0" y="0"/>
          <a:ext cx="0" cy="0"/>
          <a:chOff x="0" y="0"/>
          <a:chExt cx="0" cy="0"/>
        </a:xfrm>
      </p:grpSpPr>
      <p:sp>
        <p:nvSpPr>
          <p:cNvPr id="1252" name="Google Shape;1252;g3a012c8ad37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3" name="Google Shape;1253;g3a012c8ad3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3a012c8ad37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3a012c8ad3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7"/>
        <p:cNvGrpSpPr/>
        <p:nvPr/>
      </p:nvGrpSpPr>
      <p:grpSpPr>
        <a:xfrm>
          <a:off x="0" y="0"/>
          <a:ext cx="0" cy="0"/>
          <a:chOff x="0" y="0"/>
          <a:chExt cx="0" cy="0"/>
        </a:xfrm>
      </p:grpSpPr>
      <p:pic>
        <p:nvPicPr>
          <p:cNvPr id="58" name="Google Shape;58;p14" descr="C0-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59" name="Google Shape;59;p14"/>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4500"/>
              <a:buFont typeface="Century Gothic"/>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0" name="Google Shape;60;p14"/>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500"/>
              <a:buNone/>
              <a:defRPr sz="1500"/>
            </a:lvl1pPr>
            <a:lvl2pPr lvl="1" algn="ctr">
              <a:lnSpc>
                <a:spcPct val="90000"/>
              </a:lnSpc>
              <a:spcBef>
                <a:spcPts val="400"/>
              </a:spcBef>
              <a:spcAft>
                <a:spcPts val="0"/>
              </a:spcAft>
              <a:buClr>
                <a:schemeClr val="lt1"/>
              </a:buClr>
              <a:buSzPts val="1500"/>
              <a:buNone/>
              <a:defRPr sz="1500"/>
            </a:lvl2pPr>
            <a:lvl3pPr lvl="2" algn="ctr">
              <a:lnSpc>
                <a:spcPct val="90000"/>
              </a:lnSpc>
              <a:spcBef>
                <a:spcPts val="400"/>
              </a:spcBef>
              <a:spcAft>
                <a:spcPts val="0"/>
              </a:spcAft>
              <a:buClr>
                <a:schemeClr val="lt1"/>
              </a:buClr>
              <a:buSzPts val="1400"/>
              <a:buNone/>
              <a:defRPr sz="1400"/>
            </a:lvl3pPr>
            <a:lvl4pPr lvl="3" algn="ctr">
              <a:lnSpc>
                <a:spcPct val="90000"/>
              </a:lnSpc>
              <a:spcBef>
                <a:spcPts val="400"/>
              </a:spcBef>
              <a:spcAft>
                <a:spcPts val="0"/>
              </a:spcAft>
              <a:buClr>
                <a:schemeClr val="lt1"/>
              </a:buClr>
              <a:buSzPts val="1200"/>
              <a:buNone/>
              <a:defRPr sz="1200"/>
            </a:lvl4pPr>
            <a:lvl5pPr lvl="4" algn="ctr">
              <a:lnSpc>
                <a:spcPct val="90000"/>
              </a:lnSpc>
              <a:spcBef>
                <a:spcPts val="4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a:endParaRPr/>
          </a:p>
        </p:txBody>
      </p:sp>
      <p:sp>
        <p:nvSpPr>
          <p:cNvPr id="61" name="Google Shape;61;p14"/>
          <p:cNvSpPr txBox="1">
            <a:spLocks noGrp="1"/>
          </p:cNvSpPr>
          <p:nvPr>
            <p:ph type="dt" idx="10"/>
          </p:nvPr>
        </p:nvSpPr>
        <p:spPr>
          <a:xfrm>
            <a:off x="5932171" y="3235746"/>
            <a:ext cx="2183130" cy="280982"/>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Google Shape;62;p14"/>
          <p:cNvSpPr txBox="1">
            <a:spLocks noGrp="1"/>
          </p:cNvSpPr>
          <p:nvPr>
            <p:ph type="ftr" idx="11"/>
          </p:nvPr>
        </p:nvSpPr>
        <p:spPr>
          <a:xfrm>
            <a:off x="1028700" y="3242884"/>
            <a:ext cx="48006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Google Shape;63;p14"/>
          <p:cNvSpPr txBox="1">
            <a:spLocks noGrp="1"/>
          </p:cNvSpPr>
          <p:nvPr>
            <p:ph type="sldNum" idx="12"/>
          </p:nvPr>
        </p:nvSpPr>
        <p:spPr>
          <a:xfrm>
            <a:off x="6057900" y="10731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5"/>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67" name="Google Shape;67;p15"/>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5"/>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5"/>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6"/>
          <p:cNvSpPr txBox="1">
            <a:spLocks noGrp="1"/>
          </p:cNvSpPr>
          <p:nvPr>
            <p:ph type="body" idx="1"/>
          </p:nvPr>
        </p:nvSpPr>
        <p:spPr>
          <a:xfrm>
            <a:off x="514350" y="1547547"/>
            <a:ext cx="7796030" cy="2483392"/>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73" name="Google Shape;73;p16"/>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4" name="Google Shape;74;p16"/>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76"/>
        <p:cNvGrpSpPr/>
        <p:nvPr/>
      </p:nvGrpSpPr>
      <p:grpSpPr>
        <a:xfrm>
          <a:off x="0" y="0"/>
          <a:ext cx="0" cy="0"/>
          <a:chOff x="0" y="0"/>
          <a:chExt cx="0" cy="0"/>
        </a:xfrm>
      </p:grpSpPr>
      <p:pic>
        <p:nvPicPr>
          <p:cNvPr id="77" name="Google Shape;77;p17" descr="C0-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78" name="Google Shape;78;p17"/>
          <p:cNvSpPr txBox="1">
            <a:spLocks noGrp="1"/>
          </p:cNvSpPr>
          <p:nvPr>
            <p:ph type="title"/>
          </p:nvPr>
        </p:nvSpPr>
        <p:spPr>
          <a:xfrm>
            <a:off x="514350" y="565150"/>
            <a:ext cx="8115299" cy="2101451"/>
          </a:xfrm>
          <a:prstGeom prst="rect">
            <a:avLst/>
          </a:prstGeom>
          <a:noFill/>
          <a:ln>
            <a:noFill/>
          </a:ln>
        </p:spPr>
        <p:txBody>
          <a:bodyPr spcFirstLastPara="1" wrap="square" lIns="68575" tIns="34275" rIns="68575" bIns="34275" anchor="b" anchorCtr="0">
            <a:normAutofit/>
          </a:bodyPr>
          <a:lstStyle>
            <a:lvl1pPr lvl="0" algn="r">
              <a:lnSpc>
                <a:spcPct val="90000"/>
              </a:lnSpc>
              <a:spcBef>
                <a:spcPts val="0"/>
              </a:spcBef>
              <a:spcAft>
                <a:spcPts val="0"/>
              </a:spcAft>
              <a:buClr>
                <a:schemeClr val="lt1"/>
              </a:buClr>
              <a:buSzPts val="3000"/>
              <a:buFont typeface="Century Gothic"/>
              <a:buNone/>
              <a:defRPr sz="3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9" name="Google Shape;79;p17"/>
          <p:cNvSpPr txBox="1">
            <a:spLocks noGrp="1"/>
          </p:cNvSpPr>
          <p:nvPr>
            <p:ph type="body" idx="1"/>
          </p:nvPr>
        </p:nvSpPr>
        <p:spPr>
          <a:xfrm>
            <a:off x="768350" y="2731294"/>
            <a:ext cx="7867650" cy="716756"/>
          </a:xfrm>
          <a:prstGeom prst="rect">
            <a:avLst/>
          </a:prstGeom>
          <a:noFill/>
          <a:ln>
            <a:noFill/>
          </a:ln>
        </p:spPr>
        <p:txBody>
          <a:bodyPr spcFirstLastPara="1" wrap="square" lIns="68575" tIns="34275" rIns="68575" bIns="34275" anchor="t" anchorCtr="0">
            <a:normAutofit/>
          </a:bodyPr>
          <a:lstStyle>
            <a:lvl1pPr marL="457200" lvl="0" indent="-228600" algn="r">
              <a:lnSpc>
                <a:spcPct val="90000"/>
              </a:lnSpc>
              <a:spcBef>
                <a:spcPts val="800"/>
              </a:spcBef>
              <a:spcAft>
                <a:spcPts val="0"/>
              </a:spcAft>
              <a:buClr>
                <a:schemeClr val="lt1"/>
              </a:buClr>
              <a:buSzPts val="1700"/>
              <a:buNone/>
              <a:defRPr sz="1700">
                <a:solidFill>
                  <a:schemeClr val="lt1"/>
                </a:solidFill>
              </a:defRPr>
            </a:lvl1pPr>
            <a:lvl2pPr marL="914400" lvl="1" indent="-228600" algn="l">
              <a:lnSpc>
                <a:spcPct val="90000"/>
              </a:lnSpc>
              <a:spcBef>
                <a:spcPts val="400"/>
              </a:spcBef>
              <a:spcAft>
                <a:spcPts val="0"/>
              </a:spcAft>
              <a:buClr>
                <a:schemeClr val="lt1"/>
              </a:buClr>
              <a:buSzPts val="1500"/>
              <a:buNone/>
              <a:defRPr sz="1500">
                <a:solidFill>
                  <a:schemeClr val="lt1"/>
                </a:solidFill>
              </a:defRPr>
            </a:lvl2pPr>
            <a:lvl3pPr marL="1371600" lvl="2" indent="-228600" algn="l">
              <a:lnSpc>
                <a:spcPct val="90000"/>
              </a:lnSpc>
              <a:spcBef>
                <a:spcPts val="400"/>
              </a:spcBef>
              <a:spcAft>
                <a:spcPts val="0"/>
              </a:spcAft>
              <a:buClr>
                <a:schemeClr val="lt1"/>
              </a:buClr>
              <a:buSzPts val="1400"/>
              <a:buNone/>
              <a:defRPr sz="1400">
                <a:solidFill>
                  <a:schemeClr val="lt1"/>
                </a:solidFill>
              </a:defRPr>
            </a:lvl3pPr>
            <a:lvl4pPr marL="1828800" lvl="3" indent="-228600" algn="l">
              <a:lnSpc>
                <a:spcPct val="90000"/>
              </a:lnSpc>
              <a:spcBef>
                <a:spcPts val="400"/>
              </a:spcBef>
              <a:spcAft>
                <a:spcPts val="0"/>
              </a:spcAft>
              <a:buClr>
                <a:schemeClr val="lt1"/>
              </a:buClr>
              <a:buSzPts val="1200"/>
              <a:buNone/>
              <a:defRPr sz="1200">
                <a:solidFill>
                  <a:schemeClr val="lt1"/>
                </a:solidFill>
              </a:defRPr>
            </a:lvl4pPr>
            <a:lvl5pPr marL="2286000" lvl="4" indent="-228600" algn="l">
              <a:lnSpc>
                <a:spcPct val="90000"/>
              </a:lnSpc>
              <a:spcBef>
                <a:spcPts val="400"/>
              </a:spcBef>
              <a:spcAft>
                <a:spcPts val="0"/>
              </a:spcAft>
              <a:buClr>
                <a:schemeClr val="lt1"/>
              </a:buClr>
              <a:buSzPts val="1200"/>
              <a:buNone/>
              <a:defRPr sz="1200">
                <a:solidFill>
                  <a:schemeClr val="lt1"/>
                </a:solidFill>
              </a:defRPr>
            </a:lvl5pPr>
            <a:lvl6pPr marL="2743200" lvl="5" indent="-228600" algn="l">
              <a:lnSpc>
                <a:spcPct val="90000"/>
              </a:lnSpc>
              <a:spcBef>
                <a:spcPts val="400"/>
              </a:spcBef>
              <a:spcAft>
                <a:spcPts val="0"/>
              </a:spcAft>
              <a:buClr>
                <a:schemeClr val="lt1"/>
              </a:buClr>
              <a:buSzPts val="1200"/>
              <a:buNone/>
              <a:defRPr sz="1200">
                <a:solidFill>
                  <a:schemeClr val="lt1"/>
                </a:solidFill>
              </a:defRPr>
            </a:lvl6pPr>
            <a:lvl7pPr marL="3200400" lvl="6" indent="-228600" algn="l">
              <a:lnSpc>
                <a:spcPct val="90000"/>
              </a:lnSpc>
              <a:spcBef>
                <a:spcPts val="400"/>
              </a:spcBef>
              <a:spcAft>
                <a:spcPts val="0"/>
              </a:spcAft>
              <a:buClr>
                <a:schemeClr val="lt1"/>
              </a:buClr>
              <a:buSzPts val="1200"/>
              <a:buNone/>
              <a:defRPr sz="1200">
                <a:solidFill>
                  <a:schemeClr val="lt1"/>
                </a:solidFill>
              </a:defRPr>
            </a:lvl7pPr>
            <a:lvl8pPr marL="3657600" lvl="7" indent="-228600" algn="l">
              <a:lnSpc>
                <a:spcPct val="90000"/>
              </a:lnSpc>
              <a:spcBef>
                <a:spcPts val="400"/>
              </a:spcBef>
              <a:spcAft>
                <a:spcPts val="0"/>
              </a:spcAft>
              <a:buClr>
                <a:schemeClr val="lt1"/>
              </a:buClr>
              <a:buSzPts val="1200"/>
              <a:buNone/>
              <a:defRPr sz="1200">
                <a:solidFill>
                  <a:schemeClr val="lt1"/>
                </a:solidFill>
              </a:defRPr>
            </a:lvl8pPr>
            <a:lvl9pPr marL="4114800" lvl="8" indent="-228600" algn="l">
              <a:lnSpc>
                <a:spcPct val="90000"/>
              </a:lnSpc>
              <a:spcBef>
                <a:spcPts val="400"/>
              </a:spcBef>
              <a:spcAft>
                <a:spcPts val="0"/>
              </a:spcAft>
              <a:buClr>
                <a:schemeClr val="lt1"/>
              </a:buClr>
              <a:buSzPts val="1200"/>
              <a:buNone/>
              <a:defRPr sz="1200">
                <a:solidFill>
                  <a:schemeClr val="lt1"/>
                </a:solidFill>
              </a:defRPr>
            </a:lvl9pPr>
          </a:lstStyle>
          <a:p>
            <a:endParaRPr/>
          </a:p>
        </p:txBody>
      </p:sp>
      <p:sp>
        <p:nvSpPr>
          <p:cNvPr id="80" name="Google Shape;80;p17"/>
          <p:cNvSpPr txBox="1">
            <a:spLocks noGrp="1"/>
          </p:cNvSpPr>
          <p:nvPr>
            <p:ph type="dt" idx="10"/>
          </p:nvPr>
        </p:nvSpPr>
        <p:spPr>
          <a:xfrm>
            <a:off x="5860839" y="285750"/>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1" name="Google Shape;81;p17"/>
          <p:cNvSpPr txBox="1">
            <a:spLocks noGrp="1"/>
          </p:cNvSpPr>
          <p:nvPr>
            <p:ph type="ftr" idx="11"/>
          </p:nvPr>
        </p:nvSpPr>
        <p:spPr>
          <a:xfrm>
            <a:off x="514350" y="285751"/>
            <a:ext cx="5243619" cy="27304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2" name="Google Shape;82;p17"/>
          <p:cNvSpPr txBox="1">
            <a:spLocks noGrp="1"/>
          </p:cNvSpPr>
          <p:nvPr>
            <p:ph type="sldNum" idx="12"/>
          </p:nvPr>
        </p:nvSpPr>
        <p:spPr>
          <a:xfrm>
            <a:off x="8146839" y="285750"/>
            <a:ext cx="482811"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5" name="Google Shape;85;p18"/>
          <p:cNvSpPr txBox="1">
            <a:spLocks noGrp="1"/>
          </p:cNvSpPr>
          <p:nvPr>
            <p:ph type="body" idx="1"/>
          </p:nvPr>
        </p:nvSpPr>
        <p:spPr>
          <a:xfrm>
            <a:off x="514350" y="1645919"/>
            <a:ext cx="4000500" cy="301809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86" name="Google Shape;86;p18"/>
          <p:cNvSpPr txBox="1">
            <a:spLocks noGrp="1"/>
          </p:cNvSpPr>
          <p:nvPr>
            <p:ph type="body" idx="2"/>
          </p:nvPr>
        </p:nvSpPr>
        <p:spPr>
          <a:xfrm>
            <a:off x="4629150" y="1645919"/>
            <a:ext cx="4000500" cy="301809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87" name="Google Shape;87;p18"/>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2171700" y="571500"/>
            <a:ext cx="6457950" cy="97155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body" idx="1"/>
          </p:nvPr>
        </p:nvSpPr>
        <p:spPr>
          <a:xfrm>
            <a:off x="685807" y="1637851"/>
            <a:ext cx="3809993"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lt1"/>
              </a:buClr>
              <a:buSzPts val="2100"/>
              <a:buNone/>
              <a:defRPr sz="21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93" name="Google Shape;93;p19"/>
          <p:cNvSpPr txBox="1">
            <a:spLocks noGrp="1"/>
          </p:cNvSpPr>
          <p:nvPr>
            <p:ph type="body" idx="2"/>
          </p:nvPr>
        </p:nvSpPr>
        <p:spPr>
          <a:xfrm>
            <a:off x="514350" y="2349499"/>
            <a:ext cx="3983831" cy="231451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94" name="Google Shape;94;p19"/>
          <p:cNvSpPr txBox="1">
            <a:spLocks noGrp="1"/>
          </p:cNvSpPr>
          <p:nvPr>
            <p:ph type="body" idx="3"/>
          </p:nvPr>
        </p:nvSpPr>
        <p:spPr>
          <a:xfrm>
            <a:off x="4800600" y="1637851"/>
            <a:ext cx="382905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lt1"/>
              </a:buClr>
              <a:buSzPts val="2100"/>
              <a:buNone/>
              <a:defRPr sz="21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95" name="Google Shape;95;p19"/>
          <p:cNvSpPr txBox="1">
            <a:spLocks noGrp="1"/>
          </p:cNvSpPr>
          <p:nvPr>
            <p:ph type="body" idx="4"/>
          </p:nvPr>
        </p:nvSpPr>
        <p:spPr>
          <a:xfrm>
            <a:off x="4629150" y="2349499"/>
            <a:ext cx="4000500" cy="231451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96" name="Google Shape;96;p19"/>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19"/>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9"/>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0"/>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2" name="Google Shape;102;p20"/>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3" name="Google Shape;103;p20"/>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105" name="Google Shape;105;p21"/>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1"/>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7" name="Google Shape;107;p21"/>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514350" y="1143000"/>
            <a:ext cx="3086100"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0" name="Google Shape;110;p22"/>
          <p:cNvSpPr txBox="1">
            <a:spLocks noGrp="1"/>
          </p:cNvSpPr>
          <p:nvPr>
            <p:ph type="body" idx="1"/>
          </p:nvPr>
        </p:nvSpPr>
        <p:spPr>
          <a:xfrm>
            <a:off x="3746686" y="560069"/>
            <a:ext cx="4882964" cy="4103944"/>
          </a:xfrm>
          <a:prstGeom prst="rect">
            <a:avLst/>
          </a:prstGeom>
          <a:noFill/>
          <a:ln>
            <a:noFill/>
          </a:ln>
        </p:spPr>
        <p:txBody>
          <a:bodyPr spcFirstLastPara="1" wrap="square" lIns="68575" tIns="34275" rIns="68575" bIns="34275" anchor="ctr"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11" name="Google Shape;111;p22"/>
          <p:cNvSpPr txBox="1">
            <a:spLocks noGrp="1"/>
          </p:cNvSpPr>
          <p:nvPr>
            <p:ph type="body" idx="2"/>
          </p:nvPr>
        </p:nvSpPr>
        <p:spPr>
          <a:xfrm>
            <a:off x="514350" y="2343149"/>
            <a:ext cx="3086100" cy="232086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200"/>
              <a:buNone/>
              <a:defRPr sz="12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12" name="Google Shape;112;p22"/>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3" name="Google Shape;113;p22"/>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4" name="Google Shape;114;p22"/>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514350" y="1143000"/>
            <a:ext cx="5154930"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7" name="Google Shape;117;p23"/>
          <p:cNvSpPr>
            <a:spLocks noGrp="1"/>
          </p:cNvSpPr>
          <p:nvPr>
            <p:ph type="pic" idx="2"/>
          </p:nvPr>
        </p:nvSpPr>
        <p:spPr>
          <a:xfrm>
            <a:off x="5895929" y="563431"/>
            <a:ext cx="2733721" cy="4100582"/>
          </a:xfrm>
          <a:prstGeom prst="rect">
            <a:avLst/>
          </a:prstGeom>
          <a:noFill/>
          <a:ln>
            <a:noFill/>
          </a:ln>
        </p:spPr>
      </p:sp>
      <p:sp>
        <p:nvSpPr>
          <p:cNvPr id="118" name="Google Shape;118;p23"/>
          <p:cNvSpPr txBox="1">
            <a:spLocks noGrp="1"/>
          </p:cNvSpPr>
          <p:nvPr>
            <p:ph type="body" idx="1"/>
          </p:nvPr>
        </p:nvSpPr>
        <p:spPr>
          <a:xfrm>
            <a:off x="514350" y="2343149"/>
            <a:ext cx="5154930" cy="232086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200"/>
              <a:buNone/>
              <a:defRPr sz="12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19" name="Google Shape;119;p23"/>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0" name="Google Shape;120;p23"/>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1" name="Google Shape;121;p23"/>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514333" y="3523020"/>
            <a:ext cx="8116526" cy="614516"/>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4" name="Google Shape;124;p24"/>
          <p:cNvSpPr>
            <a:spLocks noGrp="1"/>
          </p:cNvSpPr>
          <p:nvPr>
            <p:ph type="pic" idx="2"/>
          </p:nvPr>
        </p:nvSpPr>
        <p:spPr>
          <a:xfrm>
            <a:off x="511295" y="706079"/>
            <a:ext cx="8116380" cy="2608621"/>
          </a:xfrm>
          <a:prstGeom prst="rect">
            <a:avLst/>
          </a:prstGeom>
          <a:noFill/>
          <a:ln>
            <a:noFill/>
          </a:ln>
        </p:spPr>
      </p:sp>
      <p:sp>
        <p:nvSpPr>
          <p:cNvPr id="125" name="Google Shape;125;p24"/>
          <p:cNvSpPr txBox="1">
            <a:spLocks noGrp="1"/>
          </p:cNvSpPr>
          <p:nvPr>
            <p:ph type="body" idx="1"/>
          </p:nvPr>
        </p:nvSpPr>
        <p:spPr>
          <a:xfrm>
            <a:off x="514350" y="4137536"/>
            <a:ext cx="8115300" cy="52647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200"/>
              <a:buNone/>
              <a:defRPr sz="12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26" name="Google Shape;126;p24"/>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7" name="Google Shape;127;p24"/>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8" name="Google Shape;128;p24"/>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129"/>
        <p:cNvGrpSpPr/>
        <p:nvPr/>
      </p:nvGrpSpPr>
      <p:grpSpPr>
        <a:xfrm>
          <a:off x="0" y="0"/>
          <a:ext cx="0" cy="0"/>
          <a:chOff x="0" y="0"/>
          <a:chExt cx="0" cy="0"/>
        </a:xfrm>
      </p:grpSpPr>
      <p:pic>
        <p:nvPicPr>
          <p:cNvPr id="130" name="Google Shape;130;p25" descr="C0-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131" name="Google Shape;131;p25"/>
          <p:cNvSpPr txBox="1">
            <a:spLocks noGrp="1"/>
          </p:cNvSpPr>
          <p:nvPr>
            <p:ph type="title"/>
          </p:nvPr>
        </p:nvSpPr>
        <p:spPr>
          <a:xfrm>
            <a:off x="514350" y="565149"/>
            <a:ext cx="8115300" cy="210185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2" name="Google Shape;132;p25"/>
          <p:cNvSpPr txBox="1">
            <a:spLocks noGrp="1"/>
          </p:cNvSpPr>
          <p:nvPr>
            <p:ph type="body" idx="1"/>
          </p:nvPr>
        </p:nvSpPr>
        <p:spPr>
          <a:xfrm>
            <a:off x="768350" y="2736850"/>
            <a:ext cx="7597887" cy="7493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lt1"/>
              </a:buClr>
              <a:buSzPts val="1200"/>
              <a:buNone/>
              <a:defRPr sz="12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33" name="Google Shape;133;p25"/>
          <p:cNvSpPr txBox="1">
            <a:spLocks noGrp="1"/>
          </p:cNvSpPr>
          <p:nvPr>
            <p:ph type="dt" idx="10"/>
          </p:nvPr>
        </p:nvSpPr>
        <p:spPr>
          <a:xfrm>
            <a:off x="5860839" y="285750"/>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4" name="Google Shape;134;p25"/>
          <p:cNvSpPr txBox="1">
            <a:spLocks noGrp="1"/>
          </p:cNvSpPr>
          <p:nvPr>
            <p:ph type="ftr" idx="11"/>
          </p:nvPr>
        </p:nvSpPr>
        <p:spPr>
          <a:xfrm>
            <a:off x="514350" y="284956"/>
            <a:ext cx="5243619"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5"/>
          <p:cNvSpPr txBox="1">
            <a:spLocks noGrp="1"/>
          </p:cNvSpPr>
          <p:nvPr>
            <p:ph type="sldNum" idx="12"/>
          </p:nvPr>
        </p:nvSpPr>
        <p:spPr>
          <a:xfrm>
            <a:off x="8146839" y="285750"/>
            <a:ext cx="482811"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136"/>
        <p:cNvGrpSpPr/>
        <p:nvPr/>
      </p:nvGrpSpPr>
      <p:grpSpPr>
        <a:xfrm>
          <a:off x="0" y="0"/>
          <a:ext cx="0" cy="0"/>
          <a:chOff x="0" y="0"/>
          <a:chExt cx="0" cy="0"/>
        </a:xfrm>
      </p:grpSpPr>
      <p:pic>
        <p:nvPicPr>
          <p:cNvPr id="137" name="Google Shape;137;p26" descr="C0-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138" name="Google Shape;138;p26"/>
          <p:cNvSpPr txBox="1">
            <a:spLocks noGrp="1"/>
          </p:cNvSpPr>
          <p:nvPr>
            <p:ph type="title"/>
          </p:nvPr>
        </p:nvSpPr>
        <p:spPr>
          <a:xfrm>
            <a:off x="768350" y="565150"/>
            <a:ext cx="7613650" cy="1953371"/>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9" name="Google Shape;139;p26"/>
          <p:cNvSpPr txBox="1">
            <a:spLocks noGrp="1"/>
          </p:cNvSpPr>
          <p:nvPr>
            <p:ph type="body" idx="1"/>
          </p:nvPr>
        </p:nvSpPr>
        <p:spPr>
          <a:xfrm>
            <a:off x="977899" y="2524167"/>
            <a:ext cx="7194552" cy="333332"/>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40" name="Google Shape;140;p26"/>
          <p:cNvSpPr txBox="1">
            <a:spLocks noGrp="1"/>
          </p:cNvSpPr>
          <p:nvPr>
            <p:ph type="body" idx="2"/>
          </p:nvPr>
        </p:nvSpPr>
        <p:spPr>
          <a:xfrm>
            <a:off x="768350" y="2969897"/>
            <a:ext cx="7613650" cy="509903"/>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Clr>
                <a:schemeClr val="lt1"/>
              </a:buClr>
              <a:buSzPts val="1200"/>
              <a:buNone/>
              <a:defRPr sz="12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41" name="Google Shape;141;p26"/>
          <p:cNvSpPr txBox="1">
            <a:spLocks noGrp="1"/>
          </p:cNvSpPr>
          <p:nvPr>
            <p:ph type="dt" idx="10"/>
          </p:nvPr>
        </p:nvSpPr>
        <p:spPr>
          <a:xfrm>
            <a:off x="5860839" y="285750"/>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2" name="Google Shape;142;p26"/>
          <p:cNvSpPr txBox="1">
            <a:spLocks noGrp="1"/>
          </p:cNvSpPr>
          <p:nvPr>
            <p:ph type="ftr" idx="11"/>
          </p:nvPr>
        </p:nvSpPr>
        <p:spPr>
          <a:xfrm>
            <a:off x="514350" y="284956"/>
            <a:ext cx="5243619"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3" name="Google Shape;143;p26"/>
          <p:cNvSpPr txBox="1">
            <a:spLocks noGrp="1"/>
          </p:cNvSpPr>
          <p:nvPr>
            <p:ph type="sldNum" idx="12"/>
          </p:nvPr>
        </p:nvSpPr>
        <p:spPr>
          <a:xfrm>
            <a:off x="8146839" y="285750"/>
            <a:ext cx="482811"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44" name="Google Shape;144;p26"/>
          <p:cNvSpPr txBox="1"/>
          <p:nvPr/>
        </p:nvSpPr>
        <p:spPr>
          <a:xfrm>
            <a:off x="357188" y="700088"/>
            <a:ext cx="457200" cy="438582"/>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lt1"/>
              </a:buClr>
              <a:buSzPts val="6000"/>
              <a:buFont typeface="Century Gothic"/>
              <a:buNone/>
            </a:pPr>
            <a:r>
              <a:rPr lang="en" sz="6000" b="0" i="0" u="none" strike="noStrike" cap="none">
                <a:solidFill>
                  <a:schemeClr val="lt1"/>
                </a:solidFill>
                <a:latin typeface="Century Gothic"/>
                <a:ea typeface="Century Gothic"/>
                <a:cs typeface="Century Gothic"/>
                <a:sym typeface="Century Gothic"/>
              </a:rPr>
              <a:t>“</a:t>
            </a:r>
            <a:endParaRPr sz="1100"/>
          </a:p>
        </p:txBody>
      </p:sp>
      <p:sp>
        <p:nvSpPr>
          <p:cNvPr id="145" name="Google Shape;145;p26"/>
          <p:cNvSpPr txBox="1"/>
          <p:nvPr/>
        </p:nvSpPr>
        <p:spPr>
          <a:xfrm>
            <a:off x="8238173" y="2025968"/>
            <a:ext cx="457200" cy="438582"/>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Clr>
                <a:schemeClr val="lt1"/>
              </a:buClr>
              <a:buSzPts val="6000"/>
              <a:buFont typeface="Century Gothic"/>
              <a:buNone/>
            </a:pPr>
            <a:r>
              <a:rPr lang="en" sz="6000" b="0" i="0" u="none" strike="noStrike" cap="none">
                <a:solidFill>
                  <a:schemeClr val="lt1"/>
                </a:solidFill>
                <a:latin typeface="Century Gothic"/>
                <a:ea typeface="Century Gothic"/>
                <a:cs typeface="Century Gothic"/>
                <a:sym typeface="Century Gothic"/>
              </a:rPr>
              <a:t>”</a:t>
            </a:r>
            <a:endParaRPr sz="1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146"/>
        <p:cNvGrpSpPr/>
        <p:nvPr/>
      </p:nvGrpSpPr>
      <p:grpSpPr>
        <a:xfrm>
          <a:off x="0" y="0"/>
          <a:ext cx="0" cy="0"/>
          <a:chOff x="0" y="0"/>
          <a:chExt cx="0" cy="0"/>
        </a:xfrm>
      </p:grpSpPr>
      <p:pic>
        <p:nvPicPr>
          <p:cNvPr id="147" name="Google Shape;147;p27" descr="C0-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148" name="Google Shape;148;p27"/>
          <p:cNvSpPr txBox="1">
            <a:spLocks noGrp="1"/>
          </p:cNvSpPr>
          <p:nvPr>
            <p:ph type="title"/>
          </p:nvPr>
        </p:nvSpPr>
        <p:spPr>
          <a:xfrm>
            <a:off x="768371" y="843526"/>
            <a:ext cx="7609640" cy="1883876"/>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9" name="Google Shape;149;p27"/>
          <p:cNvSpPr txBox="1">
            <a:spLocks noGrp="1"/>
          </p:cNvSpPr>
          <p:nvPr>
            <p:ph type="body" idx="1"/>
          </p:nvPr>
        </p:nvSpPr>
        <p:spPr>
          <a:xfrm>
            <a:off x="768350" y="2736236"/>
            <a:ext cx="7608491" cy="74991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200"/>
              <a:buNone/>
              <a:defRPr sz="1200"/>
            </a:lvl1pPr>
            <a:lvl2pPr marL="914400" lvl="1" indent="-228600" algn="l">
              <a:lnSpc>
                <a:spcPct val="90000"/>
              </a:lnSpc>
              <a:spcBef>
                <a:spcPts val="400"/>
              </a:spcBef>
              <a:spcAft>
                <a:spcPts val="0"/>
              </a:spcAft>
              <a:buClr>
                <a:schemeClr val="lt1"/>
              </a:buClr>
              <a:buSzPts val="1100"/>
              <a:buNone/>
              <a:defRPr sz="1100"/>
            </a:lvl2pPr>
            <a:lvl3pPr marL="1371600" lvl="2" indent="-228600" algn="l">
              <a:lnSpc>
                <a:spcPct val="90000"/>
              </a:lnSpc>
              <a:spcBef>
                <a:spcPts val="400"/>
              </a:spcBef>
              <a:spcAft>
                <a:spcPts val="0"/>
              </a:spcAft>
              <a:buClr>
                <a:schemeClr val="lt1"/>
              </a:buClr>
              <a:buSzPts val="900"/>
              <a:buNone/>
              <a:defRPr sz="900"/>
            </a:lvl3pPr>
            <a:lvl4pPr marL="1828800" lvl="3" indent="-228600" algn="l">
              <a:lnSpc>
                <a:spcPct val="90000"/>
              </a:lnSpc>
              <a:spcBef>
                <a:spcPts val="400"/>
              </a:spcBef>
              <a:spcAft>
                <a:spcPts val="0"/>
              </a:spcAft>
              <a:buClr>
                <a:schemeClr val="lt1"/>
              </a:buClr>
              <a:buSzPts val="800"/>
              <a:buNone/>
              <a:defRPr sz="800"/>
            </a:lvl4pPr>
            <a:lvl5pPr marL="2286000" lvl="4" indent="-228600" algn="l">
              <a:lnSpc>
                <a:spcPct val="90000"/>
              </a:lnSpc>
              <a:spcBef>
                <a:spcPts val="400"/>
              </a:spcBef>
              <a:spcAft>
                <a:spcPts val="0"/>
              </a:spcAft>
              <a:buClr>
                <a:schemeClr val="lt1"/>
              </a:buClr>
              <a:buSzPts val="800"/>
              <a:buNone/>
              <a:defRPr sz="800"/>
            </a:lvl5pPr>
            <a:lvl6pPr marL="2743200" lvl="5" indent="-228600" algn="l">
              <a:lnSpc>
                <a:spcPct val="90000"/>
              </a:lnSpc>
              <a:spcBef>
                <a:spcPts val="400"/>
              </a:spcBef>
              <a:spcAft>
                <a:spcPts val="0"/>
              </a:spcAft>
              <a:buClr>
                <a:schemeClr val="lt1"/>
              </a:buClr>
              <a:buSzPts val="800"/>
              <a:buNone/>
              <a:defRPr sz="800"/>
            </a:lvl6pPr>
            <a:lvl7pPr marL="3200400" lvl="6" indent="-228600" algn="l">
              <a:lnSpc>
                <a:spcPct val="90000"/>
              </a:lnSpc>
              <a:spcBef>
                <a:spcPts val="400"/>
              </a:spcBef>
              <a:spcAft>
                <a:spcPts val="0"/>
              </a:spcAft>
              <a:buClr>
                <a:schemeClr val="lt1"/>
              </a:buClr>
              <a:buSzPts val="800"/>
              <a:buNone/>
              <a:defRPr sz="800"/>
            </a:lvl7pPr>
            <a:lvl8pPr marL="3657600" lvl="7" indent="-228600" algn="l">
              <a:lnSpc>
                <a:spcPct val="90000"/>
              </a:lnSpc>
              <a:spcBef>
                <a:spcPts val="400"/>
              </a:spcBef>
              <a:spcAft>
                <a:spcPts val="0"/>
              </a:spcAft>
              <a:buClr>
                <a:schemeClr val="lt1"/>
              </a:buClr>
              <a:buSzPts val="800"/>
              <a:buNone/>
              <a:defRPr sz="800"/>
            </a:lvl8pPr>
            <a:lvl9pPr marL="4114800" lvl="8" indent="-228600" algn="l">
              <a:lnSpc>
                <a:spcPct val="90000"/>
              </a:lnSpc>
              <a:spcBef>
                <a:spcPts val="400"/>
              </a:spcBef>
              <a:spcAft>
                <a:spcPts val="0"/>
              </a:spcAft>
              <a:buClr>
                <a:schemeClr val="lt1"/>
              </a:buClr>
              <a:buSzPts val="800"/>
              <a:buNone/>
              <a:defRPr sz="800"/>
            </a:lvl9pPr>
          </a:lstStyle>
          <a:p>
            <a:endParaRPr/>
          </a:p>
        </p:txBody>
      </p:sp>
      <p:sp>
        <p:nvSpPr>
          <p:cNvPr id="150" name="Google Shape;150;p27"/>
          <p:cNvSpPr txBox="1">
            <a:spLocks noGrp="1"/>
          </p:cNvSpPr>
          <p:nvPr>
            <p:ph type="dt" idx="10"/>
          </p:nvPr>
        </p:nvSpPr>
        <p:spPr>
          <a:xfrm>
            <a:off x="5860839" y="284162"/>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1" name="Google Shape;151;p27"/>
          <p:cNvSpPr txBox="1">
            <a:spLocks noGrp="1"/>
          </p:cNvSpPr>
          <p:nvPr>
            <p:ph type="ftr" idx="11"/>
          </p:nvPr>
        </p:nvSpPr>
        <p:spPr>
          <a:xfrm>
            <a:off x="514350" y="284162"/>
            <a:ext cx="5243619"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2" name="Google Shape;152;p27"/>
          <p:cNvSpPr txBox="1">
            <a:spLocks noGrp="1"/>
          </p:cNvSpPr>
          <p:nvPr>
            <p:ph type="sldNum" idx="12"/>
          </p:nvPr>
        </p:nvSpPr>
        <p:spPr>
          <a:xfrm>
            <a:off x="8146839" y="285750"/>
            <a:ext cx="482811"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2171700" y="571499"/>
            <a:ext cx="6457949" cy="97790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5" name="Google Shape;155;p28"/>
          <p:cNvSpPr txBox="1">
            <a:spLocks noGrp="1"/>
          </p:cNvSpPr>
          <p:nvPr>
            <p:ph type="body" idx="1"/>
          </p:nvPr>
        </p:nvSpPr>
        <p:spPr>
          <a:xfrm>
            <a:off x="514350" y="1651560"/>
            <a:ext cx="2592324" cy="46299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1"/>
              </a:buClr>
              <a:buSzPts val="1800"/>
              <a:buNone/>
              <a:defRPr sz="18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6" name="Google Shape;156;p28"/>
          <p:cNvSpPr txBox="1">
            <a:spLocks noGrp="1"/>
          </p:cNvSpPr>
          <p:nvPr>
            <p:ph type="body" idx="2"/>
          </p:nvPr>
        </p:nvSpPr>
        <p:spPr>
          <a:xfrm>
            <a:off x="514349" y="2178424"/>
            <a:ext cx="2592324" cy="2485599"/>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900"/>
              <a:buNone/>
              <a:defRPr sz="900"/>
            </a:lvl2pPr>
            <a:lvl3pPr marL="1371600" lvl="2" indent="-228600" algn="l">
              <a:lnSpc>
                <a:spcPct val="90000"/>
              </a:lnSpc>
              <a:spcBef>
                <a:spcPts val="400"/>
              </a:spcBef>
              <a:spcAft>
                <a:spcPts val="0"/>
              </a:spcAft>
              <a:buClr>
                <a:schemeClr val="lt1"/>
              </a:buClr>
              <a:buSzPts val="800"/>
              <a:buNone/>
              <a:defRPr sz="800"/>
            </a:lvl3pPr>
            <a:lvl4pPr marL="1828800" lvl="3" indent="-228600" algn="l">
              <a:lnSpc>
                <a:spcPct val="90000"/>
              </a:lnSpc>
              <a:spcBef>
                <a:spcPts val="400"/>
              </a:spcBef>
              <a:spcAft>
                <a:spcPts val="0"/>
              </a:spcAft>
              <a:buClr>
                <a:schemeClr val="lt1"/>
              </a:buClr>
              <a:buSzPts val="700"/>
              <a:buNone/>
              <a:defRPr sz="700"/>
            </a:lvl4pPr>
            <a:lvl5pPr marL="2286000" lvl="4" indent="-228600" algn="l">
              <a:lnSpc>
                <a:spcPct val="90000"/>
              </a:lnSpc>
              <a:spcBef>
                <a:spcPts val="400"/>
              </a:spcBef>
              <a:spcAft>
                <a:spcPts val="0"/>
              </a:spcAft>
              <a:buClr>
                <a:schemeClr val="lt1"/>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57" name="Google Shape;157;p28"/>
          <p:cNvSpPr txBox="1">
            <a:spLocks noGrp="1"/>
          </p:cNvSpPr>
          <p:nvPr>
            <p:ph type="body" idx="3"/>
          </p:nvPr>
        </p:nvSpPr>
        <p:spPr>
          <a:xfrm>
            <a:off x="3276600" y="1651000"/>
            <a:ext cx="2592324" cy="469901"/>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1"/>
              </a:buClr>
              <a:buSzPts val="1800"/>
              <a:buNone/>
              <a:defRPr sz="18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8" name="Google Shape;158;p28"/>
          <p:cNvSpPr txBox="1">
            <a:spLocks noGrp="1"/>
          </p:cNvSpPr>
          <p:nvPr>
            <p:ph type="body" idx="4"/>
          </p:nvPr>
        </p:nvSpPr>
        <p:spPr>
          <a:xfrm>
            <a:off x="3275143" y="2178050"/>
            <a:ext cx="2592324" cy="248596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900"/>
              <a:buNone/>
              <a:defRPr sz="900"/>
            </a:lvl2pPr>
            <a:lvl3pPr marL="1371600" lvl="2" indent="-228600" algn="l">
              <a:lnSpc>
                <a:spcPct val="90000"/>
              </a:lnSpc>
              <a:spcBef>
                <a:spcPts val="400"/>
              </a:spcBef>
              <a:spcAft>
                <a:spcPts val="0"/>
              </a:spcAft>
              <a:buClr>
                <a:schemeClr val="lt1"/>
              </a:buClr>
              <a:buSzPts val="800"/>
              <a:buNone/>
              <a:defRPr sz="800"/>
            </a:lvl3pPr>
            <a:lvl4pPr marL="1828800" lvl="3" indent="-228600" algn="l">
              <a:lnSpc>
                <a:spcPct val="90000"/>
              </a:lnSpc>
              <a:spcBef>
                <a:spcPts val="400"/>
              </a:spcBef>
              <a:spcAft>
                <a:spcPts val="0"/>
              </a:spcAft>
              <a:buClr>
                <a:schemeClr val="lt1"/>
              </a:buClr>
              <a:buSzPts val="700"/>
              <a:buNone/>
              <a:defRPr sz="700"/>
            </a:lvl4pPr>
            <a:lvl5pPr marL="2286000" lvl="4" indent="-228600" algn="l">
              <a:lnSpc>
                <a:spcPct val="90000"/>
              </a:lnSpc>
              <a:spcBef>
                <a:spcPts val="400"/>
              </a:spcBef>
              <a:spcAft>
                <a:spcPts val="0"/>
              </a:spcAft>
              <a:buClr>
                <a:schemeClr val="lt1"/>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59" name="Google Shape;159;p28"/>
          <p:cNvSpPr txBox="1">
            <a:spLocks noGrp="1"/>
          </p:cNvSpPr>
          <p:nvPr>
            <p:ph type="body" idx="5"/>
          </p:nvPr>
        </p:nvSpPr>
        <p:spPr>
          <a:xfrm>
            <a:off x="6038850" y="1644649"/>
            <a:ext cx="2592324" cy="469901"/>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1"/>
              </a:buClr>
              <a:buSzPts val="1800"/>
              <a:buNone/>
              <a:defRPr sz="18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0" name="Google Shape;160;p28"/>
          <p:cNvSpPr txBox="1">
            <a:spLocks noGrp="1"/>
          </p:cNvSpPr>
          <p:nvPr>
            <p:ph type="body" idx="6"/>
          </p:nvPr>
        </p:nvSpPr>
        <p:spPr>
          <a:xfrm>
            <a:off x="6038851" y="2178424"/>
            <a:ext cx="2592324" cy="2485599"/>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900"/>
              <a:buNone/>
              <a:defRPr sz="900"/>
            </a:lvl2pPr>
            <a:lvl3pPr marL="1371600" lvl="2" indent="-228600" algn="l">
              <a:lnSpc>
                <a:spcPct val="90000"/>
              </a:lnSpc>
              <a:spcBef>
                <a:spcPts val="400"/>
              </a:spcBef>
              <a:spcAft>
                <a:spcPts val="0"/>
              </a:spcAft>
              <a:buClr>
                <a:schemeClr val="lt1"/>
              </a:buClr>
              <a:buSzPts val="800"/>
              <a:buNone/>
              <a:defRPr sz="800"/>
            </a:lvl3pPr>
            <a:lvl4pPr marL="1828800" lvl="3" indent="-228600" algn="l">
              <a:lnSpc>
                <a:spcPct val="90000"/>
              </a:lnSpc>
              <a:spcBef>
                <a:spcPts val="400"/>
              </a:spcBef>
              <a:spcAft>
                <a:spcPts val="0"/>
              </a:spcAft>
              <a:buClr>
                <a:schemeClr val="lt1"/>
              </a:buClr>
              <a:buSzPts val="700"/>
              <a:buNone/>
              <a:defRPr sz="700"/>
            </a:lvl4pPr>
            <a:lvl5pPr marL="2286000" lvl="4" indent="-228600" algn="l">
              <a:lnSpc>
                <a:spcPct val="90000"/>
              </a:lnSpc>
              <a:spcBef>
                <a:spcPts val="400"/>
              </a:spcBef>
              <a:spcAft>
                <a:spcPts val="0"/>
              </a:spcAft>
              <a:buClr>
                <a:schemeClr val="lt1"/>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61" name="Google Shape;161;p28"/>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2" name="Google Shape;162;p28"/>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3" name="Google Shape;163;p28"/>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64"/>
        <p:cNvGrpSpPr/>
        <p:nvPr/>
      </p:nvGrpSpPr>
      <p:grpSpPr>
        <a:xfrm>
          <a:off x="0" y="0"/>
          <a:ext cx="0" cy="0"/>
          <a:chOff x="0" y="0"/>
          <a:chExt cx="0" cy="0"/>
        </a:xfrm>
      </p:grpSpPr>
      <p:sp>
        <p:nvSpPr>
          <p:cNvPr id="165" name="Google Shape;165;p29"/>
          <p:cNvSpPr txBox="1">
            <a:spLocks noGrp="1"/>
          </p:cNvSpPr>
          <p:nvPr>
            <p:ph type="title"/>
          </p:nvPr>
        </p:nvSpPr>
        <p:spPr>
          <a:xfrm>
            <a:off x="2171700" y="571500"/>
            <a:ext cx="6457949" cy="971550"/>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6" name="Google Shape;166;p29"/>
          <p:cNvSpPr txBox="1">
            <a:spLocks noGrp="1"/>
          </p:cNvSpPr>
          <p:nvPr>
            <p:ph type="body" idx="1"/>
          </p:nvPr>
        </p:nvSpPr>
        <p:spPr>
          <a:xfrm>
            <a:off x="516463" y="3143250"/>
            <a:ext cx="2588687" cy="51207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1"/>
              </a:buClr>
              <a:buSzPts val="1800"/>
              <a:buNone/>
              <a:defRPr sz="18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7" name="Google Shape;167;p29"/>
          <p:cNvSpPr>
            <a:spLocks noGrp="1"/>
          </p:cNvSpPr>
          <p:nvPr>
            <p:ph type="pic" idx="2"/>
          </p:nvPr>
        </p:nvSpPr>
        <p:spPr>
          <a:xfrm>
            <a:off x="516463" y="1771650"/>
            <a:ext cx="2588687" cy="1143000"/>
          </a:xfrm>
          <a:prstGeom prst="roundRect">
            <a:avLst>
              <a:gd name="adj" fmla="val 0"/>
            </a:avLst>
          </a:prstGeom>
          <a:noFill/>
          <a:ln>
            <a:noFill/>
          </a:ln>
          <a:effectLst>
            <a:outerShdw blurRad="50800" dist="50800" dir="5400000" algn="tl" rotWithShape="0">
              <a:srgbClr val="000000">
                <a:alpha val="42745"/>
              </a:srgbClr>
            </a:outerShdw>
          </a:effectLst>
        </p:spPr>
      </p:sp>
      <p:sp>
        <p:nvSpPr>
          <p:cNvPr id="168" name="Google Shape;168;p29"/>
          <p:cNvSpPr txBox="1">
            <a:spLocks noGrp="1"/>
          </p:cNvSpPr>
          <p:nvPr>
            <p:ph type="body" idx="3"/>
          </p:nvPr>
        </p:nvSpPr>
        <p:spPr>
          <a:xfrm>
            <a:off x="516463" y="3655323"/>
            <a:ext cx="2588687" cy="100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900"/>
              <a:buNone/>
              <a:defRPr sz="900"/>
            </a:lvl2pPr>
            <a:lvl3pPr marL="1371600" lvl="2" indent="-228600" algn="l">
              <a:lnSpc>
                <a:spcPct val="90000"/>
              </a:lnSpc>
              <a:spcBef>
                <a:spcPts val="400"/>
              </a:spcBef>
              <a:spcAft>
                <a:spcPts val="0"/>
              </a:spcAft>
              <a:buClr>
                <a:schemeClr val="lt1"/>
              </a:buClr>
              <a:buSzPts val="800"/>
              <a:buNone/>
              <a:defRPr sz="800"/>
            </a:lvl3pPr>
            <a:lvl4pPr marL="1828800" lvl="3" indent="-228600" algn="l">
              <a:lnSpc>
                <a:spcPct val="90000"/>
              </a:lnSpc>
              <a:spcBef>
                <a:spcPts val="400"/>
              </a:spcBef>
              <a:spcAft>
                <a:spcPts val="0"/>
              </a:spcAft>
              <a:buClr>
                <a:schemeClr val="lt1"/>
              </a:buClr>
              <a:buSzPts val="700"/>
              <a:buNone/>
              <a:defRPr sz="700"/>
            </a:lvl4pPr>
            <a:lvl5pPr marL="2286000" lvl="4" indent="-228600" algn="l">
              <a:lnSpc>
                <a:spcPct val="90000"/>
              </a:lnSpc>
              <a:spcBef>
                <a:spcPts val="400"/>
              </a:spcBef>
              <a:spcAft>
                <a:spcPts val="0"/>
              </a:spcAft>
              <a:buClr>
                <a:schemeClr val="lt1"/>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69" name="Google Shape;169;p29"/>
          <p:cNvSpPr txBox="1">
            <a:spLocks noGrp="1"/>
          </p:cNvSpPr>
          <p:nvPr>
            <p:ph type="body" idx="4"/>
          </p:nvPr>
        </p:nvSpPr>
        <p:spPr>
          <a:xfrm>
            <a:off x="3280697" y="3143250"/>
            <a:ext cx="2586701" cy="51207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1"/>
              </a:buClr>
              <a:buSzPts val="1800"/>
              <a:buNone/>
              <a:defRPr sz="18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0" name="Google Shape;170;p29"/>
          <p:cNvSpPr>
            <a:spLocks noGrp="1"/>
          </p:cNvSpPr>
          <p:nvPr>
            <p:ph type="pic" idx="5"/>
          </p:nvPr>
        </p:nvSpPr>
        <p:spPr>
          <a:xfrm>
            <a:off x="3280697" y="1771650"/>
            <a:ext cx="2586702" cy="1143000"/>
          </a:xfrm>
          <a:prstGeom prst="roundRect">
            <a:avLst>
              <a:gd name="adj" fmla="val 0"/>
            </a:avLst>
          </a:prstGeom>
          <a:noFill/>
          <a:ln>
            <a:noFill/>
          </a:ln>
          <a:effectLst>
            <a:outerShdw blurRad="50800" dist="50800" dir="5400000" algn="tl" rotWithShape="0">
              <a:srgbClr val="000000">
                <a:alpha val="42745"/>
              </a:srgbClr>
            </a:outerShdw>
          </a:effectLst>
        </p:spPr>
      </p:sp>
      <p:sp>
        <p:nvSpPr>
          <p:cNvPr id="171" name="Google Shape;171;p29"/>
          <p:cNvSpPr txBox="1">
            <a:spLocks noGrp="1"/>
          </p:cNvSpPr>
          <p:nvPr>
            <p:ph type="body" idx="6"/>
          </p:nvPr>
        </p:nvSpPr>
        <p:spPr>
          <a:xfrm>
            <a:off x="3280698" y="3655322"/>
            <a:ext cx="2586701" cy="100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900"/>
              <a:buNone/>
              <a:defRPr sz="900"/>
            </a:lvl2pPr>
            <a:lvl3pPr marL="1371600" lvl="2" indent="-228600" algn="l">
              <a:lnSpc>
                <a:spcPct val="90000"/>
              </a:lnSpc>
              <a:spcBef>
                <a:spcPts val="400"/>
              </a:spcBef>
              <a:spcAft>
                <a:spcPts val="0"/>
              </a:spcAft>
              <a:buClr>
                <a:schemeClr val="lt1"/>
              </a:buClr>
              <a:buSzPts val="800"/>
              <a:buNone/>
              <a:defRPr sz="800"/>
            </a:lvl3pPr>
            <a:lvl4pPr marL="1828800" lvl="3" indent="-228600" algn="l">
              <a:lnSpc>
                <a:spcPct val="90000"/>
              </a:lnSpc>
              <a:spcBef>
                <a:spcPts val="400"/>
              </a:spcBef>
              <a:spcAft>
                <a:spcPts val="0"/>
              </a:spcAft>
              <a:buClr>
                <a:schemeClr val="lt1"/>
              </a:buClr>
              <a:buSzPts val="700"/>
              <a:buNone/>
              <a:defRPr sz="700"/>
            </a:lvl4pPr>
            <a:lvl5pPr marL="2286000" lvl="4" indent="-228600" algn="l">
              <a:lnSpc>
                <a:spcPct val="90000"/>
              </a:lnSpc>
              <a:spcBef>
                <a:spcPts val="400"/>
              </a:spcBef>
              <a:spcAft>
                <a:spcPts val="0"/>
              </a:spcAft>
              <a:buClr>
                <a:schemeClr val="lt1"/>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72" name="Google Shape;172;p29"/>
          <p:cNvSpPr txBox="1">
            <a:spLocks noGrp="1"/>
          </p:cNvSpPr>
          <p:nvPr>
            <p:ph type="body" idx="7"/>
          </p:nvPr>
        </p:nvSpPr>
        <p:spPr>
          <a:xfrm>
            <a:off x="6037298" y="3143250"/>
            <a:ext cx="2592352" cy="51207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lt1"/>
              </a:buClr>
              <a:buSzPts val="1800"/>
              <a:buNone/>
              <a:defRPr sz="1800" b="0">
                <a:solidFill>
                  <a:schemeClr val="lt1"/>
                </a:solidFill>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3" name="Google Shape;173;p29"/>
          <p:cNvSpPr>
            <a:spLocks noGrp="1"/>
          </p:cNvSpPr>
          <p:nvPr>
            <p:ph type="pic" idx="8"/>
          </p:nvPr>
        </p:nvSpPr>
        <p:spPr>
          <a:xfrm>
            <a:off x="6037391" y="1771650"/>
            <a:ext cx="2585908" cy="1143000"/>
          </a:xfrm>
          <a:prstGeom prst="roundRect">
            <a:avLst>
              <a:gd name="adj" fmla="val 0"/>
            </a:avLst>
          </a:prstGeom>
          <a:noFill/>
          <a:ln>
            <a:noFill/>
          </a:ln>
          <a:effectLst>
            <a:outerShdw blurRad="50800" dist="50800" dir="5400000" algn="tl" rotWithShape="0">
              <a:srgbClr val="000000">
                <a:alpha val="42745"/>
              </a:srgbClr>
            </a:outerShdw>
          </a:effectLst>
        </p:spPr>
      </p:sp>
      <p:sp>
        <p:nvSpPr>
          <p:cNvPr id="174" name="Google Shape;174;p29"/>
          <p:cNvSpPr txBox="1">
            <a:spLocks noGrp="1"/>
          </p:cNvSpPr>
          <p:nvPr>
            <p:ph type="body" idx="9"/>
          </p:nvPr>
        </p:nvSpPr>
        <p:spPr>
          <a:xfrm>
            <a:off x="6037298" y="3655321"/>
            <a:ext cx="2589334" cy="100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lt1"/>
              </a:buClr>
              <a:buSzPts val="1100"/>
              <a:buNone/>
              <a:defRPr sz="1100"/>
            </a:lvl1pPr>
            <a:lvl2pPr marL="914400" lvl="1" indent="-228600" algn="l">
              <a:lnSpc>
                <a:spcPct val="90000"/>
              </a:lnSpc>
              <a:spcBef>
                <a:spcPts val="400"/>
              </a:spcBef>
              <a:spcAft>
                <a:spcPts val="0"/>
              </a:spcAft>
              <a:buClr>
                <a:schemeClr val="lt1"/>
              </a:buClr>
              <a:buSzPts val="900"/>
              <a:buNone/>
              <a:defRPr sz="900"/>
            </a:lvl2pPr>
            <a:lvl3pPr marL="1371600" lvl="2" indent="-228600" algn="l">
              <a:lnSpc>
                <a:spcPct val="90000"/>
              </a:lnSpc>
              <a:spcBef>
                <a:spcPts val="400"/>
              </a:spcBef>
              <a:spcAft>
                <a:spcPts val="0"/>
              </a:spcAft>
              <a:buClr>
                <a:schemeClr val="lt1"/>
              </a:buClr>
              <a:buSzPts val="800"/>
              <a:buNone/>
              <a:defRPr sz="800"/>
            </a:lvl3pPr>
            <a:lvl4pPr marL="1828800" lvl="3" indent="-228600" algn="l">
              <a:lnSpc>
                <a:spcPct val="90000"/>
              </a:lnSpc>
              <a:spcBef>
                <a:spcPts val="400"/>
              </a:spcBef>
              <a:spcAft>
                <a:spcPts val="0"/>
              </a:spcAft>
              <a:buClr>
                <a:schemeClr val="lt1"/>
              </a:buClr>
              <a:buSzPts val="700"/>
              <a:buNone/>
              <a:defRPr sz="700"/>
            </a:lvl4pPr>
            <a:lvl5pPr marL="2286000" lvl="4" indent="-228600" algn="l">
              <a:lnSpc>
                <a:spcPct val="90000"/>
              </a:lnSpc>
              <a:spcBef>
                <a:spcPts val="400"/>
              </a:spcBef>
              <a:spcAft>
                <a:spcPts val="0"/>
              </a:spcAft>
              <a:buClr>
                <a:schemeClr val="lt1"/>
              </a:buClr>
              <a:buSzPts val="700"/>
              <a:buNone/>
              <a:defRPr sz="700"/>
            </a:lvl5pPr>
            <a:lvl6pPr marL="2743200" lvl="5" indent="-228600" algn="l">
              <a:lnSpc>
                <a:spcPct val="90000"/>
              </a:lnSpc>
              <a:spcBef>
                <a:spcPts val="400"/>
              </a:spcBef>
              <a:spcAft>
                <a:spcPts val="0"/>
              </a:spcAft>
              <a:buClr>
                <a:schemeClr val="lt1"/>
              </a:buClr>
              <a:buSzPts val="700"/>
              <a:buNone/>
              <a:defRPr sz="700"/>
            </a:lvl6pPr>
            <a:lvl7pPr marL="3200400" lvl="6" indent="-228600" algn="l">
              <a:lnSpc>
                <a:spcPct val="90000"/>
              </a:lnSpc>
              <a:spcBef>
                <a:spcPts val="400"/>
              </a:spcBef>
              <a:spcAft>
                <a:spcPts val="0"/>
              </a:spcAft>
              <a:buClr>
                <a:schemeClr val="lt1"/>
              </a:buClr>
              <a:buSzPts val="700"/>
              <a:buNone/>
              <a:defRPr sz="700"/>
            </a:lvl7pPr>
            <a:lvl8pPr marL="3657600" lvl="7" indent="-228600" algn="l">
              <a:lnSpc>
                <a:spcPct val="90000"/>
              </a:lnSpc>
              <a:spcBef>
                <a:spcPts val="400"/>
              </a:spcBef>
              <a:spcAft>
                <a:spcPts val="0"/>
              </a:spcAft>
              <a:buClr>
                <a:schemeClr val="lt1"/>
              </a:buClr>
              <a:buSzPts val="700"/>
              <a:buNone/>
              <a:defRPr sz="700"/>
            </a:lvl8pPr>
            <a:lvl9pPr marL="4114800" lvl="8" indent="-228600" algn="l">
              <a:lnSpc>
                <a:spcPct val="90000"/>
              </a:lnSpc>
              <a:spcBef>
                <a:spcPts val="400"/>
              </a:spcBef>
              <a:spcAft>
                <a:spcPts val="0"/>
              </a:spcAft>
              <a:buClr>
                <a:schemeClr val="lt1"/>
              </a:buClr>
              <a:buSzPts val="700"/>
              <a:buNone/>
              <a:defRPr sz="700"/>
            </a:lvl9pPr>
          </a:lstStyle>
          <a:p>
            <a:endParaRPr/>
          </a:p>
        </p:txBody>
      </p:sp>
      <p:sp>
        <p:nvSpPr>
          <p:cNvPr id="175" name="Google Shape;175;p29"/>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6" name="Google Shape;176;p29"/>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7" name="Google Shape;177;p29"/>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8"/>
        <p:cNvGrpSpPr/>
        <p:nvPr/>
      </p:nvGrpSpPr>
      <p:grpSpPr>
        <a:xfrm>
          <a:off x="0" y="0"/>
          <a:ext cx="0" cy="0"/>
          <a:chOff x="0" y="0"/>
          <a:chExt cx="0" cy="0"/>
        </a:xfrm>
      </p:grpSpPr>
      <p:sp>
        <p:nvSpPr>
          <p:cNvPr id="179" name="Google Shape;179;p30"/>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lvl1pPr lvl="0" algn="r">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0" name="Google Shape;180;p30"/>
          <p:cNvSpPr txBox="1">
            <a:spLocks noGrp="1"/>
          </p:cNvSpPr>
          <p:nvPr>
            <p:ph type="body" idx="1"/>
          </p:nvPr>
        </p:nvSpPr>
        <p:spPr>
          <a:xfrm rot="5400000">
            <a:off x="3062953" y="-902684"/>
            <a:ext cx="3018094" cy="8115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81" name="Google Shape;181;p30"/>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2" name="Google Shape;182;p30"/>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3" name="Google Shape;183;p30"/>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84"/>
        <p:cNvGrpSpPr/>
        <p:nvPr/>
      </p:nvGrpSpPr>
      <p:grpSpPr>
        <a:xfrm>
          <a:off x="0" y="0"/>
          <a:ext cx="0" cy="0"/>
          <a:chOff x="0" y="0"/>
          <a:chExt cx="0" cy="0"/>
        </a:xfrm>
      </p:grpSpPr>
      <p:pic>
        <p:nvPicPr>
          <p:cNvPr id="185" name="Google Shape;185;p31" descr="C0-HD-BTM.png"/>
          <p:cNvPicPr preferRelativeResize="0"/>
          <p:nvPr/>
        </p:nvPicPr>
        <p:blipFill rotWithShape="1">
          <a:blip r:embed="rId2">
            <a:alphaModFix/>
          </a:blip>
          <a:srcRect/>
          <a:stretch/>
        </p:blipFill>
        <p:spPr>
          <a:xfrm>
            <a:off x="0" y="3281363"/>
            <a:ext cx="9144000" cy="1862138"/>
          </a:xfrm>
          <a:prstGeom prst="rect">
            <a:avLst/>
          </a:prstGeom>
          <a:noFill/>
          <a:ln>
            <a:noFill/>
          </a:ln>
        </p:spPr>
      </p:pic>
      <p:sp>
        <p:nvSpPr>
          <p:cNvPr id="186" name="Google Shape;186;p31"/>
          <p:cNvSpPr txBox="1">
            <a:spLocks noGrp="1"/>
          </p:cNvSpPr>
          <p:nvPr>
            <p:ph type="title"/>
          </p:nvPr>
        </p:nvSpPr>
        <p:spPr>
          <a:xfrm rot="5400000">
            <a:off x="6394450" y="1250949"/>
            <a:ext cx="2927350" cy="154305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lt1"/>
              </a:buClr>
              <a:buSzPts val="3000"/>
              <a:buFont typeface="Century Gothic"/>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7" name="Google Shape;187;p31"/>
          <p:cNvSpPr txBox="1">
            <a:spLocks noGrp="1"/>
          </p:cNvSpPr>
          <p:nvPr>
            <p:ph type="body" idx="1"/>
          </p:nvPr>
        </p:nvSpPr>
        <p:spPr>
          <a:xfrm rot="5400000">
            <a:off x="2381250" y="-1054100"/>
            <a:ext cx="2927350" cy="615315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lt1"/>
              </a:buClr>
              <a:buSzPts val="1400"/>
              <a:buChar char="•"/>
              <a:defRPr/>
            </a:lvl1pPr>
            <a:lvl2pPr marL="914400" lvl="1" indent="-317500" algn="l">
              <a:lnSpc>
                <a:spcPct val="90000"/>
              </a:lnSpc>
              <a:spcBef>
                <a:spcPts val="400"/>
              </a:spcBef>
              <a:spcAft>
                <a:spcPts val="0"/>
              </a:spcAft>
              <a:buClr>
                <a:schemeClr val="lt1"/>
              </a:buClr>
              <a:buSzPts val="1400"/>
              <a:buChar char="•"/>
              <a:defRPr/>
            </a:lvl2pPr>
            <a:lvl3pPr marL="1371600" lvl="2" indent="-317500" algn="l">
              <a:lnSpc>
                <a:spcPct val="90000"/>
              </a:lnSpc>
              <a:spcBef>
                <a:spcPts val="400"/>
              </a:spcBef>
              <a:spcAft>
                <a:spcPts val="0"/>
              </a:spcAft>
              <a:buClr>
                <a:schemeClr val="lt1"/>
              </a:buClr>
              <a:buSzPts val="1400"/>
              <a:buChar char="•"/>
              <a:defRPr/>
            </a:lvl3pPr>
            <a:lvl4pPr marL="1828800" lvl="3" indent="-317500" algn="l">
              <a:lnSpc>
                <a:spcPct val="90000"/>
              </a:lnSpc>
              <a:spcBef>
                <a:spcPts val="400"/>
              </a:spcBef>
              <a:spcAft>
                <a:spcPts val="0"/>
              </a:spcAft>
              <a:buClr>
                <a:schemeClr val="lt1"/>
              </a:buClr>
              <a:buSzPts val="1400"/>
              <a:buChar char="•"/>
              <a:defRPr/>
            </a:lvl4pPr>
            <a:lvl5pPr marL="2286000" lvl="4" indent="-317500" algn="l">
              <a:lnSpc>
                <a:spcPct val="90000"/>
              </a:lnSpc>
              <a:spcBef>
                <a:spcPts val="400"/>
              </a:spcBef>
              <a:spcAft>
                <a:spcPts val="0"/>
              </a:spcAft>
              <a:buClr>
                <a:schemeClr val="lt1"/>
              </a:buClr>
              <a:buSzPts val="1400"/>
              <a:buChar char="•"/>
              <a:defRPr/>
            </a:lvl5pPr>
            <a:lvl6pPr marL="2743200" lvl="5" indent="-317500" algn="l">
              <a:lnSpc>
                <a:spcPct val="90000"/>
              </a:lnSpc>
              <a:spcBef>
                <a:spcPts val="400"/>
              </a:spcBef>
              <a:spcAft>
                <a:spcPts val="0"/>
              </a:spcAft>
              <a:buClr>
                <a:schemeClr val="lt1"/>
              </a:buClr>
              <a:buSzPts val="1400"/>
              <a:buChar char="•"/>
              <a:defRPr/>
            </a:lvl6pPr>
            <a:lvl7pPr marL="3200400" lvl="6" indent="-317500" algn="l">
              <a:lnSpc>
                <a:spcPct val="90000"/>
              </a:lnSpc>
              <a:spcBef>
                <a:spcPts val="400"/>
              </a:spcBef>
              <a:spcAft>
                <a:spcPts val="0"/>
              </a:spcAft>
              <a:buClr>
                <a:schemeClr val="lt1"/>
              </a:buClr>
              <a:buSzPts val="1400"/>
              <a:buChar char="•"/>
              <a:defRPr/>
            </a:lvl7pPr>
            <a:lvl8pPr marL="3657600" lvl="7" indent="-317500" algn="l">
              <a:lnSpc>
                <a:spcPct val="90000"/>
              </a:lnSpc>
              <a:spcBef>
                <a:spcPts val="400"/>
              </a:spcBef>
              <a:spcAft>
                <a:spcPts val="0"/>
              </a:spcAft>
              <a:buClr>
                <a:schemeClr val="lt1"/>
              </a:buClr>
              <a:buSzPts val="1400"/>
              <a:buChar char="•"/>
              <a:defRPr/>
            </a:lvl8pPr>
            <a:lvl9pPr marL="4114800" lvl="8" indent="-317500" algn="l">
              <a:lnSpc>
                <a:spcPct val="90000"/>
              </a:lnSpc>
              <a:spcBef>
                <a:spcPts val="400"/>
              </a:spcBef>
              <a:spcAft>
                <a:spcPts val="0"/>
              </a:spcAft>
              <a:buClr>
                <a:schemeClr val="lt1"/>
              </a:buClr>
              <a:buSzPts val="1400"/>
              <a:buChar char="•"/>
              <a:defRPr/>
            </a:lvl9pPr>
          </a:lstStyle>
          <a:p>
            <a:endParaRPr/>
          </a:p>
        </p:txBody>
      </p:sp>
      <p:sp>
        <p:nvSpPr>
          <p:cNvPr id="188" name="Google Shape;188;p31"/>
          <p:cNvSpPr txBox="1">
            <a:spLocks noGrp="1"/>
          </p:cNvSpPr>
          <p:nvPr>
            <p:ph type="dt" idx="10"/>
          </p:nvPr>
        </p:nvSpPr>
        <p:spPr>
          <a:xfrm>
            <a:off x="5860839" y="284956"/>
            <a:ext cx="2183130" cy="27384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9" name="Google Shape;189;p31"/>
          <p:cNvSpPr txBox="1">
            <a:spLocks noGrp="1"/>
          </p:cNvSpPr>
          <p:nvPr>
            <p:ph type="ftr" idx="11"/>
          </p:nvPr>
        </p:nvSpPr>
        <p:spPr>
          <a:xfrm>
            <a:off x="514350" y="285750"/>
            <a:ext cx="5243619"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0" name="Google Shape;190;p31"/>
          <p:cNvSpPr txBox="1">
            <a:spLocks noGrp="1"/>
          </p:cNvSpPr>
          <p:nvPr>
            <p:ph type="sldNum" idx="12"/>
          </p:nvPr>
        </p:nvSpPr>
        <p:spPr>
          <a:xfrm>
            <a:off x="8146839" y="285750"/>
            <a:ext cx="482811"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0"/>
        <p:cNvGrpSpPr/>
        <p:nvPr/>
      </p:nvGrpSpPr>
      <p:grpSpPr>
        <a:xfrm>
          <a:off x="0" y="0"/>
          <a:ext cx="0" cy="0"/>
          <a:chOff x="0" y="0"/>
          <a:chExt cx="0" cy="0"/>
        </a:xfrm>
      </p:grpSpPr>
      <p:pic>
        <p:nvPicPr>
          <p:cNvPr id="51" name="Google Shape;51;p13" descr="C0-HD-TOP.png"/>
          <p:cNvPicPr preferRelativeResize="0"/>
          <p:nvPr/>
        </p:nvPicPr>
        <p:blipFill rotWithShape="1">
          <a:blip r:embed="rId20">
            <a:alphaModFix/>
          </a:blip>
          <a:srcRect/>
          <a:stretch/>
        </p:blipFill>
        <p:spPr>
          <a:xfrm>
            <a:off x="0" y="0"/>
            <a:ext cx="9144000" cy="1081087"/>
          </a:xfrm>
          <a:prstGeom prst="rect">
            <a:avLst/>
          </a:prstGeom>
          <a:noFill/>
          <a:ln>
            <a:noFill/>
          </a:ln>
        </p:spPr>
      </p:pic>
      <p:sp>
        <p:nvSpPr>
          <p:cNvPr id="52" name="Google Shape;52;p13"/>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lvl1pPr marR="0" lvl="0" algn="r" rtl="0">
              <a:lnSpc>
                <a:spcPct val="90000"/>
              </a:lnSpc>
              <a:spcBef>
                <a:spcPts val="0"/>
              </a:spcBef>
              <a:spcAft>
                <a:spcPts val="0"/>
              </a:spcAft>
              <a:buClr>
                <a:schemeClr val="lt1"/>
              </a:buClr>
              <a:buSzPts val="3000"/>
              <a:buFont typeface="Century Gothic"/>
              <a:buNone/>
              <a:defRPr sz="3000" b="0" i="0" u="none" strike="noStrike" cap="none">
                <a:solidFill>
                  <a:schemeClr val="lt1"/>
                </a:solidFill>
                <a:latin typeface="Century Gothic"/>
                <a:ea typeface="Century Gothic"/>
                <a:cs typeface="Century Gothic"/>
                <a:sym typeface="Century Gothic"/>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3" name="Google Shape;53;p13"/>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lvl1pPr marL="457200" marR="0" lvl="0" indent="-336550" algn="l" rtl="0">
              <a:lnSpc>
                <a:spcPct val="90000"/>
              </a:lnSpc>
              <a:spcBef>
                <a:spcPts val="800"/>
              </a:spcBef>
              <a:spcAft>
                <a:spcPts val="0"/>
              </a:spcAft>
              <a:buClr>
                <a:schemeClr val="lt1"/>
              </a:buClr>
              <a:buSzPts val="1700"/>
              <a:buFont typeface="Arial"/>
              <a:buChar char="•"/>
              <a:defRPr sz="1700" b="0" i="0" u="none" strike="noStrike" cap="none">
                <a:solidFill>
                  <a:schemeClr val="lt1"/>
                </a:solidFill>
                <a:latin typeface="Century Gothic"/>
                <a:ea typeface="Century Gothic"/>
                <a:cs typeface="Century Gothic"/>
                <a:sym typeface="Century Gothic"/>
              </a:defRPr>
            </a:lvl1pPr>
            <a:lvl2pPr marL="914400" marR="0" lvl="1"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90000"/>
              </a:lnSpc>
              <a:spcBef>
                <a:spcPts val="400"/>
              </a:spcBef>
              <a:spcAft>
                <a:spcPts val="0"/>
              </a:spcAft>
              <a:buClr>
                <a:schemeClr val="lt1"/>
              </a:buClr>
              <a:buSzPts val="1200"/>
              <a:buFont typeface="Arial"/>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54" name="Google Shape;54;p13"/>
          <p:cNvSpPr txBox="1">
            <a:spLocks noGrp="1"/>
          </p:cNvSpPr>
          <p:nvPr>
            <p:ph type="dt" idx="10"/>
          </p:nvPr>
        </p:nvSpPr>
        <p:spPr>
          <a:xfrm>
            <a:off x="6446520" y="4767263"/>
            <a:ext cx="2183130" cy="273844"/>
          </a:xfrm>
          <a:prstGeom prst="rect">
            <a:avLst/>
          </a:prstGeom>
          <a:noFill/>
          <a:ln>
            <a:noFill/>
          </a:ln>
        </p:spPr>
        <p:txBody>
          <a:bodyPr spcFirstLastPara="1" wrap="square" lIns="68575" tIns="34275" rIns="68575" bIns="34275" anchor="ctr" anchorCtr="0">
            <a:noAutofit/>
          </a:bodyPr>
          <a:lstStyle>
            <a:lvl1pPr marR="0" lvl="0" algn="r" rtl="0">
              <a:spcBef>
                <a:spcPts val="0"/>
              </a:spcBef>
              <a:spcAft>
                <a:spcPts val="0"/>
              </a:spcAft>
              <a:buSzPts val="1100"/>
              <a:buNone/>
              <a:defRPr sz="8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55" name="Google Shape;55;p13"/>
          <p:cNvSpPr txBox="1">
            <a:spLocks noGrp="1"/>
          </p:cNvSpPr>
          <p:nvPr>
            <p:ph type="ftr" idx="11"/>
          </p:nvPr>
        </p:nvSpPr>
        <p:spPr>
          <a:xfrm>
            <a:off x="514350" y="4766884"/>
            <a:ext cx="58293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8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56" name="Google Shape;56;p13"/>
          <p:cNvSpPr txBox="1">
            <a:spLocks noGrp="1"/>
          </p:cNvSpPr>
          <p:nvPr>
            <p:ph type="sldNum" idx="12"/>
          </p:nvPr>
        </p:nvSpPr>
        <p:spPr>
          <a:xfrm>
            <a:off x="6572250" y="285750"/>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800" b="0" i="0" u="none" strike="noStrike" cap="none">
                <a:solidFill>
                  <a:schemeClr val="lt1"/>
                </a:solidFill>
                <a:latin typeface="Century Gothic"/>
                <a:ea typeface="Century Gothic"/>
                <a:cs typeface="Century Gothic"/>
                <a:sym typeface="Century Gothic"/>
              </a:defRPr>
            </a:lvl1pPr>
            <a:lvl2pPr marL="0" marR="0" lvl="1" indent="0" algn="r" rtl="0">
              <a:spcBef>
                <a:spcPts val="0"/>
              </a:spcBef>
              <a:buNone/>
              <a:defRPr sz="800" b="0" i="0" u="none" strike="noStrike" cap="none">
                <a:solidFill>
                  <a:schemeClr val="lt1"/>
                </a:solidFill>
                <a:latin typeface="Century Gothic"/>
                <a:ea typeface="Century Gothic"/>
                <a:cs typeface="Century Gothic"/>
                <a:sym typeface="Century Gothic"/>
              </a:defRPr>
            </a:lvl2pPr>
            <a:lvl3pPr marL="0" marR="0" lvl="2" indent="0" algn="r" rtl="0">
              <a:spcBef>
                <a:spcPts val="0"/>
              </a:spcBef>
              <a:buNone/>
              <a:defRPr sz="800" b="0" i="0" u="none" strike="noStrike" cap="none">
                <a:solidFill>
                  <a:schemeClr val="lt1"/>
                </a:solidFill>
                <a:latin typeface="Century Gothic"/>
                <a:ea typeface="Century Gothic"/>
                <a:cs typeface="Century Gothic"/>
                <a:sym typeface="Century Gothic"/>
              </a:defRPr>
            </a:lvl3pPr>
            <a:lvl4pPr marL="0" marR="0" lvl="3" indent="0" algn="r" rtl="0">
              <a:spcBef>
                <a:spcPts val="0"/>
              </a:spcBef>
              <a:buNone/>
              <a:defRPr sz="800" b="0" i="0" u="none" strike="noStrike" cap="none">
                <a:solidFill>
                  <a:schemeClr val="lt1"/>
                </a:solidFill>
                <a:latin typeface="Century Gothic"/>
                <a:ea typeface="Century Gothic"/>
                <a:cs typeface="Century Gothic"/>
                <a:sym typeface="Century Gothic"/>
              </a:defRPr>
            </a:lvl4pPr>
            <a:lvl5pPr marL="0" marR="0" lvl="4" indent="0" algn="r" rtl="0">
              <a:spcBef>
                <a:spcPts val="0"/>
              </a:spcBef>
              <a:buNone/>
              <a:defRPr sz="800" b="0" i="0" u="none" strike="noStrike" cap="none">
                <a:solidFill>
                  <a:schemeClr val="lt1"/>
                </a:solidFill>
                <a:latin typeface="Century Gothic"/>
                <a:ea typeface="Century Gothic"/>
                <a:cs typeface="Century Gothic"/>
                <a:sym typeface="Century Gothic"/>
              </a:defRPr>
            </a:lvl5pPr>
            <a:lvl6pPr marL="0" marR="0" lvl="5" indent="0" algn="r" rtl="0">
              <a:spcBef>
                <a:spcPts val="0"/>
              </a:spcBef>
              <a:buNone/>
              <a:defRPr sz="800" b="0" i="0" u="none" strike="noStrike" cap="none">
                <a:solidFill>
                  <a:schemeClr val="lt1"/>
                </a:solidFill>
                <a:latin typeface="Century Gothic"/>
                <a:ea typeface="Century Gothic"/>
                <a:cs typeface="Century Gothic"/>
                <a:sym typeface="Century Gothic"/>
              </a:defRPr>
            </a:lvl6pPr>
            <a:lvl7pPr marL="0" marR="0" lvl="6" indent="0" algn="r" rtl="0">
              <a:spcBef>
                <a:spcPts val="0"/>
              </a:spcBef>
              <a:buNone/>
              <a:defRPr sz="800" b="0" i="0" u="none" strike="noStrike" cap="none">
                <a:solidFill>
                  <a:schemeClr val="lt1"/>
                </a:solidFill>
                <a:latin typeface="Century Gothic"/>
                <a:ea typeface="Century Gothic"/>
                <a:cs typeface="Century Gothic"/>
                <a:sym typeface="Century Gothic"/>
              </a:defRPr>
            </a:lvl7pPr>
            <a:lvl8pPr marL="0" marR="0" lvl="7" indent="0" algn="r" rtl="0">
              <a:spcBef>
                <a:spcPts val="0"/>
              </a:spcBef>
              <a:buNone/>
              <a:defRPr sz="800" b="0" i="0" u="none" strike="noStrike" cap="none">
                <a:solidFill>
                  <a:schemeClr val="lt1"/>
                </a:solidFill>
                <a:latin typeface="Century Gothic"/>
                <a:ea typeface="Century Gothic"/>
                <a:cs typeface="Century Gothic"/>
                <a:sym typeface="Century Gothic"/>
              </a:defRPr>
            </a:lvl8pPr>
            <a:lvl9pPr marL="0" marR="0" lvl="8" indent="0" algn="r" rtl="0">
              <a:spcBef>
                <a:spcPts val="0"/>
              </a:spcBef>
              <a:buNone/>
              <a:defRPr sz="80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geeksforgeeks.org/c-sharp/switch-statement-in-c-sharp/"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www.tutorialspoint.com/csharp/csharp_while_loop.htm"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hyperlink" Target="https://www.tutorialspoint.com/csharp/csharp_nested_loops.htm" TargetMode="External"/><Relationship Id="rId5" Type="http://schemas.openxmlformats.org/officeDocument/2006/relationships/hyperlink" Target="https://www.tutorialspoint.com/csharp/csharp_do_while_loop.htm" TargetMode="External"/><Relationship Id="rId4" Type="http://schemas.openxmlformats.org/officeDocument/2006/relationships/hyperlink" Target="https://www.tutorialspoint.com/csharp/csharp_for_loop.htm" TargetMode="External"/></Relationships>
</file>

<file path=ppt/slides/_rels/slide8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https://www.tutorialspoint.com/csharp/csharp_while_loop.htm"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hyperlink" Target="https://www.google.com/search?sca_esv=3aa6d84c464b4bf8&amp;sxsrf=AE3TifO3e0lFfYqwfR2qjo_rI0dphFEmEA%3A1761612020353&amp;q=method+hiding&amp;source=lnms&amp;fbs=AIIjpHyTFN8BbSyNXQ3oA-fn7H5N0_alFIlVM3Dsmdj_aHzoLxwxLLLCfPzthQs1CuDx_B8WamW5o1wd-yypcJ6bwqaJjTHwbmyr06K2lODYy1AigqGjDs4RwGE6djvM3g8BdBA8K4ZO_Hq2oGJiH41tspkAm7ejNlSKKq90L2GH26J6MxtBy7iZ8cOadWJJtK316yZ04xGnyC0P1QR1Q1VXeOn7-he1Q7HgDcMXB4mU5rMGShdq7sI&amp;sa=X&amp;ved=2ahUKEwiu67iX1MWQAxXRcGwGHZtqCRsQgK4QegQICRAB&amp;biw=1600&amp;bih=773&amp;dpr=1&amp;mstk=AUtExfAvHc2jrvfSFYArYOS-b8rCmI7FPex73nUws3UymmiIGW3BfBCfntLe2Se4ahm5TXE7ArLgMRhHIrGW5poQjs3qElHE-LU-deNAN6e2DrFqT7t5DL__U41g2AXxT3mFq9gLyxCHT_r7eOsZ-9mHTukoVijvbbi_3byKvIZ-q01_Qabh-ID_uKSRJwU0KHJ2eSKVx8lXcO2sn5oPaS8wRahWFvYIP6cNP4jSqDhYoPoDgAI4i89DN2CwX73Zsc6JJ90dLrCszYesIX5aupxeeuIms3Wgd0gkYU4V41PFAfOWAw&amp;csui=3" TargetMode="External"/><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4500"/>
              <a:buFont typeface="Century Gothic"/>
              <a:buNone/>
            </a:pPr>
            <a:r>
              <a:rPr lang="en"/>
              <a:t>C# INTRODUCTION</a:t>
            </a:r>
            <a:endParaRPr/>
          </a:p>
        </p:txBody>
      </p:sp>
      <p:sp>
        <p:nvSpPr>
          <p:cNvPr id="196" name="Google Shape;196;p32"/>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3"/>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lt1"/>
              </a:buClr>
              <a:buSzPts val="3000"/>
              <a:buFont typeface="Century Gothic"/>
              <a:buNone/>
            </a:pPr>
            <a:r>
              <a:rPr lang="en" b="1"/>
              <a:t>C# OVERVIEW</a:t>
            </a:r>
            <a:endParaRPr/>
          </a:p>
        </p:txBody>
      </p:sp>
      <p:sp>
        <p:nvSpPr>
          <p:cNvPr id="202" name="Google Shape;202;p33"/>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lt1"/>
              </a:buClr>
              <a:buSzPts val="1500"/>
              <a:buChar char="•"/>
            </a:pPr>
            <a:r>
              <a:rPr lang="en" sz="1500"/>
              <a:t>C# (pronounced “C-Sharp”) is a modern, general-purpose, object-oriented programming language developed by Microsoft in 2000 as part of its </a:t>
            </a:r>
            <a:r>
              <a:rPr lang="en" sz="1500" b="1"/>
              <a:t>.Net, </a:t>
            </a:r>
            <a:r>
              <a:rPr lang="en" sz="1500"/>
              <a:t>which aimed to create a unified platform for building a wide range of applications.</a:t>
            </a:r>
            <a:endParaRPr/>
          </a:p>
          <a:p>
            <a:pPr marL="177800" lvl="0" indent="-171450" algn="l" rtl="0">
              <a:lnSpc>
                <a:spcPct val="90000"/>
              </a:lnSpc>
              <a:spcBef>
                <a:spcPts val="800"/>
              </a:spcBef>
              <a:spcAft>
                <a:spcPts val="0"/>
              </a:spcAft>
              <a:buClr>
                <a:schemeClr val="lt1"/>
              </a:buClr>
              <a:buSzPts val="1500"/>
              <a:buChar char="•"/>
            </a:pPr>
            <a:r>
              <a:rPr lang="en" sz="1500"/>
              <a:t>C# is a </a:t>
            </a:r>
            <a:r>
              <a:rPr lang="en" sz="1500" b="1"/>
              <a:t>high-level, object-oriented programming language </a:t>
            </a:r>
            <a:r>
              <a:rPr lang="en" sz="1500"/>
              <a:t>that is designed for building a wide range of applications.</a:t>
            </a:r>
            <a:endParaRPr/>
          </a:p>
          <a:p>
            <a:pPr marL="177800" lvl="0" indent="-171450" algn="l" rtl="0">
              <a:lnSpc>
                <a:spcPct val="90000"/>
              </a:lnSpc>
              <a:spcBef>
                <a:spcPts val="800"/>
              </a:spcBef>
              <a:spcAft>
                <a:spcPts val="0"/>
              </a:spcAft>
              <a:buClr>
                <a:schemeClr val="lt1"/>
              </a:buClr>
              <a:buSzPts val="1500"/>
              <a:buChar char="•"/>
            </a:pPr>
            <a:r>
              <a:rPr lang="en" sz="1500"/>
              <a:t>C# is frequently used for </a:t>
            </a:r>
            <a:r>
              <a:rPr lang="en" sz="1500" b="1"/>
              <a:t>Windows application, Web Application, Game Development, Mobile Apps and Cloud-based Services</a:t>
            </a:r>
            <a:r>
              <a:rPr lang="en" sz="1500"/>
              <a:t>.</a:t>
            </a:r>
            <a:endParaRPr/>
          </a:p>
          <a:p>
            <a:pPr marL="177800" lvl="0" indent="-171450" algn="l" rtl="0">
              <a:lnSpc>
                <a:spcPct val="90000"/>
              </a:lnSpc>
              <a:spcBef>
                <a:spcPts val="800"/>
              </a:spcBef>
              <a:spcAft>
                <a:spcPts val="0"/>
              </a:spcAft>
              <a:buClr>
                <a:schemeClr val="lt1"/>
              </a:buClr>
              <a:buSzPts val="1500"/>
              <a:buChar char="•"/>
            </a:pPr>
            <a:r>
              <a:rPr lang="en" sz="1500"/>
              <a:t>It runs on the </a:t>
            </a:r>
            <a:r>
              <a:rPr lang="en" sz="1500" b="1"/>
              <a:t>.Net platform </a:t>
            </a:r>
            <a:r>
              <a:rPr lang="en" sz="1500"/>
              <a:t>and combines the productivity of rapid application development languages with the power of more complex languages like C++.</a:t>
            </a:r>
            <a:endParaRPr/>
          </a:p>
          <a:p>
            <a:pPr marL="177800" lvl="0" indent="-76200" algn="l" rtl="0">
              <a:lnSpc>
                <a:spcPct val="90000"/>
              </a:lnSpc>
              <a:spcBef>
                <a:spcPts val="800"/>
              </a:spcBef>
              <a:spcAft>
                <a:spcPts val="0"/>
              </a:spcAft>
              <a:buClr>
                <a:schemeClr val="lt1"/>
              </a:buClr>
              <a:buSzPts val="1500"/>
              <a:buNone/>
            </a:pP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4"/>
          <p:cNvSpPr txBox="1">
            <a:spLocks noGrp="1"/>
          </p:cNvSpPr>
          <p:nvPr>
            <p:ph type="title"/>
          </p:nvPr>
        </p:nvSpPr>
        <p:spPr>
          <a:xfrm>
            <a:off x="685331" y="463889"/>
            <a:ext cx="7773338" cy="467772"/>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lt1"/>
              </a:buClr>
              <a:buSzPct val="100000"/>
              <a:buFont typeface="Century Gothic"/>
              <a:buNone/>
            </a:pPr>
            <a:r>
              <a:rPr lang="en" b="1"/>
              <a:t>KEY CHARACTERISTICS OF C#</a:t>
            </a:r>
            <a:endParaRPr/>
          </a:p>
        </p:txBody>
      </p:sp>
      <p:sp>
        <p:nvSpPr>
          <p:cNvPr id="208" name="Google Shape;208;p34"/>
          <p:cNvSpPr txBox="1">
            <a:spLocks noGrp="1"/>
          </p:cNvSpPr>
          <p:nvPr>
            <p:ph type="body" idx="1"/>
          </p:nvPr>
        </p:nvSpPr>
        <p:spPr>
          <a:xfrm>
            <a:off x="828220" y="931660"/>
            <a:ext cx="6709906" cy="4003272"/>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lt1"/>
              </a:buClr>
              <a:buSzPts val="1400"/>
              <a:buNone/>
            </a:pPr>
            <a:r>
              <a:rPr lang="en" sz="1400" b="1">
                <a:latin typeface="Calibri"/>
                <a:ea typeface="Calibri"/>
                <a:cs typeface="Calibri"/>
                <a:sym typeface="Calibri"/>
              </a:rPr>
              <a:t>1. Object-Oriented</a:t>
            </a:r>
            <a:endParaRPr/>
          </a:p>
          <a:p>
            <a:pPr marL="177800" lvl="0" indent="-177800" algn="l" rtl="0">
              <a:lnSpc>
                <a:spcPct val="90000"/>
              </a:lnSpc>
              <a:spcBef>
                <a:spcPts val="800"/>
              </a:spcBef>
              <a:spcAft>
                <a:spcPts val="0"/>
              </a:spcAft>
              <a:buClr>
                <a:schemeClr val="lt1"/>
              </a:buClr>
              <a:buSzPts val="1400"/>
              <a:buChar char="•"/>
            </a:pPr>
            <a:r>
              <a:rPr lang="en" sz="1400">
                <a:latin typeface="Calibri"/>
                <a:ea typeface="Calibri"/>
                <a:cs typeface="Calibri"/>
                <a:sym typeface="Calibri"/>
              </a:rPr>
              <a:t>C# is </a:t>
            </a:r>
            <a:r>
              <a:rPr lang="en" sz="1400" b="1">
                <a:latin typeface="Calibri"/>
                <a:ea typeface="Calibri"/>
                <a:cs typeface="Calibri"/>
                <a:sym typeface="Calibri"/>
              </a:rPr>
              <a:t>fully object-oriented</a:t>
            </a:r>
            <a:r>
              <a:rPr lang="en" sz="1400">
                <a:latin typeface="Calibri"/>
                <a:ea typeface="Calibri"/>
                <a:cs typeface="Calibri"/>
                <a:sym typeface="Calibri"/>
              </a:rPr>
              <a:t>, meaning everything revolves around </a:t>
            </a:r>
            <a:r>
              <a:rPr lang="en" sz="1400" b="1">
                <a:latin typeface="Calibri"/>
                <a:ea typeface="Calibri"/>
                <a:cs typeface="Calibri"/>
                <a:sym typeface="Calibri"/>
              </a:rPr>
              <a:t>classes and objects</a:t>
            </a:r>
            <a:r>
              <a:rPr lang="en" sz="1400">
                <a:latin typeface="Calibri"/>
                <a:ea typeface="Calibri"/>
                <a:cs typeface="Calibri"/>
                <a:sym typeface="Calibri"/>
              </a:rPr>
              <a:t>.</a:t>
            </a:r>
            <a:endParaRPr/>
          </a:p>
          <a:p>
            <a:pPr marL="177800" lvl="0" indent="-177800" algn="l" rtl="0">
              <a:lnSpc>
                <a:spcPct val="90000"/>
              </a:lnSpc>
              <a:spcBef>
                <a:spcPts val="800"/>
              </a:spcBef>
              <a:spcAft>
                <a:spcPts val="0"/>
              </a:spcAft>
              <a:buClr>
                <a:schemeClr val="lt1"/>
              </a:buClr>
              <a:buSzPts val="1400"/>
              <a:buChar char="•"/>
            </a:pPr>
            <a:r>
              <a:rPr lang="en" sz="1400">
                <a:latin typeface="Calibri"/>
                <a:ea typeface="Calibri"/>
                <a:cs typeface="Calibri"/>
                <a:sym typeface="Calibri"/>
              </a:rPr>
              <a:t>Supports </a:t>
            </a:r>
            <a:r>
              <a:rPr lang="en" sz="1400" b="1">
                <a:latin typeface="Calibri"/>
                <a:ea typeface="Calibri"/>
                <a:cs typeface="Calibri"/>
                <a:sym typeface="Calibri"/>
              </a:rPr>
              <a:t>inheritance, polymorphism, encapsulation, and abstraction</a:t>
            </a:r>
            <a:r>
              <a:rPr lang="en" sz="1400">
                <a:latin typeface="Calibri"/>
                <a:ea typeface="Calibri"/>
                <a:cs typeface="Calibri"/>
                <a:sym typeface="Calibri"/>
              </a:rPr>
              <a:t>.</a:t>
            </a:r>
            <a:endParaRPr/>
          </a:p>
          <a:p>
            <a:pPr marL="0" lvl="0" indent="0" algn="l" rtl="0">
              <a:lnSpc>
                <a:spcPct val="90000"/>
              </a:lnSpc>
              <a:spcBef>
                <a:spcPts val="800"/>
              </a:spcBef>
              <a:spcAft>
                <a:spcPts val="0"/>
              </a:spcAft>
              <a:buClr>
                <a:schemeClr val="lt1"/>
              </a:buClr>
              <a:buSzPts val="1400"/>
              <a:buNone/>
            </a:pPr>
            <a:r>
              <a:rPr lang="en" sz="1400" b="1">
                <a:latin typeface="Calibri"/>
                <a:ea typeface="Calibri"/>
                <a:cs typeface="Calibri"/>
                <a:sym typeface="Calibri"/>
              </a:rPr>
              <a:t>2. Modern and General-Purpose</a:t>
            </a:r>
            <a:endParaRPr/>
          </a:p>
          <a:p>
            <a:pPr marL="177800" lvl="0" indent="-177800" algn="l" rtl="0">
              <a:lnSpc>
                <a:spcPct val="90000"/>
              </a:lnSpc>
              <a:spcBef>
                <a:spcPts val="800"/>
              </a:spcBef>
              <a:spcAft>
                <a:spcPts val="0"/>
              </a:spcAft>
              <a:buClr>
                <a:schemeClr val="lt1"/>
              </a:buClr>
              <a:buSzPts val="1400"/>
              <a:buChar char="•"/>
            </a:pPr>
            <a:r>
              <a:rPr lang="en" sz="1400">
                <a:latin typeface="Calibri"/>
                <a:ea typeface="Calibri"/>
                <a:cs typeface="Calibri"/>
                <a:sym typeface="Calibri"/>
              </a:rPr>
              <a:t>C# was designed to be </a:t>
            </a:r>
            <a:r>
              <a:rPr lang="en" sz="1400" b="1">
                <a:latin typeface="Calibri"/>
                <a:ea typeface="Calibri"/>
                <a:cs typeface="Calibri"/>
                <a:sym typeface="Calibri"/>
              </a:rPr>
              <a:t>modern</a:t>
            </a:r>
            <a:r>
              <a:rPr lang="en" sz="1400">
                <a:latin typeface="Calibri"/>
                <a:ea typeface="Calibri"/>
                <a:cs typeface="Calibri"/>
                <a:sym typeface="Calibri"/>
              </a:rPr>
              <a:t>, keeping up with programming trends.</a:t>
            </a:r>
            <a:endParaRPr/>
          </a:p>
          <a:p>
            <a:pPr marL="177800" lvl="0" indent="-177800" algn="l" rtl="0">
              <a:lnSpc>
                <a:spcPct val="90000"/>
              </a:lnSpc>
              <a:spcBef>
                <a:spcPts val="800"/>
              </a:spcBef>
              <a:spcAft>
                <a:spcPts val="0"/>
              </a:spcAft>
              <a:buClr>
                <a:schemeClr val="lt1"/>
              </a:buClr>
              <a:buSzPts val="1400"/>
              <a:buChar char="•"/>
            </a:pPr>
            <a:r>
              <a:rPr lang="en" sz="1400" b="1">
                <a:latin typeface="Calibri"/>
                <a:ea typeface="Calibri"/>
                <a:cs typeface="Calibri"/>
                <a:sym typeface="Calibri"/>
              </a:rPr>
              <a:t>General-purpose</a:t>
            </a:r>
            <a:r>
              <a:rPr lang="en" sz="1400">
                <a:latin typeface="Calibri"/>
                <a:ea typeface="Calibri"/>
                <a:cs typeface="Calibri"/>
                <a:sym typeface="Calibri"/>
              </a:rPr>
              <a:t>: Can be used for </a:t>
            </a:r>
            <a:r>
              <a:rPr lang="en" sz="1400" b="1">
                <a:latin typeface="Calibri"/>
                <a:ea typeface="Calibri"/>
                <a:cs typeface="Calibri"/>
                <a:sym typeface="Calibri"/>
              </a:rPr>
              <a:t>Windows apps, web apps, mobile apps, games, and cloud services</a:t>
            </a:r>
            <a:r>
              <a:rPr lang="en" sz="1400">
                <a:latin typeface="Calibri"/>
                <a:ea typeface="Calibri"/>
                <a:cs typeface="Calibri"/>
                <a:sym typeface="Calibri"/>
              </a:rPr>
              <a:t>.</a:t>
            </a:r>
            <a:endParaRPr/>
          </a:p>
          <a:p>
            <a:pPr marL="0" lvl="0" indent="0" algn="l" rtl="0">
              <a:lnSpc>
                <a:spcPct val="90000"/>
              </a:lnSpc>
              <a:spcBef>
                <a:spcPts val="800"/>
              </a:spcBef>
              <a:spcAft>
                <a:spcPts val="0"/>
              </a:spcAft>
              <a:buClr>
                <a:schemeClr val="lt1"/>
              </a:buClr>
              <a:buSzPts val="1400"/>
              <a:buNone/>
            </a:pPr>
            <a:r>
              <a:rPr lang="en" sz="1400" b="1">
                <a:latin typeface="Calibri"/>
                <a:ea typeface="Calibri"/>
                <a:cs typeface="Calibri"/>
                <a:sym typeface="Calibri"/>
              </a:rPr>
              <a:t>3. Type-Safe</a:t>
            </a:r>
            <a:endParaRPr/>
          </a:p>
          <a:p>
            <a:pPr marL="177800" lvl="0" indent="-177800" algn="l" rtl="0">
              <a:lnSpc>
                <a:spcPct val="90000"/>
              </a:lnSpc>
              <a:spcBef>
                <a:spcPts val="800"/>
              </a:spcBef>
              <a:spcAft>
                <a:spcPts val="0"/>
              </a:spcAft>
              <a:buClr>
                <a:schemeClr val="lt1"/>
              </a:buClr>
              <a:buSzPts val="1400"/>
              <a:buChar char="•"/>
            </a:pPr>
            <a:r>
              <a:rPr lang="en" sz="1400">
                <a:latin typeface="Calibri"/>
                <a:ea typeface="Calibri"/>
                <a:cs typeface="Calibri"/>
                <a:sym typeface="Calibri"/>
              </a:rPr>
              <a:t>C# is a </a:t>
            </a:r>
            <a:r>
              <a:rPr lang="en" sz="1400" b="1">
                <a:latin typeface="Calibri"/>
                <a:ea typeface="Calibri"/>
                <a:cs typeface="Calibri"/>
                <a:sym typeface="Calibri"/>
              </a:rPr>
              <a:t>strongly typed language</a:t>
            </a:r>
            <a:r>
              <a:rPr lang="en" sz="1400">
                <a:latin typeface="Calibri"/>
                <a:ea typeface="Calibri"/>
                <a:cs typeface="Calibri"/>
                <a:sym typeface="Calibri"/>
              </a:rPr>
              <a:t>, which prevents </a:t>
            </a:r>
            <a:r>
              <a:rPr lang="en" sz="1400" b="1">
                <a:latin typeface="Calibri"/>
                <a:ea typeface="Calibri"/>
                <a:cs typeface="Calibri"/>
                <a:sym typeface="Calibri"/>
              </a:rPr>
              <a:t>type errors</a:t>
            </a:r>
            <a:r>
              <a:rPr lang="en" sz="1400">
                <a:latin typeface="Calibri"/>
                <a:ea typeface="Calibri"/>
                <a:cs typeface="Calibri"/>
                <a:sym typeface="Calibri"/>
              </a:rPr>
              <a:t> at compile time.</a:t>
            </a:r>
            <a:endParaRPr/>
          </a:p>
          <a:p>
            <a:pPr marL="177800" lvl="0" indent="-177800" algn="l" rtl="0">
              <a:lnSpc>
                <a:spcPct val="90000"/>
              </a:lnSpc>
              <a:spcBef>
                <a:spcPts val="800"/>
              </a:spcBef>
              <a:spcAft>
                <a:spcPts val="0"/>
              </a:spcAft>
              <a:buClr>
                <a:schemeClr val="lt1"/>
              </a:buClr>
              <a:buSzPts val="1400"/>
              <a:buChar char="•"/>
            </a:pPr>
            <a:r>
              <a:rPr lang="en" sz="1400">
                <a:latin typeface="Calibri"/>
                <a:ea typeface="Calibri"/>
                <a:cs typeface="Calibri"/>
                <a:sym typeface="Calibri"/>
              </a:rPr>
              <a:t>Example: You cannot store a string in an integer variable without conversion.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5"/>
          <p:cNvSpPr txBox="1">
            <a:spLocks noGrp="1"/>
          </p:cNvSpPr>
          <p:nvPr>
            <p:ph type="body" idx="1"/>
          </p:nvPr>
        </p:nvSpPr>
        <p:spPr>
          <a:xfrm>
            <a:off x="628650" y="390499"/>
            <a:ext cx="7886700" cy="4605019"/>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lt1"/>
              </a:buClr>
              <a:buSzPts val="1300"/>
              <a:buNone/>
            </a:pPr>
            <a:r>
              <a:rPr lang="en" sz="1300" b="1">
                <a:latin typeface="Calibri"/>
                <a:ea typeface="Calibri"/>
                <a:cs typeface="Calibri"/>
                <a:sym typeface="Calibri"/>
              </a:rPr>
              <a:t>4. Component-Oriented</a:t>
            </a:r>
            <a:endParaRPr/>
          </a:p>
          <a:p>
            <a:pPr marL="177800" lvl="0" indent="-184150" algn="l" rtl="0">
              <a:lnSpc>
                <a:spcPct val="90000"/>
              </a:lnSpc>
              <a:spcBef>
                <a:spcPts val="800"/>
              </a:spcBef>
              <a:spcAft>
                <a:spcPts val="0"/>
              </a:spcAft>
              <a:buClr>
                <a:schemeClr val="lt1"/>
              </a:buClr>
              <a:buSzPts val="1300"/>
              <a:buChar char="•"/>
            </a:pPr>
            <a:r>
              <a:rPr lang="en" sz="1300">
                <a:latin typeface="Calibri"/>
                <a:ea typeface="Calibri"/>
                <a:cs typeface="Calibri"/>
                <a:sym typeface="Calibri"/>
              </a:rPr>
              <a:t>C# is a </a:t>
            </a:r>
            <a:r>
              <a:rPr lang="en" sz="1300" b="1">
                <a:latin typeface="Calibri"/>
                <a:ea typeface="Calibri"/>
                <a:cs typeface="Calibri"/>
                <a:sym typeface="Calibri"/>
              </a:rPr>
              <a:t>component-oriented language</a:t>
            </a:r>
            <a:r>
              <a:rPr lang="en" sz="1300">
                <a:latin typeface="Calibri"/>
                <a:ea typeface="Calibri"/>
                <a:cs typeface="Calibri"/>
                <a:sym typeface="Calibri"/>
              </a:rPr>
              <a:t>, which means it supports building </a:t>
            </a:r>
            <a:r>
              <a:rPr lang="en" sz="1300" b="1">
                <a:latin typeface="Calibri"/>
                <a:ea typeface="Calibri"/>
                <a:cs typeface="Calibri"/>
                <a:sym typeface="Calibri"/>
              </a:rPr>
              <a:t>reusable, self-contained pieces of code</a:t>
            </a:r>
            <a:r>
              <a:rPr lang="en" sz="1300">
                <a:latin typeface="Calibri"/>
                <a:ea typeface="Calibri"/>
                <a:cs typeface="Calibri"/>
                <a:sym typeface="Calibri"/>
              </a:rPr>
              <a:t> called components.</a:t>
            </a:r>
            <a:endParaRPr/>
          </a:p>
          <a:p>
            <a:pPr marL="177800" lvl="0" indent="-184150" algn="l" rtl="0">
              <a:lnSpc>
                <a:spcPct val="90000"/>
              </a:lnSpc>
              <a:spcBef>
                <a:spcPts val="800"/>
              </a:spcBef>
              <a:spcAft>
                <a:spcPts val="0"/>
              </a:spcAft>
              <a:buClr>
                <a:schemeClr val="lt1"/>
              </a:buClr>
              <a:buSzPts val="1300"/>
              <a:buChar char="•"/>
            </a:pPr>
            <a:r>
              <a:rPr lang="en" sz="1300">
                <a:latin typeface="Calibri"/>
                <a:ea typeface="Calibri"/>
                <a:cs typeface="Calibri"/>
                <a:sym typeface="Calibri"/>
              </a:rPr>
              <a:t>Each component performs a specific function and can be easily </a:t>
            </a:r>
            <a:r>
              <a:rPr lang="en" sz="1300" b="1">
                <a:latin typeface="Calibri"/>
                <a:ea typeface="Calibri"/>
                <a:cs typeface="Calibri"/>
                <a:sym typeface="Calibri"/>
              </a:rPr>
              <a:t>combined, replaced, or reused</a:t>
            </a:r>
            <a:r>
              <a:rPr lang="en" sz="1300">
                <a:latin typeface="Calibri"/>
                <a:ea typeface="Calibri"/>
                <a:cs typeface="Calibri"/>
                <a:sym typeface="Calibri"/>
              </a:rPr>
              <a:t> in different applications.</a:t>
            </a:r>
            <a:br>
              <a:rPr lang="en" sz="1300">
                <a:latin typeface="Calibri"/>
                <a:ea typeface="Calibri"/>
                <a:cs typeface="Calibri"/>
                <a:sym typeface="Calibri"/>
              </a:rPr>
            </a:br>
            <a:endParaRPr sz="1300">
              <a:latin typeface="Calibri"/>
              <a:ea typeface="Calibri"/>
              <a:cs typeface="Calibri"/>
              <a:sym typeface="Calibri"/>
            </a:endParaRPr>
          </a:p>
          <a:p>
            <a:pPr marL="0" lvl="0" indent="0" algn="l" rtl="0">
              <a:lnSpc>
                <a:spcPct val="90000"/>
              </a:lnSpc>
              <a:spcBef>
                <a:spcPts val="800"/>
              </a:spcBef>
              <a:spcAft>
                <a:spcPts val="0"/>
              </a:spcAft>
              <a:buClr>
                <a:schemeClr val="lt1"/>
              </a:buClr>
              <a:buSzPts val="1300"/>
              <a:buNone/>
            </a:pPr>
            <a:r>
              <a:rPr lang="en" sz="1300" b="1">
                <a:latin typeface="Calibri"/>
                <a:ea typeface="Calibri"/>
                <a:cs typeface="Calibri"/>
                <a:sym typeface="Calibri"/>
              </a:rPr>
              <a:t>5. Part of .NET Framework</a:t>
            </a:r>
            <a:endParaRPr/>
          </a:p>
          <a:p>
            <a:pPr marL="177800" lvl="0" indent="-184150" algn="l" rtl="0">
              <a:lnSpc>
                <a:spcPct val="90000"/>
              </a:lnSpc>
              <a:spcBef>
                <a:spcPts val="800"/>
              </a:spcBef>
              <a:spcAft>
                <a:spcPts val="0"/>
              </a:spcAft>
              <a:buClr>
                <a:schemeClr val="lt1"/>
              </a:buClr>
              <a:buSzPts val="1300"/>
              <a:buChar char="•"/>
            </a:pPr>
            <a:r>
              <a:rPr lang="en" sz="1300">
                <a:latin typeface="Calibri"/>
                <a:ea typeface="Calibri"/>
                <a:cs typeface="Calibri"/>
                <a:sym typeface="Calibri"/>
              </a:rPr>
              <a:t>Runs on the </a:t>
            </a:r>
            <a:r>
              <a:rPr lang="en" sz="1300" b="1">
                <a:latin typeface="Calibri"/>
                <a:ea typeface="Calibri"/>
                <a:cs typeface="Calibri"/>
                <a:sym typeface="Calibri"/>
              </a:rPr>
              <a:t>.NET platform</a:t>
            </a:r>
            <a:r>
              <a:rPr lang="en" sz="1300">
                <a:latin typeface="Calibri"/>
                <a:ea typeface="Calibri"/>
                <a:cs typeface="Calibri"/>
                <a:sym typeface="Calibri"/>
              </a:rPr>
              <a:t>, which provides:</a:t>
            </a:r>
            <a:endParaRPr/>
          </a:p>
          <a:p>
            <a:pPr marL="520700" lvl="1" indent="-184150" algn="l" rtl="0">
              <a:lnSpc>
                <a:spcPct val="90000"/>
              </a:lnSpc>
              <a:spcBef>
                <a:spcPts val="400"/>
              </a:spcBef>
              <a:spcAft>
                <a:spcPts val="0"/>
              </a:spcAft>
              <a:buClr>
                <a:schemeClr val="lt1"/>
              </a:buClr>
              <a:buSzPts val="1300"/>
              <a:buChar char="•"/>
            </a:pPr>
            <a:r>
              <a:rPr lang="en" sz="1300">
                <a:latin typeface="Calibri"/>
                <a:ea typeface="Calibri"/>
                <a:cs typeface="Calibri"/>
                <a:sym typeface="Calibri"/>
              </a:rPr>
              <a:t>Memory management (garbage collection)</a:t>
            </a:r>
            <a:endParaRPr/>
          </a:p>
          <a:p>
            <a:pPr marL="520700" lvl="1" indent="-184150" algn="l" rtl="0">
              <a:lnSpc>
                <a:spcPct val="90000"/>
              </a:lnSpc>
              <a:spcBef>
                <a:spcPts val="400"/>
              </a:spcBef>
              <a:spcAft>
                <a:spcPts val="0"/>
              </a:spcAft>
              <a:buClr>
                <a:schemeClr val="lt1"/>
              </a:buClr>
              <a:buSzPts val="1300"/>
              <a:buChar char="•"/>
            </a:pPr>
            <a:r>
              <a:rPr lang="en" sz="1300">
                <a:latin typeface="Calibri"/>
                <a:ea typeface="Calibri"/>
                <a:cs typeface="Calibri"/>
                <a:sym typeface="Calibri"/>
              </a:rPr>
              <a:t>Security</a:t>
            </a:r>
            <a:endParaRPr/>
          </a:p>
          <a:p>
            <a:pPr marL="520700" lvl="1" indent="-184150" algn="l" rtl="0">
              <a:lnSpc>
                <a:spcPct val="90000"/>
              </a:lnSpc>
              <a:spcBef>
                <a:spcPts val="400"/>
              </a:spcBef>
              <a:spcAft>
                <a:spcPts val="0"/>
              </a:spcAft>
              <a:buClr>
                <a:schemeClr val="lt1"/>
              </a:buClr>
              <a:buSzPts val="1300"/>
              <a:buChar char="•"/>
            </a:pPr>
            <a:r>
              <a:rPr lang="en" sz="1300">
                <a:latin typeface="Calibri"/>
                <a:ea typeface="Calibri"/>
                <a:cs typeface="Calibri"/>
                <a:sym typeface="Calibri"/>
              </a:rPr>
              <a:t>Cross-language integration</a:t>
            </a:r>
            <a:endParaRPr/>
          </a:p>
          <a:p>
            <a:pPr marL="520700" lvl="1" indent="-184150" algn="l" rtl="0">
              <a:lnSpc>
                <a:spcPct val="90000"/>
              </a:lnSpc>
              <a:spcBef>
                <a:spcPts val="400"/>
              </a:spcBef>
              <a:spcAft>
                <a:spcPts val="0"/>
              </a:spcAft>
              <a:buClr>
                <a:schemeClr val="lt1"/>
              </a:buClr>
              <a:buSzPts val="1300"/>
              <a:buChar char="•"/>
            </a:pPr>
            <a:r>
              <a:rPr lang="en" sz="1300">
                <a:latin typeface="Calibri"/>
                <a:ea typeface="Calibri"/>
                <a:cs typeface="Calibri"/>
                <a:sym typeface="Calibri"/>
              </a:rPr>
              <a:t>Pre-built libraries for common tasks</a:t>
            </a:r>
            <a:br>
              <a:rPr lang="en" sz="1300">
                <a:latin typeface="Calibri"/>
                <a:ea typeface="Calibri"/>
                <a:cs typeface="Calibri"/>
                <a:sym typeface="Calibri"/>
              </a:rPr>
            </a:br>
            <a:endParaRPr sz="1300">
              <a:latin typeface="Calibri"/>
              <a:ea typeface="Calibri"/>
              <a:cs typeface="Calibri"/>
              <a:sym typeface="Calibri"/>
            </a:endParaRPr>
          </a:p>
          <a:p>
            <a:pPr marL="0" lvl="0" indent="0" algn="l" rtl="0">
              <a:lnSpc>
                <a:spcPct val="90000"/>
              </a:lnSpc>
              <a:spcBef>
                <a:spcPts val="800"/>
              </a:spcBef>
              <a:spcAft>
                <a:spcPts val="0"/>
              </a:spcAft>
              <a:buClr>
                <a:schemeClr val="lt1"/>
              </a:buClr>
              <a:buSzPts val="1300"/>
              <a:buNone/>
            </a:pPr>
            <a:r>
              <a:rPr lang="en" sz="1300" b="1">
                <a:latin typeface="Calibri"/>
                <a:ea typeface="Calibri"/>
                <a:cs typeface="Calibri"/>
                <a:sym typeface="Calibri"/>
              </a:rPr>
              <a:t>6. Interoperable</a:t>
            </a:r>
            <a:endParaRPr/>
          </a:p>
          <a:p>
            <a:pPr marL="177800" lvl="0" indent="-184150" algn="l" rtl="0">
              <a:lnSpc>
                <a:spcPct val="90000"/>
              </a:lnSpc>
              <a:spcBef>
                <a:spcPts val="800"/>
              </a:spcBef>
              <a:spcAft>
                <a:spcPts val="0"/>
              </a:spcAft>
              <a:buClr>
                <a:schemeClr val="lt1"/>
              </a:buClr>
              <a:buSzPts val="1300"/>
              <a:buChar char="•"/>
            </a:pPr>
            <a:r>
              <a:rPr lang="en" sz="1300">
                <a:latin typeface="Calibri"/>
                <a:ea typeface="Calibri"/>
                <a:cs typeface="Calibri"/>
                <a:sym typeface="Calibri"/>
              </a:rPr>
              <a:t>C# is an </a:t>
            </a:r>
            <a:r>
              <a:rPr lang="en" sz="1300" b="1">
                <a:latin typeface="Calibri"/>
                <a:ea typeface="Calibri"/>
                <a:cs typeface="Calibri"/>
                <a:sym typeface="Calibri"/>
              </a:rPr>
              <a:t>interoperable</a:t>
            </a:r>
            <a:r>
              <a:rPr lang="en" sz="1300">
                <a:latin typeface="Calibri"/>
                <a:ea typeface="Calibri"/>
                <a:cs typeface="Calibri"/>
                <a:sym typeface="Calibri"/>
              </a:rPr>
              <a:t> language, which means it can </a:t>
            </a:r>
            <a:r>
              <a:rPr lang="en" sz="1300" b="1">
                <a:latin typeface="Calibri"/>
                <a:ea typeface="Calibri"/>
                <a:cs typeface="Calibri"/>
                <a:sym typeface="Calibri"/>
              </a:rPr>
              <a:t>interact and work with code written in other programming languages</a:t>
            </a:r>
            <a:r>
              <a:rPr lang="en" sz="1300">
                <a:latin typeface="Calibri"/>
                <a:ea typeface="Calibri"/>
                <a:cs typeface="Calibri"/>
                <a:sym typeface="Calibri"/>
              </a:rPr>
              <a:t> such as </a:t>
            </a:r>
            <a:r>
              <a:rPr lang="en" sz="1300" b="1">
                <a:latin typeface="Calibri"/>
                <a:ea typeface="Calibri"/>
                <a:cs typeface="Calibri"/>
                <a:sym typeface="Calibri"/>
              </a:rPr>
              <a:t>C++</a:t>
            </a:r>
            <a:r>
              <a:rPr lang="en" sz="1300">
                <a:latin typeface="Calibri"/>
                <a:ea typeface="Calibri"/>
                <a:cs typeface="Calibri"/>
                <a:sym typeface="Calibri"/>
              </a:rPr>
              <a:t>, </a:t>
            </a:r>
            <a:r>
              <a:rPr lang="en" sz="1300" b="1">
                <a:latin typeface="Calibri"/>
                <a:ea typeface="Calibri"/>
                <a:cs typeface="Calibri"/>
                <a:sym typeface="Calibri"/>
              </a:rPr>
              <a:t>VB.NET.</a:t>
            </a:r>
            <a:endParaRPr/>
          </a:p>
          <a:p>
            <a:pPr marL="177800" lvl="0" indent="-184150" algn="l" rtl="0">
              <a:lnSpc>
                <a:spcPct val="90000"/>
              </a:lnSpc>
              <a:spcBef>
                <a:spcPts val="800"/>
              </a:spcBef>
              <a:spcAft>
                <a:spcPts val="0"/>
              </a:spcAft>
              <a:buClr>
                <a:schemeClr val="lt1"/>
              </a:buClr>
              <a:buSzPts val="1300"/>
              <a:buChar char="•"/>
            </a:pPr>
            <a:r>
              <a:rPr lang="en" sz="1300">
                <a:latin typeface="Calibri"/>
                <a:ea typeface="Calibri"/>
                <a:cs typeface="Calibri"/>
                <a:sym typeface="Calibri"/>
              </a:rPr>
              <a:t>This allows developers to </a:t>
            </a:r>
            <a:r>
              <a:rPr lang="en" sz="1300" b="1">
                <a:latin typeface="Calibri"/>
                <a:ea typeface="Calibri"/>
                <a:cs typeface="Calibri"/>
                <a:sym typeface="Calibri"/>
              </a:rPr>
              <a:t>reuse existing code</a:t>
            </a:r>
            <a:r>
              <a:rPr lang="en" sz="1300">
                <a:latin typeface="Calibri"/>
                <a:ea typeface="Calibri"/>
                <a:cs typeface="Calibri"/>
                <a:sym typeface="Calibri"/>
              </a:rPr>
              <a:t> and </a:t>
            </a:r>
            <a:r>
              <a:rPr lang="en" sz="1300" b="1">
                <a:latin typeface="Calibri"/>
                <a:ea typeface="Calibri"/>
                <a:cs typeface="Calibri"/>
                <a:sym typeface="Calibri"/>
              </a:rPr>
              <a:t>integrate legacy systems</a:t>
            </a:r>
            <a:r>
              <a:rPr lang="en" sz="1300">
                <a:latin typeface="Calibri"/>
                <a:ea typeface="Calibri"/>
                <a:cs typeface="Calibri"/>
                <a:sym typeface="Calibri"/>
              </a:rPr>
              <a:t> without rewriting everything from scratch</a:t>
            </a:r>
            <a:endParaRPr sz="13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6"/>
          <p:cNvSpPr txBox="1">
            <a:spLocks noGrp="1"/>
          </p:cNvSpPr>
          <p:nvPr>
            <p:ph type="body" idx="1"/>
          </p:nvPr>
        </p:nvSpPr>
        <p:spPr>
          <a:xfrm>
            <a:off x="628650" y="761190"/>
            <a:ext cx="7886700" cy="4074761"/>
          </a:xfrm>
          <a:prstGeom prst="rect">
            <a:avLst/>
          </a:prstGeom>
          <a:noFill/>
          <a:ln>
            <a:noFill/>
          </a:ln>
        </p:spPr>
        <p:txBody>
          <a:bodyPr spcFirstLastPara="1" wrap="square" lIns="68575" tIns="34275" rIns="68575" bIns="34275" anchor="t" anchorCtr="0">
            <a:normAutofit fontScale="92500" lnSpcReduction="10000"/>
          </a:bodyPr>
          <a:lstStyle/>
          <a:p>
            <a:pPr marL="0" lvl="0" indent="0" algn="l" rtl="0">
              <a:lnSpc>
                <a:spcPct val="90000"/>
              </a:lnSpc>
              <a:spcBef>
                <a:spcPts val="0"/>
              </a:spcBef>
              <a:spcAft>
                <a:spcPts val="0"/>
              </a:spcAft>
              <a:buClr>
                <a:schemeClr val="lt1"/>
              </a:buClr>
              <a:buSzPct val="100000"/>
              <a:buNone/>
            </a:pPr>
            <a:r>
              <a:rPr lang="en" sz="1500" b="1"/>
              <a:t>7. Scalable and Updatable</a:t>
            </a:r>
            <a:endParaRPr/>
          </a:p>
          <a:p>
            <a:pPr marL="177800" lvl="0" indent="-177006" algn="l" rtl="0">
              <a:lnSpc>
                <a:spcPct val="90000"/>
              </a:lnSpc>
              <a:spcBef>
                <a:spcPts val="800"/>
              </a:spcBef>
              <a:spcAft>
                <a:spcPts val="0"/>
              </a:spcAft>
              <a:buClr>
                <a:schemeClr val="lt1"/>
              </a:buClr>
              <a:buSzPct val="100000"/>
              <a:buChar char="•"/>
            </a:pPr>
            <a:r>
              <a:rPr lang="en" sz="1500"/>
              <a:t>C# is designed to build applications that are </a:t>
            </a:r>
            <a:r>
              <a:rPr lang="en" sz="1500" b="1"/>
              <a:t>scalable</a:t>
            </a:r>
            <a:r>
              <a:rPr lang="en" sz="1500"/>
              <a:t> (able to handle increasing loads or users) and </a:t>
            </a:r>
            <a:r>
              <a:rPr lang="en" sz="1500" b="1"/>
              <a:t>easily updatable</a:t>
            </a:r>
            <a:r>
              <a:rPr lang="en" sz="1500"/>
              <a:t> (can be maintained and improved without major changes).</a:t>
            </a:r>
            <a:endParaRPr/>
          </a:p>
          <a:p>
            <a:pPr marL="177800" lvl="0" indent="-177006" algn="l" rtl="0">
              <a:lnSpc>
                <a:spcPct val="90000"/>
              </a:lnSpc>
              <a:spcBef>
                <a:spcPts val="800"/>
              </a:spcBef>
              <a:spcAft>
                <a:spcPts val="0"/>
              </a:spcAft>
              <a:buClr>
                <a:schemeClr val="lt1"/>
              </a:buClr>
              <a:buSzPct val="100000"/>
              <a:buChar char="•"/>
            </a:pPr>
            <a:r>
              <a:rPr lang="en" sz="1500"/>
              <a:t>This makes C# suitable for everything from </a:t>
            </a:r>
            <a:r>
              <a:rPr lang="en" sz="1500" b="1"/>
              <a:t>small desktop apps</a:t>
            </a:r>
            <a:r>
              <a:rPr lang="en" sz="1500"/>
              <a:t> to </a:t>
            </a:r>
            <a:r>
              <a:rPr lang="en" sz="1500" b="1"/>
              <a:t>large enterprise or cloud-based solutions</a:t>
            </a:r>
            <a:r>
              <a:rPr lang="en" sz="1500"/>
              <a:t>.</a:t>
            </a:r>
            <a:endParaRPr/>
          </a:p>
          <a:p>
            <a:pPr marL="0" lvl="0" indent="0" algn="l" rtl="0">
              <a:lnSpc>
                <a:spcPct val="90000"/>
              </a:lnSpc>
              <a:spcBef>
                <a:spcPts val="800"/>
              </a:spcBef>
              <a:spcAft>
                <a:spcPts val="0"/>
              </a:spcAft>
              <a:buClr>
                <a:schemeClr val="lt1"/>
              </a:buClr>
              <a:buSzPct val="100000"/>
              <a:buNone/>
            </a:pPr>
            <a:r>
              <a:rPr lang="en" sz="1500" b="1"/>
              <a:t>8. Automatic Memory Management</a:t>
            </a:r>
            <a:endParaRPr/>
          </a:p>
          <a:p>
            <a:pPr marL="177800" lvl="0" indent="-177006" algn="l" rtl="0">
              <a:lnSpc>
                <a:spcPct val="90000"/>
              </a:lnSpc>
              <a:spcBef>
                <a:spcPts val="800"/>
              </a:spcBef>
              <a:spcAft>
                <a:spcPts val="0"/>
              </a:spcAft>
              <a:buClr>
                <a:schemeClr val="lt1"/>
              </a:buClr>
              <a:buSzPct val="100000"/>
              <a:buChar char="•"/>
            </a:pPr>
            <a:r>
              <a:rPr lang="en" sz="1500"/>
              <a:t>C# uses an </a:t>
            </a:r>
            <a:r>
              <a:rPr lang="en" sz="1500" b="1"/>
              <a:t>automatic memory management system</a:t>
            </a:r>
            <a:r>
              <a:rPr lang="en" sz="1500"/>
              <a:t> through a process called </a:t>
            </a:r>
            <a:r>
              <a:rPr lang="en" sz="1500" b="1"/>
              <a:t>Garbage Collection (GC)</a:t>
            </a:r>
            <a:r>
              <a:rPr lang="en" sz="1500"/>
              <a:t>.</a:t>
            </a:r>
            <a:endParaRPr/>
          </a:p>
          <a:p>
            <a:pPr marL="177800" lvl="0" indent="-177006" algn="l" rtl="0">
              <a:lnSpc>
                <a:spcPct val="90000"/>
              </a:lnSpc>
              <a:spcBef>
                <a:spcPts val="800"/>
              </a:spcBef>
              <a:spcAft>
                <a:spcPts val="0"/>
              </a:spcAft>
              <a:buClr>
                <a:schemeClr val="lt1"/>
              </a:buClr>
              <a:buSzPct val="100000"/>
              <a:buChar char="•"/>
            </a:pPr>
            <a:r>
              <a:rPr lang="en" sz="1500"/>
              <a:t>This means developers </a:t>
            </a:r>
            <a:r>
              <a:rPr lang="en" sz="1500" b="1"/>
              <a:t>don’t have to manually allocate or free memory</a:t>
            </a:r>
            <a:r>
              <a:rPr lang="en" sz="1500"/>
              <a:t>, as the </a:t>
            </a:r>
            <a:r>
              <a:rPr lang="en" sz="1500" b="1"/>
              <a:t>.NET runtime</a:t>
            </a:r>
            <a:r>
              <a:rPr lang="en" sz="1500"/>
              <a:t> automatically handles it. </a:t>
            </a:r>
            <a:endParaRPr/>
          </a:p>
          <a:p>
            <a:pPr marL="177800" lvl="0" indent="-177006" algn="l" rtl="0">
              <a:lnSpc>
                <a:spcPct val="90000"/>
              </a:lnSpc>
              <a:spcBef>
                <a:spcPts val="800"/>
              </a:spcBef>
              <a:spcAft>
                <a:spcPts val="0"/>
              </a:spcAft>
              <a:buClr>
                <a:schemeClr val="lt1"/>
              </a:buClr>
              <a:buSzPct val="100000"/>
              <a:buChar char="•"/>
            </a:pPr>
            <a:r>
              <a:rPr lang="en" sz="1500" b="1"/>
              <a:t>9. Rich Library Support</a:t>
            </a:r>
            <a:endParaRPr/>
          </a:p>
          <a:p>
            <a:pPr marL="177800" lvl="0" indent="-177006" algn="l" rtl="0">
              <a:lnSpc>
                <a:spcPct val="90000"/>
              </a:lnSpc>
              <a:spcBef>
                <a:spcPts val="800"/>
              </a:spcBef>
              <a:spcAft>
                <a:spcPts val="0"/>
              </a:spcAft>
              <a:buClr>
                <a:schemeClr val="lt1"/>
              </a:buClr>
              <a:buSzPct val="100000"/>
              <a:buChar char="•"/>
            </a:pPr>
            <a:r>
              <a:rPr lang="en" sz="1500"/>
              <a:t>C# provides </a:t>
            </a:r>
            <a:r>
              <a:rPr lang="en" sz="1500" b="1"/>
              <a:t>rich library support</a:t>
            </a:r>
            <a:r>
              <a:rPr lang="en" sz="1500"/>
              <a:t> through the </a:t>
            </a:r>
            <a:r>
              <a:rPr lang="en" sz="1500" b="1"/>
              <a:t>.NET Class Library</a:t>
            </a:r>
            <a:r>
              <a:rPr lang="en" sz="1500"/>
              <a:t>, which contains </a:t>
            </a:r>
            <a:r>
              <a:rPr lang="en" sz="1500" b="1"/>
              <a:t>thousands of pre-built classes, methods, and components</a:t>
            </a:r>
            <a:r>
              <a:rPr lang="en" sz="1500"/>
              <a:t>.</a:t>
            </a:r>
            <a:endParaRPr/>
          </a:p>
          <a:p>
            <a:pPr marL="177800" lvl="0" indent="-177006" algn="l" rtl="0">
              <a:lnSpc>
                <a:spcPct val="90000"/>
              </a:lnSpc>
              <a:spcBef>
                <a:spcPts val="800"/>
              </a:spcBef>
              <a:spcAft>
                <a:spcPts val="0"/>
              </a:spcAft>
              <a:buClr>
                <a:schemeClr val="lt1"/>
              </a:buClr>
              <a:buSzPct val="100000"/>
              <a:buChar char="•"/>
            </a:pPr>
            <a:r>
              <a:rPr lang="en" sz="1500"/>
              <a:t>These libraries help developers perform common tasks — such as file handling, database access, networking, XML processing, and much more — </a:t>
            </a:r>
            <a:r>
              <a:rPr lang="en" sz="1500" b="1"/>
              <a:t>without writing code from scratch</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graphicFrame>
        <p:nvGraphicFramePr>
          <p:cNvPr id="223" name="Google Shape;223;p37"/>
          <p:cNvGraphicFramePr/>
          <p:nvPr/>
        </p:nvGraphicFramePr>
        <p:xfrm>
          <a:off x="565018" y="66676"/>
          <a:ext cx="8258900" cy="4859575"/>
        </p:xfrm>
        <a:graphic>
          <a:graphicData uri="http://schemas.openxmlformats.org/drawingml/2006/table">
            <a:tbl>
              <a:tblPr firstRow="1" bandRow="1">
                <a:noFill/>
                <a:tableStyleId>{AE08A2B5-FEC1-4821-B64D-F3B82E1F7B7F}</a:tableStyleId>
              </a:tblPr>
              <a:tblGrid>
                <a:gridCol w="2064725">
                  <a:extLst>
                    <a:ext uri="{9D8B030D-6E8A-4147-A177-3AD203B41FA5}">
                      <a16:colId xmlns:a16="http://schemas.microsoft.com/office/drawing/2014/main" val="20000"/>
                    </a:ext>
                  </a:extLst>
                </a:gridCol>
                <a:gridCol w="2064725">
                  <a:extLst>
                    <a:ext uri="{9D8B030D-6E8A-4147-A177-3AD203B41FA5}">
                      <a16:colId xmlns:a16="http://schemas.microsoft.com/office/drawing/2014/main" val="20001"/>
                    </a:ext>
                  </a:extLst>
                </a:gridCol>
                <a:gridCol w="2064725">
                  <a:extLst>
                    <a:ext uri="{9D8B030D-6E8A-4147-A177-3AD203B41FA5}">
                      <a16:colId xmlns:a16="http://schemas.microsoft.com/office/drawing/2014/main" val="20002"/>
                    </a:ext>
                  </a:extLst>
                </a:gridCol>
                <a:gridCol w="2064725">
                  <a:extLst>
                    <a:ext uri="{9D8B030D-6E8A-4147-A177-3AD203B41FA5}">
                      <a16:colId xmlns:a16="http://schemas.microsoft.com/office/drawing/2014/main" val="20003"/>
                    </a:ext>
                  </a:extLst>
                </a:gridCol>
              </a:tblGrid>
              <a:tr h="246050">
                <a:tc>
                  <a:txBody>
                    <a:bodyPr/>
                    <a:lstStyle/>
                    <a:p>
                      <a:pPr marL="0" marR="0" lvl="0" indent="0" algn="ctr"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Feature</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ctr"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Description</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ctr"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Example / Explanation</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ctr"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Benefit</a:t>
                      </a:r>
                      <a:endParaRPr sz="1100" u="none" strike="noStrike" cap="none">
                        <a:latin typeface="Calibri"/>
                        <a:ea typeface="Calibri"/>
                        <a:cs typeface="Calibri"/>
                        <a:sym typeface="Calibri"/>
                      </a:endParaRPr>
                    </a:p>
                  </a:txBody>
                  <a:tcPr marL="68600" marR="68600" marT="34300" marB="34300" anchor="ctr"/>
                </a:tc>
                <a:extLst>
                  <a:ext uri="{0D108BD9-81ED-4DB2-BD59-A6C34878D82A}">
                    <a16:rowId xmlns:a16="http://schemas.microsoft.com/office/drawing/2014/main" val="10000"/>
                  </a:ext>
                </a:extLst>
              </a:tr>
              <a:tr h="799675">
                <a:tc>
                  <a:txBody>
                    <a:bodyPr/>
                    <a:lstStyle/>
                    <a:p>
                      <a:pPr marL="0" marR="0" lvl="0" indent="0" algn="l"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1. Type-Safe</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C# is a </a:t>
                      </a:r>
                      <a:r>
                        <a:rPr lang="en" sz="1100" b="1" u="none" strike="noStrike" cap="none">
                          <a:latin typeface="Calibri"/>
                          <a:ea typeface="Calibri"/>
                          <a:cs typeface="Calibri"/>
                          <a:sym typeface="Calibri"/>
                        </a:rPr>
                        <a:t>strongly typed</a:t>
                      </a:r>
                      <a:r>
                        <a:rPr lang="en" sz="1100" u="none" strike="noStrike" cap="none">
                          <a:latin typeface="Calibri"/>
                          <a:ea typeface="Calibri"/>
                          <a:cs typeface="Calibri"/>
                          <a:sym typeface="Calibri"/>
                        </a:rPr>
                        <a:t> language that prevents type errors at compile time.</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You cannot store a string in an integer variable without conversion.</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Ensures data correctness and reduces runtime errors.</a:t>
                      </a:r>
                      <a:endParaRPr sz="1100"/>
                    </a:p>
                  </a:txBody>
                  <a:tcPr marL="68600" marR="68600" marT="34300" marB="34300" anchor="ctr"/>
                </a:tc>
                <a:extLst>
                  <a:ext uri="{0D108BD9-81ED-4DB2-BD59-A6C34878D82A}">
                    <a16:rowId xmlns:a16="http://schemas.microsoft.com/office/drawing/2014/main" val="10001"/>
                  </a:ext>
                </a:extLst>
              </a:tr>
              <a:tr h="799675">
                <a:tc>
                  <a:txBody>
                    <a:bodyPr/>
                    <a:lstStyle/>
                    <a:p>
                      <a:pPr marL="0" marR="0" lvl="0" indent="0" algn="l"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2. Component-Oriented</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Supports building </a:t>
                      </a:r>
                      <a:r>
                        <a:rPr lang="en" sz="1100" b="1" u="none" strike="noStrike" cap="none">
                          <a:latin typeface="Calibri"/>
                          <a:ea typeface="Calibri"/>
                          <a:cs typeface="Calibri"/>
                          <a:sym typeface="Calibri"/>
                        </a:rPr>
                        <a:t>reusable, modular components</a:t>
                      </a:r>
                      <a:r>
                        <a:rPr lang="en" sz="1100" u="none" strike="noStrike" cap="none">
                          <a:latin typeface="Calibri"/>
                          <a:ea typeface="Calibri"/>
                          <a:cs typeface="Calibri"/>
                          <a:sym typeface="Calibri"/>
                        </a:rPr>
                        <a:t> like classes, DLLs, and APIs.</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Example: Creating an </a:t>
                      </a:r>
                      <a:r>
                        <a:rPr lang="en" sz="1100" u="none" strike="noStrike" cap="none">
                          <a:solidFill>
                            <a:schemeClr val="dk1"/>
                          </a:solidFill>
                          <a:latin typeface="Calibri"/>
                          <a:ea typeface="Calibri"/>
                          <a:cs typeface="Calibri"/>
                          <a:sym typeface="Calibri"/>
                        </a:rPr>
                        <a:t>Email Sender</a:t>
                      </a:r>
                      <a:r>
                        <a:rPr lang="en" sz="1100" u="none" strike="noStrike" cap="none">
                          <a:latin typeface="Calibri"/>
                          <a:ea typeface="Calibri"/>
                          <a:cs typeface="Calibri"/>
                          <a:sym typeface="Calibri"/>
                        </a:rPr>
                        <a:t> class and reusing it across projects.</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Promotes reusability and simplifies maintenance.</a:t>
                      </a:r>
                      <a:endParaRPr sz="1100"/>
                    </a:p>
                  </a:txBody>
                  <a:tcPr marL="68600" marR="68600" marT="34300" marB="34300" anchor="ctr"/>
                </a:tc>
                <a:extLst>
                  <a:ext uri="{0D108BD9-81ED-4DB2-BD59-A6C34878D82A}">
                    <a16:rowId xmlns:a16="http://schemas.microsoft.com/office/drawing/2014/main" val="10002"/>
                  </a:ext>
                </a:extLst>
              </a:tr>
              <a:tr h="615150">
                <a:tc>
                  <a:txBody>
                    <a:bodyPr/>
                    <a:lstStyle/>
                    <a:p>
                      <a:pPr marL="0" marR="0" lvl="0" indent="0" algn="l"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3. Interoperable</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C# can </a:t>
                      </a:r>
                      <a:r>
                        <a:rPr lang="en" sz="1100" b="1" u="none" strike="noStrike" cap="none">
                          <a:latin typeface="Calibri"/>
                          <a:ea typeface="Calibri"/>
                          <a:cs typeface="Calibri"/>
                          <a:sym typeface="Calibri"/>
                        </a:rPr>
                        <a:t>interact with other languages</a:t>
                      </a:r>
                      <a:r>
                        <a:rPr lang="en" sz="1100" u="none" strike="noStrike" cap="none">
                          <a:latin typeface="Calibri"/>
                          <a:ea typeface="Calibri"/>
                          <a:cs typeface="Calibri"/>
                          <a:sym typeface="Calibri"/>
                        </a:rPr>
                        <a:t> (e.g., C++, VB.NET, COM).</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Using </a:t>
                      </a:r>
                      <a:r>
                        <a:rPr lang="en" sz="1100" u="none" strike="noStrike" cap="none">
                          <a:solidFill>
                            <a:schemeClr val="dk1"/>
                          </a:solidFill>
                          <a:latin typeface="Calibri"/>
                          <a:ea typeface="Calibri"/>
                          <a:cs typeface="Calibri"/>
                          <a:sym typeface="Calibri"/>
                        </a:rPr>
                        <a:t>Dll Import</a:t>
                      </a:r>
                      <a:r>
                        <a:rPr lang="en" sz="1100" u="none" strike="noStrike" cap="none">
                          <a:latin typeface="Calibri"/>
                          <a:ea typeface="Calibri"/>
                          <a:cs typeface="Calibri"/>
                          <a:sym typeface="Calibri"/>
                        </a:rPr>
                        <a:t> to call C++ functions from C#.</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Enables integration with existing legacy systems.</a:t>
                      </a:r>
                      <a:endParaRPr sz="1100"/>
                    </a:p>
                  </a:txBody>
                  <a:tcPr marL="68600" marR="68600" marT="34300" marB="34300" anchor="ctr"/>
                </a:tc>
                <a:extLst>
                  <a:ext uri="{0D108BD9-81ED-4DB2-BD59-A6C34878D82A}">
                    <a16:rowId xmlns:a16="http://schemas.microsoft.com/office/drawing/2014/main" val="10003"/>
                  </a:ext>
                </a:extLst>
              </a:tr>
              <a:tr h="799675">
                <a:tc>
                  <a:txBody>
                    <a:bodyPr/>
                    <a:lstStyle/>
                    <a:p>
                      <a:pPr marL="0" marR="0" lvl="0" indent="0" algn="l"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4. Scalable &amp; Updatable</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Easily scales from </a:t>
                      </a:r>
                      <a:r>
                        <a:rPr lang="en" sz="1100" b="1" u="none" strike="noStrike" cap="none">
                          <a:latin typeface="Calibri"/>
                          <a:ea typeface="Calibri"/>
                          <a:cs typeface="Calibri"/>
                          <a:sym typeface="Calibri"/>
                        </a:rPr>
                        <a:t>small apps to large enterprise solutions</a:t>
                      </a:r>
                      <a:r>
                        <a:rPr lang="en" sz="1100" u="none" strike="noStrike" cap="none">
                          <a:latin typeface="Calibri"/>
                          <a:ea typeface="Calibri"/>
                          <a:cs typeface="Calibri"/>
                          <a:sym typeface="Calibri"/>
                        </a:rPr>
                        <a:t>.</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Supports </a:t>
                      </a:r>
                      <a:r>
                        <a:rPr lang="en" sz="1100" b="1" u="none" strike="noStrike" cap="none">
                          <a:latin typeface="Calibri"/>
                          <a:ea typeface="Calibri"/>
                          <a:cs typeface="Calibri"/>
                          <a:sym typeface="Calibri"/>
                        </a:rPr>
                        <a:t>async/await</a:t>
                      </a:r>
                      <a:r>
                        <a:rPr lang="en" sz="1100" u="none" strike="noStrike" cap="none">
                          <a:latin typeface="Calibri"/>
                          <a:ea typeface="Calibri"/>
                          <a:cs typeface="Calibri"/>
                          <a:sym typeface="Calibri"/>
                        </a:rPr>
                        <a:t>, multi-threading, and modular architecture.</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Improves performance, flexibility, and maintainability.</a:t>
                      </a:r>
                      <a:endParaRPr sz="1100"/>
                    </a:p>
                  </a:txBody>
                  <a:tcPr marL="68600" marR="68600" marT="34300" marB="34300" anchor="ctr"/>
                </a:tc>
                <a:extLst>
                  <a:ext uri="{0D108BD9-81ED-4DB2-BD59-A6C34878D82A}">
                    <a16:rowId xmlns:a16="http://schemas.microsoft.com/office/drawing/2014/main" val="10004"/>
                  </a:ext>
                </a:extLst>
              </a:tr>
              <a:tr h="799675">
                <a:tc>
                  <a:txBody>
                    <a:bodyPr/>
                    <a:lstStyle/>
                    <a:p>
                      <a:pPr marL="0" marR="0" lvl="0" indent="0" algn="l"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5. Automatic Memory Management</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Uses </a:t>
                      </a:r>
                      <a:r>
                        <a:rPr lang="en" sz="1100" b="1" u="none" strike="noStrike" cap="none">
                          <a:latin typeface="Calibri"/>
                          <a:ea typeface="Calibri"/>
                          <a:cs typeface="Calibri"/>
                          <a:sym typeface="Calibri"/>
                        </a:rPr>
                        <a:t>Garbage Collection</a:t>
                      </a:r>
                      <a:r>
                        <a:rPr lang="en" sz="1100" u="none" strike="noStrike" cap="none">
                          <a:latin typeface="Calibri"/>
                          <a:ea typeface="Calibri"/>
                          <a:cs typeface="Calibri"/>
                          <a:sym typeface="Calibri"/>
                        </a:rPr>
                        <a:t> to free unused memory automatically.</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Developers don’t need to manually use </a:t>
                      </a:r>
                      <a:r>
                        <a:rPr lang="en" sz="1100" u="none" strike="noStrike" cap="none">
                          <a:solidFill>
                            <a:schemeClr val="dk1"/>
                          </a:solidFill>
                          <a:latin typeface="Calibri"/>
                          <a:ea typeface="Calibri"/>
                          <a:cs typeface="Calibri"/>
                          <a:sym typeface="Calibri"/>
                        </a:rPr>
                        <a:t>free() or delete.</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Prevents memory leaks and improves reliability.</a:t>
                      </a:r>
                      <a:endParaRPr sz="1100"/>
                    </a:p>
                  </a:txBody>
                  <a:tcPr marL="68600" marR="68600" marT="34300" marB="34300" anchor="ctr"/>
                </a:tc>
                <a:extLst>
                  <a:ext uri="{0D108BD9-81ED-4DB2-BD59-A6C34878D82A}">
                    <a16:rowId xmlns:a16="http://schemas.microsoft.com/office/drawing/2014/main" val="10005"/>
                  </a:ext>
                </a:extLst>
              </a:tr>
              <a:tr h="799675">
                <a:tc>
                  <a:txBody>
                    <a:bodyPr/>
                    <a:lstStyle/>
                    <a:p>
                      <a:pPr marL="0" marR="0" lvl="0" indent="0" algn="l" rtl="0">
                        <a:spcBef>
                          <a:spcPts val="0"/>
                        </a:spcBef>
                        <a:spcAft>
                          <a:spcPts val="0"/>
                        </a:spcAft>
                        <a:buClr>
                          <a:schemeClr val="lt1"/>
                        </a:buClr>
                        <a:buSzPts val="1100"/>
                        <a:buFont typeface="Calibri"/>
                        <a:buNone/>
                      </a:pPr>
                      <a:r>
                        <a:rPr lang="en" sz="1100" b="1" u="none" strike="noStrike" cap="none">
                          <a:latin typeface="Calibri"/>
                          <a:ea typeface="Calibri"/>
                          <a:cs typeface="Calibri"/>
                          <a:sym typeface="Calibri"/>
                        </a:rPr>
                        <a:t>6. Rich Library Support</a:t>
                      </a:r>
                      <a:endParaRPr sz="1100" u="none" strike="noStrike" cap="none">
                        <a:latin typeface="Calibri"/>
                        <a:ea typeface="Calibri"/>
                        <a:cs typeface="Calibri"/>
                        <a:sym typeface="Calibri"/>
                      </a:endParaRPr>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Provides access to the </a:t>
                      </a:r>
                      <a:r>
                        <a:rPr lang="en" sz="1100" b="1" u="none" strike="noStrike" cap="none">
                          <a:latin typeface="Calibri"/>
                          <a:ea typeface="Calibri"/>
                          <a:cs typeface="Calibri"/>
                          <a:sym typeface="Calibri"/>
                        </a:rPr>
                        <a:t>.NET Class Library</a:t>
                      </a:r>
                      <a:r>
                        <a:rPr lang="en" sz="1100" u="none" strike="noStrike" cap="none">
                          <a:latin typeface="Calibri"/>
                          <a:ea typeface="Calibri"/>
                          <a:cs typeface="Calibri"/>
                          <a:sym typeface="Calibri"/>
                        </a:rPr>
                        <a:t> with thousands of pre-built classes.</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Example: Using </a:t>
                      </a:r>
                      <a:r>
                        <a:rPr lang="en" sz="1100" u="none" strike="noStrike" cap="none">
                          <a:solidFill>
                            <a:schemeClr val="dk1"/>
                          </a:solidFill>
                          <a:latin typeface="Calibri"/>
                          <a:ea typeface="Calibri"/>
                          <a:cs typeface="Calibri"/>
                          <a:sym typeface="Calibri"/>
                        </a:rPr>
                        <a:t>System</a:t>
                      </a:r>
                      <a:r>
                        <a:rPr lang="en" sz="1100" u="none" strike="noStrike" cap="none">
                          <a:latin typeface="Calibri"/>
                          <a:ea typeface="Calibri"/>
                          <a:cs typeface="Calibri"/>
                          <a:sym typeface="Calibri"/>
                        </a:rPr>
                        <a:t>.</a:t>
                      </a:r>
                      <a:r>
                        <a:rPr lang="en" sz="1100" u="none" strike="noStrike" cap="none">
                          <a:solidFill>
                            <a:schemeClr val="dk1"/>
                          </a:solidFill>
                          <a:latin typeface="Calibri"/>
                          <a:ea typeface="Calibri"/>
                          <a:cs typeface="Calibri"/>
                          <a:sym typeface="Calibri"/>
                        </a:rPr>
                        <a:t>IO </a:t>
                      </a:r>
                      <a:r>
                        <a:rPr lang="en" sz="1100" u="none" strike="noStrike" cap="none">
                          <a:latin typeface="Calibri"/>
                          <a:ea typeface="Calibri"/>
                          <a:cs typeface="Calibri"/>
                          <a:sym typeface="Calibri"/>
                        </a:rPr>
                        <a:t>for file handling.</a:t>
                      </a:r>
                      <a:endParaRPr sz="1100"/>
                    </a:p>
                  </a:txBody>
                  <a:tcPr marL="68600" marR="68600" marT="34300" marB="34300" anchor="ctr"/>
                </a:tc>
                <a:tc>
                  <a:txBody>
                    <a:bodyPr/>
                    <a:lstStyle/>
                    <a:p>
                      <a:pPr marL="0" marR="0" lvl="0" indent="0" algn="l" rtl="0">
                        <a:spcBef>
                          <a:spcPts val="0"/>
                        </a:spcBef>
                        <a:spcAft>
                          <a:spcPts val="0"/>
                        </a:spcAft>
                        <a:buClr>
                          <a:schemeClr val="lt1"/>
                        </a:buClr>
                        <a:buSzPts val="1100"/>
                        <a:buFont typeface="Calibri"/>
                        <a:buNone/>
                      </a:pPr>
                      <a:r>
                        <a:rPr lang="en" sz="1100" u="none" strike="noStrike" cap="none">
                          <a:latin typeface="Calibri"/>
                          <a:ea typeface="Calibri"/>
                          <a:cs typeface="Calibri"/>
                          <a:sym typeface="Calibri"/>
                        </a:rPr>
                        <a:t>Speeds up development and ensures reliability.</a:t>
                      </a:r>
                      <a:endParaRPr sz="1100"/>
                    </a:p>
                  </a:txBody>
                  <a:tcPr marL="68600" marR="68600" marT="34300" marB="3430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8"/>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lt1"/>
              </a:buClr>
              <a:buSzPts val="3000"/>
              <a:buFont typeface="Century Gothic"/>
              <a:buNone/>
            </a:pPr>
            <a:r>
              <a:rPr lang="en" b="1"/>
              <a:t>WHY C#</a:t>
            </a:r>
            <a:endParaRPr/>
          </a:p>
        </p:txBody>
      </p:sp>
      <p:sp>
        <p:nvSpPr>
          <p:cNvPr id="229" name="Google Shape;229;p38"/>
          <p:cNvSpPr txBox="1">
            <a:spLocks noGrp="1"/>
          </p:cNvSpPr>
          <p:nvPr>
            <p:ph type="body" idx="1"/>
          </p:nvPr>
        </p:nvSpPr>
        <p:spPr>
          <a:xfrm>
            <a:off x="628650" y="1171256"/>
            <a:ext cx="7886700" cy="3636414"/>
          </a:xfrm>
          <a:prstGeom prst="rect">
            <a:avLst/>
          </a:prstGeom>
          <a:noFill/>
          <a:ln>
            <a:noFill/>
          </a:ln>
        </p:spPr>
        <p:txBody>
          <a:bodyPr spcFirstLastPara="1" wrap="square" lIns="68575" tIns="34275" rIns="68575" bIns="34275" anchor="t" anchorCtr="0">
            <a:normAutofit fontScale="92500" lnSpcReduction="10000"/>
          </a:bodyPr>
          <a:lstStyle/>
          <a:p>
            <a:pPr marL="0" lvl="0" indent="0" algn="l" rtl="0">
              <a:lnSpc>
                <a:spcPct val="90000"/>
              </a:lnSpc>
              <a:spcBef>
                <a:spcPts val="0"/>
              </a:spcBef>
              <a:spcAft>
                <a:spcPts val="0"/>
              </a:spcAft>
              <a:buClr>
                <a:schemeClr val="lt1"/>
              </a:buClr>
              <a:buSzPct val="100000"/>
              <a:buNone/>
            </a:pPr>
            <a:r>
              <a:rPr lang="en" sz="1500" b="1"/>
              <a:t>Advantages of C# </a:t>
            </a:r>
            <a:endParaRPr/>
          </a:p>
          <a:p>
            <a:pPr marL="520700" lvl="1" indent="-177006" algn="l" rtl="0">
              <a:lnSpc>
                <a:spcPct val="90000"/>
              </a:lnSpc>
              <a:spcBef>
                <a:spcPts val="400"/>
              </a:spcBef>
              <a:spcAft>
                <a:spcPts val="0"/>
              </a:spcAft>
              <a:buClr>
                <a:schemeClr val="lt1"/>
              </a:buClr>
              <a:buSzPct val="100000"/>
              <a:buChar char="•"/>
            </a:pPr>
            <a:r>
              <a:rPr lang="en" sz="1500"/>
              <a:t>C# offers a wide range of advantages that makes it a preferred language for developers in various industries.</a:t>
            </a:r>
            <a:endParaRPr/>
          </a:p>
          <a:p>
            <a:pPr marL="0" lvl="0" indent="0" algn="l" rtl="0">
              <a:lnSpc>
                <a:spcPct val="90000"/>
              </a:lnSpc>
              <a:spcBef>
                <a:spcPts val="800"/>
              </a:spcBef>
              <a:spcAft>
                <a:spcPts val="0"/>
              </a:spcAft>
              <a:buClr>
                <a:schemeClr val="lt1"/>
              </a:buClr>
              <a:buSzPct val="100000"/>
              <a:buNone/>
            </a:pPr>
            <a:r>
              <a:rPr lang="en" sz="1500" b="1"/>
              <a:t>1. Ease of Use</a:t>
            </a:r>
            <a:endParaRPr/>
          </a:p>
          <a:p>
            <a:pPr marL="177800" lvl="0" indent="-177006" algn="l" rtl="0">
              <a:lnSpc>
                <a:spcPct val="90000"/>
              </a:lnSpc>
              <a:spcBef>
                <a:spcPts val="800"/>
              </a:spcBef>
              <a:spcAft>
                <a:spcPts val="0"/>
              </a:spcAft>
              <a:buClr>
                <a:schemeClr val="lt1"/>
              </a:buClr>
              <a:buSzPct val="100000"/>
              <a:buChar char="•"/>
            </a:pPr>
            <a:r>
              <a:rPr lang="en" sz="1500"/>
              <a:t>C# has a </a:t>
            </a:r>
            <a:r>
              <a:rPr lang="en" sz="1500" b="1"/>
              <a:t>simple and modern syntax</a:t>
            </a:r>
            <a:r>
              <a:rPr lang="en" sz="1500"/>
              <a:t>, similar to Java and C++, making it easy to learn for beginners.</a:t>
            </a:r>
            <a:endParaRPr/>
          </a:p>
          <a:p>
            <a:pPr marL="177800" lvl="0" indent="-177006" algn="l" rtl="0">
              <a:lnSpc>
                <a:spcPct val="90000"/>
              </a:lnSpc>
              <a:spcBef>
                <a:spcPts val="800"/>
              </a:spcBef>
              <a:spcAft>
                <a:spcPts val="0"/>
              </a:spcAft>
              <a:buClr>
                <a:schemeClr val="lt1"/>
              </a:buClr>
              <a:buSzPct val="100000"/>
              <a:buChar char="•"/>
            </a:pPr>
            <a:r>
              <a:rPr lang="en" sz="1500"/>
              <a:t>Object-oriented programming concepts (classes, objects) are </a:t>
            </a:r>
            <a:r>
              <a:rPr lang="en" sz="1500" b="1"/>
              <a:t>well-integrated</a:t>
            </a:r>
            <a:r>
              <a:rPr lang="en" sz="1500"/>
              <a:t>, making code organized and readable.</a:t>
            </a:r>
            <a:endParaRPr/>
          </a:p>
          <a:p>
            <a:pPr marL="177800" lvl="0" indent="-177006" algn="l" rtl="0">
              <a:lnSpc>
                <a:spcPct val="90000"/>
              </a:lnSpc>
              <a:spcBef>
                <a:spcPts val="800"/>
              </a:spcBef>
              <a:spcAft>
                <a:spcPts val="0"/>
              </a:spcAft>
              <a:buClr>
                <a:schemeClr val="lt1"/>
              </a:buClr>
              <a:buSzPct val="100000"/>
              <a:buChar char="•"/>
            </a:pPr>
            <a:r>
              <a:rPr lang="en" sz="1500" b="1"/>
              <a:t>Automatic Memory Management</a:t>
            </a:r>
            <a:r>
              <a:rPr lang="en" sz="1500"/>
              <a:t>: Through Garbage collection, C# manages memory automatically, freeing up unused objects and reducing the chances of memory leaks.</a:t>
            </a:r>
            <a:endParaRPr sz="1500"/>
          </a:p>
          <a:p>
            <a:pPr marL="0" lvl="0" indent="0" algn="l" rtl="0">
              <a:lnSpc>
                <a:spcPct val="90000"/>
              </a:lnSpc>
              <a:spcBef>
                <a:spcPts val="800"/>
              </a:spcBef>
              <a:spcAft>
                <a:spcPts val="0"/>
              </a:spcAft>
              <a:buClr>
                <a:schemeClr val="lt1"/>
              </a:buClr>
              <a:buSzPct val="100000"/>
              <a:buNone/>
            </a:pPr>
            <a:r>
              <a:rPr lang="en" sz="1500" b="1"/>
              <a:t>2. Productivity</a:t>
            </a:r>
            <a:endParaRPr/>
          </a:p>
          <a:p>
            <a:pPr marL="177800" lvl="0" indent="-177006" algn="l" rtl="0">
              <a:lnSpc>
                <a:spcPct val="90000"/>
              </a:lnSpc>
              <a:spcBef>
                <a:spcPts val="800"/>
              </a:spcBef>
              <a:spcAft>
                <a:spcPts val="0"/>
              </a:spcAft>
              <a:buClr>
                <a:schemeClr val="lt1"/>
              </a:buClr>
              <a:buSzPct val="100000"/>
              <a:buChar char="•"/>
            </a:pPr>
            <a:r>
              <a:rPr lang="en" sz="1500"/>
              <a:t>C# provides </a:t>
            </a:r>
            <a:r>
              <a:rPr lang="en" sz="1500" b="1"/>
              <a:t>rich libraries</a:t>
            </a:r>
            <a:r>
              <a:rPr lang="en" sz="1500"/>
              <a:t> (Base Class Library, .NET) that save development time. It provide developers with pre-build functions for a wide range of tasks like file handling, string manipulation, networking and more..</a:t>
            </a:r>
            <a:endParaRPr/>
          </a:p>
          <a:p>
            <a:pPr marL="177800" lvl="0" indent="-177006" algn="l" rtl="0">
              <a:lnSpc>
                <a:spcPct val="90000"/>
              </a:lnSpc>
              <a:spcBef>
                <a:spcPts val="800"/>
              </a:spcBef>
              <a:spcAft>
                <a:spcPts val="0"/>
              </a:spcAft>
              <a:buClr>
                <a:schemeClr val="lt1"/>
              </a:buClr>
              <a:buSzPct val="100000"/>
              <a:buChar char="•"/>
            </a:pPr>
            <a:r>
              <a:rPr lang="en" sz="1500"/>
              <a:t>Tools like </a:t>
            </a:r>
            <a:r>
              <a:rPr lang="en" sz="1500" b="1"/>
              <a:t>Visual Studio</a:t>
            </a:r>
            <a:r>
              <a:rPr lang="en" sz="1500"/>
              <a:t> and </a:t>
            </a:r>
            <a:r>
              <a:rPr lang="en" sz="1500" b="1"/>
              <a:t>Visual Studio Code </a:t>
            </a:r>
            <a:r>
              <a:rPr lang="en" sz="1500"/>
              <a:t>offer </a:t>
            </a:r>
            <a:r>
              <a:rPr lang="en" sz="1500" b="1"/>
              <a:t>intelligent code completion, debugging, and templates</a:t>
            </a:r>
            <a:r>
              <a:rPr lang="en" sz="1500"/>
              <a:t>.</a:t>
            </a:r>
            <a:endParaRPr/>
          </a:p>
          <a:p>
            <a:pPr marL="177800" lvl="0" indent="-88900" algn="l" rtl="0">
              <a:lnSpc>
                <a:spcPct val="90000"/>
              </a:lnSpc>
              <a:spcBef>
                <a:spcPts val="800"/>
              </a:spcBef>
              <a:spcAft>
                <a:spcPts val="0"/>
              </a:spcAft>
              <a:buClr>
                <a:schemeClr val="lt1"/>
              </a:buClr>
              <a:buSzPct val="100000"/>
              <a:buNone/>
            </a:pP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9"/>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sp>
        <p:nvSpPr>
          <p:cNvPr id="235" name="Google Shape;235;p39"/>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fontScale="92500" lnSpcReduction="20000"/>
          </a:bodyPr>
          <a:lstStyle/>
          <a:p>
            <a:pPr marL="0" lvl="0" indent="0" algn="l" rtl="0">
              <a:lnSpc>
                <a:spcPct val="90000"/>
              </a:lnSpc>
              <a:spcBef>
                <a:spcPts val="0"/>
              </a:spcBef>
              <a:spcAft>
                <a:spcPts val="0"/>
              </a:spcAft>
              <a:buClr>
                <a:schemeClr val="lt1"/>
              </a:buClr>
              <a:buSzPct val="100000"/>
              <a:buNone/>
            </a:pPr>
            <a:r>
              <a:rPr lang="en" sz="1500" b="1"/>
              <a:t>3. Cross-Platform Development</a:t>
            </a:r>
            <a:endParaRPr/>
          </a:p>
          <a:p>
            <a:pPr marL="177800" lvl="0" indent="-177006" algn="l" rtl="0">
              <a:lnSpc>
                <a:spcPct val="90000"/>
              </a:lnSpc>
              <a:spcBef>
                <a:spcPts val="800"/>
              </a:spcBef>
              <a:spcAft>
                <a:spcPts val="0"/>
              </a:spcAft>
              <a:buClr>
                <a:schemeClr val="lt1"/>
              </a:buClr>
              <a:buSzPct val="100000"/>
              <a:buChar char="•"/>
            </a:pPr>
            <a:r>
              <a:rPr lang="en" sz="1500"/>
              <a:t>With </a:t>
            </a:r>
            <a:r>
              <a:rPr lang="en" sz="1500" b="1"/>
              <a:t>.NET Core / .NET 5+</a:t>
            </a:r>
            <a:r>
              <a:rPr lang="en" sz="1500"/>
              <a:t>, C# can run on </a:t>
            </a:r>
            <a:r>
              <a:rPr lang="en" sz="1500" b="1"/>
              <a:t>Windows, Linux, macOS, mobile, and cloud platforms</a:t>
            </a:r>
            <a:r>
              <a:rPr lang="en" sz="1500"/>
              <a:t>.</a:t>
            </a:r>
            <a:endParaRPr/>
          </a:p>
          <a:p>
            <a:pPr marL="177800" lvl="0" indent="-177006" algn="l" rtl="0">
              <a:lnSpc>
                <a:spcPct val="90000"/>
              </a:lnSpc>
              <a:spcBef>
                <a:spcPts val="800"/>
              </a:spcBef>
              <a:spcAft>
                <a:spcPts val="0"/>
              </a:spcAft>
              <a:buClr>
                <a:schemeClr val="lt1"/>
              </a:buClr>
              <a:buSzPct val="100000"/>
              <a:buChar char="•"/>
            </a:pPr>
            <a:r>
              <a:rPr lang="en" sz="1500"/>
              <a:t>Frameworks like </a:t>
            </a:r>
            <a:r>
              <a:rPr lang="en" sz="1500" b="1"/>
              <a:t>Xamarin</a:t>
            </a:r>
            <a:r>
              <a:rPr lang="en" sz="1500"/>
              <a:t> and </a:t>
            </a:r>
            <a:r>
              <a:rPr lang="en" sz="1500" b="1"/>
              <a:t>MAUI</a:t>
            </a:r>
            <a:r>
              <a:rPr lang="en" sz="1500"/>
              <a:t> allow building </a:t>
            </a:r>
            <a:r>
              <a:rPr lang="en" sz="1500" b="1"/>
              <a:t>mobile apps</a:t>
            </a:r>
            <a:r>
              <a:rPr lang="en" sz="1500"/>
              <a:t> for Android and iOS using the same C# codebase.</a:t>
            </a:r>
            <a:endParaRPr/>
          </a:p>
          <a:p>
            <a:pPr marL="177800" lvl="0" indent="-177006" algn="l" rtl="0">
              <a:lnSpc>
                <a:spcPct val="90000"/>
              </a:lnSpc>
              <a:spcBef>
                <a:spcPts val="800"/>
              </a:spcBef>
              <a:spcAft>
                <a:spcPts val="0"/>
              </a:spcAft>
              <a:buClr>
                <a:schemeClr val="lt1"/>
              </a:buClr>
              <a:buSzPct val="100000"/>
              <a:buChar char="•"/>
            </a:pPr>
            <a:r>
              <a:rPr lang="en" sz="1500"/>
              <a:t>ASP.NET Core allows </a:t>
            </a:r>
            <a:r>
              <a:rPr lang="en" sz="1500" b="1"/>
              <a:t>web applications</a:t>
            </a:r>
            <a:r>
              <a:rPr lang="en" sz="1500"/>
              <a:t> to run cross-platform.</a:t>
            </a:r>
            <a:endParaRPr/>
          </a:p>
          <a:p>
            <a:pPr marL="0" lvl="0" indent="0" algn="l" rtl="0">
              <a:lnSpc>
                <a:spcPct val="90000"/>
              </a:lnSpc>
              <a:spcBef>
                <a:spcPts val="800"/>
              </a:spcBef>
              <a:spcAft>
                <a:spcPts val="0"/>
              </a:spcAft>
              <a:buClr>
                <a:schemeClr val="lt1"/>
              </a:buClr>
              <a:buSzPct val="100000"/>
              <a:buNone/>
            </a:pPr>
            <a:endParaRPr sz="1500"/>
          </a:p>
          <a:p>
            <a:pPr marL="0" lvl="0" indent="0" algn="l" rtl="0">
              <a:lnSpc>
                <a:spcPct val="90000"/>
              </a:lnSpc>
              <a:spcBef>
                <a:spcPts val="800"/>
              </a:spcBef>
              <a:spcAft>
                <a:spcPts val="0"/>
              </a:spcAft>
              <a:buClr>
                <a:schemeClr val="lt1"/>
              </a:buClr>
              <a:buSzPct val="100000"/>
              <a:buNone/>
            </a:pPr>
            <a:r>
              <a:rPr lang="en" sz="1500" b="1"/>
              <a:t>4. High Performance</a:t>
            </a:r>
            <a:endParaRPr/>
          </a:p>
          <a:p>
            <a:pPr marL="177800" lvl="0" indent="-177006" algn="l" rtl="0">
              <a:lnSpc>
                <a:spcPct val="90000"/>
              </a:lnSpc>
              <a:spcBef>
                <a:spcPts val="800"/>
              </a:spcBef>
              <a:spcAft>
                <a:spcPts val="0"/>
              </a:spcAft>
              <a:buClr>
                <a:schemeClr val="lt1"/>
              </a:buClr>
              <a:buSzPct val="100000"/>
              <a:buChar char="•"/>
            </a:pPr>
            <a:r>
              <a:rPr lang="en" sz="1500"/>
              <a:t>C# uses </a:t>
            </a:r>
            <a:r>
              <a:rPr lang="en" sz="1500" b="1"/>
              <a:t>Just-In-Time (JIT) compilation</a:t>
            </a:r>
            <a:r>
              <a:rPr lang="en" sz="1500"/>
              <a:t> to convert code into </a:t>
            </a:r>
            <a:r>
              <a:rPr lang="en" sz="1500" b="1"/>
              <a:t>native machine code</a:t>
            </a:r>
            <a:r>
              <a:rPr lang="en" sz="1500"/>
              <a:t> at runtime.</a:t>
            </a:r>
            <a:endParaRPr/>
          </a:p>
          <a:p>
            <a:pPr marL="177800" lvl="0" indent="-177006" algn="l" rtl="0">
              <a:lnSpc>
                <a:spcPct val="90000"/>
              </a:lnSpc>
              <a:spcBef>
                <a:spcPts val="800"/>
              </a:spcBef>
              <a:spcAft>
                <a:spcPts val="0"/>
              </a:spcAft>
              <a:buClr>
                <a:schemeClr val="lt1"/>
              </a:buClr>
              <a:buSzPct val="100000"/>
              <a:buChar char="•"/>
            </a:pPr>
            <a:r>
              <a:rPr lang="en" sz="1500"/>
              <a:t>Optimizations like </a:t>
            </a:r>
            <a:r>
              <a:rPr lang="en" sz="1500" b="1"/>
              <a:t>asynchronous programming (async/await)</a:t>
            </a:r>
            <a:r>
              <a:rPr lang="en" sz="1500"/>
              <a:t> and </a:t>
            </a:r>
            <a:r>
              <a:rPr lang="en" sz="1500" b="1"/>
              <a:t>efficient memory management</a:t>
            </a:r>
            <a:r>
              <a:rPr lang="en" sz="1500"/>
              <a:t> improve application performance.</a:t>
            </a:r>
            <a:endParaRPr/>
          </a:p>
          <a:p>
            <a:pPr marL="177800" lvl="0" indent="-177006" algn="l" rtl="0">
              <a:lnSpc>
                <a:spcPct val="90000"/>
              </a:lnSpc>
              <a:spcBef>
                <a:spcPts val="800"/>
              </a:spcBef>
              <a:spcAft>
                <a:spcPts val="0"/>
              </a:spcAft>
              <a:buClr>
                <a:schemeClr val="lt1"/>
              </a:buClr>
              <a:buSzPct val="100000"/>
              <a:buChar char="•"/>
            </a:pPr>
            <a:r>
              <a:rPr lang="en" sz="1500"/>
              <a:t>Supports </a:t>
            </a:r>
            <a:r>
              <a:rPr lang="en" sz="1500" b="1"/>
              <a:t>multi-threading and parallel processing</a:t>
            </a:r>
            <a:r>
              <a:rPr lang="en" sz="1500"/>
              <a:t> for faster execution of complex tasks.</a:t>
            </a:r>
            <a:endParaRPr/>
          </a:p>
          <a:p>
            <a:pPr marL="0" lvl="0" indent="0" algn="l" rtl="0">
              <a:lnSpc>
                <a:spcPct val="90000"/>
              </a:lnSpc>
              <a:spcBef>
                <a:spcPts val="800"/>
              </a:spcBef>
              <a:spcAft>
                <a:spcPts val="0"/>
              </a:spcAft>
              <a:buClr>
                <a:schemeClr val="lt1"/>
              </a:buClr>
              <a:buSzPct val="100000"/>
              <a:buNone/>
            </a:pP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0"/>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sp>
        <p:nvSpPr>
          <p:cNvPr id="241" name="Google Shape;241;p40"/>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r>
              <a:rPr lang="en" sz="1500" b="1"/>
              <a:t>5. Security</a:t>
            </a:r>
            <a:endParaRPr/>
          </a:p>
          <a:p>
            <a:pPr marL="177800" lvl="0" indent="-171450" algn="l" rtl="0">
              <a:lnSpc>
                <a:spcPct val="90000"/>
              </a:lnSpc>
              <a:spcBef>
                <a:spcPts val="800"/>
              </a:spcBef>
              <a:spcAft>
                <a:spcPts val="0"/>
              </a:spcAft>
              <a:buClr>
                <a:schemeClr val="lt1"/>
              </a:buClr>
              <a:buSzPts val="1500"/>
              <a:buChar char="•"/>
            </a:pPr>
            <a:r>
              <a:rPr lang="en" sz="1500"/>
              <a:t>C# runs on the </a:t>
            </a:r>
            <a:r>
              <a:rPr lang="en" sz="1500" b="1"/>
              <a:t>Common Language Runtime (CLR)</a:t>
            </a:r>
            <a:r>
              <a:rPr lang="en" sz="1500"/>
              <a:t> which enforces:</a:t>
            </a:r>
            <a:endParaRPr/>
          </a:p>
          <a:p>
            <a:pPr marL="520700" lvl="1" indent="-171450" algn="l" rtl="0">
              <a:lnSpc>
                <a:spcPct val="90000"/>
              </a:lnSpc>
              <a:spcBef>
                <a:spcPts val="400"/>
              </a:spcBef>
              <a:spcAft>
                <a:spcPts val="0"/>
              </a:spcAft>
              <a:buClr>
                <a:schemeClr val="lt1"/>
              </a:buClr>
              <a:buSzPts val="1500"/>
              <a:buChar char="•"/>
            </a:pPr>
            <a:r>
              <a:rPr lang="en" sz="1500" b="1"/>
              <a:t>Type safety</a:t>
            </a:r>
            <a:r>
              <a:rPr lang="en" sz="1500"/>
              <a:t>: Prevents invalid type conversions and runtime errors.</a:t>
            </a:r>
            <a:endParaRPr/>
          </a:p>
          <a:p>
            <a:pPr marL="520700" lvl="1" indent="-171450" algn="l" rtl="0">
              <a:lnSpc>
                <a:spcPct val="90000"/>
              </a:lnSpc>
              <a:spcBef>
                <a:spcPts val="400"/>
              </a:spcBef>
              <a:spcAft>
                <a:spcPts val="0"/>
              </a:spcAft>
              <a:buClr>
                <a:schemeClr val="lt1"/>
              </a:buClr>
              <a:buSzPts val="1500"/>
              <a:buChar char="•"/>
            </a:pPr>
            <a:r>
              <a:rPr lang="en" sz="1500" b="1"/>
              <a:t>Code access security</a:t>
            </a:r>
            <a:r>
              <a:rPr lang="en" sz="1500"/>
              <a:t>: Restricts unauthorized access to system resources.</a:t>
            </a:r>
            <a:endParaRPr/>
          </a:p>
          <a:p>
            <a:pPr marL="520700" lvl="1" indent="-171450" algn="l" rtl="0">
              <a:lnSpc>
                <a:spcPct val="90000"/>
              </a:lnSpc>
              <a:spcBef>
                <a:spcPts val="400"/>
              </a:spcBef>
              <a:spcAft>
                <a:spcPts val="0"/>
              </a:spcAft>
              <a:buClr>
                <a:schemeClr val="lt1"/>
              </a:buClr>
              <a:buSzPts val="1500"/>
              <a:buChar char="•"/>
            </a:pPr>
            <a:r>
              <a:rPr lang="en" sz="1500" b="1"/>
              <a:t>Exception handling</a:t>
            </a:r>
            <a:r>
              <a:rPr lang="en" sz="1500"/>
              <a:t>: Safely manages errors without crashing the application.</a:t>
            </a:r>
            <a:endParaRPr/>
          </a:p>
          <a:p>
            <a:pPr marL="177800" lvl="0" indent="-171450" algn="l" rtl="0">
              <a:lnSpc>
                <a:spcPct val="90000"/>
              </a:lnSpc>
              <a:spcBef>
                <a:spcPts val="800"/>
              </a:spcBef>
              <a:spcAft>
                <a:spcPts val="0"/>
              </a:spcAft>
              <a:buClr>
                <a:schemeClr val="lt1"/>
              </a:buClr>
              <a:buSzPts val="1500"/>
              <a:buChar char="•"/>
            </a:pPr>
            <a:r>
              <a:rPr lang="en" sz="1500"/>
              <a:t>Ideal for enterprise applications where </a:t>
            </a:r>
            <a:r>
              <a:rPr lang="en" sz="1500" b="1"/>
              <a:t>data protection</a:t>
            </a:r>
            <a:r>
              <a:rPr lang="en" sz="1500"/>
              <a:t> is critical.</a:t>
            </a:r>
            <a:endParaRPr/>
          </a:p>
          <a:p>
            <a:pPr marL="0" lvl="0" indent="0" algn="l" rtl="0">
              <a:lnSpc>
                <a:spcPct val="90000"/>
              </a:lnSpc>
              <a:spcBef>
                <a:spcPts val="800"/>
              </a:spcBef>
              <a:spcAft>
                <a:spcPts val="0"/>
              </a:spcAft>
              <a:buClr>
                <a:schemeClr val="lt1"/>
              </a:buClr>
              <a:buSzPts val="1500"/>
              <a:buNone/>
            </a:pP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1"/>
          <p:cNvSpPr txBox="1">
            <a:spLocks noGrp="1"/>
          </p:cNvSpPr>
          <p:nvPr>
            <p:ph type="title"/>
          </p:nvPr>
        </p:nvSpPr>
        <p:spPr>
          <a:xfrm>
            <a:off x="685331" y="463888"/>
            <a:ext cx="7773338" cy="342104"/>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lt1"/>
              </a:buClr>
              <a:buSzPct val="100000"/>
              <a:buFont typeface="Century Gothic"/>
              <a:buNone/>
            </a:pPr>
            <a:r>
              <a:rPr lang="en" b="1"/>
              <a:t>C# APPLICATION</a:t>
            </a:r>
            <a:endParaRPr/>
          </a:p>
        </p:txBody>
      </p:sp>
      <p:graphicFrame>
        <p:nvGraphicFramePr>
          <p:cNvPr id="247" name="Google Shape;247;p41"/>
          <p:cNvGraphicFramePr/>
          <p:nvPr/>
        </p:nvGraphicFramePr>
        <p:xfrm>
          <a:off x="685331" y="805992"/>
          <a:ext cx="3000000" cy="3000000"/>
        </p:xfrm>
        <a:graphic>
          <a:graphicData uri="http://schemas.openxmlformats.org/drawingml/2006/table">
            <a:tbl>
              <a:tblPr firstRow="1" bandRow="1">
                <a:noFill/>
                <a:tableStyleId>{AE08A2B5-FEC1-4821-B64D-F3B82E1F7B7F}</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278125">
                <a:tc>
                  <a:txBody>
                    <a:bodyPr/>
                    <a:lstStyle/>
                    <a:p>
                      <a:pPr marL="0" marR="0" lvl="0" indent="0" algn="ctr" rtl="0">
                        <a:spcBef>
                          <a:spcPts val="0"/>
                        </a:spcBef>
                        <a:spcAft>
                          <a:spcPts val="0"/>
                        </a:spcAft>
                        <a:buClr>
                          <a:schemeClr val="lt1"/>
                        </a:buClr>
                        <a:buSzPts val="1400"/>
                        <a:buFont typeface="Century Gothic"/>
                        <a:buNone/>
                      </a:pPr>
                      <a:r>
                        <a:rPr lang="en" sz="1400" b="1" u="none" strike="noStrike" cap="none"/>
                        <a:t>Application Type</a:t>
                      </a:r>
                      <a:endParaRPr sz="1400" u="none" strike="noStrike" cap="none"/>
                    </a:p>
                  </a:txBody>
                  <a:tcPr marL="67600" marR="67600" marT="34300" marB="34300" anchor="ctr"/>
                </a:tc>
                <a:tc>
                  <a:txBody>
                    <a:bodyPr/>
                    <a:lstStyle/>
                    <a:p>
                      <a:pPr marL="0" marR="0" lvl="0" indent="0" algn="ctr" rtl="0">
                        <a:spcBef>
                          <a:spcPts val="0"/>
                        </a:spcBef>
                        <a:spcAft>
                          <a:spcPts val="0"/>
                        </a:spcAft>
                        <a:buClr>
                          <a:schemeClr val="lt1"/>
                        </a:buClr>
                        <a:buSzPts val="1400"/>
                        <a:buFont typeface="Century Gothic"/>
                        <a:buNone/>
                      </a:pPr>
                      <a:r>
                        <a:rPr lang="en" sz="1400" b="1" u="none" strike="noStrike" cap="none"/>
                        <a:t>Description</a:t>
                      </a:r>
                      <a:endParaRPr sz="1400" u="none" strike="noStrike" cap="none"/>
                    </a:p>
                  </a:txBody>
                  <a:tcPr marL="67600" marR="67600" marT="34300" marB="34300" anchor="ctr"/>
                </a:tc>
                <a:tc>
                  <a:txBody>
                    <a:bodyPr/>
                    <a:lstStyle/>
                    <a:p>
                      <a:pPr marL="0" marR="0" lvl="0" indent="0" algn="ctr" rtl="0">
                        <a:spcBef>
                          <a:spcPts val="0"/>
                        </a:spcBef>
                        <a:spcAft>
                          <a:spcPts val="0"/>
                        </a:spcAft>
                        <a:buClr>
                          <a:schemeClr val="lt1"/>
                        </a:buClr>
                        <a:buSzPts val="1400"/>
                        <a:buFont typeface="Century Gothic"/>
                        <a:buNone/>
                      </a:pPr>
                      <a:r>
                        <a:rPr lang="en" sz="1400" b="1" u="none" strike="noStrike" cap="none"/>
                        <a:t>Examples</a:t>
                      </a:r>
                      <a:endParaRPr sz="1400" u="none" strike="noStrike" cap="none"/>
                    </a:p>
                  </a:txBody>
                  <a:tcPr marL="67600" marR="67600" marT="34300" marB="34300" anchor="ctr"/>
                </a:tc>
                <a:extLst>
                  <a:ext uri="{0D108BD9-81ED-4DB2-BD59-A6C34878D82A}">
                    <a16:rowId xmlns:a16="http://schemas.microsoft.com/office/drawing/2014/main" val="10000"/>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Desktop Applications</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Traditional desktop apps with GUI</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Paint.NET, KeePass, Visual Studio extensions</a:t>
                      </a:r>
                      <a:endParaRPr sz="1100"/>
                    </a:p>
                  </a:txBody>
                  <a:tcPr marL="67600" marR="67600" marT="34300" marB="34300" anchor="ctr"/>
                </a:tc>
                <a:extLst>
                  <a:ext uri="{0D108BD9-81ED-4DB2-BD59-A6C34878D82A}">
                    <a16:rowId xmlns:a16="http://schemas.microsoft.com/office/drawing/2014/main" val="10001"/>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Web Applications</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Dynamic websites and web services using ASP.NET / ASP.NET Core</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Stack Overflow, DotNetNuke, E-commerce Web APIs</a:t>
                      </a:r>
                      <a:endParaRPr sz="1100"/>
                    </a:p>
                  </a:txBody>
                  <a:tcPr marL="67600" marR="67600" marT="34300" marB="34300" anchor="ctr"/>
                </a:tc>
                <a:extLst>
                  <a:ext uri="{0D108BD9-81ED-4DB2-BD59-A6C34878D82A}">
                    <a16:rowId xmlns:a16="http://schemas.microsoft.com/office/drawing/2014/main" val="10002"/>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Mobile Applications</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Cross-platform apps using Xamarin / .NET MAUI</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Alaska Airlines app, Olo, Storyo</a:t>
                      </a:r>
                      <a:endParaRPr sz="1100"/>
                    </a:p>
                  </a:txBody>
                  <a:tcPr marL="67600" marR="67600" marT="34300" marB="34300" anchor="ctr"/>
                </a:tc>
                <a:extLst>
                  <a:ext uri="{0D108BD9-81ED-4DB2-BD59-A6C34878D82A}">
                    <a16:rowId xmlns:a16="http://schemas.microsoft.com/office/drawing/2014/main" val="10003"/>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Game Development</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Games built with Unity engine using C# scripting</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Monument Valley, Pokémon Go, Hollow Knight</a:t>
                      </a:r>
                      <a:endParaRPr sz="1100"/>
                    </a:p>
                  </a:txBody>
                  <a:tcPr marL="67600" marR="67600" marT="34300" marB="34300" anchor="ctr"/>
                </a:tc>
                <a:extLst>
                  <a:ext uri="{0D108BD9-81ED-4DB2-BD59-A6C34878D82A}">
                    <a16:rowId xmlns:a16="http://schemas.microsoft.com/office/drawing/2014/main" val="10004"/>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Enterprise &amp; Business Software</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ERP, CRM, Accounting systems for businesses</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Microsoft Dynamics 365, POS systems</a:t>
                      </a:r>
                      <a:endParaRPr sz="1100"/>
                    </a:p>
                  </a:txBody>
                  <a:tcPr marL="67600" marR="67600" marT="34300" marB="34300" anchor="ctr"/>
                </a:tc>
                <a:extLst>
                  <a:ext uri="{0D108BD9-81ED-4DB2-BD59-A6C34878D82A}">
                    <a16:rowId xmlns:a16="http://schemas.microsoft.com/office/drawing/2014/main" val="10005"/>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Cloud-Based Applications</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Backend services and microservices on Azure</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Web APIs in Azure App Services, Cloud microservices</a:t>
                      </a:r>
                      <a:endParaRPr sz="1100"/>
                    </a:p>
                  </a:txBody>
                  <a:tcPr marL="67600" marR="67600" marT="34300" marB="34300" anchor="ctr"/>
                </a:tc>
                <a:extLst>
                  <a:ext uri="{0D108BD9-81ED-4DB2-BD59-A6C34878D82A}">
                    <a16:rowId xmlns:a16="http://schemas.microsoft.com/office/drawing/2014/main" val="10006"/>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IoT Applications</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Embedded and Internet-of-Things apps</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Smart home controllers, Industrial monitoring software</a:t>
                      </a:r>
                      <a:endParaRPr sz="1100"/>
                    </a:p>
                  </a:txBody>
                  <a:tcPr marL="67600" marR="67600" marT="34300" marB="34300" anchor="ctr"/>
                </a:tc>
                <a:extLst>
                  <a:ext uri="{0D108BD9-81ED-4DB2-BD59-A6C34878D82A}">
                    <a16:rowId xmlns:a16="http://schemas.microsoft.com/office/drawing/2014/main" val="10007"/>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AI &amp; Machine Learning Apps</a:t>
                      </a:r>
                      <a:endParaRPr sz="1400" u="none" strike="noStrike" cap="none"/>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Applications using ML.NET for predictive analytics and AI models</a:t>
                      </a:r>
                      <a:endParaRPr sz="1100"/>
                    </a:p>
                  </a:txBody>
                  <a:tcPr marL="67600" marR="67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Recommendation engines, Business analytics apps</a:t>
                      </a:r>
                      <a:endParaRPr sz="1100"/>
                    </a:p>
                  </a:txBody>
                  <a:tcPr marL="67600" marR="67600" marT="34300" marB="3430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2"/>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lt1"/>
              </a:buClr>
              <a:buSzPts val="3000"/>
              <a:buFont typeface="Century Gothic"/>
              <a:buNone/>
            </a:pPr>
            <a:r>
              <a:rPr lang="en" b="1"/>
              <a:t>VISUAL OF C#</a:t>
            </a:r>
            <a:endParaRPr b="1"/>
          </a:p>
        </p:txBody>
      </p:sp>
      <p:pic>
        <p:nvPicPr>
          <p:cNvPr id="253" name="Google Shape;253;p42" descr="CLR Diagram"/>
          <p:cNvPicPr preferRelativeResize="0">
            <a:picLocks noGrp="1"/>
          </p:cNvPicPr>
          <p:nvPr>
            <p:ph type="body" idx="1"/>
          </p:nvPr>
        </p:nvPicPr>
        <p:blipFill rotWithShape="1">
          <a:blip r:embed="rId3">
            <a:alphaModFix/>
          </a:blip>
          <a:srcRect/>
          <a:stretch/>
        </p:blipFill>
        <p:spPr>
          <a:xfrm>
            <a:off x="2968228" y="1718667"/>
            <a:ext cx="3207544" cy="28717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3"/>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chemeClr val="lt1"/>
              </a:buClr>
              <a:buSzPts val="4500"/>
              <a:buFont typeface="Century Gothic"/>
              <a:buNone/>
            </a:pPr>
            <a:r>
              <a:rPr lang="en" b="1"/>
              <a:t>COMMON LANGUAGE RUNTIME (CLR)</a:t>
            </a:r>
            <a:endParaRPr/>
          </a:p>
        </p:txBody>
      </p:sp>
      <p:sp>
        <p:nvSpPr>
          <p:cNvPr id="259" name="Google Shape;259;p43"/>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4"/>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lt1"/>
              </a:buClr>
              <a:buSzPts val="3000"/>
              <a:buFont typeface="Century Gothic"/>
              <a:buNone/>
            </a:pPr>
            <a:r>
              <a:rPr lang="en" b="1"/>
              <a:t>WHAT IS CLR?</a:t>
            </a:r>
            <a:endParaRPr b="1"/>
          </a:p>
        </p:txBody>
      </p:sp>
      <p:sp>
        <p:nvSpPr>
          <p:cNvPr id="265" name="Google Shape;265;p44"/>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lt1"/>
              </a:buClr>
              <a:buSzPts val="1500"/>
              <a:buChar char="•"/>
            </a:pPr>
            <a:r>
              <a:rPr lang="en" sz="1500"/>
              <a:t>The </a:t>
            </a:r>
            <a:r>
              <a:rPr lang="en" sz="1500" b="1"/>
              <a:t>CLR is the heart of .NET</a:t>
            </a:r>
            <a:r>
              <a:rPr lang="en" sz="1500"/>
              <a:t>, providing runtime execution, memory management, security, and cross-language support. </a:t>
            </a:r>
            <a:endParaRPr/>
          </a:p>
          <a:p>
            <a:pPr marL="177800" lvl="0" indent="-171450" algn="l" rtl="0">
              <a:lnSpc>
                <a:spcPct val="90000"/>
              </a:lnSpc>
              <a:spcBef>
                <a:spcPts val="800"/>
              </a:spcBef>
              <a:spcAft>
                <a:spcPts val="0"/>
              </a:spcAft>
              <a:buClr>
                <a:schemeClr val="lt1"/>
              </a:buClr>
              <a:buSzPts val="1500"/>
              <a:buChar char="•"/>
            </a:pPr>
            <a:r>
              <a:rPr lang="en" sz="1500"/>
              <a:t>It allows developers to write safe, scalable, and high-performance applications without worrying about low-level details.</a:t>
            </a:r>
            <a:endParaRPr sz="1500"/>
          </a:p>
          <a:p>
            <a:pPr marL="177800" lvl="0" indent="-171450" algn="l" rtl="0">
              <a:lnSpc>
                <a:spcPct val="90000"/>
              </a:lnSpc>
              <a:spcBef>
                <a:spcPts val="800"/>
              </a:spcBef>
              <a:spcAft>
                <a:spcPts val="0"/>
              </a:spcAft>
              <a:buClr>
                <a:schemeClr val="lt1"/>
              </a:buClr>
              <a:buSzPts val="1500"/>
              <a:buChar char="•"/>
            </a:pPr>
            <a:r>
              <a:rPr lang="en" sz="1500"/>
              <a:t>You can think of it as the engine that runs C#, VB.NET, F#, or any other .NET language.</a:t>
            </a:r>
            <a:endParaRPr/>
          </a:p>
          <a:p>
            <a:pPr marL="177800" lvl="0" indent="-171450" algn="l" rtl="0">
              <a:lnSpc>
                <a:spcPct val="90000"/>
              </a:lnSpc>
              <a:spcBef>
                <a:spcPts val="800"/>
              </a:spcBef>
              <a:spcAft>
                <a:spcPts val="0"/>
              </a:spcAft>
              <a:buClr>
                <a:schemeClr val="lt1"/>
              </a:buClr>
              <a:buSzPts val="1500"/>
              <a:buChar char="•"/>
            </a:pPr>
            <a:r>
              <a:rPr lang="en" sz="1500"/>
              <a:t>It functions as a virtual machine that handles the execution and management of .NET applications.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5"/>
          <p:cNvSpPr txBox="1">
            <a:spLocks noGrp="1"/>
          </p:cNvSpPr>
          <p:nvPr>
            <p:ph type="title"/>
          </p:nvPr>
        </p:nvSpPr>
        <p:spPr>
          <a:xfrm>
            <a:off x="685331" y="463889"/>
            <a:ext cx="7773338" cy="419875"/>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lt1"/>
              </a:buClr>
              <a:buSzPct val="100000"/>
              <a:buFont typeface="Century Gothic"/>
              <a:buNone/>
            </a:pPr>
            <a:r>
              <a:rPr lang="en" b="1"/>
              <a:t>KEY RESPONSIBILITIES OF CLR</a:t>
            </a:r>
            <a:endParaRPr/>
          </a:p>
        </p:txBody>
      </p:sp>
      <p:sp>
        <p:nvSpPr>
          <p:cNvPr id="271" name="Google Shape;271;p45"/>
          <p:cNvSpPr txBox="1">
            <a:spLocks noGrp="1"/>
          </p:cNvSpPr>
          <p:nvPr>
            <p:ph type="body" idx="1"/>
          </p:nvPr>
        </p:nvSpPr>
        <p:spPr>
          <a:xfrm>
            <a:off x="884045" y="1074420"/>
            <a:ext cx="6709906" cy="3743853"/>
          </a:xfrm>
          <a:prstGeom prst="rect">
            <a:avLst/>
          </a:prstGeom>
          <a:noFill/>
          <a:ln>
            <a:noFill/>
          </a:ln>
        </p:spPr>
        <p:txBody>
          <a:bodyPr spcFirstLastPara="1" wrap="square" lIns="68575" tIns="34275" rIns="68575" bIns="34275" anchor="t" anchorCtr="0">
            <a:noAutofit/>
          </a:bodyPr>
          <a:lstStyle/>
          <a:p>
            <a:pPr marL="177800" lvl="0" indent="-177800" algn="l" rtl="0">
              <a:lnSpc>
                <a:spcPct val="90000"/>
              </a:lnSpc>
              <a:spcBef>
                <a:spcPts val="0"/>
              </a:spcBef>
              <a:spcAft>
                <a:spcPts val="0"/>
              </a:spcAft>
              <a:buClr>
                <a:schemeClr val="lt1"/>
              </a:buClr>
              <a:buSzPts val="1200"/>
              <a:buChar char="•"/>
            </a:pPr>
            <a:r>
              <a:rPr lang="en" sz="1200">
                <a:latin typeface="Calibri"/>
                <a:ea typeface="Calibri"/>
                <a:cs typeface="Calibri"/>
                <a:sym typeface="Calibri"/>
              </a:rPr>
              <a:t>CLR performs </a:t>
            </a:r>
            <a:r>
              <a:rPr lang="en" sz="1200" b="1">
                <a:latin typeface="Calibri"/>
                <a:ea typeface="Calibri"/>
                <a:cs typeface="Calibri"/>
                <a:sym typeface="Calibri"/>
              </a:rPr>
              <a:t>multiple tasks</a:t>
            </a:r>
            <a:r>
              <a:rPr lang="en" sz="1200">
                <a:latin typeface="Calibri"/>
                <a:ea typeface="Calibri"/>
                <a:cs typeface="Calibri"/>
                <a:sym typeface="Calibri"/>
              </a:rPr>
              <a:t> behind the scenes:</a:t>
            </a:r>
            <a:endParaRPr/>
          </a:p>
          <a:p>
            <a:pPr marL="0" lvl="0" indent="0" algn="l" rtl="0">
              <a:lnSpc>
                <a:spcPct val="90000"/>
              </a:lnSpc>
              <a:spcBef>
                <a:spcPts val="800"/>
              </a:spcBef>
              <a:spcAft>
                <a:spcPts val="0"/>
              </a:spcAft>
              <a:buClr>
                <a:schemeClr val="lt1"/>
              </a:buClr>
              <a:buSzPts val="1200"/>
              <a:buNone/>
            </a:pPr>
            <a:r>
              <a:rPr lang="en" sz="1200" b="1">
                <a:latin typeface="Calibri"/>
                <a:ea typeface="Calibri"/>
                <a:cs typeface="Calibri"/>
                <a:sym typeface="Calibri"/>
              </a:rPr>
              <a:t>a) Memory Management</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Automatically manages memory allocation and deallocation.</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Uses a process called </a:t>
            </a:r>
            <a:r>
              <a:rPr lang="en" sz="1200" b="1">
                <a:latin typeface="Calibri"/>
                <a:ea typeface="Calibri"/>
                <a:cs typeface="Calibri"/>
                <a:sym typeface="Calibri"/>
              </a:rPr>
              <a:t>Garbage Collection (GC)</a:t>
            </a:r>
            <a:r>
              <a:rPr lang="en" sz="1200">
                <a:latin typeface="Calibri"/>
                <a:ea typeface="Calibri"/>
                <a:cs typeface="Calibri"/>
                <a:sym typeface="Calibri"/>
              </a:rPr>
              <a:t> to free memory from objects no longer in use.</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Reduces memory leaks and makes programming easier.</a:t>
            </a:r>
            <a:endParaRPr/>
          </a:p>
          <a:p>
            <a:pPr marL="0" lvl="0" indent="0" algn="l" rtl="0">
              <a:lnSpc>
                <a:spcPct val="90000"/>
              </a:lnSpc>
              <a:spcBef>
                <a:spcPts val="800"/>
              </a:spcBef>
              <a:spcAft>
                <a:spcPts val="0"/>
              </a:spcAft>
              <a:buClr>
                <a:schemeClr val="lt1"/>
              </a:buClr>
              <a:buSzPts val="1200"/>
              <a:buNone/>
            </a:pPr>
            <a:r>
              <a:rPr lang="en" sz="1200" b="1">
                <a:latin typeface="Calibri"/>
                <a:ea typeface="Calibri"/>
                <a:cs typeface="Calibri"/>
                <a:sym typeface="Calibri"/>
              </a:rPr>
              <a:t>b) Type Safety</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Ensures that objects are used in a way that is consistent with their type definitions.</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Prevents </a:t>
            </a:r>
            <a:r>
              <a:rPr lang="en" sz="1200" b="1">
                <a:latin typeface="Calibri"/>
                <a:ea typeface="Calibri"/>
                <a:cs typeface="Calibri"/>
                <a:sym typeface="Calibri"/>
              </a:rPr>
              <a:t>type mismatch errors</a:t>
            </a:r>
            <a:r>
              <a:rPr lang="en" sz="1200">
                <a:latin typeface="Calibri"/>
                <a:ea typeface="Calibri"/>
                <a:cs typeface="Calibri"/>
                <a:sym typeface="Calibri"/>
              </a:rPr>
              <a:t>, such as trying to store a string in an integer variable.</a:t>
            </a:r>
            <a:endParaRPr/>
          </a:p>
          <a:p>
            <a:pPr marL="0" lvl="0" indent="0" algn="l" rtl="0">
              <a:lnSpc>
                <a:spcPct val="90000"/>
              </a:lnSpc>
              <a:spcBef>
                <a:spcPts val="800"/>
              </a:spcBef>
              <a:spcAft>
                <a:spcPts val="0"/>
              </a:spcAft>
              <a:buClr>
                <a:schemeClr val="lt1"/>
              </a:buClr>
              <a:buSzPts val="1200"/>
              <a:buNone/>
            </a:pPr>
            <a:r>
              <a:rPr lang="en" sz="1200" b="1">
                <a:latin typeface="Calibri"/>
                <a:ea typeface="Calibri"/>
                <a:cs typeface="Calibri"/>
                <a:sym typeface="Calibri"/>
              </a:rPr>
              <a:t>c) Exception Handling</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Provides a structured way to handle runtime errors through </a:t>
            </a:r>
            <a:r>
              <a:rPr lang="en" sz="1200" b="1">
                <a:latin typeface="Calibri"/>
                <a:ea typeface="Calibri"/>
                <a:cs typeface="Calibri"/>
                <a:sym typeface="Calibri"/>
              </a:rPr>
              <a:t>try-catch-finally</a:t>
            </a:r>
            <a:r>
              <a:rPr lang="en" sz="1200">
                <a:latin typeface="Calibri"/>
                <a:ea typeface="Calibri"/>
                <a:cs typeface="Calibri"/>
                <a:sym typeface="Calibri"/>
              </a:rPr>
              <a:t> blocks.</a:t>
            </a:r>
            <a:endParaRPr/>
          </a:p>
          <a:p>
            <a:pPr marL="177800" lvl="0" indent="-177800" algn="l" rtl="0">
              <a:lnSpc>
                <a:spcPct val="90000"/>
              </a:lnSpc>
              <a:spcBef>
                <a:spcPts val="800"/>
              </a:spcBef>
              <a:spcAft>
                <a:spcPts val="0"/>
              </a:spcAft>
              <a:buClr>
                <a:schemeClr val="lt1"/>
              </a:buClr>
              <a:buSzPts val="1200"/>
              <a:buChar char="•"/>
            </a:pPr>
            <a:r>
              <a:rPr lang="en" sz="1200">
                <a:latin typeface="Calibri"/>
                <a:ea typeface="Calibri"/>
                <a:cs typeface="Calibri"/>
                <a:sym typeface="Calibri"/>
              </a:rPr>
              <a:t>Ensures that programs fail gracefully instead of crashing.</a:t>
            </a:r>
            <a:endParaRPr/>
          </a:p>
          <a:p>
            <a:pPr marL="177800" lvl="0" indent="-101600" algn="l" rtl="0">
              <a:lnSpc>
                <a:spcPct val="90000"/>
              </a:lnSpc>
              <a:spcBef>
                <a:spcPts val="800"/>
              </a:spcBef>
              <a:spcAft>
                <a:spcPts val="0"/>
              </a:spcAft>
              <a:buClr>
                <a:schemeClr val="lt1"/>
              </a:buClr>
              <a:buSzPts val="1200"/>
              <a:buNone/>
            </a:pPr>
            <a:endParaRPr sz="12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6"/>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sp>
        <p:nvSpPr>
          <p:cNvPr id="277" name="Google Shape;277;p46"/>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r>
              <a:rPr lang="en" sz="1500" b="1"/>
              <a:t>d) Security</a:t>
            </a:r>
            <a:endParaRPr/>
          </a:p>
          <a:p>
            <a:pPr marL="177800" lvl="0" indent="-171450" algn="l" rtl="0">
              <a:lnSpc>
                <a:spcPct val="90000"/>
              </a:lnSpc>
              <a:spcBef>
                <a:spcPts val="800"/>
              </a:spcBef>
              <a:spcAft>
                <a:spcPts val="0"/>
              </a:spcAft>
              <a:buClr>
                <a:schemeClr val="lt1"/>
              </a:buClr>
              <a:buSzPts val="1500"/>
              <a:buChar char="•"/>
            </a:pPr>
            <a:r>
              <a:rPr lang="en" sz="1500"/>
              <a:t>CLR enforces </a:t>
            </a:r>
            <a:r>
              <a:rPr lang="en" sz="1500" b="1"/>
              <a:t>Code Access Security (CAS)</a:t>
            </a:r>
            <a:r>
              <a:rPr lang="en" sz="1500"/>
              <a:t> to control what code can do.</a:t>
            </a:r>
            <a:endParaRPr/>
          </a:p>
          <a:p>
            <a:pPr marL="177800" lvl="0" indent="-171450" algn="l" rtl="0">
              <a:lnSpc>
                <a:spcPct val="90000"/>
              </a:lnSpc>
              <a:spcBef>
                <a:spcPts val="800"/>
              </a:spcBef>
              <a:spcAft>
                <a:spcPts val="0"/>
              </a:spcAft>
              <a:buClr>
                <a:schemeClr val="lt1"/>
              </a:buClr>
              <a:buSzPts val="1500"/>
              <a:buChar char="•"/>
            </a:pPr>
            <a:r>
              <a:rPr lang="en" sz="1500"/>
              <a:t>Prevents unsafe code from performing harmful operations like accessing files or memory arbitrarily.</a:t>
            </a:r>
            <a:endParaRPr/>
          </a:p>
          <a:p>
            <a:pPr marL="0" lvl="0" indent="0" algn="l" rtl="0">
              <a:lnSpc>
                <a:spcPct val="90000"/>
              </a:lnSpc>
              <a:spcBef>
                <a:spcPts val="800"/>
              </a:spcBef>
              <a:spcAft>
                <a:spcPts val="0"/>
              </a:spcAft>
              <a:buClr>
                <a:schemeClr val="lt1"/>
              </a:buClr>
              <a:buSzPts val="1500"/>
              <a:buNone/>
            </a:pPr>
            <a:r>
              <a:rPr lang="en" sz="1500" b="1"/>
              <a:t>e) Interoperability</a:t>
            </a:r>
            <a:endParaRPr/>
          </a:p>
          <a:p>
            <a:pPr marL="177800" lvl="0" indent="-171450" algn="l" rtl="0">
              <a:lnSpc>
                <a:spcPct val="90000"/>
              </a:lnSpc>
              <a:spcBef>
                <a:spcPts val="800"/>
              </a:spcBef>
              <a:spcAft>
                <a:spcPts val="0"/>
              </a:spcAft>
              <a:buClr>
                <a:schemeClr val="lt1"/>
              </a:buClr>
              <a:buSzPts val="1500"/>
              <a:buChar char="•"/>
            </a:pPr>
            <a:r>
              <a:rPr lang="en" sz="1500"/>
              <a:t>Allows .NET applications to interact with </a:t>
            </a:r>
            <a:r>
              <a:rPr lang="en" sz="1500" b="1"/>
              <a:t>COM objects</a:t>
            </a:r>
            <a:r>
              <a:rPr lang="en" sz="1500"/>
              <a:t> and </a:t>
            </a:r>
            <a:r>
              <a:rPr lang="en" sz="1500" b="1"/>
              <a:t>native Windows APIs</a:t>
            </a:r>
            <a:r>
              <a:rPr lang="en" sz="1500"/>
              <a:t>.</a:t>
            </a:r>
            <a:endParaRPr/>
          </a:p>
          <a:p>
            <a:pPr marL="177800" lvl="0" indent="-171450" algn="l" rtl="0">
              <a:lnSpc>
                <a:spcPct val="90000"/>
              </a:lnSpc>
              <a:spcBef>
                <a:spcPts val="800"/>
              </a:spcBef>
              <a:spcAft>
                <a:spcPts val="0"/>
              </a:spcAft>
              <a:buClr>
                <a:schemeClr val="lt1"/>
              </a:buClr>
              <a:buSzPts val="1500"/>
              <a:buChar char="•"/>
            </a:pPr>
            <a:r>
              <a:rPr lang="en" sz="1500"/>
              <a:t>Makes it possible to use existing libraries or components outside .NET.</a:t>
            </a:r>
            <a:endParaRPr/>
          </a:p>
          <a:p>
            <a:pPr marL="0" lvl="0" indent="0" algn="l" rtl="0">
              <a:lnSpc>
                <a:spcPct val="90000"/>
              </a:lnSpc>
              <a:spcBef>
                <a:spcPts val="800"/>
              </a:spcBef>
              <a:spcAft>
                <a:spcPts val="0"/>
              </a:spcAft>
              <a:buClr>
                <a:schemeClr val="lt1"/>
              </a:buClr>
              <a:buSzPts val="1500"/>
              <a:buNone/>
            </a:pPr>
            <a:r>
              <a:rPr lang="en" sz="1500" b="1"/>
              <a:t>f) Thread Management and Concurrency</a:t>
            </a:r>
            <a:endParaRPr/>
          </a:p>
          <a:p>
            <a:pPr marL="177800" lvl="0" indent="-171450" algn="l" rtl="0">
              <a:lnSpc>
                <a:spcPct val="90000"/>
              </a:lnSpc>
              <a:spcBef>
                <a:spcPts val="800"/>
              </a:spcBef>
              <a:spcAft>
                <a:spcPts val="0"/>
              </a:spcAft>
              <a:buClr>
                <a:schemeClr val="lt1"/>
              </a:buClr>
              <a:buSzPts val="1500"/>
              <a:buChar char="•"/>
            </a:pPr>
            <a:r>
              <a:rPr lang="en" sz="1500"/>
              <a:t>Manages multiple threads efficiently.</a:t>
            </a:r>
            <a:endParaRPr/>
          </a:p>
          <a:p>
            <a:pPr marL="177800" lvl="0" indent="-171450" algn="l" rtl="0">
              <a:lnSpc>
                <a:spcPct val="90000"/>
              </a:lnSpc>
              <a:spcBef>
                <a:spcPts val="800"/>
              </a:spcBef>
              <a:spcAft>
                <a:spcPts val="0"/>
              </a:spcAft>
              <a:buClr>
                <a:schemeClr val="lt1"/>
              </a:buClr>
              <a:buSzPts val="1500"/>
              <a:buChar char="•"/>
            </a:pPr>
            <a:r>
              <a:rPr lang="en" sz="1500"/>
              <a:t>Supports </a:t>
            </a:r>
            <a:r>
              <a:rPr lang="en" sz="1500" b="1"/>
              <a:t>multi-threading</a:t>
            </a:r>
            <a:r>
              <a:rPr lang="en" sz="1500"/>
              <a:t>, allowing applications to run tasks in parallel.</a:t>
            </a:r>
            <a:endParaRPr/>
          </a:p>
          <a:p>
            <a:pPr marL="177800" lvl="0" indent="-76200" algn="l" rtl="0">
              <a:lnSpc>
                <a:spcPct val="90000"/>
              </a:lnSpc>
              <a:spcBef>
                <a:spcPts val="800"/>
              </a:spcBef>
              <a:spcAft>
                <a:spcPts val="0"/>
              </a:spcAft>
              <a:buClr>
                <a:schemeClr val="lt1"/>
              </a:buClr>
              <a:buSzPts val="1500"/>
              <a:buNone/>
            </a:pP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7"/>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sp>
        <p:nvSpPr>
          <p:cNvPr id="283" name="Google Shape;283;p47"/>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r>
              <a:rPr lang="en" sz="1500" b="1"/>
              <a:t>g) Just-In-Time Compilation (JIT)</a:t>
            </a:r>
            <a:endParaRPr/>
          </a:p>
          <a:p>
            <a:pPr marL="177800" lvl="0" indent="-171450" algn="l" rtl="0">
              <a:lnSpc>
                <a:spcPct val="90000"/>
              </a:lnSpc>
              <a:spcBef>
                <a:spcPts val="800"/>
              </a:spcBef>
              <a:spcAft>
                <a:spcPts val="0"/>
              </a:spcAft>
              <a:buClr>
                <a:schemeClr val="lt1"/>
              </a:buClr>
              <a:buSzPts val="1500"/>
              <a:buChar char="•"/>
            </a:pPr>
            <a:r>
              <a:rPr lang="en" sz="1500"/>
              <a:t>Converts </a:t>
            </a:r>
            <a:r>
              <a:rPr lang="en" sz="1500" b="1"/>
              <a:t>MSIL (Microsoft Intermediate Language)</a:t>
            </a:r>
            <a:r>
              <a:rPr lang="en" sz="1500"/>
              <a:t> code into </a:t>
            </a:r>
            <a:r>
              <a:rPr lang="en" sz="1500" b="1"/>
              <a:t>native machine code</a:t>
            </a:r>
            <a:r>
              <a:rPr lang="en" sz="1500"/>
              <a:t> at runtime.</a:t>
            </a:r>
            <a:endParaRPr/>
          </a:p>
          <a:p>
            <a:pPr marL="177800" lvl="0" indent="-171450" algn="l" rtl="0">
              <a:lnSpc>
                <a:spcPct val="90000"/>
              </a:lnSpc>
              <a:spcBef>
                <a:spcPts val="800"/>
              </a:spcBef>
              <a:spcAft>
                <a:spcPts val="0"/>
              </a:spcAft>
              <a:buClr>
                <a:schemeClr val="lt1"/>
              </a:buClr>
              <a:buSzPts val="1500"/>
              <a:buChar char="•"/>
            </a:pPr>
            <a:r>
              <a:rPr lang="en" sz="1500"/>
              <a:t>Ensures that .NET code runs efficiently on any supported platform.</a:t>
            </a:r>
            <a:endParaRPr/>
          </a:p>
          <a:p>
            <a:pPr marL="0" lvl="0" indent="0" algn="l" rtl="0">
              <a:lnSpc>
                <a:spcPct val="90000"/>
              </a:lnSpc>
              <a:spcBef>
                <a:spcPts val="800"/>
              </a:spcBef>
              <a:spcAft>
                <a:spcPts val="0"/>
              </a:spcAft>
              <a:buClr>
                <a:schemeClr val="lt1"/>
              </a:buClr>
              <a:buSzPts val="1500"/>
              <a:buNone/>
            </a:pPr>
            <a:r>
              <a:rPr lang="en" sz="1500" b="1"/>
              <a:t>h) Code Verification</a:t>
            </a:r>
            <a:endParaRPr/>
          </a:p>
          <a:p>
            <a:pPr marL="177800" lvl="0" indent="-171450" algn="l" rtl="0">
              <a:lnSpc>
                <a:spcPct val="90000"/>
              </a:lnSpc>
              <a:spcBef>
                <a:spcPts val="800"/>
              </a:spcBef>
              <a:spcAft>
                <a:spcPts val="0"/>
              </a:spcAft>
              <a:buClr>
                <a:schemeClr val="lt1"/>
              </a:buClr>
              <a:buSzPts val="1500"/>
              <a:buChar char="•"/>
            </a:pPr>
            <a:r>
              <a:rPr lang="en" sz="1500"/>
              <a:t>Verifies that code meets certain rules before execution.</a:t>
            </a:r>
            <a:endParaRPr/>
          </a:p>
          <a:p>
            <a:pPr marL="177800" lvl="0" indent="-171450" algn="l" rtl="0">
              <a:lnSpc>
                <a:spcPct val="90000"/>
              </a:lnSpc>
              <a:spcBef>
                <a:spcPts val="800"/>
              </a:spcBef>
              <a:spcAft>
                <a:spcPts val="0"/>
              </a:spcAft>
              <a:buClr>
                <a:schemeClr val="lt1"/>
              </a:buClr>
              <a:buSzPts val="1500"/>
              <a:buChar char="•"/>
            </a:pPr>
            <a:r>
              <a:rPr lang="en" sz="1500"/>
              <a:t>Helps prevent runtime errors and improves security.</a:t>
            </a:r>
            <a:endParaRPr/>
          </a:p>
          <a:p>
            <a:pPr marL="0" lvl="0" indent="0" algn="l" rtl="0">
              <a:lnSpc>
                <a:spcPct val="90000"/>
              </a:lnSpc>
              <a:spcBef>
                <a:spcPts val="800"/>
              </a:spcBef>
              <a:spcAft>
                <a:spcPts val="0"/>
              </a:spcAft>
              <a:buClr>
                <a:schemeClr val="lt1"/>
              </a:buClr>
              <a:buSzPts val="1500"/>
              <a:buNone/>
            </a:pP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8"/>
          <p:cNvSpPr txBox="1">
            <a:spLocks noGrp="1"/>
          </p:cNvSpPr>
          <p:nvPr>
            <p:ph type="title"/>
          </p:nvPr>
        </p:nvSpPr>
        <p:spPr>
          <a:xfrm>
            <a:off x="685331" y="463888"/>
            <a:ext cx="7773338" cy="363314"/>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lt1"/>
              </a:buClr>
              <a:buSzPct val="100000"/>
              <a:buFont typeface="Century Gothic"/>
              <a:buNone/>
            </a:pPr>
            <a:r>
              <a:rPr lang="en" b="1"/>
              <a:t>CLR ARCHITECTURE</a:t>
            </a:r>
            <a:endParaRPr/>
          </a:p>
        </p:txBody>
      </p:sp>
      <p:sp>
        <p:nvSpPr>
          <p:cNvPr id="289" name="Google Shape;289;p48"/>
          <p:cNvSpPr txBox="1">
            <a:spLocks noGrp="1"/>
          </p:cNvSpPr>
          <p:nvPr>
            <p:ph type="body" idx="1"/>
          </p:nvPr>
        </p:nvSpPr>
        <p:spPr>
          <a:xfrm>
            <a:off x="628650" y="827202"/>
            <a:ext cx="7886700" cy="4449476"/>
          </a:xfrm>
          <a:prstGeom prst="rect">
            <a:avLst/>
          </a:prstGeom>
          <a:noFill/>
          <a:ln>
            <a:noFill/>
          </a:ln>
        </p:spPr>
        <p:txBody>
          <a:bodyPr spcFirstLastPara="1" wrap="square" lIns="68575" tIns="34275" rIns="68575" bIns="34275" anchor="t" anchorCtr="0">
            <a:noAutofit/>
          </a:bodyPr>
          <a:lstStyle/>
          <a:p>
            <a:pPr marL="177800" lvl="0" indent="-184150" algn="l" rtl="0">
              <a:lnSpc>
                <a:spcPct val="90000"/>
              </a:lnSpc>
              <a:spcBef>
                <a:spcPts val="0"/>
              </a:spcBef>
              <a:spcAft>
                <a:spcPts val="0"/>
              </a:spcAft>
              <a:buClr>
                <a:schemeClr val="lt1"/>
              </a:buClr>
              <a:buSzPts val="1100"/>
              <a:buChar char="•"/>
            </a:pPr>
            <a:r>
              <a:rPr lang="en" sz="1100">
                <a:latin typeface="Calibri"/>
                <a:ea typeface="Calibri"/>
                <a:cs typeface="Calibri"/>
                <a:sym typeface="Calibri"/>
              </a:rPr>
              <a:t>CLR consists of several components that work together:</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Class Loader</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Loads .NET classes into memory.</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MSIL Code Execution Engine</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Executes </a:t>
            </a:r>
            <a:r>
              <a:rPr lang="en" sz="1100" b="1">
                <a:latin typeface="Calibri"/>
                <a:ea typeface="Calibri"/>
                <a:cs typeface="Calibri"/>
                <a:sym typeface="Calibri"/>
              </a:rPr>
              <a:t>Microsoft Intermediate Language (MSIL)</a:t>
            </a:r>
            <a:r>
              <a:rPr lang="en" sz="1100">
                <a:latin typeface="Calibri"/>
                <a:ea typeface="Calibri"/>
                <a:cs typeface="Calibri"/>
                <a:sym typeface="Calibri"/>
              </a:rPr>
              <a:t> code.</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JIT Compiler</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Converts MSIL to native code (machine-level instructions) just before execution.</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Garbage Collector</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Automatically frees unused memory.</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Security Engine</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Enforces role-based and code access security.</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Exception Handling Mechanism</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Manages runtime exceptions.</a:t>
            </a:r>
            <a:endParaRPr/>
          </a:p>
          <a:p>
            <a:pPr marL="177800" lvl="0" indent="-184150" algn="l" rtl="0">
              <a:lnSpc>
                <a:spcPct val="90000"/>
              </a:lnSpc>
              <a:spcBef>
                <a:spcPts val="800"/>
              </a:spcBef>
              <a:spcAft>
                <a:spcPts val="0"/>
              </a:spcAft>
              <a:buClr>
                <a:schemeClr val="lt1"/>
              </a:buClr>
              <a:buSzPts val="1100"/>
              <a:buChar char="•"/>
            </a:pPr>
            <a:r>
              <a:rPr lang="en" sz="1100" b="1">
                <a:latin typeface="Calibri"/>
                <a:ea typeface="Calibri"/>
                <a:cs typeface="Calibri"/>
                <a:sym typeface="Calibri"/>
              </a:rPr>
              <a:t>Thread Management</a:t>
            </a:r>
            <a:endParaRPr sz="1100">
              <a:latin typeface="Calibri"/>
              <a:ea typeface="Calibri"/>
              <a:cs typeface="Calibri"/>
              <a:sym typeface="Calibri"/>
            </a:endParaRPr>
          </a:p>
          <a:p>
            <a:pPr marL="520700" lvl="1" indent="-184150" algn="l" rtl="0">
              <a:lnSpc>
                <a:spcPct val="90000"/>
              </a:lnSpc>
              <a:spcBef>
                <a:spcPts val="400"/>
              </a:spcBef>
              <a:spcAft>
                <a:spcPts val="0"/>
              </a:spcAft>
              <a:buClr>
                <a:schemeClr val="lt1"/>
              </a:buClr>
              <a:buSzPts val="1100"/>
              <a:buChar char="•"/>
            </a:pPr>
            <a:r>
              <a:rPr lang="en" sz="1100">
                <a:latin typeface="Calibri"/>
                <a:ea typeface="Calibri"/>
                <a:cs typeface="Calibri"/>
                <a:sym typeface="Calibri"/>
              </a:rPr>
              <a:t>Manages threads, synchronization, and execution order.</a:t>
            </a:r>
            <a:endParaRPr/>
          </a:p>
          <a:p>
            <a:pPr marL="177800" lvl="0" indent="-114300" algn="l" rtl="0">
              <a:lnSpc>
                <a:spcPct val="90000"/>
              </a:lnSpc>
              <a:spcBef>
                <a:spcPts val="800"/>
              </a:spcBef>
              <a:spcAft>
                <a:spcPts val="0"/>
              </a:spcAft>
              <a:buClr>
                <a:schemeClr val="lt1"/>
              </a:buClr>
              <a:buSzPts val="1100"/>
              <a:buNone/>
            </a:pPr>
            <a:endParaRPr sz="11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9"/>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lt1"/>
              </a:buClr>
              <a:buSzPts val="3000"/>
              <a:buFont typeface="Century Gothic"/>
              <a:buNone/>
            </a:pPr>
            <a:r>
              <a:rPr lang="en" b="1"/>
              <a:t>HOW CLR WORKS: STEP BY STEP</a:t>
            </a:r>
            <a:endParaRPr b="1"/>
          </a:p>
        </p:txBody>
      </p:sp>
      <p:sp>
        <p:nvSpPr>
          <p:cNvPr id="295" name="Google Shape;295;p49"/>
          <p:cNvSpPr txBox="1">
            <a:spLocks noGrp="1"/>
          </p:cNvSpPr>
          <p:nvPr>
            <p:ph type="body" idx="1"/>
          </p:nvPr>
        </p:nvSpPr>
        <p:spPr>
          <a:xfrm>
            <a:off x="628650" y="1369218"/>
            <a:ext cx="7886700" cy="3558643"/>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r>
              <a:rPr lang="en" sz="1500"/>
              <a:t>Here’s what happens when a .NET program runs:</a:t>
            </a:r>
            <a:endParaRPr/>
          </a:p>
          <a:p>
            <a:pPr marL="0" lvl="0" indent="0" algn="l" rtl="0">
              <a:lnSpc>
                <a:spcPct val="90000"/>
              </a:lnSpc>
              <a:spcBef>
                <a:spcPts val="800"/>
              </a:spcBef>
              <a:spcAft>
                <a:spcPts val="0"/>
              </a:spcAft>
              <a:buClr>
                <a:schemeClr val="lt1"/>
              </a:buClr>
              <a:buSzPts val="1500"/>
              <a:buNone/>
            </a:pPr>
            <a:endParaRPr sz="1500"/>
          </a:p>
          <a:p>
            <a:pPr marL="0" lvl="0" indent="0" algn="l" rtl="0">
              <a:lnSpc>
                <a:spcPct val="90000"/>
              </a:lnSpc>
              <a:spcBef>
                <a:spcPts val="800"/>
              </a:spcBef>
              <a:spcAft>
                <a:spcPts val="0"/>
              </a:spcAft>
              <a:buClr>
                <a:schemeClr val="lt1"/>
              </a:buClr>
              <a:buSzPts val="1500"/>
              <a:buNone/>
            </a:pPr>
            <a:endParaRPr sz="1500"/>
          </a:p>
        </p:txBody>
      </p:sp>
      <p:sp>
        <p:nvSpPr>
          <p:cNvPr id="296" name="Google Shape;296;p49"/>
          <p:cNvSpPr/>
          <p:nvPr/>
        </p:nvSpPr>
        <p:spPr>
          <a:xfrm>
            <a:off x="862553" y="1696002"/>
            <a:ext cx="6380978" cy="3070071"/>
          </a:xfrm>
          <a:prstGeom prst="rect">
            <a:avLst/>
          </a:prstGeom>
          <a:noFill/>
          <a:ln>
            <a:noFill/>
          </a:ln>
        </p:spPr>
        <p:txBody>
          <a:bodyPr spcFirstLastPara="1" wrap="square" lIns="68575" tIns="34275" rIns="68575" bIns="34275" anchor="ctr" anchorCtr="0">
            <a:noAutofit/>
          </a:bodyPr>
          <a:lstStyle/>
          <a:p>
            <a:pPr marL="254000" marR="0" lvl="0" indent="-247650" algn="l" rtl="0">
              <a:lnSpc>
                <a:spcPct val="100000"/>
              </a:lnSpc>
              <a:spcBef>
                <a:spcPts val="0"/>
              </a:spcBef>
              <a:spcAft>
                <a:spcPts val="0"/>
              </a:spcAft>
              <a:buClr>
                <a:schemeClr val="lt1"/>
              </a:buClr>
              <a:buSzPts val="1500"/>
              <a:buFont typeface="Century Gothic"/>
              <a:buAutoNum type="arabicPeriod"/>
            </a:pPr>
            <a:r>
              <a:rPr lang="en" sz="1500" b="1" i="0" u="none" strike="noStrike" cap="none">
                <a:solidFill>
                  <a:schemeClr val="lt1"/>
                </a:solidFill>
                <a:latin typeface="Century Gothic"/>
                <a:ea typeface="Century Gothic"/>
                <a:cs typeface="Century Gothic"/>
                <a:sym typeface="Century Gothic"/>
              </a:rPr>
              <a:t>Code Compilation:</a:t>
            </a:r>
            <a:endParaRPr sz="1100"/>
          </a:p>
          <a:p>
            <a:pPr marL="558800" marR="0" lvl="1" indent="-2095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Developer writes C# or VB.NET code.</a:t>
            </a:r>
            <a:endParaRPr sz="1100"/>
          </a:p>
          <a:p>
            <a:pPr marL="596900" marR="0" lvl="1" indent="-2476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Compiler converts it into MSIL and generates metadata.</a:t>
            </a:r>
            <a:endParaRPr sz="1100"/>
          </a:p>
          <a:p>
            <a:pPr marL="254000" marR="0" lvl="0" indent="-247650" algn="l" rtl="0">
              <a:lnSpc>
                <a:spcPct val="100000"/>
              </a:lnSpc>
              <a:spcBef>
                <a:spcPts val="0"/>
              </a:spcBef>
              <a:spcAft>
                <a:spcPts val="0"/>
              </a:spcAft>
              <a:buClr>
                <a:schemeClr val="lt1"/>
              </a:buClr>
              <a:buSzPts val="1500"/>
              <a:buFont typeface="Century Gothic"/>
              <a:buAutoNum type="arabicPeriod"/>
            </a:pPr>
            <a:r>
              <a:rPr lang="en" sz="1500" b="1" i="0" u="none" strike="noStrike" cap="none">
                <a:solidFill>
                  <a:schemeClr val="lt1"/>
                </a:solidFill>
                <a:latin typeface="Century Gothic"/>
                <a:ea typeface="Century Gothic"/>
                <a:cs typeface="Century Gothic"/>
                <a:sym typeface="Century Gothic"/>
              </a:rPr>
              <a:t>Class Loading:</a:t>
            </a:r>
            <a:endParaRPr sz="1100"/>
          </a:p>
          <a:p>
            <a:pPr marL="596900" marR="0" lvl="1" indent="-2476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CLR loads assemblies and classes into memory.</a:t>
            </a:r>
            <a:endParaRPr sz="1100"/>
          </a:p>
          <a:p>
            <a:pPr marL="254000" marR="0" lvl="0" indent="-247650" algn="l" rtl="0">
              <a:lnSpc>
                <a:spcPct val="100000"/>
              </a:lnSpc>
              <a:spcBef>
                <a:spcPts val="0"/>
              </a:spcBef>
              <a:spcAft>
                <a:spcPts val="0"/>
              </a:spcAft>
              <a:buClr>
                <a:schemeClr val="lt1"/>
              </a:buClr>
              <a:buSzPts val="1500"/>
              <a:buFont typeface="Century Gothic"/>
              <a:buAutoNum type="arabicPeriod"/>
            </a:pPr>
            <a:r>
              <a:rPr lang="en" sz="1500" b="1" i="0" u="none" strike="noStrike" cap="none">
                <a:solidFill>
                  <a:schemeClr val="lt1"/>
                </a:solidFill>
                <a:latin typeface="Century Gothic"/>
                <a:ea typeface="Century Gothic"/>
                <a:cs typeface="Century Gothic"/>
                <a:sym typeface="Century Gothic"/>
              </a:rPr>
              <a:t>JIT Compilation:</a:t>
            </a:r>
            <a:endParaRPr sz="1100"/>
          </a:p>
          <a:p>
            <a:pPr marL="596900" marR="0" lvl="1" indent="-2476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MSIL is converted to native machine code just-in-time before execution.</a:t>
            </a:r>
            <a:endParaRPr sz="1100"/>
          </a:p>
          <a:p>
            <a:pPr marL="254000" marR="0" lvl="0" indent="-247650" algn="l" rtl="0">
              <a:lnSpc>
                <a:spcPct val="100000"/>
              </a:lnSpc>
              <a:spcBef>
                <a:spcPts val="0"/>
              </a:spcBef>
              <a:spcAft>
                <a:spcPts val="0"/>
              </a:spcAft>
              <a:buClr>
                <a:schemeClr val="lt1"/>
              </a:buClr>
              <a:buSzPts val="1500"/>
              <a:buFont typeface="Century Gothic"/>
              <a:buAutoNum type="arabicPeriod"/>
            </a:pPr>
            <a:r>
              <a:rPr lang="en" sz="1500" b="1" i="0" u="none" strike="noStrike" cap="none">
                <a:solidFill>
                  <a:schemeClr val="lt1"/>
                </a:solidFill>
                <a:latin typeface="Century Gothic"/>
                <a:ea typeface="Century Gothic"/>
                <a:cs typeface="Century Gothic"/>
                <a:sym typeface="Century Gothic"/>
              </a:rPr>
              <a:t>Execution &amp; Management:</a:t>
            </a:r>
            <a:endParaRPr sz="1100"/>
          </a:p>
          <a:p>
            <a:pPr marL="596900" marR="0" lvl="1" indent="-2476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CLR manages memory, security, threads, and exceptions during runtime.</a:t>
            </a:r>
            <a:endParaRPr sz="1100"/>
          </a:p>
          <a:p>
            <a:pPr marL="596900" marR="0" lvl="1" indent="-2476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Garbage Collector automatically cleans unused objects.</a:t>
            </a:r>
            <a:endParaRPr sz="1100"/>
          </a:p>
          <a:p>
            <a:pPr marL="254000" marR="0" lvl="0" indent="-247650" algn="l" rtl="0">
              <a:lnSpc>
                <a:spcPct val="100000"/>
              </a:lnSpc>
              <a:spcBef>
                <a:spcPts val="0"/>
              </a:spcBef>
              <a:spcAft>
                <a:spcPts val="0"/>
              </a:spcAft>
              <a:buClr>
                <a:schemeClr val="lt1"/>
              </a:buClr>
              <a:buSzPts val="1500"/>
              <a:buFont typeface="Century Gothic"/>
              <a:buAutoNum type="arabicPeriod"/>
            </a:pPr>
            <a:r>
              <a:rPr lang="en" sz="1500" b="1" i="0" u="none" strike="noStrike" cap="none">
                <a:solidFill>
                  <a:schemeClr val="lt1"/>
                </a:solidFill>
                <a:latin typeface="Century Gothic"/>
                <a:ea typeface="Century Gothic"/>
                <a:cs typeface="Century Gothic"/>
                <a:sym typeface="Century Gothic"/>
              </a:rPr>
              <a:t>Program Execution:</a:t>
            </a:r>
            <a:endParaRPr sz="1100"/>
          </a:p>
          <a:p>
            <a:pPr marL="596900" marR="0" lvl="1" indent="-247650" algn="l" rtl="0">
              <a:spcBef>
                <a:spcPts val="0"/>
              </a:spcBef>
              <a:spcAft>
                <a:spcPts val="0"/>
              </a:spcAft>
              <a:buClr>
                <a:schemeClr val="lt1"/>
              </a:buClr>
              <a:buSzPts val="1500"/>
              <a:buFont typeface="Arial"/>
              <a:buChar char="•"/>
            </a:pPr>
            <a:r>
              <a:rPr lang="en" sz="1500" b="0" i="0" u="none" strike="noStrike" cap="none">
                <a:solidFill>
                  <a:schemeClr val="lt1"/>
                </a:solidFill>
                <a:latin typeface="Century Gothic"/>
                <a:ea typeface="Century Gothic"/>
                <a:cs typeface="Century Gothic"/>
                <a:sym typeface="Century Gothic"/>
              </a:rPr>
              <a:t>The native code is executed by the CPU efficiently.</a:t>
            </a:r>
            <a:endParaRPr sz="1100"/>
          </a:p>
          <a:p>
            <a:pPr marL="0" marR="0" lvl="0" indent="0" algn="l" rtl="0">
              <a:lnSpc>
                <a:spcPct val="100000"/>
              </a:lnSpc>
              <a:spcBef>
                <a:spcPts val="0"/>
              </a:spcBef>
              <a:spcAft>
                <a:spcPts val="0"/>
              </a:spcAft>
              <a:buClr>
                <a:schemeClr val="lt1"/>
              </a:buClr>
              <a:buSzPts val="1500"/>
              <a:buFont typeface="Century Gothic"/>
              <a:buNone/>
            </a:pPr>
            <a:endParaRPr sz="1500" b="0" i="0" u="none" strike="noStrike" cap="none">
              <a:solidFill>
                <a:schemeClr val="lt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0"/>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4500"/>
              <a:buFont typeface="Century Gothic"/>
              <a:buNone/>
            </a:pPr>
            <a:r>
              <a:rPr lang="en"/>
              <a:t>COMMON TYPE SYSTEM(CTS)</a:t>
            </a:r>
            <a:endParaRPr/>
          </a:p>
        </p:txBody>
      </p:sp>
      <p:sp>
        <p:nvSpPr>
          <p:cNvPr id="302" name="Google Shape;302;p50"/>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1"/>
          <p:cNvSpPr txBox="1">
            <a:spLocks noGrp="1"/>
          </p:cNvSpPr>
          <p:nvPr>
            <p:ph type="title"/>
          </p:nvPr>
        </p:nvSpPr>
        <p:spPr>
          <a:xfrm>
            <a:off x="685331" y="463888"/>
            <a:ext cx="7773338" cy="518857"/>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CTS OVERVIEW</a:t>
            </a:r>
            <a:endParaRPr/>
          </a:p>
        </p:txBody>
      </p:sp>
      <p:sp>
        <p:nvSpPr>
          <p:cNvPr id="308" name="Google Shape;308;p51"/>
          <p:cNvSpPr txBox="1">
            <a:spLocks noGrp="1"/>
          </p:cNvSpPr>
          <p:nvPr>
            <p:ph type="body" idx="1"/>
          </p:nvPr>
        </p:nvSpPr>
        <p:spPr>
          <a:xfrm>
            <a:off x="685330" y="1139010"/>
            <a:ext cx="7773339" cy="3682800"/>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a:latin typeface="Calibri"/>
                <a:ea typeface="Calibri"/>
                <a:cs typeface="Calibri"/>
                <a:sym typeface="Calibri"/>
              </a:rPr>
              <a:t>The </a:t>
            </a:r>
            <a:r>
              <a:rPr lang="en" b="1">
                <a:latin typeface="Calibri"/>
                <a:ea typeface="Calibri"/>
                <a:cs typeface="Calibri"/>
                <a:sym typeface="Calibri"/>
              </a:rPr>
              <a:t>Common Type System (CTS)</a:t>
            </a:r>
            <a:r>
              <a:rPr lang="en">
                <a:latin typeface="Calibri"/>
                <a:ea typeface="Calibri"/>
                <a:cs typeface="Calibri"/>
                <a:sym typeface="Calibri"/>
              </a:rPr>
              <a:t> is a fundamental part of the </a:t>
            </a:r>
            <a:r>
              <a:rPr lang="en" b="1">
                <a:latin typeface="Calibri"/>
                <a:ea typeface="Calibri"/>
                <a:cs typeface="Calibri"/>
                <a:sym typeface="Calibri"/>
              </a:rPr>
              <a:t>.NET Framework</a:t>
            </a:r>
            <a:r>
              <a:rPr lang="en">
                <a:latin typeface="Calibri"/>
                <a:ea typeface="Calibri"/>
                <a:cs typeface="Calibri"/>
                <a:sym typeface="Calibri"/>
              </a:rPr>
              <a:t> and </a:t>
            </a:r>
            <a:r>
              <a:rPr lang="en" b="1">
                <a:latin typeface="Calibri"/>
                <a:ea typeface="Calibri"/>
                <a:cs typeface="Calibri"/>
                <a:sym typeface="Calibri"/>
              </a:rPr>
              <a:t>.NET Core/5+</a:t>
            </a:r>
            <a:r>
              <a:rPr lang="en">
                <a:latin typeface="Calibri"/>
                <a:ea typeface="Calibri"/>
                <a:cs typeface="Calibri"/>
                <a:sym typeface="Calibri"/>
              </a:rPr>
              <a:t> architecture.</a:t>
            </a:r>
            <a:endParaRPr/>
          </a:p>
          <a:p>
            <a:pPr marL="177800" lvl="0" indent="-184150" algn="l" rtl="0">
              <a:lnSpc>
                <a:spcPct val="90000"/>
              </a:lnSpc>
              <a:spcBef>
                <a:spcPts val="800"/>
              </a:spcBef>
              <a:spcAft>
                <a:spcPts val="0"/>
              </a:spcAft>
              <a:buClr>
                <a:schemeClr val="lt1"/>
              </a:buClr>
              <a:buSzPts val="1700"/>
              <a:buChar char="•"/>
            </a:pPr>
            <a:r>
              <a:rPr lang="en">
                <a:latin typeface="Calibri"/>
                <a:ea typeface="Calibri"/>
                <a:cs typeface="Calibri"/>
                <a:sym typeface="Calibri"/>
              </a:rPr>
              <a:t>It defines </a:t>
            </a:r>
            <a:r>
              <a:rPr lang="en" b="1">
                <a:latin typeface="Calibri"/>
                <a:ea typeface="Calibri"/>
                <a:cs typeface="Calibri"/>
                <a:sym typeface="Calibri"/>
              </a:rPr>
              <a:t>how data types are declared, used, and managed</a:t>
            </a:r>
            <a:r>
              <a:rPr lang="en">
                <a:latin typeface="Calibri"/>
                <a:ea typeface="Calibri"/>
                <a:cs typeface="Calibri"/>
                <a:sym typeface="Calibri"/>
              </a:rPr>
              <a:t> by the </a:t>
            </a:r>
            <a:r>
              <a:rPr lang="en" b="1">
                <a:latin typeface="Calibri"/>
                <a:ea typeface="Calibri"/>
                <a:cs typeface="Calibri"/>
                <a:sym typeface="Calibri"/>
              </a:rPr>
              <a:t>Common Language Runtime (CLR)</a:t>
            </a:r>
            <a:r>
              <a:rPr lang="en">
                <a:latin typeface="Calibri"/>
                <a:ea typeface="Calibri"/>
                <a:cs typeface="Calibri"/>
                <a:sym typeface="Calibri"/>
              </a:rPr>
              <a:t>.</a:t>
            </a:r>
            <a:endParaRPr/>
          </a:p>
          <a:p>
            <a:pPr marL="177800" lvl="0" indent="-184150" algn="l" rtl="0">
              <a:lnSpc>
                <a:spcPct val="90000"/>
              </a:lnSpc>
              <a:spcBef>
                <a:spcPts val="800"/>
              </a:spcBef>
              <a:spcAft>
                <a:spcPts val="0"/>
              </a:spcAft>
              <a:buClr>
                <a:schemeClr val="lt1"/>
              </a:buClr>
              <a:buSzPts val="1700"/>
              <a:buChar char="•"/>
            </a:pPr>
            <a:r>
              <a:rPr lang="en">
                <a:latin typeface="Calibri"/>
                <a:ea typeface="Calibri"/>
                <a:cs typeface="Calibri"/>
                <a:sym typeface="Calibri"/>
              </a:rPr>
              <a:t>Its main goal is to provide a </a:t>
            </a:r>
            <a:r>
              <a:rPr lang="en" b="1">
                <a:latin typeface="Calibri"/>
                <a:ea typeface="Calibri"/>
                <a:cs typeface="Calibri"/>
                <a:sym typeface="Calibri"/>
              </a:rPr>
              <a:t>common standard</a:t>
            </a:r>
            <a:r>
              <a:rPr lang="en">
                <a:latin typeface="Calibri"/>
                <a:ea typeface="Calibri"/>
                <a:cs typeface="Calibri"/>
                <a:sym typeface="Calibri"/>
              </a:rPr>
              <a:t> for defining and using data types across </a:t>
            </a:r>
            <a:r>
              <a:rPr lang="en" b="1">
                <a:latin typeface="Calibri"/>
                <a:ea typeface="Calibri"/>
                <a:cs typeface="Calibri"/>
                <a:sym typeface="Calibri"/>
              </a:rPr>
              <a:t>multiple .NET languages</a:t>
            </a:r>
            <a:r>
              <a:rPr lang="en">
                <a:latin typeface="Calibri"/>
                <a:ea typeface="Calibri"/>
                <a:cs typeface="Calibri"/>
                <a:sym typeface="Calibri"/>
              </a:rPr>
              <a:t> — like C#, VB.NET, F#, etc.</a:t>
            </a:r>
            <a:endParaRPr/>
          </a:p>
          <a:p>
            <a:pPr marL="177800" lvl="0" indent="-184150" algn="l" rtl="0">
              <a:lnSpc>
                <a:spcPct val="90000"/>
              </a:lnSpc>
              <a:spcBef>
                <a:spcPts val="800"/>
              </a:spcBef>
              <a:spcAft>
                <a:spcPts val="0"/>
              </a:spcAft>
              <a:buClr>
                <a:schemeClr val="lt1"/>
              </a:buClr>
              <a:buSzPts val="1700"/>
              <a:buChar char="•"/>
            </a:pPr>
            <a:r>
              <a:rPr lang="en">
                <a:latin typeface="Calibri"/>
                <a:ea typeface="Calibri"/>
                <a:cs typeface="Calibri"/>
                <a:sym typeface="Calibri"/>
              </a:rPr>
              <a:t>Because of CTS, </a:t>
            </a:r>
            <a:r>
              <a:rPr lang="en" b="1">
                <a:latin typeface="Calibri"/>
                <a:ea typeface="Calibri"/>
                <a:cs typeface="Calibri"/>
                <a:sym typeface="Calibri"/>
              </a:rPr>
              <a:t>language interoperability</a:t>
            </a:r>
            <a:r>
              <a:rPr lang="en">
                <a:latin typeface="Calibri"/>
                <a:ea typeface="Calibri"/>
                <a:cs typeface="Calibri"/>
                <a:sym typeface="Calibri"/>
              </a:rPr>
              <a:t> is possible — meaning code written in one .NET language can interact seamlessly with another.</a:t>
            </a:r>
            <a:endParaRPr/>
          </a:p>
          <a:p>
            <a:pPr marL="177800" lvl="0" indent="-76200" algn="l" rtl="0">
              <a:lnSpc>
                <a:spcPct val="90000"/>
              </a:lnSpc>
              <a:spcBef>
                <a:spcPts val="800"/>
              </a:spcBef>
              <a:spcAft>
                <a:spcPts val="0"/>
              </a:spcAft>
              <a:buClr>
                <a:schemeClr val="lt1"/>
              </a:buClr>
              <a:buSzPts val="1700"/>
              <a:buNone/>
            </a:pPr>
            <a:endParaRPr>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2"/>
          <p:cNvSpPr txBox="1">
            <a:spLocks noGrp="1"/>
          </p:cNvSpPr>
          <p:nvPr>
            <p:ph type="title"/>
          </p:nvPr>
        </p:nvSpPr>
        <p:spPr>
          <a:xfrm>
            <a:off x="685331" y="463889"/>
            <a:ext cx="7773338" cy="497646"/>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PURPOSE OF CTS</a:t>
            </a:r>
            <a:endParaRPr/>
          </a:p>
        </p:txBody>
      </p:sp>
      <p:sp>
        <p:nvSpPr>
          <p:cNvPr id="314" name="Google Shape;314;p52"/>
          <p:cNvSpPr txBox="1">
            <a:spLocks noGrp="1"/>
          </p:cNvSpPr>
          <p:nvPr>
            <p:ph type="body" idx="1"/>
          </p:nvPr>
        </p:nvSpPr>
        <p:spPr>
          <a:xfrm>
            <a:off x="685331" y="1321400"/>
            <a:ext cx="7431147" cy="2146741"/>
          </a:xfrm>
          <a:prstGeom prst="rect">
            <a:avLst/>
          </a:prstGeom>
          <a:noFill/>
          <a:ln>
            <a:noFill/>
          </a:ln>
        </p:spPr>
        <p:txBody>
          <a:bodyPr spcFirstLastPara="1" wrap="square" lIns="68575" tIns="34275" rIns="68575" bIns="34275" anchor="ctr" anchorCtr="0">
            <a:spAutoFit/>
          </a:bodyPr>
          <a:lstStyle/>
          <a:p>
            <a:pPr marL="342900" marR="0" lvl="0" indent="-349250" algn="l" rtl="0">
              <a:lnSpc>
                <a:spcPct val="100000"/>
              </a:lnSpc>
              <a:spcBef>
                <a:spcPts val="0"/>
              </a:spcBef>
              <a:spcAft>
                <a:spcPts val="0"/>
              </a:spcAft>
              <a:buClr>
                <a:schemeClr val="lt1"/>
              </a:buClr>
              <a:buSzPts val="1700"/>
              <a:buFont typeface="Century Gothic"/>
              <a:buAutoNum type="arabicPeriod"/>
            </a:pPr>
            <a:r>
              <a:rPr lang="en" b="1" i="0" u="none" strike="noStrike" cap="none">
                <a:solidFill>
                  <a:schemeClr val="lt1"/>
                </a:solidFill>
                <a:latin typeface="Calibri"/>
                <a:ea typeface="Calibri"/>
                <a:cs typeface="Calibri"/>
                <a:sym typeface="Calibri"/>
              </a:rPr>
              <a:t>Language Interoperability:</a:t>
            </a:r>
            <a:br>
              <a:rPr lang="en" b="0" i="0" u="none" strike="noStrike" cap="none">
                <a:solidFill>
                  <a:schemeClr val="lt1"/>
                </a:solidFill>
                <a:latin typeface="Calibri"/>
                <a:ea typeface="Calibri"/>
                <a:cs typeface="Calibri"/>
                <a:sym typeface="Calibri"/>
              </a:rPr>
            </a:br>
            <a:r>
              <a:rPr lang="en" b="0" i="0" u="none" strike="noStrike" cap="none">
                <a:solidFill>
                  <a:schemeClr val="lt1"/>
                </a:solidFill>
                <a:latin typeface="Calibri"/>
                <a:ea typeface="Calibri"/>
                <a:cs typeface="Calibri"/>
                <a:sym typeface="Calibri"/>
              </a:rPr>
              <a:t>	Ensures that all .NET languages share a common understanding of data types.</a:t>
            </a:r>
            <a:endParaRPr/>
          </a:p>
          <a:p>
            <a:pPr marL="342900" marR="0" lvl="0" indent="-349250" algn="l" rtl="0">
              <a:lnSpc>
                <a:spcPct val="100000"/>
              </a:lnSpc>
              <a:spcBef>
                <a:spcPts val="0"/>
              </a:spcBef>
              <a:spcAft>
                <a:spcPts val="0"/>
              </a:spcAft>
              <a:buClr>
                <a:schemeClr val="lt1"/>
              </a:buClr>
              <a:buSzPts val="1700"/>
              <a:buFont typeface="Century Gothic"/>
              <a:buAutoNum type="arabicPeriod"/>
            </a:pPr>
            <a:r>
              <a:rPr lang="en" b="1" i="0" u="none" strike="noStrike" cap="none">
                <a:solidFill>
                  <a:schemeClr val="lt1"/>
                </a:solidFill>
                <a:latin typeface="Calibri"/>
                <a:ea typeface="Calibri"/>
                <a:cs typeface="Calibri"/>
                <a:sym typeface="Calibri"/>
              </a:rPr>
              <a:t>Type Safety:</a:t>
            </a:r>
            <a:br>
              <a:rPr lang="en" b="0" i="0" u="none" strike="noStrike" cap="none">
                <a:solidFill>
                  <a:schemeClr val="lt1"/>
                </a:solidFill>
                <a:latin typeface="Calibri"/>
                <a:ea typeface="Calibri"/>
                <a:cs typeface="Calibri"/>
                <a:sym typeface="Calibri"/>
              </a:rPr>
            </a:br>
            <a:r>
              <a:rPr lang="en" b="0" i="0" u="none" strike="noStrike" cap="none">
                <a:solidFill>
                  <a:schemeClr val="lt1"/>
                </a:solidFill>
                <a:latin typeface="Calibri"/>
                <a:ea typeface="Calibri"/>
                <a:cs typeface="Calibri"/>
                <a:sym typeface="Calibri"/>
              </a:rPr>
              <a:t>	Prevents type mismatches (for example, mixing incompatible data types).</a:t>
            </a:r>
            <a:endParaRPr/>
          </a:p>
          <a:p>
            <a:pPr marL="342900" marR="0" lvl="0" indent="-349250" algn="l" rtl="0">
              <a:lnSpc>
                <a:spcPct val="100000"/>
              </a:lnSpc>
              <a:spcBef>
                <a:spcPts val="0"/>
              </a:spcBef>
              <a:spcAft>
                <a:spcPts val="0"/>
              </a:spcAft>
              <a:buClr>
                <a:schemeClr val="lt1"/>
              </a:buClr>
              <a:buSzPts val="1700"/>
              <a:buFont typeface="Century Gothic"/>
              <a:buAutoNum type="arabicPeriod"/>
            </a:pPr>
            <a:r>
              <a:rPr lang="en" b="1" i="0" u="none" strike="noStrike" cap="none">
                <a:solidFill>
                  <a:schemeClr val="lt1"/>
                </a:solidFill>
                <a:latin typeface="Calibri"/>
                <a:ea typeface="Calibri"/>
                <a:cs typeface="Calibri"/>
                <a:sym typeface="Calibri"/>
              </a:rPr>
              <a:t>Performance Optimization:</a:t>
            </a:r>
            <a:br>
              <a:rPr lang="en" b="0" i="0" u="none" strike="noStrike" cap="none">
                <a:solidFill>
                  <a:schemeClr val="lt1"/>
                </a:solidFill>
                <a:latin typeface="Calibri"/>
                <a:ea typeface="Calibri"/>
                <a:cs typeface="Calibri"/>
                <a:sym typeface="Calibri"/>
              </a:rPr>
            </a:br>
            <a:r>
              <a:rPr lang="en" b="0" i="0" u="none" strike="noStrike" cap="none">
                <a:solidFill>
                  <a:schemeClr val="lt1"/>
                </a:solidFill>
                <a:latin typeface="Calibri"/>
                <a:ea typeface="Calibri"/>
                <a:cs typeface="Calibri"/>
                <a:sym typeface="Calibri"/>
              </a:rPr>
              <a:t>	By defining how data types are represented and stored in memory, the CLR can 	efficiently manage resources.</a:t>
            </a:r>
            <a:endParaRPr/>
          </a:p>
          <a:p>
            <a:pPr marL="342900" marR="0" lvl="0" indent="-349250" algn="l" rtl="0">
              <a:lnSpc>
                <a:spcPct val="100000"/>
              </a:lnSpc>
              <a:spcBef>
                <a:spcPts val="0"/>
              </a:spcBef>
              <a:spcAft>
                <a:spcPts val="0"/>
              </a:spcAft>
              <a:buClr>
                <a:schemeClr val="lt1"/>
              </a:buClr>
              <a:buSzPts val="1700"/>
              <a:buFont typeface="Century Gothic"/>
              <a:buAutoNum type="arabicPeriod"/>
            </a:pPr>
            <a:r>
              <a:rPr lang="en" b="1" i="0" u="none" strike="noStrike" cap="none">
                <a:solidFill>
                  <a:schemeClr val="lt1"/>
                </a:solidFill>
                <a:latin typeface="Calibri"/>
                <a:ea typeface="Calibri"/>
                <a:cs typeface="Calibri"/>
                <a:sym typeface="Calibri"/>
              </a:rPr>
              <a:t>Cross-language Compatibility:</a:t>
            </a:r>
            <a:br>
              <a:rPr lang="en" b="0" i="0" u="none" strike="noStrike" cap="none">
                <a:solidFill>
                  <a:schemeClr val="lt1"/>
                </a:solidFill>
                <a:latin typeface="Calibri"/>
                <a:ea typeface="Calibri"/>
                <a:cs typeface="Calibri"/>
                <a:sym typeface="Calibri"/>
              </a:rPr>
            </a:br>
            <a:r>
              <a:rPr lang="en" b="0" i="0" u="none" strike="noStrike" cap="none">
                <a:solidFill>
                  <a:schemeClr val="lt1"/>
                </a:solidFill>
                <a:latin typeface="Calibri"/>
                <a:ea typeface="Calibri"/>
                <a:cs typeface="Calibri"/>
                <a:sym typeface="Calibri"/>
              </a:rPr>
              <a:t>	A class created in C# can be inherited in VB.NET.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3"/>
          <p:cNvSpPr txBox="1">
            <a:spLocks noGrp="1"/>
          </p:cNvSpPr>
          <p:nvPr>
            <p:ph type="title"/>
          </p:nvPr>
        </p:nvSpPr>
        <p:spPr>
          <a:xfrm>
            <a:off x="685331" y="463889"/>
            <a:ext cx="7773338" cy="547137"/>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CATEGORIES OF CTS TYPES</a:t>
            </a:r>
            <a:endParaRPr/>
          </a:p>
        </p:txBody>
      </p:sp>
      <p:sp>
        <p:nvSpPr>
          <p:cNvPr id="320" name="Google Shape;320;p53"/>
          <p:cNvSpPr txBox="1">
            <a:spLocks noGrp="1"/>
          </p:cNvSpPr>
          <p:nvPr>
            <p:ph type="body" idx="1"/>
          </p:nvPr>
        </p:nvSpPr>
        <p:spPr>
          <a:xfrm>
            <a:off x="685331" y="1011026"/>
            <a:ext cx="7773339" cy="3668585"/>
          </a:xfrm>
          <a:prstGeom prst="rect">
            <a:avLst/>
          </a:prstGeom>
          <a:noFill/>
          <a:ln>
            <a:noFill/>
          </a:ln>
        </p:spPr>
        <p:txBody>
          <a:bodyPr spcFirstLastPara="1" wrap="square" lIns="68575" tIns="34275" rIns="68575" bIns="34275" anchor="t" anchorCtr="0">
            <a:noAutofit/>
          </a:bodyPr>
          <a:lstStyle/>
          <a:p>
            <a:pPr marL="177800" lvl="0" indent="-177800" algn="l" rtl="0">
              <a:lnSpc>
                <a:spcPct val="90000"/>
              </a:lnSpc>
              <a:spcBef>
                <a:spcPts val="0"/>
              </a:spcBef>
              <a:spcAft>
                <a:spcPts val="0"/>
              </a:spcAft>
              <a:buClr>
                <a:schemeClr val="lt1"/>
              </a:buClr>
              <a:buSzPts val="1400"/>
              <a:buChar char="•"/>
            </a:pPr>
            <a:r>
              <a:rPr lang="en" sz="1400">
                <a:latin typeface="Calibri"/>
                <a:ea typeface="Calibri"/>
                <a:cs typeface="Calibri"/>
                <a:sym typeface="Calibri"/>
              </a:rPr>
              <a:t>The </a:t>
            </a:r>
            <a:r>
              <a:rPr lang="en" sz="1400" b="1">
                <a:latin typeface="Calibri"/>
                <a:ea typeface="Calibri"/>
                <a:cs typeface="Calibri"/>
                <a:sym typeface="Calibri"/>
              </a:rPr>
              <a:t>Common Type System (CTS)</a:t>
            </a:r>
            <a:r>
              <a:rPr lang="en" sz="1400">
                <a:latin typeface="Calibri"/>
                <a:ea typeface="Calibri"/>
                <a:cs typeface="Calibri"/>
                <a:sym typeface="Calibri"/>
              </a:rPr>
              <a:t> in .NET categorizes all data types into </a:t>
            </a:r>
            <a:r>
              <a:rPr lang="en" sz="1400" b="1">
                <a:latin typeface="Calibri"/>
                <a:ea typeface="Calibri"/>
                <a:cs typeface="Calibri"/>
                <a:sym typeface="Calibri"/>
              </a:rPr>
              <a:t>two main categories</a:t>
            </a:r>
            <a:r>
              <a:rPr lang="en" sz="1400">
                <a:latin typeface="Calibri"/>
                <a:ea typeface="Calibri"/>
                <a:cs typeface="Calibri"/>
                <a:sym typeface="Calibri"/>
              </a:rPr>
              <a:t>:</a:t>
            </a:r>
            <a:endParaRPr/>
          </a:p>
          <a:p>
            <a:pPr marL="0" lvl="0" indent="0" algn="l" rtl="0">
              <a:lnSpc>
                <a:spcPct val="90000"/>
              </a:lnSpc>
              <a:spcBef>
                <a:spcPts val="800"/>
              </a:spcBef>
              <a:spcAft>
                <a:spcPts val="0"/>
              </a:spcAft>
              <a:buClr>
                <a:schemeClr val="lt1"/>
              </a:buClr>
              <a:buSzPts val="1400"/>
              <a:buNone/>
            </a:pPr>
            <a:r>
              <a:rPr lang="en" sz="1400" b="1">
                <a:latin typeface="Calibri"/>
                <a:ea typeface="Calibri"/>
                <a:cs typeface="Calibri"/>
                <a:sym typeface="Calibri"/>
              </a:rPr>
              <a:t>Categories of CTS Types</a:t>
            </a:r>
            <a:endParaRPr/>
          </a:p>
          <a:p>
            <a:pPr marL="0" lvl="0" indent="0" algn="l" rtl="0">
              <a:lnSpc>
                <a:spcPct val="90000"/>
              </a:lnSpc>
              <a:spcBef>
                <a:spcPts val="800"/>
              </a:spcBef>
              <a:spcAft>
                <a:spcPts val="0"/>
              </a:spcAft>
              <a:buClr>
                <a:schemeClr val="lt1"/>
              </a:buClr>
              <a:buSzPts val="1400"/>
              <a:buNone/>
            </a:pPr>
            <a:r>
              <a:rPr lang="en" sz="1400" b="1">
                <a:latin typeface="Calibri"/>
                <a:ea typeface="Calibri"/>
                <a:cs typeface="Calibri"/>
                <a:sym typeface="Calibri"/>
              </a:rPr>
              <a:t>1. Value Types</a:t>
            </a:r>
            <a:endParaRPr/>
          </a:p>
          <a:p>
            <a:pPr marL="177800" lvl="0" indent="-177800" algn="l" rtl="0">
              <a:lnSpc>
                <a:spcPct val="90000"/>
              </a:lnSpc>
              <a:spcBef>
                <a:spcPts val="800"/>
              </a:spcBef>
              <a:spcAft>
                <a:spcPts val="0"/>
              </a:spcAft>
              <a:buClr>
                <a:schemeClr val="lt1"/>
              </a:buClr>
              <a:buSzPts val="1400"/>
              <a:buChar char="•"/>
            </a:pPr>
            <a:r>
              <a:rPr lang="en" sz="1400" b="1">
                <a:latin typeface="Calibri"/>
                <a:ea typeface="Calibri"/>
                <a:cs typeface="Calibri"/>
                <a:sym typeface="Calibri"/>
              </a:rPr>
              <a:t> Definition:</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Value types </a:t>
            </a:r>
            <a:r>
              <a:rPr lang="en" b="1">
                <a:latin typeface="Calibri"/>
                <a:ea typeface="Calibri"/>
                <a:cs typeface="Calibri"/>
                <a:sym typeface="Calibri"/>
              </a:rPr>
              <a:t>store the actual data directly</a:t>
            </a:r>
            <a:r>
              <a:rPr lang="en">
                <a:latin typeface="Calibri"/>
                <a:ea typeface="Calibri"/>
                <a:cs typeface="Calibri"/>
                <a:sym typeface="Calibri"/>
              </a:rPr>
              <a:t> in memory (usually on the </a:t>
            </a:r>
            <a:r>
              <a:rPr lang="en" b="1">
                <a:latin typeface="Calibri"/>
                <a:ea typeface="Calibri"/>
                <a:cs typeface="Calibri"/>
                <a:sym typeface="Calibri"/>
              </a:rPr>
              <a:t>stack</a:t>
            </a:r>
            <a:r>
              <a:rPr lang="en">
                <a:latin typeface="Calibri"/>
                <a:ea typeface="Calibri"/>
                <a:cs typeface="Calibri"/>
                <a:sym typeface="Calibri"/>
              </a:rPr>
              <a:t>).</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When a value type variable is assigned to another, a </a:t>
            </a:r>
            <a:r>
              <a:rPr lang="en" b="1">
                <a:latin typeface="Calibri"/>
                <a:ea typeface="Calibri"/>
                <a:cs typeface="Calibri"/>
                <a:sym typeface="Calibri"/>
              </a:rPr>
              <a:t>copy of the value</a:t>
            </a:r>
            <a:r>
              <a:rPr lang="en">
                <a:latin typeface="Calibri"/>
                <a:ea typeface="Calibri"/>
                <a:cs typeface="Calibri"/>
                <a:sym typeface="Calibri"/>
              </a:rPr>
              <a:t> is created — not a reference.</a:t>
            </a:r>
            <a:endParaRPr/>
          </a:p>
          <a:p>
            <a:pPr marL="1206500" lvl="3" indent="-177800" algn="l" rtl="0">
              <a:lnSpc>
                <a:spcPct val="90000"/>
              </a:lnSpc>
              <a:spcBef>
                <a:spcPts val="400"/>
              </a:spcBef>
              <a:spcAft>
                <a:spcPts val="0"/>
              </a:spcAft>
              <a:buClr>
                <a:schemeClr val="lt1"/>
              </a:buClr>
              <a:buSzPts val="1400"/>
              <a:buChar char="•"/>
            </a:pPr>
            <a:r>
              <a:rPr lang="en" sz="1400" b="1">
                <a:latin typeface="Calibri"/>
                <a:ea typeface="Calibri"/>
                <a:cs typeface="Calibri"/>
                <a:sym typeface="Calibri"/>
              </a:rPr>
              <a:t> Key Characteristics:</a:t>
            </a:r>
            <a:endParaRPr/>
          </a:p>
          <a:p>
            <a:pPr marL="1549400" lvl="4"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Contain </a:t>
            </a:r>
            <a:r>
              <a:rPr lang="en" sz="1400" b="1">
                <a:latin typeface="Calibri"/>
                <a:ea typeface="Calibri"/>
                <a:cs typeface="Calibri"/>
                <a:sym typeface="Calibri"/>
              </a:rPr>
              <a:t>actual data</a:t>
            </a:r>
            <a:r>
              <a:rPr lang="en" sz="1400">
                <a:latin typeface="Calibri"/>
                <a:ea typeface="Calibri"/>
                <a:cs typeface="Calibri"/>
                <a:sym typeface="Calibri"/>
              </a:rPr>
              <a:t>.</a:t>
            </a:r>
            <a:endParaRPr/>
          </a:p>
          <a:p>
            <a:pPr marL="1549400" lvl="4"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Stored on the </a:t>
            </a:r>
            <a:r>
              <a:rPr lang="en" sz="1400" b="1">
                <a:latin typeface="Calibri"/>
                <a:ea typeface="Calibri"/>
                <a:cs typeface="Calibri"/>
                <a:sym typeface="Calibri"/>
              </a:rPr>
              <a:t>stack</a:t>
            </a:r>
            <a:r>
              <a:rPr lang="en" sz="1400">
                <a:latin typeface="Calibri"/>
                <a:ea typeface="Calibri"/>
                <a:cs typeface="Calibri"/>
                <a:sym typeface="Calibri"/>
              </a:rPr>
              <a:t> (faster access).</a:t>
            </a:r>
            <a:endParaRPr/>
          </a:p>
          <a:p>
            <a:pPr marL="1549400" lvl="4" indent="-177800" algn="l" rtl="0">
              <a:lnSpc>
                <a:spcPct val="90000"/>
              </a:lnSpc>
              <a:spcBef>
                <a:spcPts val="400"/>
              </a:spcBef>
              <a:spcAft>
                <a:spcPts val="0"/>
              </a:spcAft>
              <a:buClr>
                <a:schemeClr val="lt1"/>
              </a:buClr>
              <a:buSzPts val="1400"/>
              <a:buChar char="•"/>
            </a:pPr>
            <a:r>
              <a:rPr lang="en" sz="1400" b="1">
                <a:latin typeface="Calibri"/>
                <a:ea typeface="Calibri"/>
                <a:cs typeface="Calibri"/>
                <a:sym typeface="Calibri"/>
              </a:rPr>
              <a:t>Independent copies</a:t>
            </a:r>
            <a:r>
              <a:rPr lang="en" sz="1400">
                <a:latin typeface="Calibri"/>
                <a:ea typeface="Calibri"/>
                <a:cs typeface="Calibri"/>
                <a:sym typeface="Calibri"/>
              </a:rPr>
              <a:t> — changes to one do not affect the other.</a:t>
            </a:r>
            <a:endParaRPr/>
          </a:p>
          <a:p>
            <a:pPr marL="1549400" lvl="4" indent="-177800" algn="l" rtl="0">
              <a:lnSpc>
                <a:spcPct val="90000"/>
              </a:lnSpc>
              <a:spcBef>
                <a:spcPts val="400"/>
              </a:spcBef>
              <a:spcAft>
                <a:spcPts val="0"/>
              </a:spcAft>
              <a:buClr>
                <a:schemeClr val="lt1"/>
              </a:buClr>
              <a:buSzPts val="1400"/>
              <a:buChar char="•"/>
            </a:pPr>
            <a:r>
              <a:rPr lang="en" sz="1400" b="1"/>
              <a:t>Inherit from:</a:t>
            </a:r>
            <a:r>
              <a:rPr lang="en" sz="1400"/>
              <a:t> </a:t>
            </a:r>
            <a:r>
              <a:rPr lang="en"/>
              <a:t>System.ValueType</a:t>
            </a:r>
            <a:endParaRPr sz="14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4"/>
          <p:cNvSpPr txBox="1">
            <a:spLocks noGrp="1"/>
          </p:cNvSpPr>
          <p:nvPr>
            <p:ph type="body" idx="1"/>
          </p:nvPr>
        </p:nvSpPr>
        <p:spPr>
          <a:xfrm>
            <a:off x="685330" y="340089"/>
            <a:ext cx="7773339" cy="4510002"/>
          </a:xfrm>
          <a:prstGeom prst="rect">
            <a:avLst/>
          </a:prstGeom>
          <a:noFill/>
          <a:ln>
            <a:noFill/>
          </a:ln>
        </p:spPr>
        <p:txBody>
          <a:bodyPr spcFirstLastPara="1" wrap="square" lIns="68575" tIns="34275" rIns="68575" bIns="34275" anchor="t" anchorCtr="0">
            <a:noAutofit/>
          </a:bodyPr>
          <a:lstStyle/>
          <a:p>
            <a:pPr marL="177800" lvl="0" indent="-177800" algn="l" rtl="0">
              <a:lnSpc>
                <a:spcPct val="90000"/>
              </a:lnSpc>
              <a:spcBef>
                <a:spcPts val="0"/>
              </a:spcBef>
              <a:spcAft>
                <a:spcPts val="0"/>
              </a:spcAft>
              <a:buClr>
                <a:schemeClr val="lt1"/>
              </a:buClr>
              <a:buSzPts val="1200"/>
              <a:buChar char="•"/>
            </a:pPr>
            <a:r>
              <a:rPr lang="en" sz="1200" b="1">
                <a:latin typeface="Calibri"/>
                <a:ea typeface="Calibri"/>
                <a:cs typeface="Calibri"/>
                <a:sym typeface="Calibri"/>
              </a:rPr>
              <a:t>Examples:</a:t>
            </a:r>
            <a:endParaRPr/>
          </a:p>
          <a:p>
            <a:pPr marL="520700" lvl="1"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Built-in types:</a:t>
            </a:r>
            <a:r>
              <a:rPr lang="en" sz="1200">
                <a:latin typeface="Calibri"/>
                <a:ea typeface="Calibri"/>
                <a:cs typeface="Calibri"/>
                <a:sym typeface="Calibri"/>
              </a:rPr>
              <a:t> int, float, char, bool</a:t>
            </a:r>
            <a:endParaRPr/>
          </a:p>
          <a:p>
            <a:pPr marL="520700" lvl="1"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User-defined types:</a:t>
            </a:r>
            <a:r>
              <a:rPr lang="en" sz="1200">
                <a:latin typeface="Calibri"/>
                <a:ea typeface="Calibri"/>
                <a:cs typeface="Calibri"/>
                <a:sym typeface="Calibri"/>
              </a:rPr>
              <a:t> struct, enum</a:t>
            </a:r>
            <a:endParaRPr sz="1200">
              <a:latin typeface="Calibri"/>
              <a:ea typeface="Calibri"/>
              <a:cs typeface="Calibri"/>
              <a:sym typeface="Calibri"/>
            </a:endParaRPr>
          </a:p>
          <a:p>
            <a:pPr marL="0" lvl="0" indent="0" algn="l" rtl="0">
              <a:lnSpc>
                <a:spcPct val="90000"/>
              </a:lnSpc>
              <a:spcBef>
                <a:spcPts val="800"/>
              </a:spcBef>
              <a:spcAft>
                <a:spcPts val="0"/>
              </a:spcAft>
              <a:buClr>
                <a:schemeClr val="lt1"/>
              </a:buClr>
              <a:buSzPts val="1200"/>
              <a:buNone/>
            </a:pPr>
            <a:r>
              <a:rPr lang="en" sz="1200" b="1">
                <a:latin typeface="Calibri"/>
                <a:ea typeface="Calibri"/>
                <a:cs typeface="Calibri"/>
                <a:sym typeface="Calibri"/>
              </a:rPr>
              <a:t>2. Reference Types</a:t>
            </a:r>
            <a:endParaRPr/>
          </a:p>
          <a:p>
            <a:pPr marL="177800" lvl="0" indent="-177800" algn="l" rtl="0">
              <a:lnSpc>
                <a:spcPct val="90000"/>
              </a:lnSpc>
              <a:spcBef>
                <a:spcPts val="800"/>
              </a:spcBef>
              <a:spcAft>
                <a:spcPts val="0"/>
              </a:spcAft>
              <a:buClr>
                <a:schemeClr val="lt1"/>
              </a:buClr>
              <a:buSzPts val="1200"/>
              <a:buChar char="•"/>
            </a:pPr>
            <a:r>
              <a:rPr lang="en" sz="1200" b="1">
                <a:latin typeface="Calibri"/>
                <a:ea typeface="Calibri"/>
                <a:cs typeface="Calibri"/>
                <a:sym typeface="Calibri"/>
              </a:rPr>
              <a:t> Definition:</a:t>
            </a:r>
            <a:endParaRPr/>
          </a:p>
          <a:p>
            <a:pPr marL="520700" lvl="1" indent="-177800" algn="l" rtl="0">
              <a:lnSpc>
                <a:spcPct val="90000"/>
              </a:lnSpc>
              <a:spcBef>
                <a:spcPts val="400"/>
              </a:spcBef>
              <a:spcAft>
                <a:spcPts val="0"/>
              </a:spcAft>
              <a:buClr>
                <a:schemeClr val="lt1"/>
              </a:buClr>
              <a:buSzPts val="1200"/>
              <a:buChar char="•"/>
            </a:pPr>
            <a:r>
              <a:rPr lang="en" sz="1200">
                <a:latin typeface="Calibri"/>
                <a:ea typeface="Calibri"/>
                <a:cs typeface="Calibri"/>
                <a:sym typeface="Calibri"/>
              </a:rPr>
              <a:t>Reference types </a:t>
            </a:r>
            <a:r>
              <a:rPr lang="en" sz="1200" b="1">
                <a:latin typeface="Calibri"/>
                <a:ea typeface="Calibri"/>
                <a:cs typeface="Calibri"/>
                <a:sym typeface="Calibri"/>
              </a:rPr>
              <a:t>store a reference (memory address)</a:t>
            </a:r>
            <a:r>
              <a:rPr lang="en" sz="1200">
                <a:latin typeface="Calibri"/>
                <a:ea typeface="Calibri"/>
                <a:cs typeface="Calibri"/>
                <a:sym typeface="Calibri"/>
              </a:rPr>
              <a:t> to the actual data, which is kept on the </a:t>
            </a:r>
            <a:r>
              <a:rPr lang="en" sz="1200" b="1">
                <a:latin typeface="Calibri"/>
                <a:ea typeface="Calibri"/>
                <a:cs typeface="Calibri"/>
                <a:sym typeface="Calibri"/>
              </a:rPr>
              <a:t>heap</a:t>
            </a:r>
            <a:r>
              <a:rPr lang="en" sz="1200">
                <a:latin typeface="Calibri"/>
                <a:ea typeface="Calibri"/>
                <a:cs typeface="Calibri"/>
                <a:sym typeface="Calibri"/>
              </a:rPr>
              <a:t>.</a:t>
            </a:r>
            <a:endParaRPr/>
          </a:p>
          <a:p>
            <a:pPr marL="520700" lvl="1" indent="-177800" algn="l" rtl="0">
              <a:lnSpc>
                <a:spcPct val="90000"/>
              </a:lnSpc>
              <a:spcBef>
                <a:spcPts val="400"/>
              </a:spcBef>
              <a:spcAft>
                <a:spcPts val="0"/>
              </a:spcAft>
              <a:buClr>
                <a:schemeClr val="lt1"/>
              </a:buClr>
              <a:buSzPts val="1200"/>
              <a:buChar char="•"/>
            </a:pPr>
            <a:r>
              <a:rPr lang="en" sz="1200">
                <a:latin typeface="Calibri"/>
                <a:ea typeface="Calibri"/>
                <a:cs typeface="Calibri"/>
                <a:sym typeface="Calibri"/>
              </a:rPr>
              <a:t>When a reference type variable is assigned to another, both variables refer to the </a:t>
            </a:r>
            <a:r>
              <a:rPr lang="en" sz="1200" b="1">
                <a:latin typeface="Calibri"/>
                <a:ea typeface="Calibri"/>
                <a:cs typeface="Calibri"/>
                <a:sym typeface="Calibri"/>
              </a:rPr>
              <a:t>same object in memory</a:t>
            </a:r>
            <a:r>
              <a:rPr lang="en" sz="1200">
                <a:latin typeface="Calibri"/>
                <a:ea typeface="Calibri"/>
                <a:cs typeface="Calibri"/>
                <a:sym typeface="Calibri"/>
              </a:rPr>
              <a:t>.</a:t>
            </a:r>
            <a:endParaRPr/>
          </a:p>
          <a:p>
            <a:pPr marL="177800" lvl="0" indent="-177800" algn="l" rtl="0">
              <a:lnSpc>
                <a:spcPct val="90000"/>
              </a:lnSpc>
              <a:spcBef>
                <a:spcPts val="800"/>
              </a:spcBef>
              <a:spcAft>
                <a:spcPts val="0"/>
              </a:spcAft>
              <a:buClr>
                <a:schemeClr val="lt1"/>
              </a:buClr>
              <a:buSzPts val="1200"/>
              <a:buChar char="•"/>
            </a:pPr>
            <a:r>
              <a:rPr lang="en" sz="1200" b="1">
                <a:latin typeface="Calibri"/>
                <a:ea typeface="Calibri"/>
                <a:cs typeface="Calibri"/>
                <a:sym typeface="Calibri"/>
              </a:rPr>
              <a:t> Key Characteristics:</a:t>
            </a:r>
            <a:endParaRPr/>
          </a:p>
          <a:p>
            <a:pPr marL="520700" lvl="1" indent="-177800" algn="l" rtl="0">
              <a:lnSpc>
                <a:spcPct val="90000"/>
              </a:lnSpc>
              <a:spcBef>
                <a:spcPts val="400"/>
              </a:spcBef>
              <a:spcAft>
                <a:spcPts val="0"/>
              </a:spcAft>
              <a:buClr>
                <a:schemeClr val="lt1"/>
              </a:buClr>
              <a:buSzPts val="1200"/>
              <a:buChar char="•"/>
            </a:pPr>
            <a:r>
              <a:rPr lang="en" sz="1200">
                <a:latin typeface="Calibri"/>
                <a:ea typeface="Calibri"/>
                <a:cs typeface="Calibri"/>
                <a:sym typeface="Calibri"/>
              </a:rPr>
              <a:t>Contain </a:t>
            </a:r>
            <a:r>
              <a:rPr lang="en" sz="1200" b="1">
                <a:latin typeface="Calibri"/>
                <a:ea typeface="Calibri"/>
                <a:cs typeface="Calibri"/>
                <a:sym typeface="Calibri"/>
              </a:rPr>
              <a:t>memory addresses</a:t>
            </a:r>
            <a:r>
              <a:rPr lang="en" sz="1200">
                <a:latin typeface="Calibri"/>
                <a:ea typeface="Calibri"/>
                <a:cs typeface="Calibri"/>
                <a:sym typeface="Calibri"/>
              </a:rPr>
              <a:t>, not actual data.</a:t>
            </a:r>
            <a:endParaRPr/>
          </a:p>
          <a:p>
            <a:pPr marL="520700" lvl="1" indent="-177800" algn="l" rtl="0">
              <a:lnSpc>
                <a:spcPct val="90000"/>
              </a:lnSpc>
              <a:spcBef>
                <a:spcPts val="400"/>
              </a:spcBef>
              <a:spcAft>
                <a:spcPts val="0"/>
              </a:spcAft>
              <a:buClr>
                <a:schemeClr val="lt1"/>
              </a:buClr>
              <a:buSzPts val="1200"/>
              <a:buChar char="•"/>
            </a:pPr>
            <a:r>
              <a:rPr lang="en" sz="1200">
                <a:latin typeface="Calibri"/>
                <a:ea typeface="Calibri"/>
                <a:cs typeface="Calibri"/>
                <a:sym typeface="Calibri"/>
              </a:rPr>
              <a:t>Stored on the </a:t>
            </a:r>
            <a:r>
              <a:rPr lang="en" sz="1200" b="1">
                <a:latin typeface="Calibri"/>
                <a:ea typeface="Calibri"/>
                <a:cs typeface="Calibri"/>
                <a:sym typeface="Calibri"/>
              </a:rPr>
              <a:t>heap</a:t>
            </a:r>
            <a:r>
              <a:rPr lang="en" sz="1200">
                <a:latin typeface="Calibri"/>
                <a:ea typeface="Calibri"/>
                <a:cs typeface="Calibri"/>
                <a:sym typeface="Calibri"/>
              </a:rPr>
              <a:t>.</a:t>
            </a:r>
            <a:endParaRPr/>
          </a:p>
          <a:p>
            <a:pPr marL="520700" lvl="1"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Multiple variables</a:t>
            </a:r>
            <a:r>
              <a:rPr lang="en" sz="1200">
                <a:latin typeface="Calibri"/>
                <a:ea typeface="Calibri"/>
                <a:cs typeface="Calibri"/>
                <a:sym typeface="Calibri"/>
              </a:rPr>
              <a:t> can refer to the same object.</a:t>
            </a:r>
            <a:endParaRPr/>
          </a:p>
          <a:p>
            <a:pPr marL="520700" lvl="1"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Inherit from:</a:t>
            </a:r>
            <a:r>
              <a:rPr lang="en" sz="1200">
                <a:latin typeface="Calibri"/>
                <a:ea typeface="Calibri"/>
                <a:cs typeface="Calibri"/>
                <a:sym typeface="Calibri"/>
              </a:rPr>
              <a:t> System.Object</a:t>
            </a:r>
            <a:endParaRPr sz="1200">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77800" lvl="0" indent="-101600" algn="l" rtl="0">
              <a:lnSpc>
                <a:spcPct val="90000"/>
              </a:lnSpc>
              <a:spcBef>
                <a:spcPts val="800"/>
              </a:spcBef>
              <a:spcAft>
                <a:spcPts val="0"/>
              </a:spcAft>
              <a:buClr>
                <a:schemeClr val="lt1"/>
              </a:buClr>
              <a:buSzPts val="1200"/>
              <a:buNone/>
            </a:pPr>
            <a:endParaRPr sz="1200" b="1">
              <a:latin typeface="Calibri"/>
              <a:ea typeface="Calibri"/>
              <a:cs typeface="Calibri"/>
              <a:sym typeface="Calibri"/>
            </a:endParaRPr>
          </a:p>
          <a:p>
            <a:pPr marL="1206500" lvl="3"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Examples:</a:t>
            </a:r>
            <a:endParaRPr/>
          </a:p>
          <a:p>
            <a:pPr marL="1549400" lvl="4"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Class</a:t>
            </a:r>
            <a:endParaRPr sz="1200">
              <a:latin typeface="Calibri"/>
              <a:ea typeface="Calibri"/>
              <a:cs typeface="Calibri"/>
              <a:sym typeface="Calibri"/>
            </a:endParaRPr>
          </a:p>
          <a:p>
            <a:pPr marL="1549400" lvl="4"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Interface</a:t>
            </a:r>
            <a:endParaRPr sz="1200">
              <a:latin typeface="Calibri"/>
              <a:ea typeface="Calibri"/>
              <a:cs typeface="Calibri"/>
              <a:sym typeface="Calibri"/>
            </a:endParaRPr>
          </a:p>
          <a:p>
            <a:pPr marL="1549400" lvl="4"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Array</a:t>
            </a:r>
            <a:endParaRPr sz="1200">
              <a:latin typeface="Calibri"/>
              <a:ea typeface="Calibri"/>
              <a:cs typeface="Calibri"/>
              <a:sym typeface="Calibri"/>
            </a:endParaRPr>
          </a:p>
          <a:p>
            <a:pPr marL="1549400" lvl="4"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Delegate</a:t>
            </a:r>
            <a:endParaRPr sz="1200">
              <a:latin typeface="Calibri"/>
              <a:ea typeface="Calibri"/>
              <a:cs typeface="Calibri"/>
              <a:sym typeface="Calibri"/>
            </a:endParaRPr>
          </a:p>
          <a:p>
            <a:pPr marL="1549400" lvl="4" indent="-177800" algn="l" rtl="0">
              <a:lnSpc>
                <a:spcPct val="90000"/>
              </a:lnSpc>
              <a:spcBef>
                <a:spcPts val="400"/>
              </a:spcBef>
              <a:spcAft>
                <a:spcPts val="0"/>
              </a:spcAft>
              <a:buClr>
                <a:schemeClr val="lt1"/>
              </a:buClr>
              <a:buSzPts val="1200"/>
              <a:buChar char="•"/>
            </a:pPr>
            <a:r>
              <a:rPr lang="en" sz="1200" b="1">
                <a:latin typeface="Calibri"/>
                <a:ea typeface="Calibri"/>
                <a:cs typeface="Calibri"/>
                <a:sym typeface="Calibri"/>
              </a:rPr>
              <a:t>String</a:t>
            </a:r>
            <a:endParaRPr sz="1200">
              <a:latin typeface="Calibri"/>
              <a:ea typeface="Calibri"/>
              <a:cs typeface="Calibri"/>
              <a:sym typeface="Calibri"/>
            </a:endParaRPr>
          </a:p>
          <a:p>
            <a:pPr marL="0" lvl="0" indent="0" algn="l" rtl="0">
              <a:lnSpc>
                <a:spcPct val="90000"/>
              </a:lnSpc>
              <a:spcBef>
                <a:spcPts val="800"/>
              </a:spcBef>
              <a:spcAft>
                <a:spcPts val="0"/>
              </a:spcAft>
              <a:buClr>
                <a:schemeClr val="lt1"/>
              </a:buClr>
              <a:buSzPts val="1200"/>
              <a:buNone/>
            </a:pPr>
            <a:endParaRPr sz="12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5"/>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4500"/>
              <a:buFont typeface="Century Gothic"/>
              <a:buNone/>
            </a:pPr>
            <a:r>
              <a:rPr lang="en"/>
              <a:t>MODEL, VIEW,CONTROLLER</a:t>
            </a:r>
            <a:endParaRPr/>
          </a:p>
        </p:txBody>
      </p:sp>
      <p:sp>
        <p:nvSpPr>
          <p:cNvPr id="331" name="Google Shape;331;p55"/>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6"/>
          <p:cNvSpPr txBox="1">
            <a:spLocks noGrp="1"/>
          </p:cNvSpPr>
          <p:nvPr>
            <p:ph type="title"/>
          </p:nvPr>
        </p:nvSpPr>
        <p:spPr>
          <a:xfrm>
            <a:off x="685331" y="463889"/>
            <a:ext cx="7773338" cy="476436"/>
          </a:xfrm>
          <a:prstGeom prst="rect">
            <a:avLst/>
          </a:prstGeom>
          <a:noFill/>
          <a:ln>
            <a:noFill/>
          </a:ln>
        </p:spPr>
        <p:txBody>
          <a:bodyPr spcFirstLastPara="1" wrap="square" lIns="68575" tIns="34275" rIns="68575" bIns="34275" anchor="ctr" anchorCtr="0">
            <a:normAutofit fontScale="90000"/>
          </a:bodyPr>
          <a:lstStyle/>
          <a:p>
            <a:pPr marL="0" lvl="0" indent="0" algn="r" rtl="0">
              <a:lnSpc>
                <a:spcPct val="90000"/>
              </a:lnSpc>
              <a:spcBef>
                <a:spcPts val="0"/>
              </a:spcBef>
              <a:spcAft>
                <a:spcPts val="0"/>
              </a:spcAft>
              <a:buClr>
                <a:schemeClr val="lt1"/>
              </a:buClr>
              <a:buSzPct val="100000"/>
              <a:buFont typeface="Century Gothic"/>
              <a:buNone/>
            </a:pPr>
            <a:r>
              <a:rPr lang="en"/>
              <a:t>WHAT IS MVC?</a:t>
            </a:r>
            <a:endParaRPr/>
          </a:p>
        </p:txBody>
      </p:sp>
      <p:sp>
        <p:nvSpPr>
          <p:cNvPr id="337" name="Google Shape;337;p56"/>
          <p:cNvSpPr txBox="1">
            <a:spLocks noGrp="1"/>
          </p:cNvSpPr>
          <p:nvPr>
            <p:ph type="body" idx="1"/>
          </p:nvPr>
        </p:nvSpPr>
        <p:spPr>
          <a:xfrm>
            <a:off x="685330" y="1088796"/>
            <a:ext cx="7772870" cy="3254603"/>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The Framework is an architectural/design pattern that separates an application into three main logical components </a:t>
            </a:r>
            <a:r>
              <a:rPr lang="en" b="1" cap="none">
                <a:latin typeface="Calibri"/>
                <a:ea typeface="Calibri"/>
                <a:cs typeface="Calibri"/>
                <a:sym typeface="Calibri"/>
              </a:rPr>
              <a:t>Model</a:t>
            </a:r>
            <a:r>
              <a:rPr lang="en" cap="none">
                <a:latin typeface="Calibri"/>
                <a:ea typeface="Calibri"/>
                <a:cs typeface="Calibri"/>
                <a:sym typeface="Calibri"/>
              </a:rPr>
              <a:t>, </a:t>
            </a:r>
            <a:r>
              <a:rPr lang="en" b="1" cap="none">
                <a:latin typeface="Calibri"/>
                <a:ea typeface="Calibri"/>
                <a:cs typeface="Calibri"/>
                <a:sym typeface="Calibri"/>
              </a:rPr>
              <a:t>View</a:t>
            </a:r>
            <a:r>
              <a:rPr lang="en" cap="none">
                <a:latin typeface="Calibri"/>
                <a:ea typeface="Calibri"/>
                <a:cs typeface="Calibri"/>
                <a:sym typeface="Calibri"/>
              </a:rPr>
              <a:t>, and </a:t>
            </a:r>
            <a:r>
              <a:rPr lang="en" b="1" cap="none">
                <a:latin typeface="Calibri"/>
                <a:ea typeface="Calibri"/>
                <a:cs typeface="Calibri"/>
                <a:sym typeface="Calibri"/>
              </a:rPr>
              <a:t>Controller</a:t>
            </a:r>
            <a:r>
              <a:rPr lang="en" cap="none">
                <a:latin typeface="Calibri"/>
                <a:ea typeface="Calibri"/>
                <a:cs typeface="Calibri"/>
                <a:sym typeface="Calibri"/>
              </a:rPr>
              <a:t>.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Each architectural component is built to handle specific development aspects of an application.</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isolates the business logic and presentation layer from each other. It was traditionally used for desktop </a:t>
            </a:r>
            <a:r>
              <a:rPr lang="en" b="1" cap="none">
                <a:latin typeface="Calibri"/>
                <a:ea typeface="Calibri"/>
                <a:cs typeface="Calibri"/>
                <a:sym typeface="Calibri"/>
              </a:rPr>
              <a:t>Graphical User Interfaces (GUIS).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main goal of this design pattern was to solve the problem of users controlling a large and complex data set by splitting a large application into specific sections that all have their own purpose.</a:t>
            </a:r>
            <a:endParaRPr cap="none">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7"/>
          <p:cNvSpPr txBox="1">
            <a:spLocks noGrp="1"/>
          </p:cNvSpPr>
          <p:nvPr>
            <p:ph type="title"/>
          </p:nvPr>
        </p:nvSpPr>
        <p:spPr>
          <a:xfrm>
            <a:off x="685331" y="346435"/>
            <a:ext cx="7773338" cy="544397"/>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b="1"/>
              <a:t>FEATURES OF MVC</a:t>
            </a:r>
            <a:endParaRPr/>
          </a:p>
        </p:txBody>
      </p:sp>
      <p:sp>
        <p:nvSpPr>
          <p:cNvPr id="343" name="Google Shape;343;p57"/>
          <p:cNvSpPr txBox="1">
            <a:spLocks noGrp="1"/>
          </p:cNvSpPr>
          <p:nvPr>
            <p:ph type="body" idx="1"/>
          </p:nvPr>
        </p:nvSpPr>
        <p:spPr>
          <a:xfrm>
            <a:off x="685330" y="1187778"/>
            <a:ext cx="7772870" cy="3155622"/>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It provides a clear separation of </a:t>
            </a:r>
            <a:r>
              <a:rPr lang="en" b="1" cap="none">
                <a:latin typeface="Calibri"/>
                <a:ea typeface="Calibri"/>
                <a:cs typeface="Calibri"/>
                <a:sym typeface="Calibri"/>
              </a:rPr>
              <a:t>business logic, UI logic, and input logic.</a:t>
            </a:r>
            <a:endParaRPr cap="none">
              <a:latin typeface="Calibri"/>
              <a:ea typeface="Calibri"/>
              <a:cs typeface="Calibri"/>
              <a:sym typeface="Calibri"/>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offers full control over your html and urls which makes it easy to design web application architecture.</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is a powerful url-mapping component using which we can build applications that have comprehensible and searchable urls.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supports </a:t>
            </a:r>
            <a:r>
              <a:rPr lang="en" b="1" cap="none">
                <a:latin typeface="Calibri"/>
                <a:ea typeface="Calibri"/>
                <a:cs typeface="Calibri"/>
                <a:sym typeface="Calibri"/>
              </a:rPr>
              <a:t>Test Driven Development (TDD).</a:t>
            </a:r>
            <a:endParaRPr cap="none">
              <a:latin typeface="Calibri"/>
              <a:ea typeface="Calibri"/>
              <a:cs typeface="Calibri"/>
              <a:sym typeface="Calibri"/>
            </a:endParaRPr>
          </a:p>
          <a:p>
            <a:pPr marL="177800" lvl="0" indent="-76200" algn="l" rtl="0">
              <a:lnSpc>
                <a:spcPct val="90000"/>
              </a:lnSpc>
              <a:spcBef>
                <a:spcPts val="800"/>
              </a:spcBef>
              <a:spcAft>
                <a:spcPts val="0"/>
              </a:spcAft>
              <a:buClr>
                <a:schemeClr val="lt1"/>
              </a:buClr>
              <a:buSzPts val="1700"/>
              <a:buNone/>
            </a:pPr>
            <a:endParaRPr cap="none">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8"/>
          <p:cNvSpPr txBox="1">
            <a:spLocks noGrp="1"/>
          </p:cNvSpPr>
          <p:nvPr>
            <p:ph type="title"/>
          </p:nvPr>
        </p:nvSpPr>
        <p:spPr>
          <a:xfrm>
            <a:off x="685331" y="463888"/>
            <a:ext cx="7773338" cy="575417"/>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MVC ARCHITECTURE</a:t>
            </a:r>
            <a:endParaRPr/>
          </a:p>
        </p:txBody>
      </p:sp>
      <p:pic>
        <p:nvPicPr>
          <p:cNvPr id="349" name="Google Shape;349;p58" descr="MVC vs Microservices: Understanding The Architectures"/>
          <p:cNvPicPr preferRelativeResize="0"/>
          <p:nvPr/>
        </p:nvPicPr>
        <p:blipFill rotWithShape="1">
          <a:blip r:embed="rId3">
            <a:alphaModFix/>
          </a:blip>
          <a:srcRect/>
          <a:stretch/>
        </p:blipFill>
        <p:spPr>
          <a:xfrm>
            <a:off x="1574571" y="958534"/>
            <a:ext cx="5820757" cy="399871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9"/>
          <p:cNvSpPr txBox="1">
            <a:spLocks noGrp="1"/>
          </p:cNvSpPr>
          <p:nvPr>
            <p:ph type="title"/>
          </p:nvPr>
        </p:nvSpPr>
        <p:spPr>
          <a:xfrm>
            <a:off x="685331" y="463888"/>
            <a:ext cx="7773338" cy="851152"/>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CONTROLLER</a:t>
            </a:r>
            <a:endParaRPr/>
          </a:p>
        </p:txBody>
      </p:sp>
      <p:sp>
        <p:nvSpPr>
          <p:cNvPr id="355" name="Google Shape;355;p59"/>
          <p:cNvSpPr txBox="1">
            <a:spLocks noGrp="1"/>
          </p:cNvSpPr>
          <p:nvPr>
            <p:ph type="body" idx="1"/>
          </p:nvPr>
        </p:nvSpPr>
        <p:spPr>
          <a:xfrm>
            <a:off x="684862" y="1407674"/>
            <a:ext cx="7772870" cy="3088912"/>
          </a:xfrm>
          <a:prstGeom prst="rect">
            <a:avLst/>
          </a:prstGeom>
          <a:noFill/>
          <a:ln>
            <a:noFill/>
          </a:ln>
        </p:spPr>
        <p:txBody>
          <a:bodyPr spcFirstLastPara="1" wrap="square" lIns="68575" tIns="34275" rIns="68575" bIns="34275" anchor="t" anchorCtr="0">
            <a:no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The controller acts as an intermediary between the model and the view.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receives input from the user, communicates with the model to perform the necessary actions, and then updates the view with the new data.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controller does not handle data storage or business logic; it simply coordinates the interaction between the model and the view.</a:t>
            </a:r>
            <a:endParaRPr/>
          </a:p>
          <a:p>
            <a:pPr marL="177800" lvl="0" indent="-184150" algn="l" rtl="0">
              <a:lnSpc>
                <a:spcPct val="90000"/>
              </a:lnSpc>
              <a:spcBef>
                <a:spcPts val="800"/>
              </a:spcBef>
              <a:spcAft>
                <a:spcPts val="0"/>
              </a:spcAft>
              <a:buClr>
                <a:schemeClr val="lt1"/>
              </a:buClr>
              <a:buSzPts val="1700"/>
              <a:buFont typeface="Noto Sans Symbols"/>
              <a:buChar char="⮚"/>
            </a:pPr>
            <a:r>
              <a:rPr lang="en" b="1">
                <a:latin typeface="Calibri"/>
                <a:ea typeface="Calibri"/>
                <a:cs typeface="Calibri"/>
                <a:sym typeface="Calibri"/>
              </a:rPr>
              <a:t>Responsibilities:</a:t>
            </a:r>
            <a:endParaRPr/>
          </a:p>
          <a:p>
            <a:pPr marL="520700" lvl="1"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Receiving user input and interpreting it.</a:t>
            </a:r>
            <a:endParaRPr/>
          </a:p>
          <a:p>
            <a:pPr marL="520700" lvl="1"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Updating the Model based on user actions.</a:t>
            </a:r>
            <a:endParaRPr/>
          </a:p>
          <a:p>
            <a:pPr marL="520700" lvl="1"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Selecting and displaying the appropriate View.</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0"/>
          <p:cNvSpPr txBox="1">
            <a:spLocks noGrp="1"/>
          </p:cNvSpPr>
          <p:nvPr>
            <p:ph type="title"/>
          </p:nvPr>
        </p:nvSpPr>
        <p:spPr>
          <a:xfrm>
            <a:off x="685331" y="463888"/>
            <a:ext cx="7773338" cy="681469"/>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VIEW</a:t>
            </a:r>
            <a:endParaRPr/>
          </a:p>
        </p:txBody>
      </p:sp>
      <p:sp>
        <p:nvSpPr>
          <p:cNvPr id="361" name="Google Shape;361;p60"/>
          <p:cNvSpPr txBox="1">
            <a:spLocks noGrp="1"/>
          </p:cNvSpPr>
          <p:nvPr>
            <p:ph type="body" idx="1"/>
          </p:nvPr>
        </p:nvSpPr>
        <p:spPr>
          <a:xfrm>
            <a:off x="684862" y="1287710"/>
            <a:ext cx="7772870" cy="2890721"/>
          </a:xfrm>
          <a:prstGeom prst="rect">
            <a:avLst/>
          </a:prstGeom>
          <a:noFill/>
          <a:ln>
            <a:noFill/>
          </a:ln>
        </p:spPr>
        <p:txBody>
          <a:bodyPr spcFirstLastPara="1" wrap="square" lIns="68575" tIns="34275" rIns="68575" bIns="34275" anchor="t" anchorCtr="0">
            <a:no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The </a:t>
            </a:r>
            <a:r>
              <a:rPr lang="en" b="1" cap="none">
                <a:latin typeface="Calibri"/>
                <a:ea typeface="Calibri"/>
                <a:cs typeface="Calibri"/>
                <a:sym typeface="Calibri"/>
              </a:rPr>
              <a:t>view </a:t>
            </a:r>
            <a:r>
              <a:rPr lang="en" cap="none">
                <a:latin typeface="Calibri"/>
                <a:ea typeface="Calibri"/>
                <a:cs typeface="Calibri"/>
                <a:sym typeface="Calibri"/>
              </a:rPr>
              <a:t>component is used for all the UI logic of the application. It generates a user interface for the user.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Views are created by the data which is collected by the model component but these data aren’t taken directly but through the controller. It only interacts with the controller.</a:t>
            </a:r>
            <a:endParaRPr/>
          </a:p>
          <a:p>
            <a:pPr marL="177800" lvl="0" indent="-184150" algn="l" rtl="0">
              <a:lnSpc>
                <a:spcPct val="90000"/>
              </a:lnSpc>
              <a:spcBef>
                <a:spcPts val="800"/>
              </a:spcBef>
              <a:spcAft>
                <a:spcPts val="0"/>
              </a:spcAft>
              <a:buClr>
                <a:schemeClr val="lt1"/>
              </a:buClr>
              <a:buSzPts val="1700"/>
              <a:buFont typeface="Noto Sans Symbols"/>
              <a:buChar char="⮚"/>
            </a:pPr>
            <a:r>
              <a:rPr lang="en" b="1">
                <a:latin typeface="Calibri"/>
                <a:ea typeface="Calibri"/>
                <a:cs typeface="Calibri"/>
                <a:sym typeface="Calibri"/>
              </a:rPr>
              <a:t>Responsibilities:</a:t>
            </a:r>
            <a:endParaRPr/>
          </a:p>
          <a:p>
            <a:pPr marL="520700" lvl="1"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Rendering data to the user in a specific format.</a:t>
            </a:r>
            <a:endParaRPr/>
          </a:p>
          <a:p>
            <a:pPr marL="520700" lvl="1"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Displaying the user interface elements.</a:t>
            </a:r>
            <a:endParaRPr/>
          </a:p>
          <a:p>
            <a:pPr marL="520700" lvl="1"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Updating the display when the Model changes.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1"/>
          <p:cNvSpPr txBox="1">
            <a:spLocks noGrp="1"/>
          </p:cNvSpPr>
          <p:nvPr>
            <p:ph type="title"/>
          </p:nvPr>
        </p:nvSpPr>
        <p:spPr>
          <a:xfrm>
            <a:off x="685331" y="463889"/>
            <a:ext cx="7773338" cy="653189"/>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MODEL</a:t>
            </a:r>
            <a:endParaRPr/>
          </a:p>
        </p:txBody>
      </p:sp>
      <p:sp>
        <p:nvSpPr>
          <p:cNvPr id="367" name="Google Shape;367;p61"/>
          <p:cNvSpPr txBox="1">
            <a:spLocks noGrp="1"/>
          </p:cNvSpPr>
          <p:nvPr>
            <p:ph type="body" idx="1"/>
          </p:nvPr>
        </p:nvSpPr>
        <p:spPr>
          <a:xfrm>
            <a:off x="685799" y="1117077"/>
            <a:ext cx="7772870" cy="3014220"/>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The </a:t>
            </a:r>
            <a:r>
              <a:rPr lang="en" b="1" cap="none">
                <a:latin typeface="Calibri"/>
                <a:ea typeface="Calibri"/>
                <a:cs typeface="Calibri"/>
                <a:sym typeface="Calibri"/>
              </a:rPr>
              <a:t>model </a:t>
            </a:r>
            <a:r>
              <a:rPr lang="en" cap="none">
                <a:latin typeface="Calibri"/>
                <a:ea typeface="Calibri"/>
                <a:cs typeface="Calibri"/>
                <a:sym typeface="Calibri"/>
              </a:rPr>
              <a:t>component corresponds to all the data-related logic that the user works with. This can represent either the data that is being transferred between the view and controller components or any other business logic-related data.</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 It can add or retrieve data from the database. It responds to the controller's request because the controller can't interact with the database by itself.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model interacts with the database and gives the required data back to the controller.</a:t>
            </a:r>
            <a:endParaRPr/>
          </a:p>
          <a:p>
            <a:pPr marL="177800" lvl="0" indent="-184150" algn="l" rtl="0">
              <a:lnSpc>
                <a:spcPct val="90000"/>
              </a:lnSpc>
              <a:spcBef>
                <a:spcPts val="800"/>
              </a:spcBef>
              <a:spcAft>
                <a:spcPts val="0"/>
              </a:spcAft>
              <a:buClr>
                <a:schemeClr val="lt1"/>
              </a:buClr>
              <a:buSzPts val="1700"/>
              <a:buFont typeface="Noto Sans Symbols"/>
              <a:buChar char="⮚"/>
            </a:pPr>
            <a:r>
              <a:rPr lang="en" b="1">
                <a:latin typeface="Calibri"/>
                <a:ea typeface="Calibri"/>
                <a:cs typeface="Calibri"/>
                <a:sym typeface="Calibri"/>
              </a:rPr>
              <a:t>Responsibilities:</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Managing data: CRUD (Create, Read, Update, Delete) operations.</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Enforcing business rules.</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Notifying the View and Controller of state changes.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62"/>
          <p:cNvSpPr txBox="1">
            <a:spLocks noGrp="1"/>
          </p:cNvSpPr>
          <p:nvPr>
            <p:ph type="title"/>
          </p:nvPr>
        </p:nvSpPr>
        <p:spPr>
          <a:xfrm>
            <a:off x="685331" y="463888"/>
            <a:ext cx="7773338" cy="603698"/>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b="1"/>
              <a:t>ADVANTAGES OF MVC</a:t>
            </a:r>
            <a:endParaRPr/>
          </a:p>
        </p:txBody>
      </p:sp>
      <p:sp>
        <p:nvSpPr>
          <p:cNvPr id="373" name="Google Shape;373;p62"/>
          <p:cNvSpPr txBox="1">
            <a:spLocks noGrp="1"/>
          </p:cNvSpPr>
          <p:nvPr>
            <p:ph type="body" idx="1"/>
          </p:nvPr>
        </p:nvSpPr>
        <p:spPr>
          <a:xfrm>
            <a:off x="685330" y="1145357"/>
            <a:ext cx="7772870" cy="3198043"/>
          </a:xfrm>
          <a:prstGeom prst="rect">
            <a:avLst/>
          </a:prstGeom>
          <a:noFill/>
          <a:ln>
            <a:noFill/>
          </a:ln>
        </p:spPr>
        <p:txBody>
          <a:bodyPr spcFirstLastPara="1" wrap="square" lIns="68575" tIns="34275" rIns="68575" bIns="34275" anchor="t" anchorCtr="0">
            <a:normAutofit lnSpcReduction="10000"/>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Codes are easy to maintain and they can be extended easily.</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mvc </a:t>
            </a:r>
            <a:r>
              <a:rPr lang="en" b="1" cap="none">
                <a:latin typeface="Calibri"/>
                <a:ea typeface="Calibri"/>
                <a:cs typeface="Calibri"/>
                <a:sym typeface="Calibri"/>
              </a:rPr>
              <a:t>model </a:t>
            </a:r>
            <a:r>
              <a:rPr lang="en" cap="none">
                <a:latin typeface="Calibri"/>
                <a:ea typeface="Calibri"/>
                <a:cs typeface="Calibri"/>
                <a:sym typeface="Calibri"/>
              </a:rPr>
              <a:t>component can be tested separately.</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components of mvc can be developed simultaneously.</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reduces complexity by dividing an application into three units.</a:t>
            </a:r>
            <a:r>
              <a:rPr lang="en" b="1" cap="none">
                <a:latin typeface="Calibri"/>
                <a:ea typeface="Calibri"/>
                <a:cs typeface="Calibri"/>
                <a:sym typeface="Calibri"/>
              </a:rPr>
              <a:t> Model, view, and controller.</a:t>
            </a:r>
            <a:endParaRPr cap="none">
              <a:latin typeface="Calibri"/>
              <a:ea typeface="Calibri"/>
              <a:cs typeface="Calibri"/>
              <a:sym typeface="Calibri"/>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supports </a:t>
            </a:r>
            <a:r>
              <a:rPr lang="en" b="1" cap="none">
                <a:latin typeface="Calibri"/>
                <a:ea typeface="Calibri"/>
                <a:cs typeface="Calibri"/>
                <a:sym typeface="Calibri"/>
              </a:rPr>
              <a:t>Test Driven Development (TDD).</a:t>
            </a:r>
            <a:endParaRPr cap="none">
              <a:latin typeface="Calibri"/>
              <a:ea typeface="Calibri"/>
              <a:cs typeface="Calibri"/>
              <a:sym typeface="Calibri"/>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works well for web apps that are supported by large teams of web designers and developers.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This architecture helps to test components independently as all classes and objects are independent of each other</a:t>
            </a:r>
            <a:endParaRPr/>
          </a:p>
          <a:p>
            <a:pPr marL="177800" lvl="0" indent="-184150" algn="l" rtl="0">
              <a:lnSpc>
                <a:spcPct val="90000"/>
              </a:lnSpc>
              <a:spcBef>
                <a:spcPts val="800"/>
              </a:spcBef>
              <a:spcAft>
                <a:spcPts val="0"/>
              </a:spcAft>
              <a:buClr>
                <a:schemeClr val="lt1"/>
              </a:buClr>
              <a:buSzPts val="1700"/>
              <a:buChar char="•"/>
            </a:pPr>
            <a:r>
              <a:rPr lang="en" b="1" cap="none">
                <a:latin typeface="Calibri"/>
                <a:ea typeface="Calibri"/>
                <a:cs typeface="Calibri"/>
                <a:sym typeface="Calibri"/>
              </a:rPr>
              <a:t>Search Engine Optimization (SEO)</a:t>
            </a:r>
            <a:r>
              <a:rPr lang="en" cap="none">
                <a:latin typeface="Calibri"/>
                <a:ea typeface="Calibri"/>
                <a:cs typeface="Calibri"/>
                <a:sym typeface="Calibri"/>
              </a:rPr>
              <a:t> friendly.</a:t>
            </a:r>
            <a:endParaRPr/>
          </a:p>
          <a:p>
            <a:pPr marL="177800" lvl="0" indent="-76200" algn="l" rtl="0">
              <a:lnSpc>
                <a:spcPct val="90000"/>
              </a:lnSpc>
              <a:spcBef>
                <a:spcPts val="800"/>
              </a:spcBef>
              <a:spcAft>
                <a:spcPts val="0"/>
              </a:spcAft>
              <a:buClr>
                <a:schemeClr val="lt1"/>
              </a:buClr>
              <a:buSzPts val="1700"/>
              <a:buNone/>
            </a:pPr>
            <a:endParaRPr cap="none">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3"/>
          <p:cNvSpPr txBox="1">
            <a:spLocks noGrp="1"/>
          </p:cNvSpPr>
          <p:nvPr>
            <p:ph type="title"/>
          </p:nvPr>
        </p:nvSpPr>
        <p:spPr>
          <a:xfrm>
            <a:off x="685331" y="463888"/>
            <a:ext cx="7773338" cy="716819"/>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b="1"/>
              <a:t>DISADVANTAGES OF MVC</a:t>
            </a:r>
            <a:endParaRPr/>
          </a:p>
        </p:txBody>
      </p:sp>
      <p:sp>
        <p:nvSpPr>
          <p:cNvPr id="379" name="Google Shape;379;p63"/>
          <p:cNvSpPr txBox="1">
            <a:spLocks noGrp="1"/>
          </p:cNvSpPr>
          <p:nvPr>
            <p:ph type="body" idx="1"/>
          </p:nvPr>
        </p:nvSpPr>
        <p:spPr>
          <a:xfrm>
            <a:off x="685330" y="1230198"/>
            <a:ext cx="7772870" cy="3113201"/>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It is difficult to read, change, test, and reuse this model</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is not suitable for building small applications.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inefficiency of data access in view.</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framework navigation can be complex as it introduces new layers of abstraction which requires users to adapt to the decomposition criteria of mvc.</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Increased complexity and inefficiency of data</a:t>
            </a:r>
            <a:endParaRPr/>
          </a:p>
          <a:p>
            <a:pPr marL="177800" lvl="0" indent="-76200" algn="l" rtl="0">
              <a:lnSpc>
                <a:spcPct val="90000"/>
              </a:lnSpc>
              <a:spcBef>
                <a:spcPts val="800"/>
              </a:spcBef>
              <a:spcAft>
                <a:spcPts val="0"/>
              </a:spcAft>
              <a:buClr>
                <a:schemeClr val="lt1"/>
              </a:buClr>
              <a:buSzPts val="1700"/>
              <a:buNone/>
            </a:pPr>
            <a:endParaRPr cap="none">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4"/>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fontScale="90000"/>
          </a:bodyPr>
          <a:lstStyle/>
          <a:p>
            <a:pPr marL="0" lvl="0" indent="0" algn="l" rtl="0">
              <a:lnSpc>
                <a:spcPct val="90000"/>
              </a:lnSpc>
              <a:spcBef>
                <a:spcPts val="0"/>
              </a:spcBef>
              <a:spcAft>
                <a:spcPts val="0"/>
              </a:spcAft>
              <a:buClr>
                <a:schemeClr val="lt1"/>
              </a:buClr>
              <a:buSzPct val="100000"/>
              <a:buFont typeface="Century Gothic"/>
              <a:buNone/>
            </a:pPr>
            <a:r>
              <a:rPr lang="en"/>
              <a:t>LANAGUAGE INTEGRATED QUERY (LINQ)</a:t>
            </a:r>
            <a:endParaRPr/>
          </a:p>
        </p:txBody>
      </p:sp>
      <p:sp>
        <p:nvSpPr>
          <p:cNvPr id="385" name="Google Shape;385;p64"/>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5"/>
          <p:cNvSpPr txBox="1">
            <a:spLocks noGrp="1"/>
          </p:cNvSpPr>
          <p:nvPr>
            <p:ph type="title"/>
          </p:nvPr>
        </p:nvSpPr>
        <p:spPr>
          <a:xfrm>
            <a:off x="685331" y="463889"/>
            <a:ext cx="7773338" cy="759240"/>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alibri"/>
              <a:buNone/>
            </a:pPr>
            <a:r>
              <a:rPr lang="en" sz="3000">
                <a:latin typeface="Calibri"/>
                <a:ea typeface="Calibri"/>
                <a:cs typeface="Calibri"/>
                <a:sym typeface="Calibri"/>
              </a:rPr>
              <a:t>WHAT IS LINQ?</a:t>
            </a:r>
            <a:endParaRPr/>
          </a:p>
        </p:txBody>
      </p:sp>
      <p:sp>
        <p:nvSpPr>
          <p:cNvPr id="391" name="Google Shape;391;p65"/>
          <p:cNvSpPr txBox="1">
            <a:spLocks noGrp="1"/>
          </p:cNvSpPr>
          <p:nvPr>
            <p:ph type="body" idx="1"/>
          </p:nvPr>
        </p:nvSpPr>
        <p:spPr>
          <a:xfrm>
            <a:off x="684862" y="1300900"/>
            <a:ext cx="7772870" cy="2787976"/>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Clr>
                <a:schemeClr val="lt1"/>
              </a:buClr>
              <a:buSzPts val="1600"/>
              <a:buChar char="•"/>
            </a:pPr>
            <a:r>
              <a:rPr lang="en" sz="1600" cap="none">
                <a:latin typeface="Calibri"/>
                <a:ea typeface="Calibri"/>
                <a:cs typeface="Calibri"/>
                <a:sym typeface="Calibri"/>
              </a:rPr>
              <a:t>LINQ(Language Integrated Query) originated in C# 3.0 &amp; .NET framework 3.5</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LINQ offers the best way to change the data, whether to or from the database with the XML file or with the list of the dynamic data. It is the uniform query system in the C# for retrieving the data from various sources of formats and data.</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is incorporated with the C# for deleting the mismatch between the database and programming language. It offers single query interfaces for different data sources.</a:t>
            </a:r>
            <a:endParaRPr/>
          </a:p>
          <a:p>
            <a:pPr marL="177800" lvl="0" indent="-177800" algn="l" rtl="0">
              <a:lnSpc>
                <a:spcPct val="90000"/>
              </a:lnSpc>
              <a:spcBef>
                <a:spcPts val="800"/>
              </a:spcBef>
              <a:spcAft>
                <a:spcPts val="0"/>
              </a:spcAft>
              <a:buClr>
                <a:schemeClr val="lt1"/>
              </a:buClr>
              <a:buSzPts val="1600"/>
              <a:buChar char="•"/>
            </a:pPr>
            <a:r>
              <a:rPr lang="en" sz="1600" cap="none">
                <a:latin typeface="Calibri"/>
                <a:ea typeface="Calibri"/>
                <a:cs typeface="Calibri"/>
                <a:sym typeface="Calibri"/>
              </a:rPr>
              <a:t>For instance, SQL is the Structured Query Language that we use for saving and retrieving data from the database. In the same way. LINQ is the Structured Query Syntax. LINQ is developed in the C#. We use it for retrieving the data from different data sources like docs, XML, collections, MS SQL Server, ADO.Net Dataset, Web Service,  etc.</a:t>
            </a:r>
            <a:endParaRPr sz="1600" cap="none">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6"/>
          <p:cNvSpPr txBox="1">
            <a:spLocks noGrp="1"/>
          </p:cNvSpPr>
          <p:nvPr>
            <p:ph type="title"/>
          </p:nvPr>
        </p:nvSpPr>
        <p:spPr>
          <a:xfrm>
            <a:off x="685331" y="463889"/>
            <a:ext cx="7773338" cy="639048"/>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WHY LINQ</a:t>
            </a:r>
            <a:endParaRPr/>
          </a:p>
        </p:txBody>
      </p:sp>
      <p:sp>
        <p:nvSpPr>
          <p:cNvPr id="397" name="Google Shape;397;p66"/>
          <p:cNvSpPr txBox="1">
            <a:spLocks noGrp="1"/>
          </p:cNvSpPr>
          <p:nvPr>
            <p:ph type="body" idx="1"/>
          </p:nvPr>
        </p:nvSpPr>
        <p:spPr>
          <a:xfrm>
            <a:off x="685330" y="1187778"/>
            <a:ext cx="7772870" cy="3491834"/>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 If we are working on the SQL server. For working on the SQL server, we have to learn the syntax of SQL server and sql-associated ADO.NET objects.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After that, we can switch to oracle database; thus, we have to grasp command on the oracle syntax and oracle ADO.NET objects for working with the C#. This problem comes with all the technologies we use. </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In this case, we have to learn all these languages. Therefore, to avoid this problem, Microsoft introduced LINQ.</a:t>
            </a:r>
            <a:endParaRPr/>
          </a:p>
          <a:p>
            <a:pPr marL="177800" lvl="0" indent="-177800" algn="l" rtl="0">
              <a:lnSpc>
                <a:spcPct val="90000"/>
              </a:lnSpc>
              <a:spcBef>
                <a:spcPts val="800"/>
              </a:spcBef>
              <a:spcAft>
                <a:spcPts val="0"/>
              </a:spcAft>
              <a:buClr>
                <a:schemeClr val="lt1"/>
              </a:buClr>
              <a:buSzPts val="1600"/>
              <a:buChar char="•"/>
            </a:pPr>
            <a:r>
              <a:rPr lang="en" sz="1600" cap="none">
                <a:latin typeface="Calibri"/>
                <a:ea typeface="Calibri"/>
                <a:cs typeface="Calibri"/>
                <a:sym typeface="Calibri"/>
              </a:rPr>
              <a:t>In the LINQ, we not only work with the famous collections from the database but will work with other data sources like an XML file, memory-data table, etc. We can utilize LINQ queries in two different ways:</a:t>
            </a:r>
            <a:endParaRPr/>
          </a:p>
          <a:p>
            <a:pPr marL="520700" lvl="1" indent="-177800" algn="l" rtl="0">
              <a:lnSpc>
                <a:spcPct val="90000"/>
              </a:lnSpc>
              <a:spcBef>
                <a:spcPts val="400"/>
              </a:spcBef>
              <a:spcAft>
                <a:spcPts val="0"/>
              </a:spcAft>
              <a:buClr>
                <a:schemeClr val="lt1"/>
              </a:buClr>
              <a:buSzPts val="1400"/>
              <a:buChar char="•"/>
            </a:pPr>
            <a:r>
              <a:rPr lang="en" sz="1400" cap="none">
                <a:latin typeface="Calibri"/>
                <a:ea typeface="Calibri"/>
                <a:cs typeface="Calibri"/>
                <a:sym typeface="Calibri"/>
              </a:rPr>
              <a:t>Method Syntax</a:t>
            </a:r>
            <a:endParaRPr/>
          </a:p>
          <a:p>
            <a:pPr marL="520700" lvl="1" indent="-177800" algn="l" rtl="0">
              <a:lnSpc>
                <a:spcPct val="90000"/>
              </a:lnSpc>
              <a:spcBef>
                <a:spcPts val="400"/>
              </a:spcBef>
              <a:spcAft>
                <a:spcPts val="0"/>
              </a:spcAft>
              <a:buClr>
                <a:schemeClr val="lt1"/>
              </a:buClr>
              <a:buSzPts val="1400"/>
              <a:buChar char="•"/>
            </a:pPr>
            <a:r>
              <a:rPr lang="en" sz="1400" cap="none">
                <a:latin typeface="Calibri"/>
                <a:ea typeface="Calibri"/>
                <a:cs typeface="Calibri"/>
                <a:sym typeface="Calibri"/>
              </a:rPr>
              <a:t>Query Syntax</a:t>
            </a:r>
            <a:endParaRPr/>
          </a:p>
          <a:p>
            <a:pPr marL="177800" lvl="0" indent="-76200" algn="l" rtl="0">
              <a:lnSpc>
                <a:spcPct val="90000"/>
              </a:lnSpc>
              <a:spcBef>
                <a:spcPts val="800"/>
              </a:spcBef>
              <a:spcAft>
                <a:spcPts val="0"/>
              </a:spcAft>
              <a:buClr>
                <a:schemeClr val="lt1"/>
              </a:buClr>
              <a:buSzPts val="1700"/>
              <a:buNone/>
            </a:pPr>
            <a:endParaRPr cap="none">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7"/>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sp>
        <p:nvSpPr>
          <p:cNvPr id="403" name="Google Shape;403;p67"/>
          <p:cNvSpPr txBox="1">
            <a:spLocks noGrp="1"/>
          </p:cNvSpPr>
          <p:nvPr>
            <p:ph type="body" idx="1"/>
          </p:nvPr>
        </p:nvSpPr>
        <p:spPr>
          <a:xfrm>
            <a:off x="514350" y="1547547"/>
            <a:ext cx="7796030" cy="2483392"/>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b="1" cap="none" dirty="0">
                <a:latin typeface="Calibri"/>
                <a:ea typeface="Calibri"/>
                <a:cs typeface="Calibri"/>
                <a:sym typeface="Calibri"/>
              </a:rPr>
              <a:t>Query syntax:</a:t>
            </a:r>
            <a:r>
              <a:rPr lang="en" cap="none" dirty="0">
                <a:latin typeface="Calibri"/>
                <a:ea typeface="Calibri"/>
                <a:cs typeface="Calibri"/>
                <a:sym typeface="Calibri"/>
              </a:rPr>
              <a:t> it is similar to SQL and is often more readable for those familiar with SQL. It starts with a from clause followed by a range variable and includes standard query operations like where, select, group, join, etc.</a:t>
            </a:r>
            <a:endParaRPr dirty="0"/>
          </a:p>
          <a:p>
            <a:pPr marL="177800" lvl="0" indent="-184150" algn="l" rtl="0">
              <a:lnSpc>
                <a:spcPct val="90000"/>
              </a:lnSpc>
              <a:spcBef>
                <a:spcPts val="800"/>
              </a:spcBef>
              <a:spcAft>
                <a:spcPts val="0"/>
              </a:spcAft>
              <a:buClr>
                <a:schemeClr val="lt1"/>
              </a:buClr>
              <a:buSzPts val="1700"/>
              <a:buChar char="•"/>
            </a:pPr>
            <a:r>
              <a:rPr lang="en" b="1" cap="none" dirty="0">
                <a:latin typeface="Calibri"/>
                <a:ea typeface="Calibri"/>
                <a:cs typeface="Calibri"/>
                <a:sym typeface="Calibri"/>
              </a:rPr>
              <a:t>Method syntax (fluent syntax):</a:t>
            </a:r>
            <a:r>
              <a:rPr lang="en" cap="none" dirty="0">
                <a:latin typeface="Calibri"/>
                <a:ea typeface="Calibri"/>
                <a:cs typeface="Calibri"/>
                <a:sym typeface="Calibri"/>
              </a:rPr>
              <a:t> it uses extension methods and lambda expressions. It can be more concise and is preferred when writing complex queries because it can be easier to read and compose.</a:t>
            </a:r>
            <a:endParaRPr cap="none" dirty="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8"/>
          <p:cNvSpPr txBox="1">
            <a:spLocks noGrp="1"/>
          </p:cNvSpPr>
          <p:nvPr>
            <p:ph type="title"/>
          </p:nvPr>
        </p:nvSpPr>
        <p:spPr>
          <a:xfrm>
            <a:off x="685331" y="463888"/>
            <a:ext cx="7773338" cy="660259"/>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ADVANTAGES OF LINQ</a:t>
            </a:r>
            <a:endParaRPr/>
          </a:p>
        </p:txBody>
      </p:sp>
      <p:sp>
        <p:nvSpPr>
          <p:cNvPr id="409" name="Google Shape;409;p68"/>
          <p:cNvSpPr txBox="1">
            <a:spLocks noGrp="1"/>
          </p:cNvSpPr>
          <p:nvPr>
            <p:ph type="body" idx="1"/>
          </p:nvPr>
        </p:nvSpPr>
        <p:spPr>
          <a:xfrm>
            <a:off x="685330" y="1279689"/>
            <a:ext cx="7772870" cy="3063710"/>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We do not have to master the latest query language syntaxes for many data sources as it offers the standard query syntax for many data sources.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In linq, we need to write less code than the conventional methodology. Through LINQ, we can reduce the code.</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Linq offers compile-time error checking and intelligence support in visual studio. This feature allows us to evade run-time errors.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Linq offers various in-built methods that we can use to carry out different operations like ordering, filtering, grouping, etc.</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We can reuse the linq queries</a:t>
            </a:r>
            <a:endParaRPr/>
          </a:p>
          <a:p>
            <a:pPr marL="177800" lvl="0" indent="-76200" algn="l" rtl="0">
              <a:lnSpc>
                <a:spcPct val="90000"/>
              </a:lnSpc>
              <a:spcBef>
                <a:spcPts val="800"/>
              </a:spcBef>
              <a:spcAft>
                <a:spcPts val="0"/>
              </a:spcAft>
              <a:buClr>
                <a:schemeClr val="lt1"/>
              </a:buClr>
              <a:buSzPts val="1700"/>
              <a:buNone/>
            </a:pPr>
            <a:endParaRPr cap="none">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69"/>
          <p:cNvSpPr txBox="1">
            <a:spLocks noGrp="1"/>
          </p:cNvSpPr>
          <p:nvPr>
            <p:ph type="title"/>
          </p:nvPr>
        </p:nvSpPr>
        <p:spPr>
          <a:xfrm>
            <a:off x="685331" y="463888"/>
            <a:ext cx="7773338" cy="80166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b="1"/>
              <a:t>DISADVANTAGES OF LINQ</a:t>
            </a:r>
            <a:endParaRPr/>
          </a:p>
        </p:txBody>
      </p:sp>
      <p:sp>
        <p:nvSpPr>
          <p:cNvPr id="415" name="Google Shape;415;p69"/>
          <p:cNvSpPr txBox="1">
            <a:spLocks noGrp="1"/>
          </p:cNvSpPr>
          <p:nvPr>
            <p:ph type="body" idx="1"/>
          </p:nvPr>
        </p:nvSpPr>
        <p:spPr>
          <a:xfrm>
            <a:off x="685330" y="1343320"/>
            <a:ext cx="7772870" cy="3000080"/>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Through LINQ, it is difficult to write complex queries like SQL.</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It was developed in the code, and we cannot use the cache execution plan, which is the feature of SQL like we do in the stored procedures.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If the query is not written correctly, then performance can be degraded.</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If we make some modifications to the queries, then we have to recompile the application and redeploy the dll file to the server.</a:t>
            </a:r>
            <a:endParaRPr/>
          </a:p>
          <a:p>
            <a:pPr marL="177800" lvl="0" indent="-76200" algn="l" rtl="0">
              <a:lnSpc>
                <a:spcPct val="90000"/>
              </a:lnSpc>
              <a:spcBef>
                <a:spcPts val="800"/>
              </a:spcBef>
              <a:spcAft>
                <a:spcPts val="0"/>
              </a:spcAft>
              <a:buClr>
                <a:schemeClr val="lt1"/>
              </a:buClr>
              <a:buSzPts val="1700"/>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70"/>
          <p:cNvSpPr txBox="1">
            <a:spLocks noGrp="1"/>
          </p:cNvSpPr>
          <p:nvPr>
            <p:ph type="title"/>
          </p:nvPr>
        </p:nvSpPr>
        <p:spPr>
          <a:xfrm>
            <a:off x="685331" y="463888"/>
            <a:ext cx="7773338" cy="695609"/>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b="1"/>
              <a:t>WHY SHOULD WE LEARN LINQ?</a:t>
            </a:r>
            <a:endParaRPr/>
          </a:p>
        </p:txBody>
      </p:sp>
      <p:sp>
        <p:nvSpPr>
          <p:cNvPr id="421" name="Google Shape;421;p70"/>
          <p:cNvSpPr txBox="1">
            <a:spLocks noGrp="1"/>
          </p:cNvSpPr>
          <p:nvPr>
            <p:ph type="body" idx="1"/>
          </p:nvPr>
        </p:nvSpPr>
        <p:spPr>
          <a:xfrm>
            <a:off x="685330" y="1223129"/>
            <a:ext cx="7772870" cy="3120272"/>
          </a:xfrm>
          <a:prstGeom prst="rect">
            <a:avLst/>
          </a:prstGeom>
          <a:noFill/>
          <a:ln>
            <a:noFill/>
          </a:ln>
        </p:spPr>
        <p:txBody>
          <a:bodyPr spcFirstLastPara="1" wrap="square" lIns="68575" tIns="34275" rIns="68575" bIns="34275" anchor="t" anchorCtr="0">
            <a:normAutofit/>
          </a:bodyPr>
          <a:lstStyle/>
          <a:p>
            <a:pPr marL="177800" lvl="0" indent="-184150" algn="l" rtl="0">
              <a:lnSpc>
                <a:spcPct val="90000"/>
              </a:lnSpc>
              <a:spcBef>
                <a:spcPts val="0"/>
              </a:spcBef>
              <a:spcAft>
                <a:spcPts val="0"/>
              </a:spcAft>
              <a:buClr>
                <a:schemeClr val="lt1"/>
              </a:buClr>
              <a:buSzPts val="1700"/>
              <a:buChar char="•"/>
            </a:pPr>
            <a:r>
              <a:rPr lang="en" cap="none">
                <a:latin typeface="Calibri"/>
                <a:ea typeface="Calibri"/>
                <a:cs typeface="Calibri"/>
                <a:sym typeface="Calibri"/>
              </a:rPr>
              <a:t>Let us understand why we should learn LINQ with an example. Suppose we are developing a .NET application that requires data from different sources.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application needs data from the sql server database. So, as a developer, to access the data from the SQL server database, we need to understand ADO.NET and SQL server-specific syntaxes. We need to learn SQL syntax specific to oracle database if the database is oracle.</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application also needs data from an xml document. So, as a developer, to work with XML documents, we need to understand </a:t>
            </a:r>
            <a:r>
              <a:rPr lang="en" b="1" cap="none">
                <a:latin typeface="Calibri"/>
                <a:ea typeface="Calibri"/>
                <a:cs typeface="Calibri"/>
                <a:sym typeface="Calibri"/>
              </a:rPr>
              <a:t>xpath and</a:t>
            </a:r>
            <a:r>
              <a:rPr lang="en" cap="none">
                <a:latin typeface="Calibri"/>
                <a:ea typeface="Calibri"/>
                <a:cs typeface="Calibri"/>
                <a:sym typeface="Calibri"/>
              </a:rPr>
              <a:t> </a:t>
            </a:r>
            <a:r>
              <a:rPr lang="en" b="1" cap="none">
                <a:latin typeface="Calibri"/>
                <a:ea typeface="Calibri"/>
                <a:cs typeface="Calibri"/>
                <a:sym typeface="Calibri"/>
              </a:rPr>
              <a:t>XSLT </a:t>
            </a:r>
            <a:r>
              <a:rPr lang="en" cap="none">
                <a:latin typeface="Calibri"/>
                <a:ea typeface="Calibri"/>
                <a:cs typeface="Calibri"/>
                <a:sym typeface="Calibri"/>
              </a:rPr>
              <a:t>queries.</a:t>
            </a:r>
            <a:endParaRPr/>
          </a:p>
          <a:p>
            <a:pPr marL="177800" lvl="0" indent="-184150" algn="l" rtl="0">
              <a:lnSpc>
                <a:spcPct val="90000"/>
              </a:lnSpc>
              <a:spcBef>
                <a:spcPts val="800"/>
              </a:spcBef>
              <a:spcAft>
                <a:spcPts val="0"/>
              </a:spcAft>
              <a:buClr>
                <a:schemeClr val="lt1"/>
              </a:buClr>
              <a:buSzPts val="1700"/>
              <a:buChar char="•"/>
            </a:pPr>
            <a:r>
              <a:rPr lang="en" cap="none">
                <a:latin typeface="Calibri"/>
                <a:ea typeface="Calibri"/>
                <a:cs typeface="Calibri"/>
                <a:sym typeface="Calibri"/>
              </a:rPr>
              <a:t>The application also needs to manipulate the data (objects) in memory, such as </a:t>
            </a:r>
            <a:r>
              <a:rPr lang="en" b="1" cap="none">
                <a:latin typeface="Calibri"/>
                <a:ea typeface="Calibri"/>
                <a:cs typeface="Calibri"/>
                <a:sym typeface="Calibri"/>
              </a:rPr>
              <a:t>list&lt;products&gt;, list&lt;orders&gt;</a:t>
            </a:r>
            <a:r>
              <a:rPr lang="en" cap="none">
                <a:latin typeface="Calibri"/>
                <a:ea typeface="Calibri"/>
                <a:cs typeface="Calibri"/>
                <a:sym typeface="Calibri"/>
              </a:rPr>
              <a:t>, etc. So, as a developer, we should also understand how to work with in-memory objects.</a:t>
            </a:r>
            <a:endParaRPr/>
          </a:p>
          <a:p>
            <a:pPr marL="0" lvl="0" indent="0" algn="l" rtl="0">
              <a:lnSpc>
                <a:spcPct val="90000"/>
              </a:lnSpc>
              <a:spcBef>
                <a:spcPts val="800"/>
              </a:spcBef>
              <a:spcAft>
                <a:spcPts val="0"/>
              </a:spcAft>
              <a:buClr>
                <a:schemeClr val="lt1"/>
              </a:buClr>
              <a:buSzPts val="1700"/>
              <a:buNone/>
            </a:pPr>
            <a:endParaRPr cap="none">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71"/>
          <p:cNvSpPr txBox="1">
            <a:spLocks noGrp="1"/>
          </p:cNvSpPr>
          <p:nvPr>
            <p:ph type="title"/>
          </p:nvPr>
        </p:nvSpPr>
        <p:spPr>
          <a:xfrm>
            <a:off x="628650" y="273844"/>
            <a:ext cx="7886700" cy="686276"/>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lt1"/>
              </a:buClr>
              <a:buSzPts val="3000"/>
              <a:buFont typeface="Century Gothic"/>
              <a:buNone/>
            </a:pPr>
            <a:r>
              <a:rPr lang="en" b="1"/>
              <a:t>WORKFLOW OF LINQ?</a:t>
            </a:r>
            <a:endParaRPr b="1"/>
          </a:p>
        </p:txBody>
      </p:sp>
      <p:sp>
        <p:nvSpPr>
          <p:cNvPr id="427" name="Google Shape;427;p71"/>
          <p:cNvSpPr txBox="1">
            <a:spLocks noGrp="1"/>
          </p:cNvSpPr>
          <p:nvPr>
            <p:ph type="body" idx="1"/>
          </p:nvPr>
        </p:nvSpPr>
        <p:spPr>
          <a:xfrm>
            <a:off x="685330" y="1040130"/>
            <a:ext cx="7772870" cy="3303269"/>
          </a:xfrm>
          <a:prstGeom prst="rect">
            <a:avLst/>
          </a:prstGeom>
          <a:noFill/>
          <a:ln>
            <a:noFill/>
          </a:ln>
        </p:spPr>
        <p:txBody>
          <a:bodyPr spcFirstLastPara="1" wrap="square" lIns="68575" tIns="34275" rIns="68575" bIns="34275" anchor="t" anchorCtr="0">
            <a:normAutofit lnSpcReduction="10000"/>
          </a:bodyPr>
          <a:lstStyle/>
          <a:p>
            <a:pPr marL="342900" lvl="0" indent="-349250" algn="l" rtl="0">
              <a:lnSpc>
                <a:spcPct val="90000"/>
              </a:lnSpc>
              <a:spcBef>
                <a:spcPts val="0"/>
              </a:spcBef>
              <a:spcAft>
                <a:spcPts val="0"/>
              </a:spcAft>
              <a:buClr>
                <a:schemeClr val="lt1"/>
              </a:buClr>
              <a:buSzPts val="1700"/>
              <a:buFont typeface="Century Gothic"/>
              <a:buAutoNum type="arabicPeriod"/>
            </a:pPr>
            <a:r>
              <a:rPr lang="en" b="1">
                <a:latin typeface="Calibri"/>
                <a:ea typeface="Calibri"/>
                <a:cs typeface="Calibri"/>
                <a:sym typeface="Calibri"/>
              </a:rPr>
              <a:t>Data Source Selection:</a:t>
            </a:r>
            <a:endParaRPr>
              <a:latin typeface="Calibri"/>
              <a:ea typeface="Calibri"/>
              <a:cs typeface="Calibri"/>
              <a:sym typeface="Calibri"/>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Identify the data source you want to query. This could be a collection, array, database, XML document, or another LINQ-compatible data source.</a:t>
            </a:r>
            <a:endParaRPr/>
          </a:p>
          <a:p>
            <a:pPr marL="342900" lvl="0" indent="-349250" algn="l" rtl="0">
              <a:lnSpc>
                <a:spcPct val="90000"/>
              </a:lnSpc>
              <a:spcBef>
                <a:spcPts val="800"/>
              </a:spcBef>
              <a:spcAft>
                <a:spcPts val="0"/>
              </a:spcAft>
              <a:buClr>
                <a:schemeClr val="lt1"/>
              </a:buClr>
              <a:buSzPts val="1700"/>
              <a:buFont typeface="Century Gothic"/>
              <a:buAutoNum type="arabicPeriod"/>
            </a:pPr>
            <a:r>
              <a:rPr lang="en" b="1">
                <a:latin typeface="Calibri"/>
                <a:ea typeface="Calibri"/>
                <a:cs typeface="Calibri"/>
                <a:sym typeface="Calibri"/>
              </a:rPr>
              <a:t>Data Source Access:</a:t>
            </a:r>
            <a:endParaRPr>
              <a:latin typeface="Calibri"/>
              <a:ea typeface="Calibri"/>
              <a:cs typeface="Calibri"/>
              <a:sym typeface="Calibri"/>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Access the data source using the appropriate LINQ provider. For example, LINQ to Objects is used for in-memory collections, LINQ to SQL for databases, and LINQ to XML for XML documents.</a:t>
            </a:r>
            <a:endParaRPr/>
          </a:p>
          <a:p>
            <a:pPr marL="342900" lvl="0" indent="-349250" algn="l" rtl="0">
              <a:lnSpc>
                <a:spcPct val="90000"/>
              </a:lnSpc>
              <a:spcBef>
                <a:spcPts val="800"/>
              </a:spcBef>
              <a:spcAft>
                <a:spcPts val="0"/>
              </a:spcAft>
              <a:buClr>
                <a:schemeClr val="lt1"/>
              </a:buClr>
              <a:buSzPts val="1700"/>
              <a:buFont typeface="Century Gothic"/>
              <a:buAutoNum type="arabicPeriod"/>
            </a:pPr>
            <a:r>
              <a:rPr lang="en" b="1">
                <a:latin typeface="Calibri"/>
                <a:ea typeface="Calibri"/>
                <a:cs typeface="Calibri"/>
                <a:sym typeface="Calibri"/>
              </a:rPr>
              <a:t>Query Construction:</a:t>
            </a:r>
            <a:endParaRPr>
              <a:latin typeface="Calibri"/>
              <a:ea typeface="Calibri"/>
              <a:cs typeface="Calibri"/>
              <a:sym typeface="Calibri"/>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Construct a LINQ query using the standard query operators and syntax provided by LINQ. Define the criteria for selecting, filtering, sorting, or grouping data.</a:t>
            </a:r>
            <a:endParaRPr/>
          </a:p>
          <a:p>
            <a:pPr marL="342900" lvl="0" indent="-349250" algn="l" rtl="0">
              <a:lnSpc>
                <a:spcPct val="90000"/>
              </a:lnSpc>
              <a:spcBef>
                <a:spcPts val="800"/>
              </a:spcBef>
              <a:spcAft>
                <a:spcPts val="0"/>
              </a:spcAft>
              <a:buClr>
                <a:schemeClr val="lt1"/>
              </a:buClr>
              <a:buSzPts val="1700"/>
              <a:buFont typeface="Century Gothic"/>
              <a:buAutoNum type="arabicPeriod"/>
            </a:pPr>
            <a:r>
              <a:rPr lang="en" b="1">
                <a:latin typeface="Calibri"/>
                <a:ea typeface="Calibri"/>
                <a:cs typeface="Calibri"/>
                <a:sym typeface="Calibri"/>
              </a:rPr>
              <a:t>Deferred Execution:</a:t>
            </a:r>
            <a:endParaRPr>
              <a:latin typeface="Calibri"/>
              <a:ea typeface="Calibri"/>
              <a:cs typeface="Calibri"/>
              <a:sym typeface="Calibri"/>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Keep in mind that LINQ queries are lazily executed, meaning they are not executed until the results are needed. This allows for efficient query optimization.</a:t>
            </a:r>
            <a:endParaRPr/>
          </a:p>
          <a:p>
            <a:pPr marL="520700" lvl="1" indent="-76200" algn="l" rtl="0">
              <a:lnSpc>
                <a:spcPct val="90000"/>
              </a:lnSpc>
              <a:spcBef>
                <a:spcPts val="400"/>
              </a:spcBef>
              <a:spcAft>
                <a:spcPts val="0"/>
              </a:spcAft>
              <a:buClr>
                <a:schemeClr val="lt1"/>
              </a:buClr>
              <a:buSzPts val="1500"/>
              <a:buNone/>
            </a:pPr>
            <a:endParaRPr>
              <a:latin typeface="Calibri"/>
              <a:ea typeface="Calibri"/>
              <a:cs typeface="Calibri"/>
              <a:sym typeface="Calibri"/>
            </a:endParaRPr>
          </a:p>
          <a:p>
            <a:pPr marL="520700" lvl="1" indent="-76200" algn="l" rtl="0">
              <a:lnSpc>
                <a:spcPct val="90000"/>
              </a:lnSpc>
              <a:spcBef>
                <a:spcPts val="400"/>
              </a:spcBef>
              <a:spcAft>
                <a:spcPts val="0"/>
              </a:spcAft>
              <a:buClr>
                <a:schemeClr val="lt1"/>
              </a:buClr>
              <a:buSzPts val="1500"/>
              <a:buNone/>
            </a:pPr>
            <a:endParaRPr>
              <a:latin typeface="Calibri"/>
              <a:ea typeface="Calibri"/>
              <a:cs typeface="Calibri"/>
              <a:sym typeface="Calibri"/>
            </a:endParaRPr>
          </a:p>
          <a:p>
            <a:pPr marL="177800" lvl="0" indent="-76200" algn="l" rtl="0">
              <a:lnSpc>
                <a:spcPct val="90000"/>
              </a:lnSpc>
              <a:spcBef>
                <a:spcPts val="800"/>
              </a:spcBef>
              <a:spcAft>
                <a:spcPts val="0"/>
              </a:spcAft>
              <a:buClr>
                <a:schemeClr val="lt1"/>
              </a:buClr>
              <a:buSzPts val="1700"/>
              <a:buNone/>
            </a:pPr>
            <a:endParaRPr>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72"/>
          <p:cNvSpPr txBox="1">
            <a:spLocks noGrp="1"/>
          </p:cNvSpPr>
          <p:nvPr>
            <p:ph type="body" idx="1"/>
          </p:nvPr>
        </p:nvSpPr>
        <p:spPr>
          <a:xfrm>
            <a:off x="514350" y="400049"/>
            <a:ext cx="7796030" cy="4568992"/>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r>
              <a:rPr lang="en" sz="1500">
                <a:latin typeface="Calibri"/>
                <a:ea typeface="Calibri"/>
                <a:cs typeface="Calibri"/>
                <a:sym typeface="Calibri"/>
              </a:rPr>
              <a:t>5. </a:t>
            </a:r>
            <a:r>
              <a:rPr lang="en" sz="1500" b="1">
                <a:latin typeface="Calibri"/>
                <a:ea typeface="Calibri"/>
                <a:cs typeface="Calibri"/>
                <a:sym typeface="Calibri"/>
              </a:rPr>
              <a:t>Query Execution:</a:t>
            </a:r>
            <a:endParaRPr/>
          </a:p>
          <a:p>
            <a:pPr marL="342900" lvl="1" indent="-95250" algn="l" rtl="0">
              <a:lnSpc>
                <a:spcPct val="90000"/>
              </a:lnSpc>
              <a:spcBef>
                <a:spcPts val="0"/>
              </a:spcBef>
              <a:spcAft>
                <a:spcPts val="0"/>
              </a:spcAft>
              <a:buClr>
                <a:schemeClr val="lt1"/>
              </a:buClr>
              <a:buSzPts val="1500"/>
              <a:buFont typeface="Calibri"/>
              <a:buChar char="•"/>
            </a:pPr>
            <a:r>
              <a:rPr lang="en">
                <a:latin typeface="Calibri"/>
                <a:ea typeface="Calibri"/>
                <a:cs typeface="Calibri"/>
                <a:sym typeface="Calibri"/>
              </a:rPr>
              <a:t>Execute the query to obtain the results. The execution can happen implicitly when iterating over the results or explicitly by using methods like ToList(), ToArray(), or FirstOrDefault().</a:t>
            </a:r>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0" lvl="0" indent="0" algn="l" rtl="0">
              <a:lnSpc>
                <a:spcPct val="90000"/>
              </a:lnSpc>
              <a:spcBef>
                <a:spcPts val="0"/>
              </a:spcBef>
              <a:spcAft>
                <a:spcPts val="0"/>
              </a:spcAft>
              <a:buClr>
                <a:schemeClr val="lt1"/>
              </a:buClr>
              <a:buSzPts val="1500"/>
              <a:buNone/>
            </a:pPr>
            <a:r>
              <a:rPr lang="en" sz="1500">
                <a:latin typeface="Calibri"/>
                <a:ea typeface="Calibri"/>
                <a:cs typeface="Calibri"/>
                <a:sym typeface="Calibri"/>
              </a:rPr>
              <a:t>6. </a:t>
            </a:r>
            <a:r>
              <a:rPr lang="en" sz="1500" b="1">
                <a:latin typeface="Calibri"/>
                <a:ea typeface="Calibri"/>
                <a:cs typeface="Calibri"/>
                <a:sym typeface="Calibri"/>
              </a:rPr>
              <a:t>Result Processing:</a:t>
            </a:r>
            <a:endParaRPr/>
          </a:p>
          <a:p>
            <a:pPr marL="342900" lvl="1" indent="-95250" algn="l" rtl="0">
              <a:lnSpc>
                <a:spcPct val="90000"/>
              </a:lnSpc>
              <a:spcBef>
                <a:spcPts val="0"/>
              </a:spcBef>
              <a:spcAft>
                <a:spcPts val="0"/>
              </a:spcAft>
              <a:buClr>
                <a:schemeClr val="lt1"/>
              </a:buClr>
              <a:buSzPts val="1500"/>
              <a:buFont typeface="Calibri"/>
              <a:buChar char="•"/>
            </a:pPr>
            <a:r>
              <a:rPr lang="en">
                <a:latin typeface="Calibri"/>
                <a:ea typeface="Calibri"/>
                <a:cs typeface="Calibri"/>
                <a:sym typeface="Calibri"/>
              </a:rPr>
              <a:t>Process and use the results of the query according to your application’s requirements. This could involve further transformations, data binding, or presenting the data to users.</a:t>
            </a:r>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0" lvl="0" indent="0" algn="l" rtl="0">
              <a:lnSpc>
                <a:spcPct val="90000"/>
              </a:lnSpc>
              <a:spcBef>
                <a:spcPts val="0"/>
              </a:spcBef>
              <a:spcAft>
                <a:spcPts val="0"/>
              </a:spcAft>
              <a:buClr>
                <a:schemeClr val="lt1"/>
              </a:buClr>
              <a:buSzPts val="1500"/>
              <a:buNone/>
            </a:pPr>
            <a:r>
              <a:rPr lang="en" sz="1500">
                <a:latin typeface="Calibri"/>
                <a:ea typeface="Calibri"/>
                <a:cs typeface="Calibri"/>
                <a:sym typeface="Calibri"/>
              </a:rPr>
              <a:t>7. </a:t>
            </a:r>
            <a:r>
              <a:rPr lang="en" sz="1500" b="1">
                <a:latin typeface="Calibri"/>
                <a:ea typeface="Calibri"/>
                <a:cs typeface="Calibri"/>
                <a:sym typeface="Calibri"/>
              </a:rPr>
              <a:t>Error Handling:</a:t>
            </a:r>
            <a:endParaRPr/>
          </a:p>
          <a:p>
            <a:pPr marL="342900" lvl="1" indent="-95250" algn="l" rtl="0">
              <a:lnSpc>
                <a:spcPct val="90000"/>
              </a:lnSpc>
              <a:spcBef>
                <a:spcPts val="0"/>
              </a:spcBef>
              <a:spcAft>
                <a:spcPts val="0"/>
              </a:spcAft>
              <a:buClr>
                <a:schemeClr val="lt1"/>
              </a:buClr>
              <a:buSzPts val="1500"/>
              <a:buFont typeface="Calibri"/>
              <a:buChar char="•"/>
            </a:pPr>
            <a:r>
              <a:rPr lang="en">
                <a:latin typeface="Calibri"/>
                <a:ea typeface="Calibri"/>
                <a:cs typeface="Calibri"/>
                <a:sym typeface="Calibri"/>
              </a:rPr>
              <a:t>Handle exceptions or errors that may occur during query execution, such as database connection issues, data format errors, or null references.</a:t>
            </a:r>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0" lvl="0" indent="0" algn="l" rtl="0">
              <a:lnSpc>
                <a:spcPct val="90000"/>
              </a:lnSpc>
              <a:spcBef>
                <a:spcPts val="0"/>
              </a:spcBef>
              <a:spcAft>
                <a:spcPts val="0"/>
              </a:spcAft>
              <a:buClr>
                <a:schemeClr val="lt1"/>
              </a:buClr>
              <a:buSzPts val="1500"/>
              <a:buNone/>
            </a:pPr>
            <a:r>
              <a:rPr lang="en" sz="1500" b="1">
                <a:latin typeface="Calibri"/>
                <a:ea typeface="Calibri"/>
                <a:cs typeface="Calibri"/>
                <a:sym typeface="Calibri"/>
              </a:rPr>
              <a:t>8. Optimization:</a:t>
            </a:r>
            <a:endParaRPr/>
          </a:p>
          <a:p>
            <a:pPr marL="342900" lvl="1" indent="-95250" algn="l" rtl="0">
              <a:lnSpc>
                <a:spcPct val="90000"/>
              </a:lnSpc>
              <a:spcBef>
                <a:spcPts val="0"/>
              </a:spcBef>
              <a:spcAft>
                <a:spcPts val="0"/>
              </a:spcAft>
              <a:buClr>
                <a:schemeClr val="lt1"/>
              </a:buClr>
              <a:buSzPts val="1500"/>
              <a:buFont typeface="Calibri"/>
              <a:buChar char="•"/>
            </a:pPr>
            <a:r>
              <a:rPr lang="en">
                <a:latin typeface="Calibri"/>
                <a:ea typeface="Calibri"/>
                <a:cs typeface="Calibri"/>
                <a:sym typeface="Calibri"/>
              </a:rPr>
              <a:t>Consider optimizing your queries for performance, especially when dealing with large datasets. This might involve using appropriate indexing, caching, or parallel execution where applicable.</a:t>
            </a:r>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0" lvl="0" indent="0" algn="l" rtl="0">
              <a:lnSpc>
                <a:spcPct val="90000"/>
              </a:lnSpc>
              <a:spcBef>
                <a:spcPts val="0"/>
              </a:spcBef>
              <a:spcAft>
                <a:spcPts val="0"/>
              </a:spcAft>
              <a:buClr>
                <a:schemeClr val="lt1"/>
              </a:buClr>
              <a:buSzPts val="1700"/>
              <a:buNone/>
            </a:pPr>
            <a:r>
              <a:rPr lang="en" b="1"/>
              <a:t>9. </a:t>
            </a:r>
            <a:r>
              <a:rPr lang="en" sz="1500" b="1">
                <a:latin typeface="Calibri"/>
                <a:ea typeface="Calibri"/>
                <a:cs typeface="Calibri"/>
                <a:sym typeface="Calibri"/>
              </a:rPr>
              <a:t>Integration with Application Logic:</a:t>
            </a:r>
            <a:endParaRPr/>
          </a:p>
          <a:p>
            <a:pPr marL="520700" lvl="1" indent="-177800" algn="l" rtl="0">
              <a:lnSpc>
                <a:spcPct val="90000"/>
              </a:lnSpc>
              <a:spcBef>
                <a:spcPts val="400"/>
              </a:spcBef>
              <a:spcAft>
                <a:spcPts val="0"/>
              </a:spcAft>
              <a:buClr>
                <a:schemeClr val="lt1"/>
              </a:buClr>
              <a:buSzPts val="1600"/>
              <a:buChar char="•"/>
            </a:pPr>
            <a:r>
              <a:rPr lang="en" sz="1600">
                <a:latin typeface="Calibri"/>
                <a:ea typeface="Calibri"/>
                <a:cs typeface="Calibri"/>
                <a:sym typeface="Calibri"/>
              </a:rPr>
              <a:t>Integrate the LINQ queries seamlessly into your application’s logic, ensuring that the queried data is used effectively to achieve the desired functionality.</a:t>
            </a:r>
            <a:endParaRPr/>
          </a:p>
          <a:p>
            <a:pPr marL="342900" lvl="1" indent="0" algn="l" rtl="0">
              <a:lnSpc>
                <a:spcPct val="90000"/>
              </a:lnSpc>
              <a:spcBef>
                <a:spcPts val="0"/>
              </a:spcBef>
              <a:spcAft>
                <a:spcPts val="0"/>
              </a:spcAft>
              <a:buClr>
                <a:schemeClr val="lt1"/>
              </a:buClr>
              <a:buSzPts val="1500"/>
              <a:buFont typeface="Century Gothic"/>
              <a:buNone/>
            </a:pPr>
            <a:endParaRPr>
              <a:latin typeface="Calibri"/>
              <a:ea typeface="Calibri"/>
              <a:cs typeface="Calibri"/>
              <a:sym typeface="Calibri"/>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342900" lvl="1" indent="0" algn="l" rtl="0">
              <a:lnSpc>
                <a:spcPct val="90000"/>
              </a:lnSpc>
              <a:spcBef>
                <a:spcPts val="0"/>
              </a:spcBef>
              <a:spcAft>
                <a:spcPts val="0"/>
              </a:spcAft>
              <a:buClr>
                <a:schemeClr val="lt1"/>
              </a:buClr>
              <a:buSzPts val="1500"/>
              <a:buNone/>
            </a:pPr>
            <a:endParaRPr>
              <a:latin typeface="Calibri"/>
              <a:ea typeface="Calibri"/>
              <a:cs typeface="Calibri"/>
              <a:sym typeface="Calibri"/>
            </a:endParaRPr>
          </a:p>
          <a:p>
            <a:pPr marL="0" lvl="0" indent="0" algn="l" rtl="0">
              <a:lnSpc>
                <a:spcPct val="90000"/>
              </a:lnSpc>
              <a:spcBef>
                <a:spcPts val="800"/>
              </a:spcBef>
              <a:spcAft>
                <a:spcPts val="0"/>
              </a:spcAft>
              <a:buClr>
                <a:schemeClr val="lt1"/>
              </a:buClr>
              <a:buSzPts val="1700"/>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73"/>
          <p:cNvSpPr txBox="1">
            <a:spLocks noGrp="1"/>
          </p:cNvSpPr>
          <p:nvPr>
            <p:ph type="title"/>
          </p:nvPr>
        </p:nvSpPr>
        <p:spPr>
          <a:xfrm>
            <a:off x="971552" y="736600"/>
            <a:ext cx="7200897" cy="429261"/>
          </a:xfrm>
          <a:prstGeom prst="rect">
            <a:avLst/>
          </a:prstGeom>
          <a:noFill/>
          <a:ln>
            <a:noFill/>
          </a:ln>
        </p:spPr>
        <p:txBody>
          <a:bodyPr spcFirstLastPara="1" wrap="square" lIns="68575" tIns="34275" rIns="68575" bIns="34275" anchor="ctr" anchorCtr="0">
            <a:normAutofit fontScale="90000"/>
          </a:bodyPr>
          <a:lstStyle/>
          <a:p>
            <a:pPr marL="0" lvl="0" indent="0" algn="r" rtl="0">
              <a:lnSpc>
                <a:spcPct val="90000"/>
              </a:lnSpc>
              <a:spcBef>
                <a:spcPts val="0"/>
              </a:spcBef>
              <a:spcAft>
                <a:spcPts val="0"/>
              </a:spcAft>
              <a:buClr>
                <a:schemeClr val="lt1"/>
              </a:buClr>
              <a:buSzPct val="100000"/>
              <a:buFont typeface="Century Gothic"/>
              <a:buNone/>
            </a:pPr>
            <a:r>
              <a:rPr lang="en"/>
              <a:t>LINQ ARCHITECTURE</a:t>
            </a:r>
            <a:endParaRPr/>
          </a:p>
        </p:txBody>
      </p:sp>
      <p:pic>
        <p:nvPicPr>
          <p:cNvPr id="438" name="Google Shape;438;p73" descr="How Linq Works or LINQ Architecture"/>
          <p:cNvPicPr preferRelativeResize="0">
            <a:picLocks noGrp="1"/>
          </p:cNvPicPr>
          <p:nvPr>
            <p:ph type="body" idx="1"/>
          </p:nvPr>
        </p:nvPicPr>
        <p:blipFill rotWithShape="1">
          <a:blip r:embed="rId3">
            <a:alphaModFix/>
          </a:blip>
          <a:srcRect/>
          <a:stretch/>
        </p:blipFill>
        <p:spPr>
          <a:xfrm>
            <a:off x="599016" y="1165861"/>
            <a:ext cx="7438079" cy="346161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74"/>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LINQ ARCHITECTURE</a:t>
            </a:r>
            <a:endParaRPr/>
          </a:p>
        </p:txBody>
      </p:sp>
      <p:sp>
        <p:nvSpPr>
          <p:cNvPr id="444" name="Google Shape;444;p74"/>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lt1"/>
              </a:buClr>
              <a:buSzPts val="1500"/>
              <a:buChar char="•"/>
            </a:pPr>
            <a:r>
              <a:rPr lang="en" sz="1500">
                <a:latin typeface="Calibri"/>
                <a:ea typeface="Calibri"/>
                <a:cs typeface="Calibri"/>
                <a:sym typeface="Calibri"/>
              </a:rPr>
              <a:t>It provides a </a:t>
            </a:r>
            <a:r>
              <a:rPr lang="en" sz="1500" b="1">
                <a:latin typeface="Calibri"/>
                <a:ea typeface="Calibri"/>
                <a:cs typeface="Calibri"/>
                <a:sym typeface="Calibri"/>
              </a:rPr>
              <a:t>layered architecture</a:t>
            </a:r>
            <a:r>
              <a:rPr lang="en" sz="1500">
                <a:latin typeface="Calibri"/>
                <a:ea typeface="Calibri"/>
                <a:cs typeface="Calibri"/>
                <a:sym typeface="Calibri"/>
              </a:rPr>
              <a:t> that separates </a:t>
            </a:r>
            <a:r>
              <a:rPr lang="en" sz="1500" b="1">
                <a:latin typeface="Calibri"/>
                <a:ea typeface="Calibri"/>
                <a:cs typeface="Calibri"/>
                <a:sym typeface="Calibri"/>
              </a:rPr>
              <a:t>query syntax</a:t>
            </a:r>
            <a:r>
              <a:rPr lang="en" sz="1500">
                <a:latin typeface="Calibri"/>
                <a:ea typeface="Calibri"/>
                <a:cs typeface="Calibri"/>
                <a:sym typeface="Calibri"/>
              </a:rPr>
              <a:t> from </a:t>
            </a:r>
            <a:r>
              <a:rPr lang="en" sz="1500" b="1">
                <a:latin typeface="Calibri"/>
                <a:ea typeface="Calibri"/>
                <a:cs typeface="Calibri"/>
                <a:sym typeface="Calibri"/>
              </a:rPr>
              <a:t>data source implementation</a:t>
            </a:r>
            <a:r>
              <a:rPr lang="en" sz="1500">
                <a:latin typeface="Calibri"/>
                <a:ea typeface="Calibri"/>
                <a:cs typeface="Calibri"/>
                <a:sym typeface="Calibri"/>
              </a:rPr>
              <a:t>, enabling a unified approach to querying data.</a:t>
            </a:r>
            <a:endParaRPr/>
          </a:p>
          <a:p>
            <a:pPr marL="1892300" lvl="5" indent="-76200" algn="l" rtl="0">
              <a:lnSpc>
                <a:spcPct val="90000"/>
              </a:lnSpc>
              <a:spcBef>
                <a:spcPts val="400"/>
              </a:spcBef>
              <a:spcAft>
                <a:spcPts val="0"/>
              </a:spcAft>
              <a:buClr>
                <a:schemeClr val="lt1"/>
              </a:buClr>
              <a:buSzPts val="1500"/>
              <a:buNone/>
            </a:pPr>
            <a:endParaRPr sz="1500" b="1">
              <a:latin typeface="Calibri"/>
              <a:ea typeface="Calibri"/>
              <a:cs typeface="Calibri"/>
              <a:sym typeface="Calibri"/>
            </a:endParaRPr>
          </a:p>
          <a:p>
            <a:pPr marL="1892300" lvl="5"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Query Expressions.</a:t>
            </a:r>
            <a:endParaRPr/>
          </a:p>
          <a:p>
            <a:pPr marL="1892300" lvl="5" indent="-171450" algn="just" rtl="0">
              <a:lnSpc>
                <a:spcPct val="90000"/>
              </a:lnSpc>
              <a:spcBef>
                <a:spcPts val="400"/>
              </a:spcBef>
              <a:spcAft>
                <a:spcPts val="0"/>
              </a:spcAft>
              <a:buClr>
                <a:schemeClr val="lt1"/>
              </a:buClr>
              <a:buSzPts val="1500"/>
              <a:buChar char="•"/>
            </a:pPr>
            <a:r>
              <a:rPr lang="en" sz="1500">
                <a:latin typeface="Calibri"/>
                <a:ea typeface="Calibri"/>
                <a:cs typeface="Calibri"/>
                <a:sym typeface="Calibri"/>
              </a:rPr>
              <a:t>Query Providers.</a:t>
            </a:r>
            <a:endParaRPr/>
          </a:p>
          <a:p>
            <a:pPr marL="1892300" lvl="5" indent="-171450" algn="just" rtl="0">
              <a:lnSpc>
                <a:spcPct val="90000"/>
              </a:lnSpc>
              <a:spcBef>
                <a:spcPts val="400"/>
              </a:spcBef>
              <a:spcAft>
                <a:spcPts val="0"/>
              </a:spcAft>
              <a:buClr>
                <a:schemeClr val="lt1"/>
              </a:buClr>
              <a:buSzPts val="1500"/>
              <a:buChar char="•"/>
            </a:pPr>
            <a:r>
              <a:rPr lang="en" sz="1500">
                <a:latin typeface="Calibri"/>
                <a:ea typeface="Calibri"/>
                <a:cs typeface="Calibri"/>
                <a:sym typeface="Calibri"/>
              </a:rPr>
              <a:t>Standard Query Operators (SQO)</a:t>
            </a:r>
            <a:endParaRPr/>
          </a:p>
          <a:p>
            <a:pPr marL="1892300" lvl="5" indent="-171450" algn="just" rtl="0">
              <a:lnSpc>
                <a:spcPct val="90000"/>
              </a:lnSpc>
              <a:spcBef>
                <a:spcPts val="400"/>
              </a:spcBef>
              <a:spcAft>
                <a:spcPts val="0"/>
              </a:spcAft>
              <a:buClr>
                <a:schemeClr val="lt1"/>
              </a:buClr>
              <a:buSzPts val="1500"/>
              <a:buChar char="•"/>
            </a:pPr>
            <a:r>
              <a:rPr lang="en" sz="1500">
                <a:latin typeface="Calibri"/>
                <a:ea typeface="Calibri"/>
                <a:cs typeface="Calibri"/>
                <a:sym typeface="Calibri"/>
              </a:rPr>
              <a:t>Expression Trees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75"/>
          <p:cNvSpPr txBox="1">
            <a:spLocks noGrp="1"/>
          </p:cNvSpPr>
          <p:nvPr>
            <p:ph type="body" idx="1"/>
          </p:nvPr>
        </p:nvSpPr>
        <p:spPr>
          <a:xfrm>
            <a:off x="514350" y="937260"/>
            <a:ext cx="8115300" cy="326898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400"/>
              <a:buNone/>
            </a:pPr>
            <a:r>
              <a:rPr lang="en" sz="1400" b="1">
                <a:latin typeface="Calibri"/>
                <a:ea typeface="Calibri"/>
                <a:cs typeface="Calibri"/>
                <a:sym typeface="Calibri"/>
              </a:rPr>
              <a:t>1. Query Expressions:</a:t>
            </a:r>
            <a:endParaRPr sz="1400">
              <a:latin typeface="Calibri"/>
              <a:ea typeface="Calibri"/>
              <a:cs typeface="Calibri"/>
              <a:sym typeface="Calibri"/>
            </a:endParaRPr>
          </a:p>
          <a:p>
            <a:pPr marL="520700" lvl="1"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LINQ queries are written in a syntax similar to C# or VB.NET expressions, making them intuitive and easy to understand.</a:t>
            </a:r>
            <a:endParaRPr/>
          </a:p>
          <a:p>
            <a:pPr marL="520700" lvl="1"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These expressions specify the data source to query, the data to retrieve, and any filtering or transformations to apply.</a:t>
            </a:r>
            <a:endParaRPr sz="1400">
              <a:latin typeface="Calibri"/>
              <a:ea typeface="Calibri"/>
              <a:cs typeface="Calibri"/>
              <a:sym typeface="Calibri"/>
            </a:endParaRPr>
          </a:p>
          <a:p>
            <a:pPr marL="520700" lvl="1"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Developers write these queries using familiar keywords like from, where, and select.</a:t>
            </a:r>
            <a:endParaRPr/>
          </a:p>
          <a:p>
            <a:pPr marL="342900" lvl="1" indent="0" algn="l" rtl="0">
              <a:lnSpc>
                <a:spcPct val="90000"/>
              </a:lnSpc>
              <a:spcBef>
                <a:spcPts val="400"/>
              </a:spcBef>
              <a:spcAft>
                <a:spcPts val="0"/>
              </a:spcAft>
              <a:buClr>
                <a:schemeClr val="lt1"/>
              </a:buClr>
              <a:buSzPts val="1400"/>
              <a:buNone/>
            </a:pPr>
            <a:endParaRPr sz="1400">
              <a:latin typeface="Calibri"/>
              <a:ea typeface="Calibri"/>
              <a:cs typeface="Calibri"/>
              <a:sym typeface="Calibri"/>
            </a:endParaRPr>
          </a:p>
          <a:p>
            <a:pPr marL="0" lvl="0" indent="0" algn="l" rtl="0">
              <a:lnSpc>
                <a:spcPct val="100000"/>
              </a:lnSpc>
              <a:spcBef>
                <a:spcPts val="800"/>
              </a:spcBef>
              <a:spcAft>
                <a:spcPts val="0"/>
              </a:spcAft>
              <a:buClr>
                <a:schemeClr val="lt1"/>
              </a:buClr>
              <a:buSzPts val="1400"/>
              <a:buNone/>
            </a:pPr>
            <a:r>
              <a:rPr lang="en" sz="1400" b="1">
                <a:latin typeface="Calibri"/>
                <a:ea typeface="Calibri"/>
                <a:cs typeface="Calibri"/>
                <a:sym typeface="Calibri"/>
              </a:rPr>
              <a:t>2. Query Providers:</a:t>
            </a:r>
            <a:endParaRPr/>
          </a:p>
          <a:p>
            <a:pPr marL="520700" lvl="1"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Different types of data sources (e.g., in-memory collections, databases, XML documents) require different approaches for querying.</a:t>
            </a:r>
            <a:endParaRPr/>
          </a:p>
          <a:p>
            <a:pPr marL="520700" lvl="1"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LINQ provides built-in provider implementations for common data sources (e.g., Enumerable for in-memory collections, LinqToObjects for objects, LinqToXml for XML).</a:t>
            </a:r>
            <a:endParaRPr/>
          </a:p>
          <a:p>
            <a:pPr marL="520700" lvl="1" indent="-177800" algn="l" rtl="0">
              <a:lnSpc>
                <a:spcPct val="90000"/>
              </a:lnSpc>
              <a:spcBef>
                <a:spcPts val="400"/>
              </a:spcBef>
              <a:spcAft>
                <a:spcPts val="0"/>
              </a:spcAft>
              <a:buClr>
                <a:schemeClr val="lt1"/>
              </a:buClr>
              <a:buSzPts val="1400"/>
              <a:buChar char="•"/>
            </a:pPr>
            <a:r>
              <a:rPr lang="en" sz="1400">
                <a:latin typeface="Calibri"/>
                <a:ea typeface="Calibri"/>
                <a:cs typeface="Calibri"/>
                <a:sym typeface="Calibri"/>
              </a:rPr>
              <a:t>Custom providers can be developed to integrate LINQ with other data sources.</a:t>
            </a:r>
            <a:endParaRPr/>
          </a:p>
        </p:txBody>
      </p:sp>
      <p:sp>
        <p:nvSpPr>
          <p:cNvPr id="450" name="Google Shape;450;p75"/>
          <p:cNvSpPr/>
          <p:nvPr/>
        </p:nvSpPr>
        <p:spPr>
          <a:xfrm>
            <a:off x="0" y="67575"/>
            <a:ext cx="49" cy="207749"/>
          </a:xfrm>
          <a:prstGeom prst="rect">
            <a:avLst/>
          </a:prstGeom>
          <a:solidFill>
            <a:srgbClr val="FFFFF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lt1"/>
              </a:buClr>
              <a:buSzPts val="1400"/>
              <a:buFont typeface="Century Gothic"/>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76"/>
          <p:cNvSpPr txBox="1">
            <a:spLocks noGrp="1"/>
          </p:cNvSpPr>
          <p:nvPr>
            <p:ph type="body" idx="1"/>
          </p:nvPr>
        </p:nvSpPr>
        <p:spPr>
          <a:xfrm>
            <a:off x="514350" y="937260"/>
            <a:ext cx="8115300" cy="3829050"/>
          </a:xfrm>
          <a:prstGeom prst="rect">
            <a:avLst/>
          </a:prstGeom>
          <a:noFill/>
          <a:ln>
            <a:noFill/>
          </a:ln>
        </p:spPr>
        <p:txBody>
          <a:bodyPr spcFirstLastPara="1" wrap="square" lIns="68575" tIns="34275" rIns="68575" bIns="34275" anchor="t" anchorCtr="0">
            <a:normAutofit/>
          </a:bodyPr>
          <a:lstStyle/>
          <a:p>
            <a:pPr marL="0" lvl="0" indent="0" algn="l" rtl="0">
              <a:lnSpc>
                <a:spcPct val="100000"/>
              </a:lnSpc>
              <a:spcBef>
                <a:spcPts val="0"/>
              </a:spcBef>
              <a:spcAft>
                <a:spcPts val="0"/>
              </a:spcAft>
              <a:buClr>
                <a:schemeClr val="lt1"/>
              </a:buClr>
              <a:buSzPts val="1500"/>
              <a:buNone/>
            </a:pPr>
            <a:r>
              <a:rPr lang="en" sz="1500" b="1">
                <a:latin typeface="Calibri"/>
                <a:ea typeface="Calibri"/>
                <a:cs typeface="Calibri"/>
                <a:sym typeface="Calibri"/>
              </a:rPr>
              <a:t>3. Standard Query Operators (SQO):</a:t>
            </a:r>
            <a:endParaRPr sz="1500">
              <a:latin typeface="Calibri"/>
              <a:ea typeface="Calibri"/>
              <a:cs typeface="Calibri"/>
              <a:sym typeface="Calibri"/>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They are a </a:t>
            </a:r>
            <a:r>
              <a:rPr lang="en" b="1">
                <a:latin typeface="Calibri"/>
                <a:ea typeface="Calibri"/>
                <a:cs typeface="Calibri"/>
                <a:sym typeface="Calibri"/>
              </a:rPr>
              <a:t>set of predefined methods</a:t>
            </a:r>
            <a:r>
              <a:rPr lang="en">
                <a:latin typeface="Calibri"/>
                <a:ea typeface="Calibri"/>
                <a:cs typeface="Calibri"/>
                <a:sym typeface="Calibri"/>
              </a:rPr>
              <a:t> such as </a:t>
            </a:r>
            <a:r>
              <a:rPr lang="en" b="1">
                <a:latin typeface="Calibri"/>
                <a:ea typeface="Calibri"/>
                <a:cs typeface="Calibri"/>
                <a:sym typeface="Calibri"/>
              </a:rPr>
              <a:t>Where()</a:t>
            </a:r>
            <a:r>
              <a:rPr lang="en">
                <a:latin typeface="Calibri"/>
                <a:ea typeface="Calibri"/>
                <a:cs typeface="Calibri"/>
                <a:sym typeface="Calibri"/>
              </a:rPr>
              <a:t>, </a:t>
            </a:r>
            <a:r>
              <a:rPr lang="en" b="1">
                <a:latin typeface="Calibri"/>
                <a:ea typeface="Calibri"/>
                <a:cs typeface="Calibri"/>
                <a:sym typeface="Calibri"/>
              </a:rPr>
              <a:t>Select()</a:t>
            </a:r>
            <a:r>
              <a:rPr lang="en">
                <a:latin typeface="Calibri"/>
                <a:ea typeface="Calibri"/>
                <a:cs typeface="Calibri"/>
                <a:sym typeface="Calibri"/>
              </a:rPr>
              <a:t>, and </a:t>
            </a:r>
            <a:r>
              <a:rPr lang="en" b="1">
                <a:latin typeface="Calibri"/>
                <a:ea typeface="Calibri"/>
                <a:cs typeface="Calibri"/>
                <a:sym typeface="Calibri"/>
              </a:rPr>
              <a:t>OrderBy()</a:t>
            </a:r>
            <a:r>
              <a:rPr lang="en">
                <a:latin typeface="Calibri"/>
                <a:ea typeface="Calibri"/>
                <a:cs typeface="Calibri"/>
                <a:sym typeface="Calibri"/>
              </a:rPr>
              <a:t> used to perform operations on data sources.</a:t>
            </a:r>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These methods form the </a:t>
            </a:r>
            <a:r>
              <a:rPr lang="en" b="1">
                <a:latin typeface="Calibri"/>
                <a:ea typeface="Calibri"/>
                <a:cs typeface="Calibri"/>
                <a:sym typeface="Calibri"/>
              </a:rPr>
              <a:t>core API of LINQ</a:t>
            </a:r>
            <a:r>
              <a:rPr lang="en">
                <a:latin typeface="Calibri"/>
                <a:ea typeface="Calibri"/>
                <a:cs typeface="Calibri"/>
                <a:sym typeface="Calibri"/>
              </a:rPr>
              <a:t>, enabling powerful data manipulation and querying.</a:t>
            </a:r>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They support </a:t>
            </a:r>
            <a:r>
              <a:rPr lang="en" b="1">
                <a:latin typeface="Calibri"/>
                <a:ea typeface="Calibri"/>
                <a:cs typeface="Calibri"/>
                <a:sym typeface="Calibri"/>
              </a:rPr>
              <a:t>deferred execution</a:t>
            </a:r>
            <a:r>
              <a:rPr lang="en">
                <a:latin typeface="Calibri"/>
                <a:ea typeface="Calibri"/>
                <a:cs typeface="Calibri"/>
                <a:sym typeface="Calibri"/>
              </a:rPr>
              <a:t> and allow </a:t>
            </a:r>
            <a:r>
              <a:rPr lang="en" b="1">
                <a:latin typeface="Calibri"/>
                <a:ea typeface="Calibri"/>
                <a:cs typeface="Calibri"/>
                <a:sym typeface="Calibri"/>
              </a:rPr>
              <a:t>functional-style querying</a:t>
            </a:r>
            <a:r>
              <a:rPr lang="en">
                <a:latin typeface="Calibri"/>
                <a:ea typeface="Calibri"/>
                <a:cs typeface="Calibri"/>
                <a:sym typeface="Calibri"/>
              </a:rPr>
              <a:t> for efficient and flexible data handling.</a:t>
            </a:r>
            <a:endParaRPr/>
          </a:p>
          <a:p>
            <a:pPr marL="0" lvl="0" indent="0" algn="l" rtl="0">
              <a:lnSpc>
                <a:spcPct val="90000"/>
              </a:lnSpc>
              <a:spcBef>
                <a:spcPts val="800"/>
              </a:spcBef>
              <a:spcAft>
                <a:spcPts val="0"/>
              </a:spcAft>
              <a:buClr>
                <a:schemeClr val="lt1"/>
              </a:buClr>
              <a:buSzPts val="1500"/>
              <a:buNone/>
            </a:pPr>
            <a:r>
              <a:rPr lang="en" sz="1500" b="1">
                <a:latin typeface="Calibri"/>
                <a:ea typeface="Calibri"/>
                <a:cs typeface="Calibri"/>
                <a:sym typeface="Calibri"/>
              </a:rPr>
              <a:t>4. Expression Trees:</a:t>
            </a:r>
            <a:endParaRPr sz="1500">
              <a:latin typeface="Calibri"/>
              <a:ea typeface="Calibri"/>
              <a:cs typeface="Calibri"/>
              <a:sym typeface="Calibri"/>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LINQ queries are translated into internal representation called expression trees.</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These trees capture the logic of the query, including data source, filters, and transformations.</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The query provider then utilizes the expression tree to navigate and manipulate the specific data source efficiently.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pic>
        <p:nvPicPr>
          <p:cNvPr id="460" name="Google Shape;460;p77"/>
          <p:cNvPicPr preferRelativeResize="0">
            <a:picLocks noGrp="1"/>
          </p:cNvPicPr>
          <p:nvPr>
            <p:ph type="body" idx="1"/>
          </p:nvPr>
        </p:nvPicPr>
        <p:blipFill rotWithShape="1">
          <a:blip r:embed="rId3">
            <a:alphaModFix/>
          </a:blip>
          <a:srcRect/>
          <a:stretch/>
        </p:blipFill>
        <p:spPr>
          <a:xfrm>
            <a:off x="2171581" y="470410"/>
            <a:ext cx="4800838" cy="44923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0C07D2-6A66-D31B-30C6-16B4C664DBC6}"/>
              </a:ext>
            </a:extLst>
          </p:cNvPr>
          <p:cNvSpPr>
            <a:spLocks noGrp="1"/>
          </p:cNvSpPr>
          <p:nvPr>
            <p:ph type="title"/>
          </p:nvPr>
        </p:nvSpPr>
        <p:spPr/>
        <p:txBody>
          <a:bodyPr/>
          <a:lstStyle/>
          <a:p>
            <a:r>
              <a:rPr lang="en-US" dirty="0"/>
              <a:t>QUERY SYNTAX</a:t>
            </a:r>
          </a:p>
        </p:txBody>
      </p:sp>
      <p:sp>
        <p:nvSpPr>
          <p:cNvPr id="7" name="Text Placeholder 6">
            <a:extLst>
              <a:ext uri="{FF2B5EF4-FFF2-40B4-BE49-F238E27FC236}">
                <a16:creationId xmlns:a16="http://schemas.microsoft.com/office/drawing/2014/main" id="{987A0DC3-BF22-7675-8F64-C6449A1AE328}"/>
              </a:ext>
            </a:extLst>
          </p:cNvPr>
          <p:cNvSpPr>
            <a:spLocks noGrp="1"/>
          </p:cNvSpPr>
          <p:nvPr>
            <p:ph type="body" idx="1"/>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sym typeface="Calibri"/>
              </a:rPr>
              <a:t>Query Syntax is similar to SQL and is often more readable for those familiar with SQL. It starts with a from clause followed by a range variable and includes standard query operations like where, select, group, join, etc.</a:t>
            </a:r>
            <a:endParaRPr lang="en-IN" dirty="0">
              <a:latin typeface="Calibri" panose="020F0502020204030204" pitchFamily="34" charset="0"/>
              <a:ea typeface="Calibri" panose="020F0502020204030204" pitchFamily="34" charset="0"/>
              <a:cs typeface="Calibri" panose="020F0502020204030204" pitchFamily="34" charset="0"/>
            </a:endParaRPr>
          </a:p>
          <a:p>
            <a:pPr marL="139700" indent="0">
              <a:buNone/>
            </a:pPr>
            <a:r>
              <a:rPr lang="en-IN" b="1" dirty="0">
                <a:latin typeface="Calibri" panose="020F0502020204030204" pitchFamily="34" charset="0"/>
                <a:ea typeface="Calibri" panose="020F0502020204030204" pitchFamily="34" charset="0"/>
                <a:cs typeface="Calibri" panose="020F0502020204030204" pitchFamily="34" charset="0"/>
              </a:rPr>
              <a:t>Key Points:</a:t>
            </a:r>
          </a:p>
          <a:p>
            <a:r>
              <a:rPr lang="en-IN" dirty="0">
                <a:latin typeface="Calibri" panose="020F0502020204030204" pitchFamily="34" charset="0"/>
                <a:ea typeface="Calibri" panose="020F0502020204030204" pitchFamily="34" charset="0"/>
                <a:cs typeface="Calibri" panose="020F0502020204030204" pitchFamily="34" charset="0"/>
              </a:rPr>
              <a:t>Query syntax is </a:t>
            </a:r>
            <a:r>
              <a:rPr lang="en-IN" b="1" dirty="0">
                <a:latin typeface="Calibri" panose="020F0502020204030204" pitchFamily="34" charset="0"/>
                <a:ea typeface="Calibri" panose="020F0502020204030204" pitchFamily="34" charset="0"/>
                <a:cs typeface="Calibri" panose="020F0502020204030204" pitchFamily="34" charset="0"/>
              </a:rPr>
              <a:t>more readable</a:t>
            </a:r>
            <a:r>
              <a:rPr lang="en-IN" dirty="0">
                <a:latin typeface="Calibri" panose="020F0502020204030204" pitchFamily="34" charset="0"/>
                <a:ea typeface="Calibri" panose="020F0502020204030204" pitchFamily="34" charset="0"/>
                <a:cs typeface="Calibri" panose="020F0502020204030204" pitchFamily="34" charset="0"/>
              </a:rPr>
              <a:t> and </a:t>
            </a:r>
            <a:r>
              <a:rPr lang="en-IN" b="1" dirty="0">
                <a:latin typeface="Calibri" panose="020F0502020204030204" pitchFamily="34" charset="0"/>
                <a:ea typeface="Calibri" panose="020F0502020204030204" pitchFamily="34" charset="0"/>
                <a:cs typeface="Calibri" panose="020F0502020204030204" pitchFamily="34" charset="0"/>
              </a:rPr>
              <a:t>SQL-like</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Internally, it gets converted to </a:t>
            </a:r>
            <a:r>
              <a:rPr lang="en-IN" b="1" dirty="0">
                <a:latin typeface="Calibri" panose="020F0502020204030204" pitchFamily="34" charset="0"/>
                <a:ea typeface="Calibri" panose="020F0502020204030204" pitchFamily="34" charset="0"/>
                <a:cs typeface="Calibri" panose="020F0502020204030204" pitchFamily="34" charset="0"/>
              </a:rPr>
              <a:t>method syntax</a:t>
            </a:r>
            <a:r>
              <a:rPr lang="en-IN" dirty="0">
                <a:latin typeface="Calibri" panose="020F0502020204030204" pitchFamily="34" charset="0"/>
                <a:ea typeface="Calibri" panose="020F0502020204030204" pitchFamily="34" charset="0"/>
                <a:cs typeface="Calibri" panose="020F0502020204030204" pitchFamily="34" charset="0"/>
              </a:rPr>
              <a:t> (using lambda expressions).</a:t>
            </a:r>
          </a:p>
          <a:p>
            <a:r>
              <a:rPr lang="en-IN" dirty="0">
                <a:latin typeface="Calibri" panose="020F0502020204030204" pitchFamily="34" charset="0"/>
                <a:ea typeface="Calibri" panose="020F0502020204030204" pitchFamily="34" charset="0"/>
                <a:cs typeface="Calibri" panose="020F0502020204030204" pitchFamily="34" charset="0"/>
              </a:rPr>
              <a:t>You can use it with arrays, lists, XML, databases, etc.</a:t>
            </a:r>
          </a:p>
        </p:txBody>
      </p:sp>
    </p:spTree>
    <p:extLst>
      <p:ext uri="{BB962C8B-B14F-4D97-AF65-F5344CB8AC3E}">
        <p14:creationId xmlns:p14="http://schemas.microsoft.com/office/powerpoint/2010/main" val="21996511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161DF-1463-1B1B-BB30-0810122886DC}"/>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EXPLANATION OF CLAUSES: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08E3B8BB-A04D-77A1-E36F-12CAD5576AAC}"/>
              </a:ext>
            </a:extLst>
          </p:cNvPr>
          <p:cNvSpPr>
            <a:spLocks noGrp="1"/>
          </p:cNvSpPr>
          <p:nvPr>
            <p:ph type="body" idx="1"/>
          </p:nvPr>
        </p:nvSpPr>
        <p:spPr/>
        <p:txBody>
          <a:bodyPr/>
          <a:lstStyle/>
          <a:p>
            <a:endParaRPr lang="en-US" dirty="0"/>
          </a:p>
        </p:txBody>
      </p:sp>
      <p:graphicFrame>
        <p:nvGraphicFramePr>
          <p:cNvPr id="4" name="Table 3">
            <a:extLst>
              <a:ext uri="{FF2B5EF4-FFF2-40B4-BE49-F238E27FC236}">
                <a16:creationId xmlns:a16="http://schemas.microsoft.com/office/drawing/2014/main" id="{9D7D385E-DBDD-B771-98D8-D0D0AA9945A2}"/>
              </a:ext>
            </a:extLst>
          </p:cNvPr>
          <p:cNvGraphicFramePr>
            <a:graphicFrameLocks noGrp="1"/>
          </p:cNvGraphicFramePr>
          <p:nvPr>
            <p:extLst>
              <p:ext uri="{D42A27DB-BD31-4B8C-83A1-F6EECF244321}">
                <p14:modId xmlns:p14="http://schemas.microsoft.com/office/powerpoint/2010/main" val="1877095785"/>
              </p:ext>
            </p:extLst>
          </p:nvPr>
        </p:nvGraphicFramePr>
        <p:xfrm>
          <a:off x="1315844" y="1773494"/>
          <a:ext cx="6415668" cy="2804160"/>
        </p:xfrm>
        <a:graphic>
          <a:graphicData uri="http://schemas.openxmlformats.org/drawingml/2006/table">
            <a:tbl>
              <a:tblPr firstRow="1" bandRow="1">
                <a:tableStyleId>{AE08A2B5-FEC1-4821-B64D-F3B82E1F7B7F}</a:tableStyleId>
              </a:tblPr>
              <a:tblGrid>
                <a:gridCol w="1271239">
                  <a:extLst>
                    <a:ext uri="{9D8B030D-6E8A-4147-A177-3AD203B41FA5}">
                      <a16:colId xmlns:a16="http://schemas.microsoft.com/office/drawing/2014/main" val="2916248982"/>
                    </a:ext>
                  </a:extLst>
                </a:gridCol>
                <a:gridCol w="5144429">
                  <a:extLst>
                    <a:ext uri="{9D8B030D-6E8A-4147-A177-3AD203B41FA5}">
                      <a16:colId xmlns:a16="http://schemas.microsoft.com/office/drawing/2014/main" val="1018638235"/>
                    </a:ext>
                  </a:extLst>
                </a:gridCol>
              </a:tblGrid>
              <a:tr h="370840">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Clause</a:t>
                      </a:r>
                    </a:p>
                  </a:txBody>
                  <a:tcPr anchor="ctr"/>
                </a:tc>
                <a:tc>
                  <a:txBody>
                    <a:bodyPr/>
                    <a:lstStyle/>
                    <a:p>
                      <a:pPr algn="ctr">
                        <a:buNone/>
                      </a:pPr>
                      <a:r>
                        <a:rPr lang="en-US" sz="1600" dirty="0">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2129517321"/>
                  </a:ext>
                </a:extLst>
              </a:tr>
              <a:tr h="370840">
                <a:tc>
                  <a:txBody>
                    <a:bodyPr/>
                    <a:lstStyle/>
                    <a:p>
                      <a:pPr>
                        <a:buNone/>
                      </a:pPr>
                      <a:r>
                        <a:rPr lang="en-US" sz="1600" b="1">
                          <a:latin typeface="Calibri" panose="020F0502020204030204" pitchFamily="34" charset="0"/>
                          <a:ea typeface="Calibri" panose="020F0502020204030204" pitchFamily="34" charset="0"/>
                          <a:cs typeface="Calibri" panose="020F0502020204030204" pitchFamily="34" charset="0"/>
                        </a:rPr>
                        <a:t>from</a:t>
                      </a:r>
                      <a:endParaRPr lang="en-US" sz="16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Specifies the data source and introduces a </a:t>
                      </a:r>
                      <a:r>
                        <a:rPr lang="en-IN" sz="1600" b="1">
                          <a:latin typeface="Calibri" panose="020F0502020204030204" pitchFamily="34" charset="0"/>
                          <a:ea typeface="Calibri" panose="020F0502020204030204" pitchFamily="34" charset="0"/>
                          <a:cs typeface="Calibri" panose="020F0502020204030204" pitchFamily="34" charset="0"/>
                        </a:rPr>
                        <a:t>range variable</a:t>
                      </a:r>
                      <a:r>
                        <a:rPr lang="en-IN" sz="1600">
                          <a:latin typeface="Calibri" panose="020F0502020204030204" pitchFamily="34" charset="0"/>
                          <a:ea typeface="Calibri" panose="020F0502020204030204" pitchFamily="34" charset="0"/>
                          <a:cs typeface="Calibri" panose="020F0502020204030204" pitchFamily="34" charset="0"/>
                        </a:rPr>
                        <a:t> (like a table alias in SQL).</a:t>
                      </a:r>
                    </a:p>
                  </a:txBody>
                  <a:tcPr anchor="ctr"/>
                </a:tc>
                <a:extLst>
                  <a:ext uri="{0D108BD9-81ED-4DB2-BD59-A6C34878D82A}">
                    <a16:rowId xmlns:a16="http://schemas.microsoft.com/office/drawing/2014/main" val="2277292598"/>
                  </a:ext>
                </a:extLst>
              </a:tr>
              <a:tr h="370840">
                <a:tc>
                  <a:txBody>
                    <a:bodyPr/>
                    <a:lstStyle/>
                    <a:p>
                      <a:pPr>
                        <a:buNone/>
                      </a:pPr>
                      <a:r>
                        <a:rPr lang="en-US" sz="1600" b="1" dirty="0">
                          <a:latin typeface="Calibri" panose="020F0502020204030204" pitchFamily="34" charset="0"/>
                          <a:ea typeface="Calibri" panose="020F0502020204030204" pitchFamily="34" charset="0"/>
                          <a:cs typeface="Calibri" panose="020F0502020204030204" pitchFamily="34" charset="0"/>
                        </a:rPr>
                        <a:t>where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Filters data based on a condition (similar to SQL WHERE).</a:t>
                      </a:r>
                    </a:p>
                  </a:txBody>
                  <a:tcPr anchor="ctr"/>
                </a:tc>
                <a:extLst>
                  <a:ext uri="{0D108BD9-81ED-4DB2-BD59-A6C34878D82A}">
                    <a16:rowId xmlns:a16="http://schemas.microsoft.com/office/drawing/2014/main" val="3005338633"/>
                  </a:ext>
                </a:extLst>
              </a:tr>
              <a:tr h="370840">
                <a:tc>
                  <a:txBody>
                    <a:bodyPr/>
                    <a:lstStyle/>
                    <a:p>
                      <a:pPr>
                        <a:buNone/>
                      </a:pPr>
                      <a:r>
                        <a:rPr lang="en-US" sz="1600" b="1">
                          <a:latin typeface="Calibri" panose="020F0502020204030204" pitchFamily="34" charset="0"/>
                          <a:ea typeface="Calibri" panose="020F0502020204030204" pitchFamily="34" charset="0"/>
                          <a:cs typeface="Calibri" panose="020F0502020204030204" pitchFamily="34" charset="0"/>
                        </a:rPr>
                        <a:t>select</a:t>
                      </a:r>
                      <a:endParaRPr lang="en-US" sz="16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Projects or returns the result (like SQL SELECT).</a:t>
                      </a:r>
                    </a:p>
                  </a:txBody>
                  <a:tcPr anchor="ctr"/>
                </a:tc>
                <a:extLst>
                  <a:ext uri="{0D108BD9-81ED-4DB2-BD59-A6C34878D82A}">
                    <a16:rowId xmlns:a16="http://schemas.microsoft.com/office/drawing/2014/main" val="520631880"/>
                  </a:ext>
                </a:extLst>
              </a:tr>
              <a:tr h="370840">
                <a:tc>
                  <a:txBody>
                    <a:bodyPr/>
                    <a:lstStyle/>
                    <a:p>
                      <a:pPr>
                        <a:buNone/>
                      </a:pPr>
                      <a:r>
                        <a:rPr lang="en-US" sz="1600" b="1">
                          <a:latin typeface="Calibri" panose="020F0502020204030204" pitchFamily="34" charset="0"/>
                          <a:ea typeface="Calibri" panose="020F0502020204030204" pitchFamily="34" charset="0"/>
                          <a:cs typeface="Calibri" panose="020F0502020204030204" pitchFamily="34" charset="0"/>
                        </a:rPr>
                        <a:t>orderby</a:t>
                      </a:r>
                      <a:endParaRPr lang="en-US" sz="16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Sorts the data (like SQL ORDER BY).</a:t>
                      </a:r>
                    </a:p>
                  </a:txBody>
                  <a:tcPr anchor="ctr"/>
                </a:tc>
                <a:extLst>
                  <a:ext uri="{0D108BD9-81ED-4DB2-BD59-A6C34878D82A}">
                    <a16:rowId xmlns:a16="http://schemas.microsoft.com/office/drawing/2014/main" val="3069855069"/>
                  </a:ext>
                </a:extLst>
              </a:tr>
              <a:tr h="370840">
                <a:tc>
                  <a:txBody>
                    <a:bodyPr/>
                    <a:lstStyle/>
                    <a:p>
                      <a:pPr>
                        <a:buNone/>
                      </a:pPr>
                      <a:r>
                        <a:rPr lang="en-US" sz="1600" b="1">
                          <a:latin typeface="Calibri" panose="020F0502020204030204" pitchFamily="34" charset="0"/>
                          <a:ea typeface="Calibri" panose="020F0502020204030204" pitchFamily="34" charset="0"/>
                          <a:cs typeface="Calibri" panose="020F0502020204030204" pitchFamily="34" charset="0"/>
                        </a:rPr>
                        <a:t>group</a:t>
                      </a:r>
                      <a:endParaRPr lang="en-US" sz="16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Groups data (like SQL GROUP BY).</a:t>
                      </a:r>
                    </a:p>
                  </a:txBody>
                  <a:tcPr anchor="ctr"/>
                </a:tc>
                <a:extLst>
                  <a:ext uri="{0D108BD9-81ED-4DB2-BD59-A6C34878D82A}">
                    <a16:rowId xmlns:a16="http://schemas.microsoft.com/office/drawing/2014/main" val="3634292076"/>
                  </a:ext>
                </a:extLst>
              </a:tr>
              <a:tr h="370840">
                <a:tc>
                  <a:txBody>
                    <a:bodyPr/>
                    <a:lstStyle/>
                    <a:p>
                      <a:pPr>
                        <a:buNone/>
                      </a:pPr>
                      <a:r>
                        <a:rPr lang="en-US" sz="1600" b="1">
                          <a:latin typeface="Calibri" panose="020F0502020204030204" pitchFamily="34" charset="0"/>
                          <a:ea typeface="Calibri" panose="020F0502020204030204" pitchFamily="34" charset="0"/>
                          <a:cs typeface="Calibri" panose="020F0502020204030204" pitchFamily="34" charset="0"/>
                        </a:rPr>
                        <a:t>join</a:t>
                      </a:r>
                      <a:endParaRPr lang="en-US" sz="16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Joins two data sources (like SQL JOIN).</a:t>
                      </a:r>
                    </a:p>
                  </a:txBody>
                  <a:tcPr anchor="ctr"/>
                </a:tc>
                <a:extLst>
                  <a:ext uri="{0D108BD9-81ED-4DB2-BD59-A6C34878D82A}">
                    <a16:rowId xmlns:a16="http://schemas.microsoft.com/office/drawing/2014/main" val="3522379612"/>
                  </a:ext>
                </a:extLst>
              </a:tr>
            </a:tbl>
          </a:graphicData>
        </a:graphic>
      </p:graphicFrame>
    </p:spTree>
    <p:extLst>
      <p:ext uri="{BB962C8B-B14F-4D97-AF65-F5344CB8AC3E}">
        <p14:creationId xmlns:p14="http://schemas.microsoft.com/office/powerpoint/2010/main" val="2606861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7173-D718-2B05-22B0-4B571C5C1AB4}"/>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ADVANTAGES AND LIMITATION</a:t>
            </a:r>
          </a:p>
        </p:txBody>
      </p:sp>
      <p:sp>
        <p:nvSpPr>
          <p:cNvPr id="3" name="Text Placeholder 2">
            <a:extLst>
              <a:ext uri="{FF2B5EF4-FFF2-40B4-BE49-F238E27FC236}">
                <a16:creationId xmlns:a16="http://schemas.microsoft.com/office/drawing/2014/main" id="{51F84DD3-14EB-A906-C66E-B08253E804E0}"/>
              </a:ext>
            </a:extLst>
          </p:cNvPr>
          <p:cNvSpPr>
            <a:spLocks noGrp="1"/>
          </p:cNvSpPr>
          <p:nvPr>
            <p:ph type="body" idx="1"/>
          </p:nvPr>
        </p:nvSpPr>
        <p:spPr/>
        <p:txBody>
          <a:bodyPr/>
          <a:lstStyle/>
          <a:p>
            <a:pPr marL="139700" indent="0">
              <a:buNone/>
            </a:pPr>
            <a:r>
              <a:rPr lang="en-US" dirty="0">
                <a:latin typeface="Calibri" panose="020F0502020204030204" pitchFamily="34" charset="0"/>
                <a:ea typeface="Calibri" panose="020F0502020204030204" pitchFamily="34" charset="0"/>
                <a:cs typeface="Calibri" panose="020F0502020204030204" pitchFamily="34" charset="0"/>
              </a:rPr>
              <a:t>ADVANTAGES OF QUERY SYNTAX</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Easy to read and understand (especially for SQL users).</a:t>
            </a:r>
          </a:p>
          <a:p>
            <a:r>
              <a:rPr lang="en-IN" dirty="0">
                <a:latin typeface="Calibri" panose="020F0502020204030204" pitchFamily="34" charset="0"/>
                <a:ea typeface="Calibri" panose="020F0502020204030204" pitchFamily="34" charset="0"/>
                <a:cs typeface="Calibri" panose="020F0502020204030204" pitchFamily="34" charset="0"/>
              </a:rPr>
              <a:t>Great for simple filtering, sorting, and grouping.</a:t>
            </a:r>
          </a:p>
          <a:p>
            <a:r>
              <a:rPr lang="en-IN" dirty="0">
                <a:latin typeface="Calibri" panose="020F0502020204030204" pitchFamily="34" charset="0"/>
                <a:ea typeface="Calibri" panose="020F0502020204030204" pitchFamily="34" charset="0"/>
                <a:cs typeface="Calibri" panose="020F0502020204030204" pitchFamily="34" charset="0"/>
              </a:rPr>
              <a:t>Works well with complex queries involving joins and grouping.</a:t>
            </a:r>
          </a:p>
          <a:p>
            <a:pPr marL="139700" indent="0">
              <a:buNone/>
            </a:pPr>
            <a:r>
              <a:rPr lang="en-IN" dirty="0">
                <a:latin typeface="Calibri" panose="020F0502020204030204" pitchFamily="34" charset="0"/>
                <a:ea typeface="Calibri" panose="020F0502020204030204" pitchFamily="34" charset="0"/>
                <a:cs typeface="Calibri" panose="020F0502020204030204" pitchFamily="34" charset="0"/>
              </a:rPr>
              <a:t>LIMITATIONS:</a:t>
            </a:r>
          </a:p>
          <a:p>
            <a:r>
              <a:rPr lang="en-IN" dirty="0">
                <a:latin typeface="Calibri" panose="020F0502020204030204" pitchFamily="34" charset="0"/>
                <a:ea typeface="Calibri" panose="020F0502020204030204" pitchFamily="34" charset="0"/>
                <a:cs typeface="Calibri" panose="020F0502020204030204" pitchFamily="34" charset="0"/>
              </a:rPr>
              <a:t>Limited in supporting all advanced LINQ methods (like Sum, Average, Count).</a:t>
            </a:r>
          </a:p>
          <a:p>
            <a:r>
              <a:rPr lang="en-IN" dirty="0">
                <a:latin typeface="Calibri" panose="020F0502020204030204" pitchFamily="34" charset="0"/>
                <a:ea typeface="Calibri" panose="020F0502020204030204" pitchFamily="34" charset="0"/>
                <a:cs typeface="Calibri" panose="020F0502020204030204" pitchFamily="34" charset="0"/>
              </a:rPr>
              <a:t>For some operations, you must switch to method syntax</a:t>
            </a:r>
          </a:p>
        </p:txBody>
      </p:sp>
    </p:spTree>
    <p:extLst>
      <p:ext uri="{BB962C8B-B14F-4D97-AF65-F5344CB8AC3E}">
        <p14:creationId xmlns:p14="http://schemas.microsoft.com/office/powerpoint/2010/main" val="25870931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90442-2CD2-8A15-1AAC-3250EA2BEBB6}"/>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METHOD SYNTAX</a:t>
            </a:r>
          </a:p>
        </p:txBody>
      </p:sp>
      <p:sp>
        <p:nvSpPr>
          <p:cNvPr id="3" name="Text Placeholder 2">
            <a:extLst>
              <a:ext uri="{FF2B5EF4-FFF2-40B4-BE49-F238E27FC236}">
                <a16:creationId xmlns:a16="http://schemas.microsoft.com/office/drawing/2014/main" id="{81B33A4A-EC5C-E94A-B921-44469E8E37BA}"/>
              </a:ext>
            </a:extLst>
          </p:cNvPr>
          <p:cNvSpPr>
            <a:spLocks noGrp="1"/>
          </p:cNvSpPr>
          <p:nvPr>
            <p:ph type="body" idx="1"/>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Method Syntax</a:t>
            </a:r>
            <a:r>
              <a:rPr lang="en-US" dirty="0">
                <a:latin typeface="Calibri" panose="020F0502020204030204" pitchFamily="34" charset="0"/>
                <a:ea typeface="Calibri" panose="020F0502020204030204" pitchFamily="34" charset="0"/>
                <a:cs typeface="Calibri" panose="020F0502020204030204" pitchFamily="34" charset="0"/>
              </a:rPr>
              <a:t> (also called </a:t>
            </a:r>
            <a:r>
              <a:rPr lang="en-US" i="1" dirty="0">
                <a:latin typeface="Calibri" panose="020F0502020204030204" pitchFamily="34" charset="0"/>
                <a:ea typeface="Calibri" panose="020F0502020204030204" pitchFamily="34" charset="0"/>
                <a:cs typeface="Calibri" panose="020F0502020204030204" pitchFamily="34" charset="0"/>
              </a:rPr>
              <a:t>Fluent Syntax</a:t>
            </a:r>
            <a:r>
              <a:rPr lang="en-US" dirty="0">
                <a:latin typeface="Calibri" panose="020F0502020204030204" pitchFamily="34" charset="0"/>
                <a:ea typeface="Calibri" panose="020F0502020204030204" pitchFamily="34" charset="0"/>
                <a:cs typeface="Calibri" panose="020F0502020204030204" pitchFamily="34" charset="0"/>
              </a:rPr>
              <a:t> or </a:t>
            </a:r>
            <a:r>
              <a:rPr lang="en-US" i="1" dirty="0">
                <a:latin typeface="Calibri" panose="020F0502020204030204" pitchFamily="34" charset="0"/>
                <a:ea typeface="Calibri" panose="020F0502020204030204" pitchFamily="34" charset="0"/>
                <a:cs typeface="Calibri" panose="020F0502020204030204" pitchFamily="34" charset="0"/>
              </a:rPr>
              <a:t>Lambda Syntax</a:t>
            </a:r>
            <a:r>
              <a:rPr lang="en-US" dirty="0">
                <a:latin typeface="Calibri" panose="020F0502020204030204" pitchFamily="34" charset="0"/>
                <a:ea typeface="Calibri" panose="020F0502020204030204" pitchFamily="34" charset="0"/>
                <a:cs typeface="Calibri" panose="020F0502020204030204" pitchFamily="34" charset="0"/>
              </a:rPr>
              <a:t>) uses </a:t>
            </a:r>
            <a:r>
              <a:rPr lang="en-US" b="1" dirty="0">
                <a:latin typeface="Calibri" panose="020F0502020204030204" pitchFamily="34" charset="0"/>
                <a:ea typeface="Calibri" panose="020F0502020204030204" pitchFamily="34" charset="0"/>
                <a:cs typeface="Calibri" panose="020F0502020204030204" pitchFamily="34" charset="0"/>
              </a:rPr>
              <a:t>extension methods</a:t>
            </a:r>
            <a:r>
              <a:rPr lang="en-US" dirty="0">
                <a:latin typeface="Calibri" panose="020F0502020204030204" pitchFamily="34" charset="0"/>
                <a:ea typeface="Calibri" panose="020F0502020204030204" pitchFamily="34" charset="0"/>
                <a:cs typeface="Calibri" panose="020F0502020204030204" pitchFamily="34" charset="0"/>
              </a:rPr>
              <a:t> and </a:t>
            </a:r>
            <a:r>
              <a:rPr lang="en-US" b="1" dirty="0">
                <a:latin typeface="Calibri" panose="020F0502020204030204" pitchFamily="34" charset="0"/>
                <a:ea typeface="Calibri" panose="020F0502020204030204" pitchFamily="34" charset="0"/>
                <a:cs typeface="Calibri" panose="020F0502020204030204" pitchFamily="34" charset="0"/>
              </a:rPr>
              <a:t>lambda expressions</a:t>
            </a:r>
            <a:r>
              <a:rPr lang="en-US" dirty="0">
                <a:latin typeface="Calibri" panose="020F0502020204030204" pitchFamily="34" charset="0"/>
                <a:ea typeface="Calibri" panose="020F0502020204030204" pitchFamily="34" charset="0"/>
                <a:cs typeface="Calibri" panose="020F0502020204030204" pitchFamily="34" charset="0"/>
              </a:rPr>
              <a:t> to perform queries on data collections.</a:t>
            </a:r>
          </a:p>
          <a:p>
            <a:r>
              <a:rPr lang="en-US" dirty="0">
                <a:latin typeface="Calibri" panose="020F0502020204030204" pitchFamily="34" charset="0"/>
                <a:ea typeface="Calibri" panose="020F0502020204030204" pitchFamily="34" charset="0"/>
                <a:cs typeface="Calibri" panose="020F0502020204030204" pitchFamily="34" charset="0"/>
              </a:rPr>
              <a:t>It’s often more </a:t>
            </a:r>
            <a:r>
              <a:rPr lang="en-US" b="1" dirty="0">
                <a:latin typeface="Calibri" panose="020F0502020204030204" pitchFamily="34" charset="0"/>
                <a:ea typeface="Calibri" panose="020F0502020204030204" pitchFamily="34" charset="0"/>
                <a:cs typeface="Calibri" panose="020F0502020204030204" pitchFamily="34" charset="0"/>
              </a:rPr>
              <a:t>concise</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powerful</a:t>
            </a:r>
            <a:r>
              <a:rPr lang="en-US" dirty="0">
                <a:latin typeface="Calibri" panose="020F0502020204030204" pitchFamily="34" charset="0"/>
                <a:ea typeface="Calibri" panose="020F0502020204030204" pitchFamily="34" charset="0"/>
                <a:cs typeface="Calibri" panose="020F0502020204030204" pitchFamily="34" charset="0"/>
              </a:rPr>
              <a:t>, and </a:t>
            </a:r>
            <a:r>
              <a:rPr lang="en-US" b="1" dirty="0">
                <a:latin typeface="Calibri" panose="020F0502020204030204" pitchFamily="34" charset="0"/>
                <a:ea typeface="Calibri" panose="020F0502020204030204" pitchFamily="34" charset="0"/>
                <a:cs typeface="Calibri" panose="020F0502020204030204" pitchFamily="34" charset="0"/>
              </a:rPr>
              <a:t>flexible</a:t>
            </a:r>
            <a:r>
              <a:rPr lang="en-US" dirty="0">
                <a:latin typeface="Calibri" panose="020F0502020204030204" pitchFamily="34" charset="0"/>
                <a:ea typeface="Calibri" panose="020F0502020204030204" pitchFamily="34" charset="0"/>
                <a:cs typeface="Calibri" panose="020F0502020204030204" pitchFamily="34" charset="0"/>
              </a:rPr>
              <a:t> than query syntax — especially for complex filtering, grouping, or aggregation.</a:t>
            </a:r>
          </a:p>
        </p:txBody>
      </p:sp>
    </p:spTree>
    <p:extLst>
      <p:ext uri="{BB962C8B-B14F-4D97-AF65-F5344CB8AC3E}">
        <p14:creationId xmlns:p14="http://schemas.microsoft.com/office/powerpoint/2010/main" val="3230492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8220C-F5A3-B315-DC17-BFAD0004B5EE}"/>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EXPLANATION OF COMPONENT:</a:t>
            </a:r>
            <a:endParaRPr lang="en-US" dirty="0"/>
          </a:p>
        </p:txBody>
      </p:sp>
      <p:sp>
        <p:nvSpPr>
          <p:cNvPr id="3" name="Text Placeholder 2">
            <a:extLst>
              <a:ext uri="{FF2B5EF4-FFF2-40B4-BE49-F238E27FC236}">
                <a16:creationId xmlns:a16="http://schemas.microsoft.com/office/drawing/2014/main" id="{260178C8-0A5D-39F6-730A-0D4A440C6765}"/>
              </a:ext>
            </a:extLst>
          </p:cNvPr>
          <p:cNvSpPr>
            <a:spLocks noGrp="1"/>
          </p:cNvSpPr>
          <p:nvPr>
            <p:ph type="body" idx="1"/>
          </p:nvPr>
        </p:nvSpPr>
        <p:spPr/>
        <p:txBody>
          <a:bodyPr/>
          <a:lstStyle/>
          <a:p>
            <a:endParaRPr lang="en-US" dirty="0"/>
          </a:p>
        </p:txBody>
      </p:sp>
      <p:graphicFrame>
        <p:nvGraphicFramePr>
          <p:cNvPr id="4" name="Table 3">
            <a:extLst>
              <a:ext uri="{FF2B5EF4-FFF2-40B4-BE49-F238E27FC236}">
                <a16:creationId xmlns:a16="http://schemas.microsoft.com/office/drawing/2014/main" id="{E853EC42-9040-8847-8A7B-51B9178B871A}"/>
              </a:ext>
            </a:extLst>
          </p:cNvPr>
          <p:cNvGraphicFramePr>
            <a:graphicFrameLocks noGrp="1"/>
          </p:cNvGraphicFramePr>
          <p:nvPr>
            <p:extLst>
              <p:ext uri="{D42A27DB-BD31-4B8C-83A1-F6EECF244321}">
                <p14:modId xmlns:p14="http://schemas.microsoft.com/office/powerpoint/2010/main" val="1536103022"/>
              </p:ext>
            </p:extLst>
          </p:nvPr>
        </p:nvGraphicFramePr>
        <p:xfrm>
          <a:off x="1189464" y="2238027"/>
          <a:ext cx="7002966" cy="1833880"/>
        </p:xfrm>
        <a:graphic>
          <a:graphicData uri="http://schemas.openxmlformats.org/drawingml/2006/table">
            <a:tbl>
              <a:tblPr firstRow="1" bandRow="1">
                <a:tableStyleId>{AE08A2B5-FEC1-4821-B64D-F3B82E1F7B7F}</a:tableStyleId>
              </a:tblPr>
              <a:tblGrid>
                <a:gridCol w="2382717">
                  <a:extLst>
                    <a:ext uri="{9D8B030D-6E8A-4147-A177-3AD203B41FA5}">
                      <a16:colId xmlns:a16="http://schemas.microsoft.com/office/drawing/2014/main" val="1574602053"/>
                    </a:ext>
                  </a:extLst>
                </a:gridCol>
                <a:gridCol w="4620249">
                  <a:extLst>
                    <a:ext uri="{9D8B030D-6E8A-4147-A177-3AD203B41FA5}">
                      <a16:colId xmlns:a16="http://schemas.microsoft.com/office/drawing/2014/main" val="710318400"/>
                    </a:ext>
                  </a:extLst>
                </a:gridCol>
              </a:tblGrid>
              <a:tr h="370840">
                <a:tc>
                  <a:txBody>
                    <a:bodyPr/>
                    <a:lstStyle/>
                    <a:p>
                      <a:pPr algn="ctr">
                        <a:buNone/>
                      </a:pPr>
                      <a:r>
                        <a:rPr lang="en-US" dirty="0"/>
                        <a:t>Component</a:t>
                      </a:r>
                    </a:p>
                  </a:txBody>
                  <a:tcPr anchor="ctr"/>
                </a:tc>
                <a:tc>
                  <a:txBody>
                    <a:bodyPr/>
                    <a:lstStyle/>
                    <a:p>
                      <a:pPr algn="ctr">
                        <a:buNone/>
                      </a:pPr>
                      <a:r>
                        <a:rPr lang="en-US" dirty="0"/>
                        <a:t>Description</a:t>
                      </a:r>
                    </a:p>
                  </a:txBody>
                  <a:tcPr anchor="ctr"/>
                </a:tc>
                <a:extLst>
                  <a:ext uri="{0D108BD9-81ED-4DB2-BD59-A6C34878D82A}">
                    <a16:rowId xmlns:a16="http://schemas.microsoft.com/office/drawing/2014/main" val="3787731536"/>
                  </a:ext>
                </a:extLst>
              </a:tr>
              <a:tr h="370840">
                <a:tc>
                  <a:txBody>
                    <a:bodyPr/>
                    <a:lstStyle/>
                    <a:p>
                      <a:pPr>
                        <a:buNone/>
                      </a:pPr>
                      <a:r>
                        <a:rPr lang="en-US" b="1"/>
                        <a:t>Extension Methods</a:t>
                      </a:r>
                      <a:endParaRPr lang="en-US"/>
                    </a:p>
                  </a:txBody>
                  <a:tcPr anchor="ctr"/>
                </a:tc>
                <a:tc>
                  <a:txBody>
                    <a:bodyPr/>
                    <a:lstStyle/>
                    <a:p>
                      <a:pPr>
                        <a:buNone/>
                      </a:pPr>
                      <a:r>
                        <a:rPr lang="en-IN" dirty="0"/>
                        <a:t>Methods added to existing types (like arrays or lists) without modifying their source code — e.g., </a:t>
                      </a:r>
                      <a:r>
                        <a:rPr lang="en-IN" dirty="0">
                          <a:latin typeface="Courier New" panose="02070309020205020404" pitchFamily="49" charset="0"/>
                        </a:rPr>
                        <a:t>Where()</a:t>
                      </a:r>
                      <a:r>
                        <a:rPr lang="en-IN" dirty="0"/>
                        <a:t>, </a:t>
                      </a:r>
                      <a:r>
                        <a:rPr lang="en-IN" dirty="0">
                          <a:latin typeface="Courier New" panose="02070309020205020404" pitchFamily="49" charset="0"/>
                        </a:rPr>
                        <a:t>Select()</a:t>
                      </a:r>
                      <a:r>
                        <a:rPr lang="en-IN" dirty="0"/>
                        <a:t>, </a:t>
                      </a:r>
                      <a:r>
                        <a:rPr lang="en-IN" dirty="0" err="1">
                          <a:latin typeface="Courier New" panose="02070309020205020404" pitchFamily="49" charset="0"/>
                        </a:rPr>
                        <a:t>OrderBy</a:t>
                      </a:r>
                      <a:r>
                        <a:rPr lang="en-IN" dirty="0">
                          <a:latin typeface="Courier New" panose="02070309020205020404" pitchFamily="49" charset="0"/>
                        </a:rPr>
                        <a:t>()</a:t>
                      </a:r>
                      <a:r>
                        <a:rPr lang="en-IN" dirty="0"/>
                        <a:t>.</a:t>
                      </a:r>
                    </a:p>
                  </a:txBody>
                  <a:tcPr anchor="ctr"/>
                </a:tc>
                <a:extLst>
                  <a:ext uri="{0D108BD9-81ED-4DB2-BD59-A6C34878D82A}">
                    <a16:rowId xmlns:a16="http://schemas.microsoft.com/office/drawing/2014/main" val="3477512749"/>
                  </a:ext>
                </a:extLst>
              </a:tr>
              <a:tr h="370840">
                <a:tc>
                  <a:txBody>
                    <a:bodyPr/>
                    <a:lstStyle/>
                    <a:p>
                      <a:pPr>
                        <a:buNone/>
                      </a:pPr>
                      <a:r>
                        <a:rPr lang="en-US" b="1"/>
                        <a:t>Lambda Expressions</a:t>
                      </a:r>
                      <a:endParaRPr lang="en-US"/>
                    </a:p>
                  </a:txBody>
                  <a:tcPr anchor="ctr"/>
                </a:tc>
                <a:tc>
                  <a:txBody>
                    <a:bodyPr/>
                    <a:lstStyle/>
                    <a:p>
                      <a:pPr>
                        <a:buNone/>
                      </a:pPr>
                      <a:r>
                        <a:rPr lang="en-IN" dirty="0"/>
                        <a:t>Short functions used to define conditions or transformations. Example: </a:t>
                      </a:r>
                      <a:r>
                        <a:rPr lang="en-IN" dirty="0">
                          <a:latin typeface="Courier New" panose="02070309020205020404" pitchFamily="49" charset="0"/>
                        </a:rPr>
                        <a:t>n =&gt; n &gt; 10</a:t>
                      </a:r>
                      <a:r>
                        <a:rPr lang="en-IN" dirty="0"/>
                        <a:t> means “for each element n, check if it’s greater than 10.”</a:t>
                      </a:r>
                    </a:p>
                  </a:txBody>
                  <a:tcPr anchor="ctr"/>
                </a:tc>
                <a:extLst>
                  <a:ext uri="{0D108BD9-81ED-4DB2-BD59-A6C34878D82A}">
                    <a16:rowId xmlns:a16="http://schemas.microsoft.com/office/drawing/2014/main" val="591484188"/>
                  </a:ext>
                </a:extLst>
              </a:tr>
            </a:tbl>
          </a:graphicData>
        </a:graphic>
      </p:graphicFrame>
    </p:spTree>
    <p:extLst>
      <p:ext uri="{BB962C8B-B14F-4D97-AF65-F5344CB8AC3E}">
        <p14:creationId xmlns:p14="http://schemas.microsoft.com/office/powerpoint/2010/main" val="29674817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E08C-6B0F-ED8B-6674-EED118275889}"/>
              </a:ext>
            </a:extLst>
          </p:cNvPr>
          <p:cNvSpPr>
            <a:spLocks noGrp="1"/>
          </p:cNvSpPr>
          <p:nvPr>
            <p:ph type="title"/>
          </p:nvPr>
        </p:nvSpPr>
        <p:spPr/>
        <p:txBody>
          <a:bodyPr>
            <a:normAutofit/>
          </a:bodyPr>
          <a:lstStyle/>
          <a:p>
            <a:r>
              <a:rPr lang="en-IN" dirty="0">
                <a:latin typeface="Calibri" panose="020F0502020204030204" pitchFamily="34" charset="0"/>
                <a:ea typeface="Calibri" panose="020F0502020204030204" pitchFamily="34" charset="0"/>
                <a:cs typeface="Calibri" panose="020F0502020204030204" pitchFamily="34" charset="0"/>
              </a:rPr>
              <a:t>COMPARISON BETWEEN QUERY SYNTAX AND METHOD SYNTAX IN LINQ</a:t>
            </a: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DDDB040C-E59F-0EA1-BF36-8C47571AC726}"/>
              </a:ext>
            </a:extLst>
          </p:cNvPr>
          <p:cNvGraphicFramePr>
            <a:graphicFrameLocks noGrp="1"/>
          </p:cNvGraphicFramePr>
          <p:nvPr>
            <p:extLst>
              <p:ext uri="{D42A27DB-BD31-4B8C-83A1-F6EECF244321}">
                <p14:modId xmlns:p14="http://schemas.microsoft.com/office/powerpoint/2010/main" val="3875068407"/>
              </p:ext>
            </p:extLst>
          </p:nvPr>
        </p:nvGraphicFramePr>
        <p:xfrm>
          <a:off x="892098" y="1645920"/>
          <a:ext cx="7411843" cy="2961640"/>
        </p:xfrm>
        <a:graphic>
          <a:graphicData uri="http://schemas.openxmlformats.org/drawingml/2006/table">
            <a:tbl>
              <a:tblPr firstRow="1" bandRow="1">
                <a:tableStyleId>{AE08A2B5-FEC1-4821-B64D-F3B82E1F7B7F}</a:tableStyleId>
              </a:tblPr>
              <a:tblGrid>
                <a:gridCol w="1754459">
                  <a:extLst>
                    <a:ext uri="{9D8B030D-6E8A-4147-A177-3AD203B41FA5}">
                      <a16:colId xmlns:a16="http://schemas.microsoft.com/office/drawing/2014/main" val="3445601331"/>
                    </a:ext>
                  </a:extLst>
                </a:gridCol>
                <a:gridCol w="2616819">
                  <a:extLst>
                    <a:ext uri="{9D8B030D-6E8A-4147-A177-3AD203B41FA5}">
                      <a16:colId xmlns:a16="http://schemas.microsoft.com/office/drawing/2014/main" val="2734088520"/>
                    </a:ext>
                  </a:extLst>
                </a:gridCol>
                <a:gridCol w="3040565">
                  <a:extLst>
                    <a:ext uri="{9D8B030D-6E8A-4147-A177-3AD203B41FA5}">
                      <a16:colId xmlns:a16="http://schemas.microsoft.com/office/drawing/2014/main" val="1646457476"/>
                    </a:ext>
                  </a:extLst>
                </a:gridCol>
              </a:tblGrid>
              <a:tr h="370840">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Aspect</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Query Syntax</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Method Syntax</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271906067"/>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Definition</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SQL-like declarative style for writing LINQ queries.</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Uses extension methods and lambda expressions to perform operations.</a:t>
                      </a:r>
                    </a:p>
                  </a:txBody>
                  <a:tcPr anchor="ctr"/>
                </a:tc>
                <a:extLst>
                  <a:ext uri="{0D108BD9-81ED-4DB2-BD59-A6C34878D82A}">
                    <a16:rowId xmlns:a16="http://schemas.microsoft.com/office/drawing/2014/main" val="2979214004"/>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Style / Look</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Similar to SQL (SELECT, WHERE, FROM).</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Functional / Fluent style with method chaining (Where(), Select()).</a:t>
                      </a:r>
                    </a:p>
                  </a:txBody>
                  <a:tcPr anchor="ctr"/>
                </a:tc>
                <a:extLst>
                  <a:ext uri="{0D108BD9-81ED-4DB2-BD59-A6C34878D82A}">
                    <a16:rowId xmlns:a16="http://schemas.microsoft.com/office/drawing/2014/main" val="2201543812"/>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Syntax Example</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from s in students where s.Marks &gt; 50 select s;</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students.Where(s =&gt; s.Marks &gt; 50);</a:t>
                      </a:r>
                    </a:p>
                  </a:txBody>
                  <a:tcPr anchor="ctr"/>
                </a:tc>
                <a:extLst>
                  <a:ext uri="{0D108BD9-81ED-4DB2-BD59-A6C34878D82A}">
                    <a16:rowId xmlns:a16="http://schemas.microsoft.com/office/drawing/2014/main" val="317261552"/>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Based On</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Query comprehension model (compiler converts to methods).</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Uses extension methods directly (like Where(), Select()).</a:t>
                      </a:r>
                    </a:p>
                  </a:txBody>
                  <a:tcPr anchor="ctr"/>
                </a:tc>
                <a:extLst>
                  <a:ext uri="{0D108BD9-81ED-4DB2-BD59-A6C34878D82A}">
                    <a16:rowId xmlns:a16="http://schemas.microsoft.com/office/drawing/2014/main" val="2005151422"/>
                  </a:ext>
                </a:extLst>
              </a:tr>
              <a:tr h="370840">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Readability</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Easier for beginners or SQL users (more human-readable).</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Easier for developers familiar with C# functions and lambdas.</a:t>
                      </a:r>
                    </a:p>
                  </a:txBody>
                  <a:tcPr anchor="ctr"/>
                </a:tc>
                <a:extLst>
                  <a:ext uri="{0D108BD9-81ED-4DB2-BD59-A6C34878D82A}">
                    <a16:rowId xmlns:a16="http://schemas.microsoft.com/office/drawing/2014/main" val="4270159654"/>
                  </a:ext>
                </a:extLst>
              </a:tr>
            </a:tbl>
          </a:graphicData>
        </a:graphic>
      </p:graphicFrame>
    </p:spTree>
    <p:extLst>
      <p:ext uri="{BB962C8B-B14F-4D97-AF65-F5344CB8AC3E}">
        <p14:creationId xmlns:p14="http://schemas.microsoft.com/office/powerpoint/2010/main" val="41655093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DD5907-5432-463D-9366-C1FFA5E2AA7C}"/>
              </a:ext>
            </a:extLst>
          </p:cNvPr>
          <p:cNvGraphicFramePr>
            <a:graphicFrameLocks noGrp="1"/>
          </p:cNvGraphicFramePr>
          <p:nvPr>
            <p:extLst>
              <p:ext uri="{D42A27DB-BD31-4B8C-83A1-F6EECF244321}">
                <p14:modId xmlns:p14="http://schemas.microsoft.com/office/powerpoint/2010/main" val="3948645931"/>
              </p:ext>
            </p:extLst>
          </p:nvPr>
        </p:nvGraphicFramePr>
        <p:xfrm>
          <a:off x="1137424" y="822248"/>
          <a:ext cx="7040137" cy="3759200"/>
        </p:xfrm>
        <a:graphic>
          <a:graphicData uri="http://schemas.openxmlformats.org/drawingml/2006/table">
            <a:tbl>
              <a:tblPr firstRow="1" bandRow="1">
                <a:tableStyleId>{AE08A2B5-FEC1-4821-B64D-F3B82E1F7B7F}</a:tableStyleId>
              </a:tblPr>
              <a:tblGrid>
                <a:gridCol w="2032000">
                  <a:extLst>
                    <a:ext uri="{9D8B030D-6E8A-4147-A177-3AD203B41FA5}">
                      <a16:colId xmlns:a16="http://schemas.microsoft.com/office/drawing/2014/main" val="4066971112"/>
                    </a:ext>
                  </a:extLst>
                </a:gridCol>
                <a:gridCol w="2487961">
                  <a:extLst>
                    <a:ext uri="{9D8B030D-6E8A-4147-A177-3AD203B41FA5}">
                      <a16:colId xmlns:a16="http://schemas.microsoft.com/office/drawing/2014/main" val="1288946014"/>
                    </a:ext>
                  </a:extLst>
                </a:gridCol>
                <a:gridCol w="2520176">
                  <a:extLst>
                    <a:ext uri="{9D8B030D-6E8A-4147-A177-3AD203B41FA5}">
                      <a16:colId xmlns:a16="http://schemas.microsoft.com/office/drawing/2014/main" val="2248961218"/>
                    </a:ext>
                  </a:extLst>
                </a:gridCol>
              </a:tblGrid>
              <a:tr h="370840">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Aspect</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Query Syntax</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Method Syntax</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49159514"/>
                  </a:ext>
                </a:extLst>
              </a:tr>
              <a:tr h="370840">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Flexibility</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Suitable for simple filtering, grouping, or selecting data.</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Better for complex queries (aggregations, joins, nested operations).</a:t>
                      </a:r>
                    </a:p>
                  </a:txBody>
                  <a:tcPr anchor="ctr"/>
                </a:tc>
                <a:extLst>
                  <a:ext uri="{0D108BD9-81ED-4DB2-BD59-A6C34878D82A}">
                    <a16:rowId xmlns:a16="http://schemas.microsoft.com/office/drawing/2014/main" val="674051597"/>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Use of Lambda</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Optional (not directly used in syntax).</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Mandatory (core part of expression).</a:t>
                      </a:r>
                    </a:p>
                  </a:txBody>
                  <a:tcPr anchor="ctr"/>
                </a:tc>
                <a:extLst>
                  <a:ext uri="{0D108BD9-81ED-4DB2-BD59-A6C34878D82A}">
                    <a16:rowId xmlns:a16="http://schemas.microsoft.com/office/drawing/2014/main" val="3964303401"/>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Compiler Conversion</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Internally converted into method syntax by compiler.</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Already written in method syntax (no conversion).</a:t>
                      </a:r>
                    </a:p>
                  </a:txBody>
                  <a:tcPr anchor="ctr"/>
                </a:tc>
                <a:extLst>
                  <a:ext uri="{0D108BD9-81ED-4DB2-BD59-A6C34878D82A}">
                    <a16:rowId xmlns:a16="http://schemas.microsoft.com/office/drawing/2014/main" val="3615164432"/>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Chaining Methods</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Limited chaining support.</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Full method chaining supported (Where().Select().</a:t>
                      </a:r>
                      <a:r>
                        <a:rPr lang="en-IN" dirty="0" err="1">
                          <a:latin typeface="Calibri" panose="020F0502020204030204" pitchFamily="34" charset="0"/>
                          <a:ea typeface="Calibri" panose="020F0502020204030204" pitchFamily="34" charset="0"/>
                          <a:cs typeface="Calibri" panose="020F0502020204030204" pitchFamily="34" charset="0"/>
                        </a:rPr>
                        <a:t>OrderBy</a:t>
                      </a:r>
                      <a:r>
                        <a:rPr lang="en-IN" dirty="0">
                          <a:latin typeface="Calibri" panose="020F0502020204030204" pitchFamily="34" charset="0"/>
                          <a:ea typeface="Calibri" panose="020F0502020204030204" pitchFamily="34" charset="0"/>
                          <a:cs typeface="Calibri" panose="020F0502020204030204" pitchFamily="34" charset="0"/>
                        </a:rPr>
                        <a:t>() etc.).</a:t>
                      </a:r>
                    </a:p>
                  </a:txBody>
                  <a:tcPr anchor="ctr"/>
                </a:tc>
                <a:extLst>
                  <a:ext uri="{0D108BD9-81ED-4DB2-BD59-A6C34878D82A}">
                    <a16:rowId xmlns:a16="http://schemas.microsoft.com/office/drawing/2014/main" val="2744796014"/>
                  </a:ext>
                </a:extLst>
              </a:tr>
              <a:tr h="370840">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Performance</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Same as method syntax (both compiled to same IL code).</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Same as query syntax.</a:t>
                      </a:r>
                    </a:p>
                  </a:txBody>
                  <a:tcPr anchor="ctr"/>
                </a:tc>
                <a:extLst>
                  <a:ext uri="{0D108BD9-81ED-4DB2-BD59-A6C34878D82A}">
                    <a16:rowId xmlns:a16="http://schemas.microsoft.com/office/drawing/2014/main" val="881852944"/>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Example Output</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Both produce the same result.</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Both produce the same result.</a:t>
                      </a:r>
                    </a:p>
                  </a:txBody>
                  <a:tcPr anchor="ctr"/>
                </a:tc>
                <a:extLst>
                  <a:ext uri="{0D108BD9-81ED-4DB2-BD59-A6C34878D82A}">
                    <a16:rowId xmlns:a16="http://schemas.microsoft.com/office/drawing/2014/main" val="3645331074"/>
                  </a:ext>
                </a:extLst>
              </a:tr>
            </a:tbl>
          </a:graphicData>
        </a:graphic>
      </p:graphicFrame>
    </p:spTree>
    <p:extLst>
      <p:ext uri="{BB962C8B-B14F-4D97-AF65-F5344CB8AC3E}">
        <p14:creationId xmlns:p14="http://schemas.microsoft.com/office/powerpoint/2010/main" val="574656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8"/>
          <p:cNvSpPr txBox="1">
            <a:spLocks noGrp="1"/>
          </p:cNvSpPr>
          <p:nvPr>
            <p:ph type="ctrTitle"/>
          </p:nvPr>
        </p:nvSpPr>
        <p:spPr>
          <a:xfrm>
            <a:off x="1028700" y="1352554"/>
            <a:ext cx="7086600" cy="1368822"/>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lt1"/>
              </a:buClr>
              <a:buSzPts val="4500"/>
              <a:buFont typeface="Century Gothic"/>
              <a:buNone/>
            </a:pPr>
            <a:r>
              <a:rPr lang="en"/>
              <a:t>VARIABLLES, DATA TYPES</a:t>
            </a:r>
            <a:endParaRPr/>
          </a:p>
        </p:txBody>
      </p:sp>
      <p:sp>
        <p:nvSpPr>
          <p:cNvPr id="466" name="Google Shape;466;p78"/>
          <p:cNvSpPr txBox="1">
            <a:spLocks noGrp="1"/>
          </p:cNvSpPr>
          <p:nvPr>
            <p:ph type="subTitle" idx="1"/>
          </p:nvPr>
        </p:nvSpPr>
        <p:spPr>
          <a:xfrm>
            <a:off x="1028700" y="2724151"/>
            <a:ext cx="7086600" cy="51435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lt1"/>
              </a:buClr>
              <a:buSzPts val="1500"/>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79"/>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VARIABLES</a:t>
            </a:r>
            <a:endParaRPr/>
          </a:p>
        </p:txBody>
      </p:sp>
      <p:sp>
        <p:nvSpPr>
          <p:cNvPr id="472" name="Google Shape;472;p79"/>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lnSpcReduction="10000"/>
          </a:bodyPr>
          <a:lstStyle/>
          <a:p>
            <a:pPr marL="177800" lvl="0" indent="-184150" algn="l" rtl="0">
              <a:lnSpc>
                <a:spcPct val="90000"/>
              </a:lnSpc>
              <a:spcBef>
                <a:spcPts val="0"/>
              </a:spcBef>
              <a:spcAft>
                <a:spcPts val="0"/>
              </a:spcAft>
              <a:buClr>
                <a:schemeClr val="lt1"/>
              </a:buClr>
              <a:buSzPts val="1700"/>
              <a:buChar char="•"/>
            </a:pPr>
            <a:r>
              <a:rPr lang="en">
                <a:latin typeface="Calibri"/>
                <a:ea typeface="Calibri"/>
                <a:cs typeface="Calibri"/>
                <a:sym typeface="Calibri"/>
              </a:rPr>
              <a:t>Variables are containers for storing data values.</a:t>
            </a:r>
            <a:endParaRPr/>
          </a:p>
          <a:p>
            <a:pPr marL="177800" lvl="0" indent="-76200" algn="l" rtl="0">
              <a:lnSpc>
                <a:spcPct val="90000"/>
              </a:lnSpc>
              <a:spcBef>
                <a:spcPts val="800"/>
              </a:spcBef>
              <a:spcAft>
                <a:spcPts val="0"/>
              </a:spcAft>
              <a:buClr>
                <a:schemeClr val="lt1"/>
              </a:buClr>
              <a:buSzPts val="1700"/>
              <a:buNone/>
            </a:pPr>
            <a:endParaRPr>
              <a:latin typeface="Calibri"/>
              <a:ea typeface="Calibri"/>
              <a:cs typeface="Calibri"/>
              <a:sym typeface="Calibri"/>
            </a:endParaRPr>
          </a:p>
          <a:p>
            <a:pPr marL="0" lvl="0" indent="0" algn="l" rtl="0">
              <a:lnSpc>
                <a:spcPct val="100000"/>
              </a:lnSpc>
              <a:spcBef>
                <a:spcPts val="0"/>
              </a:spcBef>
              <a:spcAft>
                <a:spcPts val="0"/>
              </a:spcAft>
              <a:buClr>
                <a:schemeClr val="lt1"/>
              </a:buClr>
              <a:buSzPts val="1800"/>
              <a:buNone/>
            </a:pPr>
            <a:r>
              <a:rPr lang="en" sz="1800">
                <a:latin typeface="Calibri"/>
                <a:ea typeface="Calibri"/>
                <a:cs typeface="Calibri"/>
                <a:sym typeface="Calibri"/>
              </a:rPr>
              <a:t>In C#, there are different </a:t>
            </a:r>
            <a:r>
              <a:rPr lang="en" sz="1800" b="1">
                <a:latin typeface="Calibri"/>
                <a:ea typeface="Calibri"/>
                <a:cs typeface="Calibri"/>
                <a:sym typeface="Calibri"/>
              </a:rPr>
              <a:t>types</a:t>
            </a:r>
            <a:r>
              <a:rPr lang="en" sz="1800">
                <a:latin typeface="Calibri"/>
                <a:ea typeface="Calibri"/>
                <a:cs typeface="Calibri"/>
                <a:sym typeface="Calibri"/>
              </a:rPr>
              <a:t> of variables (defined with different keywords), for example:</a:t>
            </a:r>
            <a:endParaRPr sz="1500">
              <a:latin typeface="Calibri"/>
              <a:ea typeface="Calibri"/>
              <a:cs typeface="Calibri"/>
              <a:sym typeface="Calibri"/>
            </a:endParaRPr>
          </a:p>
          <a:p>
            <a:pPr marL="0" lvl="0" indent="-114300" algn="just" rtl="0">
              <a:lnSpc>
                <a:spcPct val="100000"/>
              </a:lnSpc>
              <a:spcBef>
                <a:spcPts val="0"/>
              </a:spcBef>
              <a:spcAft>
                <a:spcPts val="0"/>
              </a:spcAft>
              <a:buClr>
                <a:schemeClr val="accent1"/>
              </a:buClr>
              <a:buSzPts val="1800"/>
              <a:buFont typeface="Calibri"/>
              <a:buChar char="•"/>
            </a:pPr>
            <a:r>
              <a:rPr lang="en" sz="1800">
                <a:solidFill>
                  <a:schemeClr val="accent1"/>
                </a:solidFill>
                <a:latin typeface="Calibri"/>
                <a:ea typeface="Calibri"/>
                <a:cs typeface="Calibri"/>
                <a:sym typeface="Calibri"/>
              </a:rPr>
              <a:t>int</a:t>
            </a:r>
            <a:r>
              <a:rPr lang="en" sz="1800">
                <a:latin typeface="Calibri"/>
                <a:ea typeface="Calibri"/>
                <a:cs typeface="Calibri"/>
                <a:sym typeface="Calibri"/>
              </a:rPr>
              <a:t> - stores integers (whole numbers), without decimals, such as 123 or -123</a:t>
            </a:r>
            <a:endParaRPr/>
          </a:p>
          <a:p>
            <a:pPr marL="0" lvl="0" indent="-114300" algn="just" rtl="0">
              <a:lnSpc>
                <a:spcPct val="100000"/>
              </a:lnSpc>
              <a:spcBef>
                <a:spcPts val="0"/>
              </a:spcBef>
              <a:spcAft>
                <a:spcPts val="0"/>
              </a:spcAft>
              <a:buClr>
                <a:schemeClr val="accent1"/>
              </a:buClr>
              <a:buSzPts val="1800"/>
              <a:buFont typeface="Calibri"/>
              <a:buChar char="•"/>
            </a:pPr>
            <a:r>
              <a:rPr lang="en" sz="1800">
                <a:solidFill>
                  <a:schemeClr val="accent1"/>
                </a:solidFill>
                <a:latin typeface="Calibri"/>
                <a:ea typeface="Calibri"/>
                <a:cs typeface="Calibri"/>
                <a:sym typeface="Calibri"/>
              </a:rPr>
              <a:t>double</a:t>
            </a:r>
            <a:r>
              <a:rPr lang="en" sz="1800">
                <a:latin typeface="Calibri"/>
                <a:ea typeface="Calibri"/>
                <a:cs typeface="Calibri"/>
                <a:sym typeface="Calibri"/>
              </a:rPr>
              <a:t> - stores floating point numbers, with decimals, such as 19.99 or -19.99</a:t>
            </a:r>
            <a:endParaRPr/>
          </a:p>
          <a:p>
            <a:pPr marL="0" lvl="0" indent="-114300" algn="just" rtl="0">
              <a:lnSpc>
                <a:spcPct val="100000"/>
              </a:lnSpc>
              <a:spcBef>
                <a:spcPts val="0"/>
              </a:spcBef>
              <a:spcAft>
                <a:spcPts val="0"/>
              </a:spcAft>
              <a:buClr>
                <a:schemeClr val="accent1"/>
              </a:buClr>
              <a:buSzPts val="1800"/>
              <a:buFont typeface="Calibri"/>
              <a:buChar char="•"/>
            </a:pPr>
            <a:r>
              <a:rPr lang="en" sz="1800">
                <a:solidFill>
                  <a:schemeClr val="accent1"/>
                </a:solidFill>
                <a:latin typeface="Calibri"/>
                <a:ea typeface="Calibri"/>
                <a:cs typeface="Calibri"/>
                <a:sym typeface="Calibri"/>
              </a:rPr>
              <a:t>char</a:t>
            </a:r>
            <a:r>
              <a:rPr lang="en" sz="1800">
                <a:latin typeface="Calibri"/>
                <a:ea typeface="Calibri"/>
                <a:cs typeface="Calibri"/>
                <a:sym typeface="Calibri"/>
              </a:rPr>
              <a:t> - stores single characters, such as 'a' or 'B'. Char values are surrounded by single 	quotes</a:t>
            </a:r>
            <a:endParaRPr/>
          </a:p>
          <a:p>
            <a:pPr marL="0" lvl="0" indent="-114300" algn="just" rtl="0">
              <a:lnSpc>
                <a:spcPct val="100000"/>
              </a:lnSpc>
              <a:spcBef>
                <a:spcPts val="0"/>
              </a:spcBef>
              <a:spcAft>
                <a:spcPts val="0"/>
              </a:spcAft>
              <a:buClr>
                <a:schemeClr val="accent1"/>
              </a:buClr>
              <a:buSzPts val="1800"/>
              <a:buFont typeface="Calibri"/>
              <a:buChar char="•"/>
            </a:pPr>
            <a:r>
              <a:rPr lang="en" sz="1800">
                <a:solidFill>
                  <a:schemeClr val="accent1"/>
                </a:solidFill>
                <a:latin typeface="Calibri"/>
                <a:ea typeface="Calibri"/>
                <a:cs typeface="Calibri"/>
                <a:sym typeface="Calibri"/>
              </a:rPr>
              <a:t>string</a:t>
            </a:r>
            <a:r>
              <a:rPr lang="en" sz="1800">
                <a:latin typeface="Calibri"/>
                <a:ea typeface="Calibri"/>
                <a:cs typeface="Calibri"/>
                <a:sym typeface="Calibri"/>
              </a:rPr>
              <a:t> - stores text, such as "Hello World". String values are surrounded by double quotes</a:t>
            </a:r>
            <a:endParaRPr/>
          </a:p>
          <a:p>
            <a:pPr marL="0" lvl="0" indent="-114300" algn="just" rtl="0">
              <a:lnSpc>
                <a:spcPct val="100000"/>
              </a:lnSpc>
              <a:spcBef>
                <a:spcPts val="0"/>
              </a:spcBef>
              <a:spcAft>
                <a:spcPts val="0"/>
              </a:spcAft>
              <a:buClr>
                <a:schemeClr val="accent1"/>
              </a:buClr>
              <a:buSzPts val="1800"/>
              <a:buFont typeface="Calibri"/>
              <a:buChar char="•"/>
            </a:pPr>
            <a:r>
              <a:rPr lang="en" sz="1800">
                <a:solidFill>
                  <a:schemeClr val="accent1"/>
                </a:solidFill>
                <a:latin typeface="Calibri"/>
                <a:ea typeface="Calibri"/>
                <a:cs typeface="Calibri"/>
                <a:sym typeface="Calibri"/>
              </a:rPr>
              <a:t>bool</a:t>
            </a:r>
            <a:r>
              <a:rPr lang="en" sz="1800">
                <a:latin typeface="Calibri"/>
                <a:ea typeface="Calibri"/>
                <a:cs typeface="Calibri"/>
                <a:sym typeface="Calibri"/>
              </a:rPr>
              <a:t> - stores values with two states: true or false</a:t>
            </a:r>
            <a:endParaRPr/>
          </a:p>
          <a:p>
            <a:pPr marL="0" lvl="0" indent="0" algn="l" rtl="0">
              <a:lnSpc>
                <a:spcPct val="100000"/>
              </a:lnSpc>
              <a:spcBef>
                <a:spcPts val="0"/>
              </a:spcBef>
              <a:spcAft>
                <a:spcPts val="0"/>
              </a:spcAft>
              <a:buClr>
                <a:schemeClr val="lt1"/>
              </a:buClr>
              <a:buSzPts val="2700"/>
              <a:buNone/>
            </a:pPr>
            <a:endParaRPr sz="2700">
              <a:latin typeface="Calibri"/>
              <a:ea typeface="Calibri"/>
              <a:cs typeface="Calibri"/>
              <a:sym typeface="Calibri"/>
            </a:endParaRPr>
          </a:p>
          <a:p>
            <a:pPr marL="177800" lvl="0" indent="-76200" algn="l" rtl="0">
              <a:lnSpc>
                <a:spcPct val="90000"/>
              </a:lnSpc>
              <a:spcBef>
                <a:spcPts val="800"/>
              </a:spcBef>
              <a:spcAft>
                <a:spcPts val="0"/>
              </a:spcAft>
              <a:buClr>
                <a:schemeClr val="lt1"/>
              </a:buClr>
              <a:buSzPts val="1700"/>
              <a:buNone/>
            </a:pPr>
            <a:endParaRPr>
              <a:latin typeface="Calibri"/>
              <a:ea typeface="Calibri"/>
              <a:cs typeface="Calibri"/>
              <a:sym typeface="Calibri"/>
            </a:endParaRPr>
          </a:p>
        </p:txBody>
      </p:sp>
      <p:sp>
        <p:nvSpPr>
          <p:cNvPr id="473" name="Google Shape;473;p79"/>
          <p:cNvSpPr/>
          <p:nvPr/>
        </p:nvSpPr>
        <p:spPr>
          <a:xfrm>
            <a:off x="0" y="32951"/>
            <a:ext cx="138548" cy="276999"/>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lt1"/>
              </a:buClr>
              <a:buSzPts val="1400"/>
              <a:buFont typeface="Century Gothic"/>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80"/>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DATA TYPES</a:t>
            </a:r>
            <a:endParaRPr/>
          </a:p>
        </p:txBody>
      </p:sp>
      <p:sp>
        <p:nvSpPr>
          <p:cNvPr id="479" name="Google Shape;479;p80"/>
          <p:cNvSpPr txBox="1">
            <a:spLocks noGrp="1"/>
          </p:cNvSpPr>
          <p:nvPr>
            <p:ph type="body" idx="1"/>
          </p:nvPr>
        </p:nvSpPr>
        <p:spPr>
          <a:xfrm>
            <a:off x="514350" y="1645920"/>
            <a:ext cx="8115300" cy="3417570"/>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lt1"/>
              </a:buClr>
              <a:buSzPts val="1500"/>
              <a:buChar char="•"/>
            </a:pPr>
            <a:r>
              <a:rPr lang="en" sz="1500" b="1">
                <a:latin typeface="Calibri"/>
                <a:ea typeface="Calibri"/>
                <a:cs typeface="Calibri"/>
                <a:sym typeface="Calibri"/>
              </a:rPr>
              <a:t>Data types</a:t>
            </a:r>
            <a:r>
              <a:rPr lang="en" sz="1500">
                <a:latin typeface="Calibri"/>
                <a:ea typeface="Calibri"/>
                <a:cs typeface="Calibri"/>
                <a:sym typeface="Calibri"/>
              </a:rPr>
              <a:t> define the </a:t>
            </a:r>
            <a:r>
              <a:rPr lang="en" sz="1500" b="1">
                <a:latin typeface="Calibri"/>
                <a:ea typeface="Calibri"/>
                <a:cs typeface="Calibri"/>
                <a:sym typeface="Calibri"/>
              </a:rPr>
              <a:t>type of data</a:t>
            </a:r>
            <a:r>
              <a:rPr lang="en" sz="1500">
                <a:latin typeface="Calibri"/>
                <a:ea typeface="Calibri"/>
                <a:cs typeface="Calibri"/>
                <a:sym typeface="Calibri"/>
              </a:rPr>
              <a:t> a variable can store — like numbers, text, or true/false values.</a:t>
            </a:r>
            <a:endParaRPr sz="1500">
              <a:latin typeface="Calibri"/>
              <a:ea typeface="Calibri"/>
              <a:cs typeface="Calibri"/>
              <a:sym typeface="Calibri"/>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Value Types.</a:t>
            </a:r>
            <a:endParaRPr/>
          </a:p>
          <a:p>
            <a:pPr marL="520700" lvl="1" indent="-171450" algn="l" rtl="0">
              <a:lnSpc>
                <a:spcPct val="90000"/>
              </a:lnSpc>
              <a:spcBef>
                <a:spcPts val="400"/>
              </a:spcBef>
              <a:spcAft>
                <a:spcPts val="0"/>
              </a:spcAft>
              <a:buClr>
                <a:schemeClr val="lt1"/>
              </a:buClr>
              <a:buSzPts val="1500"/>
              <a:buChar char="•"/>
            </a:pPr>
            <a:r>
              <a:rPr lang="en">
                <a:latin typeface="Calibri"/>
                <a:ea typeface="Calibri"/>
                <a:cs typeface="Calibri"/>
                <a:sym typeface="Calibri"/>
              </a:rPr>
              <a:t>Reference Types.</a:t>
            </a:r>
            <a:endParaRPr/>
          </a:p>
          <a:p>
            <a:pPr marL="342900" lvl="1" indent="0" algn="l" rtl="0">
              <a:lnSpc>
                <a:spcPct val="90000"/>
              </a:lnSpc>
              <a:spcBef>
                <a:spcPts val="400"/>
              </a:spcBef>
              <a:spcAft>
                <a:spcPts val="0"/>
              </a:spcAft>
              <a:buClr>
                <a:schemeClr val="lt1"/>
              </a:buClr>
              <a:buSzPts val="1500"/>
              <a:buNone/>
            </a:pPr>
            <a:endParaRPr>
              <a:latin typeface="Calibri"/>
              <a:ea typeface="Calibri"/>
              <a:cs typeface="Calibri"/>
              <a:sym typeface="Calibri"/>
            </a:endParaRPr>
          </a:p>
          <a:p>
            <a:pPr marL="342900" lvl="1" indent="0" algn="l" rtl="0">
              <a:lnSpc>
                <a:spcPct val="90000"/>
              </a:lnSpc>
              <a:spcBef>
                <a:spcPts val="400"/>
              </a:spcBef>
              <a:spcAft>
                <a:spcPts val="0"/>
              </a:spcAft>
              <a:buClr>
                <a:schemeClr val="lt1"/>
              </a:buClr>
              <a:buSzPts val="1500"/>
              <a:buNone/>
            </a:pPr>
            <a:r>
              <a:rPr lang="en">
                <a:latin typeface="Calibri"/>
                <a:ea typeface="Calibri"/>
                <a:cs typeface="Calibri"/>
                <a:sym typeface="Calibri"/>
              </a:rPr>
              <a:t>Value Data Types.</a:t>
            </a:r>
            <a:endParaRPr/>
          </a:p>
          <a:p>
            <a:pPr marL="863600" lvl="2"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Value types store the actual data directly in memory (stack).</a:t>
            </a:r>
            <a:endParaRPr/>
          </a:p>
          <a:p>
            <a:pPr marL="863600" lvl="2"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Every variable has its own copy of the data.</a:t>
            </a:r>
            <a:endParaRPr/>
          </a:p>
          <a:p>
            <a:pPr marL="863600" lvl="2"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Examples: numbers, characters, booleans.</a:t>
            </a:r>
            <a:endParaRPr/>
          </a:p>
          <a:p>
            <a:pPr marL="685800" lvl="2" indent="0" algn="l" rtl="0">
              <a:lnSpc>
                <a:spcPct val="90000"/>
              </a:lnSpc>
              <a:spcBef>
                <a:spcPts val="400"/>
              </a:spcBef>
              <a:spcAft>
                <a:spcPts val="0"/>
              </a:spcAft>
              <a:buClr>
                <a:schemeClr val="lt1"/>
              </a:buClr>
              <a:buSzPts val="1500"/>
              <a:buNone/>
            </a:pPr>
            <a:endParaRPr sz="1500">
              <a:latin typeface="Calibri"/>
              <a:ea typeface="Calibri"/>
              <a:cs typeface="Calibri"/>
              <a:sym typeface="Calibri"/>
            </a:endParaRPr>
          </a:p>
          <a:p>
            <a:pPr marL="342900" lvl="1" indent="0" algn="l" rtl="0">
              <a:lnSpc>
                <a:spcPct val="90000"/>
              </a:lnSpc>
              <a:spcBef>
                <a:spcPts val="400"/>
              </a:spcBef>
              <a:spcAft>
                <a:spcPts val="0"/>
              </a:spcAft>
              <a:buClr>
                <a:schemeClr val="lt1"/>
              </a:buClr>
              <a:buSzPts val="1500"/>
              <a:buNone/>
            </a:pPr>
            <a:r>
              <a:rPr lang="en">
                <a:latin typeface="Calibri"/>
                <a:ea typeface="Calibri"/>
                <a:cs typeface="Calibri"/>
                <a:sym typeface="Calibri"/>
              </a:rPr>
              <a:t>Key properties:</a:t>
            </a:r>
            <a:endParaRPr/>
          </a:p>
          <a:p>
            <a:pPr marL="863600" lvl="2"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Stored in stack memory.</a:t>
            </a:r>
            <a:endParaRPr/>
          </a:p>
          <a:p>
            <a:pPr marL="863600" lvl="2"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Faster access than reference types.</a:t>
            </a:r>
            <a:endParaRPr/>
          </a:p>
          <a:p>
            <a:pPr marL="863600" lvl="2" indent="-171450" algn="l" rtl="0">
              <a:lnSpc>
                <a:spcPct val="90000"/>
              </a:lnSpc>
              <a:spcBef>
                <a:spcPts val="400"/>
              </a:spcBef>
              <a:spcAft>
                <a:spcPts val="0"/>
              </a:spcAft>
              <a:buClr>
                <a:schemeClr val="lt1"/>
              </a:buClr>
              <a:buSzPts val="1500"/>
              <a:buChar char="•"/>
            </a:pPr>
            <a:r>
              <a:rPr lang="en" sz="1500">
                <a:latin typeface="Calibri"/>
                <a:ea typeface="Calibri"/>
                <a:cs typeface="Calibri"/>
                <a:sym typeface="Calibri"/>
              </a:rPr>
              <a:t>Cannot be null (unless made nullable using ?).</a:t>
            </a:r>
            <a:endParaRPr/>
          </a:p>
          <a:p>
            <a:pPr marL="342900" lvl="1" indent="0" algn="l" rtl="0">
              <a:lnSpc>
                <a:spcPct val="90000"/>
              </a:lnSpc>
              <a:spcBef>
                <a:spcPts val="400"/>
              </a:spcBef>
              <a:spcAft>
                <a:spcPts val="0"/>
              </a:spcAft>
              <a:buClr>
                <a:schemeClr val="lt1"/>
              </a:buClr>
              <a:buSzPts val="1500"/>
              <a:buNone/>
            </a:pPr>
            <a:endParaRPr>
              <a:latin typeface="Calibri"/>
              <a:ea typeface="Calibri"/>
              <a:cs typeface="Calibri"/>
              <a:sym typeface="Calibri"/>
            </a:endParaRPr>
          </a:p>
          <a:p>
            <a:pPr marL="342900" lvl="1" indent="0" algn="l" rtl="0">
              <a:lnSpc>
                <a:spcPct val="90000"/>
              </a:lnSpc>
              <a:spcBef>
                <a:spcPts val="400"/>
              </a:spcBef>
              <a:spcAft>
                <a:spcPts val="0"/>
              </a:spcAft>
              <a:buClr>
                <a:schemeClr val="lt1"/>
              </a:buClr>
              <a:buSzPts val="1500"/>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81"/>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graphicFrame>
        <p:nvGraphicFramePr>
          <p:cNvPr id="485" name="Google Shape;485;p81"/>
          <p:cNvGraphicFramePr/>
          <p:nvPr/>
        </p:nvGraphicFramePr>
        <p:xfrm>
          <a:off x="514350" y="1645443"/>
          <a:ext cx="3000000" cy="3000000"/>
        </p:xfrm>
        <a:graphic>
          <a:graphicData uri="http://schemas.openxmlformats.org/drawingml/2006/table">
            <a:tbl>
              <a:tblPr firstRow="1" bandRow="1">
                <a:noFill/>
                <a:tableStyleId>{AE08A2B5-FEC1-4821-B64D-F3B82E1F7B7F}</a:tableStyleId>
              </a:tblPr>
              <a:tblGrid>
                <a:gridCol w="2028825">
                  <a:extLst>
                    <a:ext uri="{9D8B030D-6E8A-4147-A177-3AD203B41FA5}">
                      <a16:colId xmlns:a16="http://schemas.microsoft.com/office/drawing/2014/main" val="20000"/>
                    </a:ext>
                  </a:extLst>
                </a:gridCol>
                <a:gridCol w="2028825">
                  <a:extLst>
                    <a:ext uri="{9D8B030D-6E8A-4147-A177-3AD203B41FA5}">
                      <a16:colId xmlns:a16="http://schemas.microsoft.com/office/drawing/2014/main" val="20001"/>
                    </a:ext>
                  </a:extLst>
                </a:gridCol>
                <a:gridCol w="2028825">
                  <a:extLst>
                    <a:ext uri="{9D8B030D-6E8A-4147-A177-3AD203B41FA5}">
                      <a16:colId xmlns:a16="http://schemas.microsoft.com/office/drawing/2014/main" val="20002"/>
                    </a:ext>
                  </a:extLst>
                </a:gridCol>
                <a:gridCol w="2028825">
                  <a:extLst>
                    <a:ext uri="{9D8B030D-6E8A-4147-A177-3AD203B41FA5}">
                      <a16:colId xmlns:a16="http://schemas.microsoft.com/office/drawing/2014/main" val="20003"/>
                    </a:ext>
                  </a:extLst>
                </a:gridCol>
              </a:tblGrid>
              <a:tr h="3804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Data Type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Description</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Example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Size</a:t>
                      </a:r>
                      <a:endParaRPr sz="1100"/>
                    </a:p>
                  </a:txBody>
                  <a:tcPr marL="68600" marR="68600" marT="34300" marB="34300" anchor="ctr"/>
                </a:tc>
                <a:extLst>
                  <a:ext uri="{0D108BD9-81ED-4DB2-BD59-A6C34878D82A}">
                    <a16:rowId xmlns:a16="http://schemas.microsoft.com/office/drawing/2014/main" val="10000"/>
                  </a:ext>
                </a:extLst>
              </a:tr>
              <a:tr h="3804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int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Whole numbers</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10</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4 bytes</a:t>
                      </a:r>
                      <a:endParaRPr sz="1100"/>
                    </a:p>
                  </a:txBody>
                  <a:tcPr marL="68600" marR="68600" marT="34300" marB="34300" anchor="ctr"/>
                </a:tc>
                <a:extLst>
                  <a:ext uri="{0D108BD9-81ED-4DB2-BD59-A6C34878D82A}">
                    <a16:rowId xmlns:a16="http://schemas.microsoft.com/office/drawing/2014/main" val="10001"/>
                  </a:ext>
                </a:extLst>
              </a:tr>
              <a:tr h="6566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float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Decimal numbers (less precision)</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3.14f</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4 bytes</a:t>
                      </a:r>
                      <a:endParaRPr sz="1100"/>
                    </a:p>
                  </a:txBody>
                  <a:tcPr marL="68600" marR="68600" marT="34300" marB="34300" anchor="ctr"/>
                </a:tc>
                <a:extLst>
                  <a:ext uri="{0D108BD9-81ED-4DB2-BD59-A6C34878D82A}">
                    <a16:rowId xmlns:a16="http://schemas.microsoft.com/office/drawing/2014/main" val="10002"/>
                  </a:ext>
                </a:extLst>
              </a:tr>
              <a:tr h="6566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double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Decimal numbers (more precision)</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3.14159</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8 bytes</a:t>
                      </a:r>
                      <a:endParaRPr sz="1100"/>
                    </a:p>
                  </a:txBody>
                  <a:tcPr marL="68600" marR="68600" marT="34300" marB="34300" anchor="ctr"/>
                </a:tc>
                <a:extLst>
                  <a:ext uri="{0D108BD9-81ED-4DB2-BD59-A6C34878D82A}">
                    <a16:rowId xmlns:a16="http://schemas.microsoft.com/office/drawing/2014/main" val="10003"/>
                  </a:ext>
                </a:extLst>
              </a:tr>
              <a:tr h="3804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char</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Single character</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2 bytes</a:t>
                      </a:r>
                      <a:endParaRPr sz="1100"/>
                    </a:p>
                  </a:txBody>
                  <a:tcPr marL="68600" marR="68600" marT="34300" marB="34300" anchor="ctr"/>
                </a:tc>
                <a:extLst>
                  <a:ext uri="{0D108BD9-81ED-4DB2-BD59-A6C34878D82A}">
                    <a16:rowId xmlns:a16="http://schemas.microsoft.com/office/drawing/2014/main" val="10004"/>
                  </a:ext>
                </a:extLst>
              </a:tr>
              <a:tr h="3804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bool</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True or False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true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1 bit</a:t>
                      </a:r>
                      <a:endParaRPr sz="1100"/>
                    </a:p>
                  </a:txBody>
                  <a:tcPr marL="68600" marR="68600" marT="34300" marB="3430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82"/>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REFERENCE DATA TYPES</a:t>
            </a:r>
            <a:br>
              <a:rPr lang="en"/>
            </a:br>
            <a:endParaRPr/>
          </a:p>
        </p:txBody>
      </p:sp>
      <p:sp>
        <p:nvSpPr>
          <p:cNvPr id="491" name="Google Shape;491;p82"/>
          <p:cNvSpPr txBox="1">
            <a:spLocks noGrp="1"/>
          </p:cNvSpPr>
          <p:nvPr>
            <p:ph type="body" idx="1"/>
          </p:nvPr>
        </p:nvSpPr>
        <p:spPr>
          <a:xfrm>
            <a:off x="514350" y="1645920"/>
            <a:ext cx="8115300" cy="3018094"/>
          </a:xfrm>
          <a:prstGeom prst="rect">
            <a:avLst/>
          </a:prstGeom>
          <a:noFill/>
          <a:ln>
            <a:noFill/>
          </a:ln>
        </p:spPr>
        <p:txBody>
          <a:bodyPr spcFirstLastPara="1" wrap="square" lIns="68575" tIns="34275" rIns="68575" bIns="34275" anchor="t" anchorCtr="0">
            <a:normAutofit/>
          </a:bodyPr>
          <a:lstStyle/>
          <a:p>
            <a:pPr marL="520700" lvl="1" indent="-171450" algn="l" rtl="0">
              <a:lnSpc>
                <a:spcPct val="100000"/>
              </a:lnSpc>
              <a:spcBef>
                <a:spcPts val="0"/>
              </a:spcBef>
              <a:spcAft>
                <a:spcPts val="0"/>
              </a:spcAft>
              <a:buClr>
                <a:schemeClr val="lt1"/>
              </a:buClr>
              <a:buSzPts val="1500"/>
              <a:buChar char="•"/>
            </a:pPr>
            <a:r>
              <a:rPr lang="en" b="1">
                <a:latin typeface="Calibri"/>
                <a:ea typeface="Calibri"/>
                <a:cs typeface="Calibri"/>
                <a:sym typeface="Calibri"/>
              </a:rPr>
              <a:t>It store a reference (address) to the actual data</a:t>
            </a:r>
            <a:r>
              <a:rPr lang="en">
                <a:latin typeface="Calibri"/>
                <a:ea typeface="Calibri"/>
                <a:cs typeface="Calibri"/>
                <a:sym typeface="Calibri"/>
              </a:rPr>
              <a:t> in memory (heap), not the data itself.</a:t>
            </a:r>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 Multiple variables can reference the same object.</a:t>
            </a:r>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 Accessing or modifying the object affects all references.</a:t>
            </a:r>
            <a:endParaRPr/>
          </a:p>
          <a:p>
            <a:pPr marL="0" lvl="0" indent="0" algn="l" rtl="0">
              <a:lnSpc>
                <a:spcPct val="100000"/>
              </a:lnSpc>
              <a:spcBef>
                <a:spcPts val="0"/>
              </a:spcBef>
              <a:spcAft>
                <a:spcPts val="0"/>
              </a:spcAft>
              <a:buClr>
                <a:schemeClr val="lt1"/>
              </a:buClr>
              <a:buSzPts val="1500"/>
              <a:buNone/>
            </a:pPr>
            <a:r>
              <a:rPr lang="en" sz="1500" b="1">
                <a:latin typeface="Calibri"/>
                <a:ea typeface="Calibri"/>
                <a:cs typeface="Calibri"/>
                <a:sym typeface="Calibri"/>
              </a:rPr>
              <a:t>Key properties:</a:t>
            </a:r>
            <a:endParaRPr sz="1500">
              <a:latin typeface="Calibri"/>
              <a:ea typeface="Calibri"/>
              <a:cs typeface="Calibri"/>
              <a:sym typeface="Calibri"/>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Stored in </a:t>
            </a:r>
            <a:r>
              <a:rPr lang="en" b="1">
                <a:latin typeface="Calibri"/>
                <a:ea typeface="Calibri"/>
                <a:cs typeface="Calibri"/>
                <a:sym typeface="Calibri"/>
              </a:rPr>
              <a:t>heap memory</a:t>
            </a:r>
            <a:r>
              <a:rPr lang="en">
                <a:latin typeface="Calibri"/>
                <a:ea typeface="Calibri"/>
                <a:cs typeface="Calibri"/>
                <a:sym typeface="Calibri"/>
              </a:rPr>
              <a:t> (data) with a reference stored in the </a:t>
            </a:r>
            <a:r>
              <a:rPr lang="en" b="1">
                <a:latin typeface="Calibri"/>
                <a:ea typeface="Calibri"/>
                <a:cs typeface="Calibri"/>
                <a:sym typeface="Calibri"/>
              </a:rPr>
              <a:t>stack</a:t>
            </a:r>
            <a:r>
              <a:rPr lang="en">
                <a:latin typeface="Calibri"/>
                <a:ea typeface="Calibri"/>
                <a:cs typeface="Calibri"/>
                <a:sym typeface="Calibri"/>
              </a:rPr>
              <a:t>.</a:t>
            </a:r>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Can be null.</a:t>
            </a:r>
            <a:endParaRPr/>
          </a:p>
          <a:p>
            <a:pPr marL="342900" lvl="1" indent="-95250" algn="l" rtl="0">
              <a:lnSpc>
                <a:spcPct val="100000"/>
              </a:lnSpc>
              <a:spcBef>
                <a:spcPts val="0"/>
              </a:spcBef>
              <a:spcAft>
                <a:spcPts val="0"/>
              </a:spcAft>
              <a:buClr>
                <a:schemeClr val="lt1"/>
              </a:buClr>
              <a:buSzPts val="1500"/>
              <a:buFont typeface="Calibri"/>
              <a:buChar char="•"/>
            </a:pPr>
            <a:r>
              <a:rPr lang="en">
                <a:latin typeface="Calibri"/>
                <a:ea typeface="Calibri"/>
                <a:cs typeface="Calibri"/>
                <a:sym typeface="Calibri"/>
              </a:rPr>
              <a:t>Slower than value types due to heap allocation.</a:t>
            </a:r>
            <a:endParaRPr/>
          </a:p>
          <a:p>
            <a:pPr marL="0" lvl="0" indent="0" algn="l" rtl="0">
              <a:lnSpc>
                <a:spcPct val="100000"/>
              </a:lnSpc>
              <a:spcBef>
                <a:spcPts val="0"/>
              </a:spcBef>
              <a:spcAft>
                <a:spcPts val="0"/>
              </a:spcAft>
              <a:buClr>
                <a:schemeClr val="lt1"/>
              </a:buClr>
              <a:buSzPts val="1500"/>
              <a:buNone/>
            </a:pPr>
            <a:endParaRPr sz="1500">
              <a:latin typeface="Calibri"/>
              <a:ea typeface="Calibri"/>
              <a:cs typeface="Calibri"/>
              <a:sym typeface="Calibri"/>
            </a:endParaRPr>
          </a:p>
          <a:p>
            <a:pPr marL="177800" lvl="0" indent="-76200" algn="l" rtl="0">
              <a:lnSpc>
                <a:spcPct val="90000"/>
              </a:lnSpc>
              <a:spcBef>
                <a:spcPts val="800"/>
              </a:spcBef>
              <a:spcAft>
                <a:spcPts val="0"/>
              </a:spcAft>
              <a:buClr>
                <a:schemeClr val="lt1"/>
              </a:buClr>
              <a:buSzPts val="1500"/>
              <a:buNone/>
            </a:pPr>
            <a:endParaRPr sz="1500">
              <a:latin typeface="Calibri"/>
              <a:ea typeface="Calibri"/>
              <a:cs typeface="Calibri"/>
              <a:sym typeface="Calibri"/>
            </a:endParaRPr>
          </a:p>
        </p:txBody>
      </p:sp>
      <p:graphicFrame>
        <p:nvGraphicFramePr>
          <p:cNvPr id="492" name="Google Shape;492;p82"/>
          <p:cNvGraphicFramePr/>
          <p:nvPr/>
        </p:nvGraphicFramePr>
        <p:xfrm>
          <a:off x="514350" y="3702843"/>
          <a:ext cx="3000000" cy="3000000"/>
        </p:xfrm>
        <a:graphic>
          <a:graphicData uri="http://schemas.openxmlformats.org/drawingml/2006/table">
            <a:tbl>
              <a:tblPr firstRow="1" bandRow="1">
                <a:noFill/>
                <a:tableStyleId>{AE08A2B5-FEC1-4821-B64D-F3B82E1F7B7F}</a:tableStyleId>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3401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Data Type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Description</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Example</a:t>
                      </a:r>
                      <a:endParaRPr sz="1100"/>
                    </a:p>
                  </a:txBody>
                  <a:tcPr marL="68600" marR="68600" marT="34300" marB="34300" anchor="ctr"/>
                </a:tc>
                <a:extLst>
                  <a:ext uri="{0D108BD9-81ED-4DB2-BD59-A6C34878D82A}">
                    <a16:rowId xmlns:a16="http://schemas.microsoft.com/office/drawing/2014/main" val="10000"/>
                  </a:ext>
                </a:extLst>
              </a:tr>
              <a:tr h="3401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string</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Sequence of characters</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"Hello World"</a:t>
                      </a:r>
                      <a:endParaRPr sz="1100"/>
                    </a:p>
                  </a:txBody>
                  <a:tcPr marL="68600" marR="68600" marT="34300" marB="34300" anchor="ctr"/>
                </a:tc>
                <a:extLst>
                  <a:ext uri="{0D108BD9-81ED-4DB2-BD59-A6C34878D82A}">
                    <a16:rowId xmlns:a16="http://schemas.microsoft.com/office/drawing/2014/main" val="10001"/>
                  </a:ext>
                </a:extLst>
              </a:tr>
              <a:tr h="3401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object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Can hold any type of data</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object x = 10;</a:t>
                      </a:r>
                      <a:endParaRPr sz="1100"/>
                    </a:p>
                  </a:txBody>
                  <a:tcPr marL="68600" marR="68600" marT="34300" marB="34300" anchor="ctr"/>
                </a:tc>
                <a:extLst>
                  <a:ext uri="{0D108BD9-81ED-4DB2-BD59-A6C34878D82A}">
                    <a16:rowId xmlns:a16="http://schemas.microsoft.com/office/drawing/2014/main" val="10002"/>
                  </a:ext>
                </a:extLst>
              </a:tr>
              <a:tr h="340150">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array</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Collection of same data type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int[] nums = {1, 2, 3};</a:t>
                      </a:r>
                      <a:endParaRPr sz="1100"/>
                    </a:p>
                  </a:txBody>
                  <a:tcPr marL="68600" marR="68600" marT="34300" marB="3430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83"/>
          <p:cNvSpPr txBox="1">
            <a:spLocks noGrp="1"/>
          </p:cNvSpPr>
          <p:nvPr>
            <p:ph type="title"/>
          </p:nvPr>
        </p:nvSpPr>
        <p:spPr>
          <a:xfrm>
            <a:off x="2023110" y="573280"/>
            <a:ext cx="660654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KEY DIFFERENCES BETWEEN VALUE AND REFERENCE TYPES</a:t>
            </a:r>
            <a:endParaRPr/>
          </a:p>
        </p:txBody>
      </p:sp>
      <p:graphicFrame>
        <p:nvGraphicFramePr>
          <p:cNvPr id="498" name="Google Shape;498;p83"/>
          <p:cNvGraphicFramePr/>
          <p:nvPr/>
        </p:nvGraphicFramePr>
        <p:xfrm>
          <a:off x="514350" y="1965484"/>
          <a:ext cx="3000000" cy="3000000"/>
        </p:xfrm>
        <a:graphic>
          <a:graphicData uri="http://schemas.openxmlformats.org/drawingml/2006/table">
            <a:tbl>
              <a:tblPr firstRow="1" bandRow="1">
                <a:noFill/>
                <a:tableStyleId>{AE08A2B5-FEC1-4821-B64D-F3B82E1F7B7F}</a:tableStyleId>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278125">
                <a:tc>
                  <a:txBody>
                    <a:bodyPr/>
                    <a:lstStyle/>
                    <a:p>
                      <a:pPr marL="0" marR="0" lvl="0" indent="0" algn="l" rtl="0">
                        <a:spcBef>
                          <a:spcPts val="0"/>
                        </a:spcBef>
                        <a:spcAft>
                          <a:spcPts val="0"/>
                        </a:spcAft>
                        <a:buClr>
                          <a:schemeClr val="lt1"/>
                        </a:buClr>
                        <a:buSzPts val="1400"/>
                        <a:buFont typeface="Century Gothic"/>
                        <a:buNone/>
                      </a:pPr>
                      <a:r>
                        <a:rPr lang="en" sz="1400" u="none" strike="noStrike" cap="none"/>
                        <a:t>Feature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Value Type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Reference Type</a:t>
                      </a:r>
                      <a:endParaRPr sz="1100"/>
                    </a:p>
                  </a:txBody>
                  <a:tcPr marL="68600" marR="68600" marT="34300" marB="34300" anchor="ctr"/>
                </a:tc>
                <a:extLst>
                  <a:ext uri="{0D108BD9-81ED-4DB2-BD59-A6C34878D82A}">
                    <a16:rowId xmlns:a16="http://schemas.microsoft.com/office/drawing/2014/main" val="10000"/>
                  </a:ext>
                </a:extLst>
              </a:tr>
              <a:tr h="278125">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Memory</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Stack</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Heap</a:t>
                      </a:r>
                      <a:endParaRPr sz="1100"/>
                    </a:p>
                  </a:txBody>
                  <a:tcPr marL="68600" marR="68600" marT="34300" marB="34300" anchor="ctr"/>
                </a:tc>
                <a:extLst>
                  <a:ext uri="{0D108BD9-81ED-4DB2-BD59-A6C34878D82A}">
                    <a16:rowId xmlns:a16="http://schemas.microsoft.com/office/drawing/2014/main" val="10001"/>
                  </a:ext>
                </a:extLst>
              </a:tr>
              <a:tr h="278125">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Stores</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Actual data</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Reference (address)</a:t>
                      </a:r>
                      <a:endParaRPr sz="1100"/>
                    </a:p>
                  </a:txBody>
                  <a:tcPr marL="68600" marR="68600" marT="34300" marB="34300" anchor="ctr"/>
                </a:tc>
                <a:extLst>
                  <a:ext uri="{0D108BD9-81ED-4DB2-BD59-A6C34878D82A}">
                    <a16:rowId xmlns:a16="http://schemas.microsoft.com/office/drawing/2014/main" val="10002"/>
                  </a:ext>
                </a:extLst>
              </a:tr>
              <a:tr h="278125">
                <a:tc>
                  <a:txBody>
                    <a:bodyPr/>
                    <a:lstStyle/>
                    <a:p>
                      <a:pPr marL="0" marR="0" lvl="0" indent="0" algn="l" rtl="0">
                        <a:spcBef>
                          <a:spcPts val="0"/>
                        </a:spcBef>
                        <a:spcAft>
                          <a:spcPts val="0"/>
                        </a:spcAft>
                        <a:buClr>
                          <a:schemeClr val="lt1"/>
                        </a:buClr>
                        <a:buSzPts val="1400"/>
                        <a:buFont typeface="Century Gothic"/>
                        <a:buNone/>
                      </a:pPr>
                      <a:r>
                        <a:rPr lang="en" sz="1400" u="none" strike="noStrike" cap="none"/>
                        <a:t>Null</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Cannot be null (unless nullable)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Can be null</a:t>
                      </a:r>
                      <a:endParaRPr sz="1100"/>
                    </a:p>
                  </a:txBody>
                  <a:tcPr marL="68600" marR="68600" marT="34300" marB="34300" anchor="ctr"/>
                </a:tc>
                <a:extLst>
                  <a:ext uri="{0D108BD9-81ED-4DB2-BD59-A6C34878D82A}">
                    <a16:rowId xmlns:a16="http://schemas.microsoft.com/office/drawing/2014/main" val="10003"/>
                  </a:ext>
                </a:extLst>
              </a:tr>
              <a:tr h="278125">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Copying</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Copies value</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Copies reference (both point to same object)</a:t>
                      </a:r>
                      <a:endParaRPr sz="1100"/>
                    </a:p>
                  </a:txBody>
                  <a:tcPr marL="68600" marR="68600" marT="34300" marB="3430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4"/>
          <p:cNvSpPr txBox="1">
            <a:spLocks noGrp="1"/>
          </p:cNvSpPr>
          <p:nvPr>
            <p:ph type="title"/>
          </p:nvPr>
        </p:nvSpPr>
        <p:spPr>
          <a:xfrm>
            <a:off x="2103120" y="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r>
              <a:rPr lang="en"/>
              <a:t>OPERATORS</a:t>
            </a:r>
            <a:endParaRPr/>
          </a:p>
        </p:txBody>
      </p:sp>
      <p:graphicFrame>
        <p:nvGraphicFramePr>
          <p:cNvPr id="504" name="Google Shape;504;p84"/>
          <p:cNvGraphicFramePr/>
          <p:nvPr/>
        </p:nvGraphicFramePr>
        <p:xfrm>
          <a:off x="697230" y="856774"/>
          <a:ext cx="3000000" cy="3000000"/>
        </p:xfrm>
        <a:graphic>
          <a:graphicData uri="http://schemas.openxmlformats.org/drawingml/2006/table">
            <a:tbl>
              <a:tblPr firstRow="1" bandRow="1">
                <a:noFill/>
                <a:tableStyleId>{AE08A2B5-FEC1-4821-B64D-F3B82E1F7B7F}</a:tableStyleId>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2228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Category</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Operator</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Description / Example</a:t>
                      </a:r>
                      <a:endParaRPr sz="1400" u="none" strike="noStrike" cap="none"/>
                    </a:p>
                  </a:txBody>
                  <a:tcPr marL="68600" marR="68600" marT="34300" marB="34300" anchor="ctr"/>
                </a:tc>
                <a:extLst>
                  <a:ext uri="{0D108BD9-81ED-4DB2-BD59-A6C34878D82A}">
                    <a16:rowId xmlns:a16="http://schemas.microsoft.com/office/drawing/2014/main" val="10000"/>
                  </a:ext>
                </a:extLst>
              </a:tr>
              <a:tr h="2228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Arithmetic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Addition. 5 + 3 = 8</a:t>
                      </a:r>
                      <a:endParaRPr sz="1100"/>
                    </a:p>
                  </a:txBody>
                  <a:tcPr marL="68600" marR="68600" marT="34300" marB="34300" anchor="ctr"/>
                </a:tc>
                <a:extLst>
                  <a:ext uri="{0D108BD9-81ED-4DB2-BD59-A6C34878D82A}">
                    <a16:rowId xmlns:a16="http://schemas.microsoft.com/office/drawing/2014/main" val="10001"/>
                  </a:ext>
                </a:extLst>
              </a:tr>
              <a:tr h="2228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Subtraction. 5 - 3 = 2</a:t>
                      </a:r>
                      <a:endParaRPr sz="1100"/>
                    </a:p>
                  </a:txBody>
                  <a:tcPr marL="68600" marR="68600" marT="34300" marB="34300" anchor="ctr"/>
                </a:tc>
                <a:extLst>
                  <a:ext uri="{0D108BD9-81ED-4DB2-BD59-A6C34878D82A}">
                    <a16:rowId xmlns:a16="http://schemas.microsoft.com/office/drawing/2014/main" val="10002"/>
                  </a:ext>
                </a:extLst>
              </a:tr>
              <a:tr h="2228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Multiplication. 5 * 3 = 15</a:t>
                      </a:r>
                      <a:endParaRPr sz="1100"/>
                    </a:p>
                  </a:txBody>
                  <a:tcPr marL="68600" marR="68600" marT="34300" marB="34300" anchor="ctr"/>
                </a:tc>
                <a:extLst>
                  <a:ext uri="{0D108BD9-81ED-4DB2-BD59-A6C34878D82A}">
                    <a16:rowId xmlns:a16="http://schemas.microsoft.com/office/drawing/2014/main" val="10003"/>
                  </a:ext>
                </a:extLst>
              </a:tr>
              <a:tr h="2228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Division. 6 / 3 = 2</a:t>
                      </a:r>
                      <a:endParaRPr sz="1100"/>
                    </a:p>
                  </a:txBody>
                  <a:tcPr marL="68600" marR="68600" marT="34300" marB="34300" anchor="ctr"/>
                </a:tc>
                <a:extLst>
                  <a:ext uri="{0D108BD9-81ED-4DB2-BD59-A6C34878D82A}">
                    <a16:rowId xmlns:a16="http://schemas.microsoft.com/office/drawing/2014/main" val="10004"/>
                  </a:ext>
                </a:extLst>
              </a:tr>
              <a:tr h="2228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Modulus (remainder). 5 % 2 = 1</a:t>
                      </a:r>
                      <a:endParaRPr sz="1100"/>
                    </a:p>
                  </a:txBody>
                  <a:tcPr marL="68600" marR="68600" marT="34300" marB="34300" anchor="ctr"/>
                </a:tc>
                <a:extLst>
                  <a:ext uri="{0D108BD9-81ED-4DB2-BD59-A6C34878D82A}">
                    <a16:rowId xmlns:a16="http://schemas.microsoft.com/office/drawing/2014/main" val="10005"/>
                  </a:ext>
                </a:extLst>
              </a:tr>
              <a:tr h="2228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Increment. int a = 5; a++; // 6</a:t>
                      </a:r>
                      <a:endParaRPr sz="1100"/>
                    </a:p>
                  </a:txBody>
                  <a:tcPr marL="68600" marR="68600" marT="34300" marB="34300" anchor="ctr"/>
                </a:tc>
                <a:extLst>
                  <a:ext uri="{0D108BD9-81ED-4DB2-BD59-A6C34878D82A}">
                    <a16:rowId xmlns:a16="http://schemas.microsoft.com/office/drawing/2014/main" val="10006"/>
                  </a:ext>
                </a:extLst>
              </a:tr>
              <a:tr h="2228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Decrement. int a = 5; a--; // 4</a:t>
                      </a:r>
                      <a:endParaRPr sz="1100"/>
                    </a:p>
                  </a:txBody>
                  <a:tcPr marL="68600" marR="68600" marT="34300" marB="34300" anchor="ctr"/>
                </a:tc>
                <a:extLst>
                  <a:ext uri="{0D108BD9-81ED-4DB2-BD59-A6C34878D82A}">
                    <a16:rowId xmlns:a16="http://schemas.microsoft.com/office/drawing/2014/main" val="10007"/>
                  </a:ext>
                </a:extLst>
              </a:tr>
              <a:tr h="2228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Assignment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Assign value. int a = 10;</a:t>
                      </a:r>
                      <a:endParaRPr sz="1100"/>
                    </a:p>
                  </a:txBody>
                  <a:tcPr marL="68600" marR="68600" marT="34300" marB="34300" anchor="ctr"/>
                </a:tc>
                <a:extLst>
                  <a:ext uri="{0D108BD9-81ED-4DB2-BD59-A6C34878D82A}">
                    <a16:rowId xmlns:a16="http://schemas.microsoft.com/office/drawing/2014/main" val="10008"/>
                  </a:ext>
                </a:extLst>
              </a:tr>
              <a:tr h="389950">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Add and assign. a += 5; // a = a + 5</a:t>
                      </a:r>
                      <a:endParaRPr sz="1100"/>
                    </a:p>
                  </a:txBody>
                  <a:tcPr marL="68600" marR="68600" marT="34300" marB="34300" anchor="ctr"/>
                </a:tc>
                <a:extLst>
                  <a:ext uri="{0D108BD9-81ED-4DB2-BD59-A6C34878D82A}">
                    <a16:rowId xmlns:a16="http://schemas.microsoft.com/office/drawing/2014/main" val="10009"/>
                  </a:ext>
                </a:extLst>
              </a:tr>
              <a:tr h="389950">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Subtract and assign. a -= 5; // a = a - 5</a:t>
                      </a:r>
                      <a:endParaRPr sz="1100"/>
                    </a:p>
                  </a:txBody>
                  <a:tcPr marL="68600" marR="68600" marT="34300" marB="34300" anchor="ctr"/>
                </a:tc>
                <a:extLst>
                  <a:ext uri="{0D108BD9-81ED-4DB2-BD59-A6C34878D82A}">
                    <a16:rowId xmlns:a16="http://schemas.microsoft.com/office/drawing/2014/main" val="10010"/>
                  </a:ext>
                </a:extLst>
              </a:tr>
              <a:tr h="389950">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Multiply and assign. a *= 5; // a = a * 5</a:t>
                      </a:r>
                      <a:endParaRPr sz="1100"/>
                    </a:p>
                  </a:txBody>
                  <a:tcPr marL="68600" marR="68600" marT="34300" marB="34300" anchor="ctr"/>
                </a:tc>
                <a:extLst>
                  <a:ext uri="{0D108BD9-81ED-4DB2-BD59-A6C34878D82A}">
                    <a16:rowId xmlns:a16="http://schemas.microsoft.com/office/drawing/2014/main" val="10011"/>
                  </a:ext>
                </a:extLst>
              </a:tr>
              <a:tr h="389950">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Divide and assign. a /= 5; // a = a / 5</a:t>
                      </a:r>
                      <a:endParaRPr sz="1100"/>
                    </a:p>
                  </a:txBody>
                  <a:tcPr marL="68600" marR="68600" marT="34300" marB="34300" anchor="ctr"/>
                </a:tc>
                <a:extLst>
                  <a:ext uri="{0D108BD9-81ED-4DB2-BD59-A6C34878D82A}">
                    <a16:rowId xmlns:a16="http://schemas.microsoft.com/office/drawing/2014/main" val="10012"/>
                  </a:ext>
                </a:extLst>
              </a:tr>
              <a:tr h="389950">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Modulus and assign. a %= 5; // a = a % 5</a:t>
                      </a:r>
                      <a:endParaRPr sz="1100"/>
                    </a:p>
                  </a:txBody>
                  <a:tcPr marL="68600" marR="68600" marT="34300" marB="34300" anchor="ctr"/>
                </a:tc>
                <a:extLst>
                  <a:ext uri="{0D108BD9-81ED-4DB2-BD59-A6C34878D82A}">
                    <a16:rowId xmlns:a16="http://schemas.microsoft.com/office/drawing/2014/main" val="10013"/>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85"/>
          <p:cNvSpPr txBox="1">
            <a:spLocks noGrp="1"/>
          </p:cNvSpPr>
          <p:nvPr>
            <p:ph type="title"/>
          </p:nvPr>
        </p:nvSpPr>
        <p:spPr>
          <a:xfrm>
            <a:off x="2171700" y="573280"/>
            <a:ext cx="6457950" cy="969771"/>
          </a:xfrm>
          <a:prstGeom prst="rect">
            <a:avLst/>
          </a:prstGeom>
          <a:noFill/>
          <a:ln>
            <a:noFill/>
          </a:ln>
        </p:spPr>
        <p:txBody>
          <a:bodyPr spcFirstLastPara="1" wrap="square" lIns="68575" tIns="34275" rIns="68575" bIns="34275" anchor="ctr" anchorCtr="0">
            <a:normAutofit/>
          </a:bodyPr>
          <a:lstStyle/>
          <a:p>
            <a:pPr marL="0" lvl="0" indent="0" algn="r" rtl="0">
              <a:lnSpc>
                <a:spcPct val="90000"/>
              </a:lnSpc>
              <a:spcBef>
                <a:spcPts val="0"/>
              </a:spcBef>
              <a:spcAft>
                <a:spcPts val="0"/>
              </a:spcAft>
              <a:buClr>
                <a:schemeClr val="lt1"/>
              </a:buClr>
              <a:buSzPts val="3000"/>
              <a:buFont typeface="Century Gothic"/>
              <a:buNone/>
            </a:pPr>
            <a:endParaRPr/>
          </a:p>
        </p:txBody>
      </p:sp>
      <p:graphicFrame>
        <p:nvGraphicFramePr>
          <p:cNvPr id="510" name="Google Shape;510;p85"/>
          <p:cNvGraphicFramePr/>
          <p:nvPr/>
        </p:nvGraphicFramePr>
        <p:xfrm>
          <a:off x="640080" y="573280"/>
          <a:ext cx="8115300" cy="8969240"/>
        </p:xfrm>
        <a:graphic>
          <a:graphicData uri="http://schemas.openxmlformats.org/drawingml/2006/table">
            <a:tbl>
              <a:tblPr firstRow="1" bandRow="1">
                <a:noFill/>
                <a:tableStyleId>{AE08A2B5-FEC1-4821-B64D-F3B82E1F7B7F}</a:tableStyleId>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Category</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Operator</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Description / Example</a:t>
                      </a:r>
                      <a:endParaRPr sz="1400" u="none" strike="noStrike" cap="none"/>
                    </a:p>
                  </a:txBody>
                  <a:tcPr marL="68600" marR="68600" marT="34300" marB="34300" anchor="ctr"/>
                </a:tc>
                <a:extLst>
                  <a:ext uri="{0D108BD9-81ED-4DB2-BD59-A6C34878D82A}">
                    <a16:rowId xmlns:a16="http://schemas.microsoft.com/office/drawing/2014/main" val="10000"/>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Comparison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Equal to. 5 == 5 // true</a:t>
                      </a:r>
                      <a:endParaRPr sz="1100"/>
                    </a:p>
                  </a:txBody>
                  <a:tcPr marL="68600" marR="68600" marT="34300" marB="34300" anchor="ctr"/>
                </a:tc>
                <a:extLst>
                  <a:ext uri="{0D108BD9-81ED-4DB2-BD59-A6C34878D82A}">
                    <a16:rowId xmlns:a16="http://schemas.microsoft.com/office/drawing/2014/main" val="10001"/>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Not equal to. 5 != 3 // true</a:t>
                      </a:r>
                      <a:endParaRPr sz="1100"/>
                    </a:p>
                  </a:txBody>
                  <a:tcPr marL="68600" marR="68600" marT="34300" marB="34300" anchor="ctr"/>
                </a:tc>
                <a:extLst>
                  <a:ext uri="{0D108BD9-81ED-4DB2-BD59-A6C34878D82A}">
                    <a16:rowId xmlns:a16="http://schemas.microsoft.com/office/drawing/2014/main" val="10002"/>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&gt;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Greater than. 5 &gt; 3 // true</a:t>
                      </a:r>
                      <a:endParaRPr sz="1100"/>
                    </a:p>
                  </a:txBody>
                  <a:tcPr marL="68600" marR="68600" marT="34300" marB="34300" anchor="ctr"/>
                </a:tc>
                <a:extLst>
                  <a:ext uri="{0D108BD9-81ED-4DB2-BD59-A6C34878D82A}">
                    <a16:rowId xmlns:a16="http://schemas.microsoft.com/office/drawing/2014/main" val="10003"/>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Less than. 3 &lt; 5 // true</a:t>
                      </a:r>
                      <a:endParaRPr sz="1100"/>
                    </a:p>
                  </a:txBody>
                  <a:tcPr marL="68600" marR="68600" marT="34300" marB="34300" anchor="ctr"/>
                </a:tc>
                <a:extLst>
                  <a:ext uri="{0D108BD9-81ED-4DB2-BD59-A6C34878D82A}">
                    <a16:rowId xmlns:a16="http://schemas.microsoft.com/office/drawing/2014/main" val="10004"/>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&gt;=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Greater than or equal. 5 &gt;= 5 // true</a:t>
                      </a:r>
                      <a:endParaRPr sz="1100"/>
                    </a:p>
                  </a:txBody>
                  <a:tcPr marL="68600" marR="68600" marT="34300" marB="34300" anchor="ctr"/>
                </a:tc>
                <a:extLst>
                  <a:ext uri="{0D108BD9-81ED-4DB2-BD59-A6C34878D82A}">
                    <a16:rowId xmlns:a16="http://schemas.microsoft.com/office/drawing/2014/main" val="10005"/>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Less than or equal. 3 &lt;= 5 // true</a:t>
                      </a:r>
                      <a:endParaRPr sz="1100"/>
                    </a:p>
                  </a:txBody>
                  <a:tcPr marL="68600" marR="68600" marT="34300" marB="34300" anchor="ctr"/>
                </a:tc>
                <a:extLst>
                  <a:ext uri="{0D108BD9-81ED-4DB2-BD59-A6C34878D82A}">
                    <a16:rowId xmlns:a16="http://schemas.microsoft.com/office/drawing/2014/main" val="10006"/>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Logical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&amp;&amp;</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Logical AND. true &amp;&amp; false // false</a:t>
                      </a:r>
                      <a:endParaRPr sz="1100"/>
                    </a:p>
                  </a:txBody>
                  <a:tcPr marL="68600" marR="68600" marT="34300" marB="34300" anchor="ctr"/>
                </a:tc>
                <a:extLst>
                  <a:ext uri="{0D108BD9-81ED-4DB2-BD59-A6C34878D82A}">
                    <a16:rowId xmlns:a16="http://schemas.microsoft.com/office/drawing/2014/main" val="10007"/>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Logical OR</a:t>
                      </a:r>
                      <a:endParaRPr sz="1400" u="none" strike="noStrike" cap="none"/>
                    </a:p>
                  </a:txBody>
                  <a:tcPr marL="68600" marR="68600" marT="34300" marB="34300" anchor="ctr"/>
                </a:tc>
                <a:extLst>
                  <a:ext uri="{0D108BD9-81ED-4DB2-BD59-A6C34878D82A}">
                    <a16:rowId xmlns:a16="http://schemas.microsoft.com/office/drawing/2014/main" val="10008"/>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Logical NOT. !true // false</a:t>
                      </a:r>
                      <a:endParaRPr sz="1100"/>
                    </a:p>
                  </a:txBody>
                  <a:tcPr marL="68600" marR="68600" marT="34300" marB="34300" anchor="ctr"/>
                </a:tc>
                <a:extLst>
                  <a:ext uri="{0D108BD9-81ED-4DB2-BD59-A6C34878D82A}">
                    <a16:rowId xmlns:a16="http://schemas.microsoft.com/office/drawing/2014/main" val="10009"/>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Bitwise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&amp;</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Bitwise AND. 5 &amp; 3 = 1</a:t>
                      </a:r>
                      <a:endParaRPr sz="1100"/>
                    </a:p>
                  </a:txBody>
                  <a:tcPr marL="68600" marR="68600" marT="34300" marB="34300" anchor="ctr"/>
                </a:tc>
                <a:extLst>
                  <a:ext uri="{0D108BD9-81ED-4DB2-BD59-A6C34878D82A}">
                    <a16:rowId xmlns:a16="http://schemas.microsoft.com/office/drawing/2014/main" val="10010"/>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Bitwise OR</a:t>
                      </a:r>
                      <a:endParaRPr sz="1100"/>
                    </a:p>
                  </a:txBody>
                  <a:tcPr marL="68600" marR="68600" marT="34300" marB="34300" anchor="ctr"/>
                </a:tc>
                <a:extLst>
                  <a:ext uri="{0D108BD9-81ED-4DB2-BD59-A6C34878D82A}">
                    <a16:rowId xmlns:a16="http://schemas.microsoft.com/office/drawing/2014/main" val="10011"/>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Bitwise XOR. 5 ^ 3 = 6</a:t>
                      </a:r>
                      <a:endParaRPr sz="1100"/>
                    </a:p>
                  </a:txBody>
                  <a:tcPr marL="68600" marR="68600" marT="34300" marB="34300" anchor="ctr"/>
                </a:tc>
                <a:extLst>
                  <a:ext uri="{0D108BD9-81ED-4DB2-BD59-A6C34878D82A}">
                    <a16:rowId xmlns:a16="http://schemas.microsoft.com/office/drawing/2014/main" val="10012"/>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Bitwise complement. ~5 = -6</a:t>
                      </a:r>
                      <a:endParaRPr sz="1100"/>
                    </a:p>
                  </a:txBody>
                  <a:tcPr marL="68600" marR="68600" marT="34300" marB="34300" anchor="ctr"/>
                </a:tc>
                <a:extLst>
                  <a:ext uri="{0D108BD9-81ED-4DB2-BD59-A6C34878D82A}">
                    <a16:rowId xmlns:a16="http://schemas.microsoft.com/office/drawing/2014/main" val="10013"/>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&lt;&lt;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Left shift. 5 &lt;&lt; 1 = 10</a:t>
                      </a:r>
                      <a:endParaRPr sz="1100"/>
                    </a:p>
                  </a:txBody>
                  <a:tcPr marL="68600" marR="68600" marT="34300" marB="34300" anchor="ctr"/>
                </a:tc>
                <a:extLst>
                  <a:ext uri="{0D108BD9-81ED-4DB2-BD59-A6C34878D82A}">
                    <a16:rowId xmlns:a16="http://schemas.microsoft.com/office/drawing/2014/main" val="10014"/>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&gt;&gt;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Right shift. 5 &gt;&gt; 1 = 2</a:t>
                      </a:r>
                      <a:endParaRPr sz="1100"/>
                    </a:p>
                  </a:txBody>
                  <a:tcPr marL="68600" marR="68600" marT="34300" marB="34300" anchor="ctr"/>
                </a:tc>
                <a:extLst>
                  <a:ext uri="{0D108BD9-81ED-4DB2-BD59-A6C34878D82A}">
                    <a16:rowId xmlns:a16="http://schemas.microsoft.com/office/drawing/2014/main" val="10015"/>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Conditional Operator</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Ternary operator. var max = (a &gt; b) ? a : b;</a:t>
                      </a:r>
                      <a:endParaRPr sz="1100"/>
                    </a:p>
                  </a:txBody>
                  <a:tcPr marL="68600" marR="68600" marT="34300" marB="34300" anchor="ctr"/>
                </a:tc>
                <a:extLst>
                  <a:ext uri="{0D108BD9-81ED-4DB2-BD59-A6C34878D82A}">
                    <a16:rowId xmlns:a16="http://schemas.microsoft.com/office/drawing/2014/main" val="10016"/>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Null Coalescing</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Returns left operand if not null, else right. x = y ?? 5;</a:t>
                      </a:r>
                      <a:endParaRPr sz="1100"/>
                    </a:p>
                  </a:txBody>
                  <a:tcPr marL="68600" marR="68600" marT="34300" marB="34300" anchor="ctr"/>
                </a:tc>
                <a:extLst>
                  <a:ext uri="{0D108BD9-81ED-4DB2-BD59-A6C34878D82A}">
                    <a16:rowId xmlns:a16="http://schemas.microsoft.com/office/drawing/2014/main" val="10017"/>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Assign if null. x ??= 10;</a:t>
                      </a:r>
                      <a:endParaRPr sz="1100"/>
                    </a:p>
                  </a:txBody>
                  <a:tcPr marL="68600" marR="68600" marT="34300" marB="34300" anchor="ctr"/>
                </a:tc>
                <a:extLst>
                  <a:ext uri="{0D108BD9-81ED-4DB2-BD59-A6C34878D82A}">
                    <a16:rowId xmlns:a16="http://schemas.microsoft.com/office/drawing/2014/main" val="10018"/>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Type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is</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Checks object type. if(obj is string)</a:t>
                      </a:r>
                      <a:endParaRPr sz="1100"/>
                    </a:p>
                  </a:txBody>
                  <a:tcPr marL="68600" marR="68600" marT="34300" marB="34300" anchor="ctr"/>
                </a:tc>
                <a:extLst>
                  <a:ext uri="{0D108BD9-81ED-4DB2-BD59-A6C34878D82A}">
                    <a16:rowId xmlns:a16="http://schemas.microsoft.com/office/drawing/2014/main" val="10019"/>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as</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Safe type conversion. string s = obj as string;</a:t>
                      </a:r>
                      <a:endParaRPr sz="1100"/>
                    </a:p>
                  </a:txBody>
                  <a:tcPr marL="68600" marR="68600" marT="34300" marB="34300" anchor="ctr"/>
                </a:tc>
                <a:extLst>
                  <a:ext uri="{0D108BD9-81ED-4DB2-BD59-A6C34878D82A}">
                    <a16:rowId xmlns:a16="http://schemas.microsoft.com/office/drawing/2014/main" val="10020"/>
                  </a:ext>
                </a:extLst>
              </a:tr>
              <a:tr h="278125">
                <a:tc>
                  <a:txBody>
                    <a:bodyPr/>
                    <a:lstStyle/>
                    <a:p>
                      <a:pPr marL="0" marR="0" lvl="0" indent="0" algn="l" rtl="0">
                        <a:spcBef>
                          <a:spcPts val="0"/>
                        </a:spcBef>
                        <a:spcAft>
                          <a:spcPts val="0"/>
                        </a:spcAft>
                        <a:buClr>
                          <a:schemeClr val="lt1"/>
                        </a:buClr>
                        <a:buSzPts val="1400"/>
                        <a:buFont typeface="Century Gothic"/>
                        <a:buNone/>
                      </a:pPr>
                      <a:r>
                        <a:rPr lang="en" sz="1400" b="1" u="none" strike="noStrike" cap="none"/>
                        <a:t>Other Operators</a:t>
                      </a: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sizeof</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Returns size of type. sizeof(int)</a:t>
                      </a:r>
                      <a:endParaRPr sz="1100"/>
                    </a:p>
                  </a:txBody>
                  <a:tcPr marL="68600" marR="68600" marT="34300" marB="34300" anchor="ctr"/>
                </a:tc>
                <a:extLst>
                  <a:ext uri="{0D108BD9-81ED-4DB2-BD59-A6C34878D82A}">
                    <a16:rowId xmlns:a16="http://schemas.microsoft.com/office/drawing/2014/main" val="10021"/>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typeof</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Returns Type object. typeof(string)</a:t>
                      </a:r>
                      <a:endParaRPr sz="1100"/>
                    </a:p>
                  </a:txBody>
                  <a:tcPr marL="68600" marR="68600" marT="34300" marB="34300" anchor="ctr"/>
                </a:tc>
                <a:extLst>
                  <a:ext uri="{0D108BD9-81ED-4DB2-BD59-A6C34878D82A}">
                    <a16:rowId xmlns:a16="http://schemas.microsoft.com/office/drawing/2014/main" val="10022"/>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checked / unchecked</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Controls overflow checking.</a:t>
                      </a:r>
                      <a:endParaRPr sz="1100"/>
                    </a:p>
                  </a:txBody>
                  <a:tcPr marL="68600" marR="68600" marT="34300" marB="34300" anchor="ctr"/>
                </a:tc>
                <a:extLst>
                  <a:ext uri="{0D108BD9-81ED-4DB2-BD59-A6C34878D82A}">
                    <a16:rowId xmlns:a16="http://schemas.microsoft.com/office/drawing/2014/main" val="10023"/>
                  </a:ext>
                </a:extLst>
              </a:tr>
              <a:tr h="278125">
                <a:tc>
                  <a:txBody>
                    <a:bodyPr/>
                    <a:lstStyle/>
                    <a:p>
                      <a:pPr marL="0" marR="0" lvl="0" indent="0" algn="l" rtl="0">
                        <a:spcBef>
                          <a:spcPts val="0"/>
                        </a:spcBef>
                        <a:spcAft>
                          <a:spcPts val="0"/>
                        </a:spcAft>
                        <a:buClr>
                          <a:schemeClr val="lt1"/>
                        </a:buClr>
                        <a:buSzPts val="1400"/>
                        <a:buFont typeface="Century Gothic"/>
                        <a:buNone/>
                      </a:pPr>
                      <a:endParaRPr sz="1400" u="none" strike="noStrike" cap="none"/>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nameof</a:t>
                      </a:r>
                      <a:endParaRPr sz="1100"/>
                    </a:p>
                  </a:txBody>
                  <a:tcPr marL="68600" marR="68600" marT="34300" marB="34300" anchor="ctr"/>
                </a:tc>
                <a:tc>
                  <a:txBody>
                    <a:bodyPr/>
                    <a:lstStyle/>
                    <a:p>
                      <a:pPr marL="0" marR="0" lvl="0" indent="0" algn="l" rtl="0">
                        <a:spcBef>
                          <a:spcPts val="0"/>
                        </a:spcBef>
                        <a:spcAft>
                          <a:spcPts val="0"/>
                        </a:spcAft>
                        <a:buClr>
                          <a:schemeClr val="lt1"/>
                        </a:buClr>
                        <a:buSzPts val="1400"/>
                        <a:buFont typeface="Century Gothic"/>
                        <a:buNone/>
                      </a:pPr>
                      <a:r>
                        <a:rPr lang="en" sz="1400" u="none" strike="noStrike" cap="none"/>
                        <a:t>Returns variable/type name as string. nameof(variable)</a:t>
                      </a:r>
                      <a:endParaRPr sz="1100"/>
                    </a:p>
                  </a:txBody>
                  <a:tcPr marL="68600" marR="68600" marT="34300" marB="34300" anchor="ctr"/>
                </a:tc>
                <a:extLst>
                  <a:ext uri="{0D108BD9-81ED-4DB2-BD59-A6C34878D82A}">
                    <a16:rowId xmlns:a16="http://schemas.microsoft.com/office/drawing/2014/main" val="1002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86"/>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sz="6000">
                <a:solidFill>
                  <a:srgbClr val="FFFFFF"/>
                </a:solidFill>
              </a:rPr>
              <a:t>TYPE CASTING</a:t>
            </a:r>
            <a:endParaRPr/>
          </a:p>
        </p:txBody>
      </p:sp>
      <p:sp>
        <p:nvSpPr>
          <p:cNvPr id="516" name="Google Shape;516;p86"/>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8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000">
                <a:solidFill>
                  <a:srgbClr val="FFFFFF"/>
                </a:solidFill>
              </a:rPr>
              <a:t>What is type casting</a:t>
            </a:r>
            <a:endParaRPr/>
          </a:p>
        </p:txBody>
      </p:sp>
      <p:sp>
        <p:nvSpPr>
          <p:cNvPr id="522" name="Google Shape;522;p8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fontScale="77500" lnSpcReduction="20000"/>
          </a:bodyPr>
          <a:lstStyle/>
          <a:p>
            <a:pPr marL="0" lvl="0" indent="0" algn="l" rtl="0">
              <a:spcBef>
                <a:spcPts val="1000"/>
              </a:spcBef>
              <a:spcAft>
                <a:spcPts val="0"/>
              </a:spcAft>
              <a:buNone/>
            </a:pPr>
            <a:r>
              <a:rPr lang="en" sz="2200">
                <a:solidFill>
                  <a:schemeClr val="dk1"/>
                </a:solidFill>
                <a:latin typeface="Arial"/>
                <a:ea typeface="Arial"/>
                <a:cs typeface="Arial"/>
                <a:sym typeface="Arial"/>
              </a:rPr>
              <a:t>•</a:t>
            </a:r>
            <a:r>
              <a:rPr lang="en" sz="2200">
                <a:solidFill>
                  <a:srgbClr val="FFFFFF"/>
                </a:solidFill>
                <a:latin typeface="Calibri"/>
                <a:ea typeface="Calibri"/>
                <a:cs typeface="Calibri"/>
                <a:sym typeface="Calibri"/>
              </a:rPr>
              <a:t>In simple words, we can say that Type Casting or Type Conversion in C# is the process to change one data type value into another data type.</a:t>
            </a:r>
            <a:endParaRPr sz="2200">
              <a:solidFill>
                <a:srgbClr val="FFFFFF"/>
              </a:solidFill>
              <a:latin typeface="Calibri"/>
              <a:ea typeface="Calibri"/>
              <a:cs typeface="Calibri"/>
              <a:sym typeface="Calibri"/>
            </a:endParaRPr>
          </a:p>
          <a:p>
            <a:pPr marL="0" lvl="0" indent="0" algn="l" rtl="0">
              <a:spcBef>
                <a:spcPts val="1000"/>
              </a:spcBef>
              <a:spcAft>
                <a:spcPts val="0"/>
              </a:spcAft>
              <a:buNone/>
            </a:pPr>
            <a:r>
              <a:rPr lang="en" sz="2200">
                <a:solidFill>
                  <a:schemeClr val="dk1"/>
                </a:solidFill>
                <a:latin typeface="Arial"/>
                <a:ea typeface="Arial"/>
                <a:cs typeface="Arial"/>
                <a:sym typeface="Arial"/>
              </a:rPr>
              <a:t>•</a:t>
            </a:r>
            <a:r>
              <a:rPr lang="en" sz="2200">
                <a:solidFill>
                  <a:srgbClr val="FFFFFF"/>
                </a:solidFill>
                <a:latin typeface="Calibri"/>
                <a:ea typeface="Calibri"/>
                <a:cs typeface="Calibri"/>
                <a:sym typeface="Calibri"/>
              </a:rPr>
              <a:t> The Type Conversion is only possible if both the data types are compatible with each other else we will get compile time error saying </a:t>
            </a:r>
            <a:r>
              <a:rPr lang="en" sz="2200" b="1">
                <a:solidFill>
                  <a:srgbClr val="FFFFFF"/>
                </a:solidFill>
                <a:latin typeface="Calibri"/>
                <a:ea typeface="Calibri"/>
                <a:cs typeface="Calibri"/>
                <a:sym typeface="Calibri"/>
              </a:rPr>
              <a:t>cannot implicitly convert one type to another type</a:t>
            </a:r>
            <a:r>
              <a:rPr lang="en" sz="2200">
                <a:solidFill>
                  <a:srgbClr val="FFFFFF"/>
                </a:solidFill>
                <a:latin typeface="Calibri"/>
                <a:ea typeface="Calibri"/>
                <a:cs typeface="Calibri"/>
                <a:sym typeface="Calibri"/>
              </a:rPr>
              <a:t>.</a:t>
            </a:r>
            <a:endParaRPr sz="2200">
              <a:solidFill>
                <a:srgbClr val="FFFFFF"/>
              </a:solidFill>
              <a:latin typeface="Calibri"/>
              <a:ea typeface="Calibri"/>
              <a:cs typeface="Calibri"/>
              <a:sym typeface="Calibri"/>
            </a:endParaRPr>
          </a:p>
          <a:p>
            <a:pPr marL="0" lvl="0" indent="0" algn="l" rtl="0">
              <a:spcBef>
                <a:spcPts val="1000"/>
              </a:spcBef>
              <a:spcAft>
                <a:spcPts val="0"/>
              </a:spcAft>
              <a:buNone/>
            </a:pPr>
            <a:r>
              <a:rPr lang="en" sz="2200">
                <a:solidFill>
                  <a:schemeClr val="dk1"/>
                </a:solidFill>
                <a:latin typeface="Arial"/>
                <a:ea typeface="Arial"/>
                <a:cs typeface="Arial"/>
                <a:sym typeface="Arial"/>
              </a:rPr>
              <a:t>•</a:t>
            </a:r>
            <a:r>
              <a:rPr lang="en" sz="2200">
                <a:solidFill>
                  <a:srgbClr val="FFFFFF"/>
                </a:solidFill>
                <a:latin typeface="Calibri"/>
                <a:ea typeface="Calibri"/>
                <a:cs typeface="Calibri"/>
                <a:sym typeface="Calibri"/>
              </a:rPr>
              <a:t>Eg:</a:t>
            </a:r>
            <a:endParaRPr sz="2200">
              <a:solidFill>
                <a:srgbClr val="FFFFFF"/>
              </a:solidFill>
              <a:latin typeface="Calibri"/>
              <a:ea typeface="Calibri"/>
              <a:cs typeface="Calibri"/>
              <a:sym typeface="Calibri"/>
            </a:endParaRPr>
          </a:p>
          <a:p>
            <a:pPr marL="457200" lvl="0" indent="0" algn="l" rtl="0">
              <a:spcBef>
                <a:spcPts val="500"/>
              </a:spcBef>
              <a:spcAft>
                <a:spcPts val="0"/>
              </a:spcAft>
              <a:buNone/>
            </a:pPr>
            <a:r>
              <a:rPr lang="en" sz="2000">
                <a:solidFill>
                  <a:srgbClr val="FFFFFF"/>
                </a:solidFill>
                <a:latin typeface="Calibri"/>
                <a:ea typeface="Calibri"/>
                <a:cs typeface="Calibri"/>
                <a:sym typeface="Calibri"/>
              </a:rPr>
              <a:t>Int =a;</a:t>
            </a:r>
            <a:endParaRPr sz="2000">
              <a:solidFill>
                <a:srgbClr val="FFFFFF"/>
              </a:solidFill>
              <a:latin typeface="Calibri"/>
              <a:ea typeface="Calibri"/>
              <a:cs typeface="Calibri"/>
              <a:sym typeface="Calibri"/>
            </a:endParaRPr>
          </a:p>
          <a:p>
            <a:pPr marL="457200" lvl="0" indent="0" algn="l" rtl="0">
              <a:spcBef>
                <a:spcPts val="500"/>
              </a:spcBef>
              <a:spcAft>
                <a:spcPts val="0"/>
              </a:spcAft>
              <a:buNone/>
            </a:pPr>
            <a:r>
              <a:rPr lang="en" sz="2000">
                <a:solidFill>
                  <a:srgbClr val="FFFFFF"/>
                </a:solidFill>
                <a:latin typeface="Calibri"/>
                <a:ea typeface="Calibri"/>
                <a:cs typeface="Calibri"/>
                <a:sym typeface="Calibri"/>
              </a:rPr>
              <a:t>a = “Hello”;</a:t>
            </a:r>
            <a:endParaRPr sz="2000">
              <a:solidFill>
                <a:srgbClr val="FFFFFF"/>
              </a:solidFill>
              <a:latin typeface="Calibri"/>
              <a:ea typeface="Calibri"/>
              <a:cs typeface="Calibri"/>
              <a:sym typeface="Calibri"/>
            </a:endParaRPr>
          </a:p>
          <a:p>
            <a:pPr marL="12700" lvl="0" indent="0" algn="l" rtl="0">
              <a:spcBef>
                <a:spcPts val="500"/>
              </a:spcBef>
              <a:spcAft>
                <a:spcPts val="0"/>
              </a:spcAft>
              <a:buNone/>
            </a:pPr>
            <a:r>
              <a:rPr lang="en"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38100" lvl="0" indent="0" algn="l" rtl="0">
              <a:spcBef>
                <a:spcPts val="500"/>
              </a:spcBef>
              <a:spcAft>
                <a:spcPts val="0"/>
              </a:spcAft>
              <a:buNone/>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Types of Type Casting.</a:t>
            </a:r>
            <a:endParaRPr sz="2000">
              <a:solidFill>
                <a:srgbClr val="FFFFFF"/>
              </a:solidFill>
              <a:latin typeface="Calibri"/>
              <a:ea typeface="Calibri"/>
              <a:cs typeface="Calibri"/>
              <a:sym typeface="Calibri"/>
            </a:endParaRPr>
          </a:p>
          <a:p>
            <a:pPr marL="457200" lvl="0" indent="-317500" algn="l" rtl="0">
              <a:spcBef>
                <a:spcPts val="500"/>
              </a:spcBef>
              <a:spcAft>
                <a:spcPts val="0"/>
              </a:spcAft>
              <a:buSzPct val="100000"/>
              <a:buChar char="•"/>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Implicit Casting</a:t>
            </a:r>
            <a:endParaRPr sz="2000">
              <a:solidFill>
                <a:srgbClr val="FFFFFF"/>
              </a:solidFill>
              <a:latin typeface="Calibri"/>
              <a:ea typeface="Calibri"/>
              <a:cs typeface="Calibri"/>
              <a:sym typeface="Calibri"/>
            </a:endParaRPr>
          </a:p>
          <a:p>
            <a:pPr marL="457200" lvl="0" indent="-317500" algn="l" rtl="0">
              <a:spcBef>
                <a:spcPts val="0"/>
              </a:spcBef>
              <a:spcAft>
                <a:spcPts val="0"/>
              </a:spcAft>
              <a:buSzPct val="100000"/>
              <a:buChar char="•"/>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Explicit Casting</a:t>
            </a:r>
            <a:endParaRPr sz="2000">
              <a:solidFill>
                <a:srgbClr val="FFFFFF"/>
              </a:solidFill>
              <a:latin typeface="Calibri"/>
              <a:ea typeface="Calibri"/>
              <a:cs typeface="Calibri"/>
              <a:sym typeface="Calibri"/>
            </a:endParaRPr>
          </a:p>
          <a:p>
            <a:pPr marL="0" lvl="0" indent="0" algn="l" rtl="0">
              <a:spcBef>
                <a:spcPts val="800"/>
              </a:spcBef>
              <a:spcAft>
                <a:spcPts val="0"/>
              </a:spcAft>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8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000">
                <a:solidFill>
                  <a:srgbClr val="FFFFFF"/>
                </a:solidFill>
              </a:rPr>
              <a:t>Implicit Casting</a:t>
            </a:r>
            <a:endParaRPr/>
          </a:p>
        </p:txBody>
      </p:sp>
      <p:sp>
        <p:nvSpPr>
          <p:cNvPr id="528" name="Google Shape;528;p8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just" rtl="0">
              <a:spcBef>
                <a:spcPts val="1000"/>
              </a:spcBef>
              <a:spcAft>
                <a:spcPts val="0"/>
              </a:spcAft>
              <a:buNone/>
            </a:pPr>
            <a:r>
              <a:rPr lang="en" sz="2000">
                <a:solidFill>
                  <a:schemeClr val="dk1"/>
                </a:solidFill>
                <a:latin typeface="Arial"/>
                <a:ea typeface="Arial"/>
                <a:cs typeface="Arial"/>
                <a:sym typeface="Arial"/>
              </a:rPr>
              <a:t>•</a:t>
            </a:r>
            <a:r>
              <a:rPr lang="en" sz="1900">
                <a:solidFill>
                  <a:srgbClr val="FFFFFF"/>
                </a:solidFill>
                <a:latin typeface="Calibri"/>
                <a:ea typeface="Calibri"/>
                <a:cs typeface="Calibri"/>
                <a:sym typeface="Calibri"/>
              </a:rPr>
              <a:t>Implicit type casting (type-safe casting) is the process in which the C# compiler automatically converts a smaller (compatible) data type into a larger data type (e.g., int to double) without any data loss. It is performed automatically by the compiler.</a:t>
            </a:r>
            <a:endParaRPr sz="1900">
              <a:solidFill>
                <a:srgbClr val="FFFFFF"/>
              </a:solidFill>
              <a:latin typeface="Calibri"/>
              <a:ea typeface="Calibri"/>
              <a:cs typeface="Calibri"/>
              <a:sym typeface="Calibri"/>
            </a:endParaRPr>
          </a:p>
          <a:p>
            <a:pPr marL="0" lvl="0" indent="0" algn="just" rtl="0">
              <a:spcBef>
                <a:spcPts val="800"/>
              </a:spcBef>
              <a:spcAft>
                <a:spcPts val="0"/>
              </a:spcAft>
              <a:buNone/>
            </a:pPr>
            <a:endParaRPr sz="1600"/>
          </a:p>
          <a:p>
            <a:pPr marL="0" lvl="0" indent="0" algn="l" rtl="0">
              <a:spcBef>
                <a:spcPts val="800"/>
              </a:spcBef>
              <a:spcAft>
                <a:spcPts val="0"/>
              </a:spcAft>
              <a:buNone/>
            </a:pPr>
            <a:endParaRPr/>
          </a:p>
        </p:txBody>
      </p:sp>
      <p:pic>
        <p:nvPicPr>
          <p:cNvPr id="529" name="Google Shape;529;p88"/>
          <p:cNvPicPr preferRelativeResize="0"/>
          <p:nvPr/>
        </p:nvPicPr>
        <p:blipFill>
          <a:blip r:embed="rId3">
            <a:alphaModFix/>
          </a:blip>
          <a:stretch>
            <a:fillRect/>
          </a:stretch>
        </p:blipFill>
        <p:spPr>
          <a:xfrm>
            <a:off x="1954450" y="2720650"/>
            <a:ext cx="5262400" cy="180982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8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535" name="Google Shape;535;p8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lnSpcReduction="10000"/>
          </a:bodyPr>
          <a:lstStyle/>
          <a:p>
            <a:pPr marL="0" lvl="0" indent="0" algn="l" rtl="0">
              <a:spcBef>
                <a:spcPts val="1000"/>
              </a:spcBef>
              <a:spcAft>
                <a:spcPts val="0"/>
              </a:spcAft>
              <a:buClr>
                <a:schemeClr val="dk1"/>
              </a:buClr>
              <a:buSzPts val="1100"/>
              <a:buFont typeface="Arial"/>
              <a:buNone/>
            </a:pPr>
            <a:r>
              <a:rPr lang="en" sz="2000">
                <a:solidFill>
                  <a:schemeClr val="dk1"/>
                </a:solidFill>
                <a:latin typeface="Arial"/>
                <a:ea typeface="Arial"/>
                <a:cs typeface="Arial"/>
                <a:sym typeface="Arial"/>
              </a:rPr>
              <a:t>•</a:t>
            </a:r>
            <a:r>
              <a:rPr lang="en" sz="2000" b="1">
                <a:solidFill>
                  <a:srgbClr val="FFFFFF"/>
                </a:solidFill>
                <a:latin typeface="Calibri"/>
                <a:ea typeface="Calibri"/>
                <a:cs typeface="Calibri"/>
                <a:sym typeface="Calibri"/>
              </a:rPr>
              <a:t>Implicit Type Casting happens when:</a:t>
            </a:r>
            <a:endParaRPr sz="2000" b="1">
              <a:solidFill>
                <a:srgbClr val="FFFFFF"/>
              </a:solidFill>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The two data types are compatible.</a:t>
            </a:r>
            <a:endParaRPr sz="2000">
              <a:solidFill>
                <a:srgbClr val="FFFFFF"/>
              </a:solidFill>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When we assign a value of a smaller data type to a bigger data type.</a:t>
            </a:r>
            <a:endParaRPr sz="2000">
              <a:solidFill>
                <a:srgbClr val="FFFFFF"/>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For example, in C#, the numeric data types like byte, short, int, long, double, float, decimal, etc. are compatible with each other but no automatic conversion is supported from numeric type to char type or Boolean type.</a:t>
            </a:r>
            <a:endParaRPr sz="2000">
              <a:solidFill>
                <a:srgbClr val="FFFFFF"/>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Also, char and bool are not compatible with each other. So, before converting, the compiler will first check the type compatibility, and then it decides whether it is good to convert or throw some error.</a:t>
            </a:r>
            <a:endParaRPr sz="2000">
              <a:solidFill>
                <a:srgbClr val="FFFFFF"/>
              </a:solidFill>
              <a:latin typeface="Calibri"/>
              <a:ea typeface="Calibri"/>
              <a:cs typeface="Calibri"/>
              <a:sym typeface="Calibri"/>
            </a:endParaRPr>
          </a:p>
          <a:p>
            <a:pPr marL="0" lvl="0" indent="0" algn="l" rtl="0">
              <a:spcBef>
                <a:spcPts val="800"/>
              </a:spcBef>
              <a:spcAft>
                <a:spcPts val="0"/>
              </a:spcAft>
              <a:buNone/>
            </a:pP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9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pic>
        <p:nvPicPr>
          <p:cNvPr id="541" name="Google Shape;541;p90"/>
          <p:cNvPicPr preferRelativeResize="0"/>
          <p:nvPr/>
        </p:nvPicPr>
        <p:blipFill>
          <a:blip r:embed="rId3">
            <a:alphaModFix/>
          </a:blip>
          <a:stretch>
            <a:fillRect/>
          </a:stretch>
        </p:blipFill>
        <p:spPr>
          <a:xfrm>
            <a:off x="686863" y="1786148"/>
            <a:ext cx="7770277" cy="247020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9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000">
                <a:solidFill>
                  <a:srgbClr val="FFFFFF"/>
                </a:solidFill>
              </a:rPr>
              <a:t>Explicit Type Casting</a:t>
            </a:r>
            <a:endParaRPr/>
          </a:p>
        </p:txBody>
      </p:sp>
      <p:sp>
        <p:nvSpPr>
          <p:cNvPr id="547" name="Google Shape;547;p9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1000"/>
              </a:spcBef>
              <a:spcAft>
                <a:spcPts val="0"/>
              </a:spcAft>
              <a:buNone/>
            </a:pPr>
            <a:r>
              <a:rPr lang="en" sz="2000">
                <a:solidFill>
                  <a:schemeClr val="dk1"/>
                </a:solidFill>
                <a:latin typeface="Arial"/>
                <a:ea typeface="Arial"/>
                <a:cs typeface="Arial"/>
                <a:sym typeface="Arial"/>
              </a:rPr>
              <a:t>•</a:t>
            </a:r>
            <a:r>
              <a:rPr lang="en" sz="2000">
                <a:solidFill>
                  <a:srgbClr val="FFFFFF"/>
                </a:solidFill>
                <a:latin typeface="Calibri"/>
                <a:ea typeface="Calibri"/>
                <a:cs typeface="Calibri"/>
                <a:sym typeface="Calibri"/>
              </a:rPr>
              <a:t>Explicit type casting is the process of manually converting one data type into another using a cast operator (type). It is required when converting from a larger data type to a smaller one, or between incompatible types and may cause data loss or exceptions.</a:t>
            </a:r>
            <a:endParaRPr sz="2000">
              <a:solidFill>
                <a:srgbClr val="FFFFFF"/>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endParaRPr sz="2000">
              <a:solidFill>
                <a:srgbClr val="FFFFFF"/>
              </a:solidFill>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r>
              <a:rPr lang="en"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lvl="0" indent="0" algn="l" rtl="0">
              <a:spcBef>
                <a:spcPts val="800"/>
              </a:spcBef>
              <a:spcAft>
                <a:spcPts val="0"/>
              </a:spcAft>
              <a:buNone/>
            </a:pPr>
            <a:endParaRPr/>
          </a:p>
        </p:txBody>
      </p:sp>
      <p:pic>
        <p:nvPicPr>
          <p:cNvPr id="548" name="Google Shape;548;p91"/>
          <p:cNvPicPr preferRelativeResize="0"/>
          <p:nvPr/>
        </p:nvPicPr>
        <p:blipFill>
          <a:blip r:embed="rId3">
            <a:alphaModFix/>
          </a:blip>
          <a:stretch>
            <a:fillRect/>
          </a:stretch>
        </p:blipFill>
        <p:spPr>
          <a:xfrm>
            <a:off x="2422250" y="2983100"/>
            <a:ext cx="5003951" cy="1823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9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fontScale="90000"/>
          </a:bodyPr>
          <a:lstStyle/>
          <a:p>
            <a:pPr marL="0" lvl="0" indent="0" algn="r" rtl="0">
              <a:spcBef>
                <a:spcPts val="0"/>
              </a:spcBef>
              <a:spcAft>
                <a:spcPts val="0"/>
              </a:spcAft>
              <a:buClr>
                <a:schemeClr val="dk1"/>
              </a:buClr>
              <a:buSzPct val="27500"/>
              <a:buFont typeface="Arial"/>
              <a:buNone/>
            </a:pPr>
            <a:r>
              <a:rPr lang="en" sz="4000" b="1">
                <a:solidFill>
                  <a:srgbClr val="FFFFFF"/>
                </a:solidFill>
              </a:rPr>
              <a:t>Type Conversion Methods</a:t>
            </a:r>
            <a:endParaRPr sz="4000" b="1">
              <a:solidFill>
                <a:srgbClr val="FFFFFF"/>
              </a:solidFill>
            </a:endParaRPr>
          </a:p>
          <a:p>
            <a:pPr marL="0" lvl="0" indent="0" algn="r" rtl="0">
              <a:spcBef>
                <a:spcPts val="0"/>
              </a:spcBef>
              <a:spcAft>
                <a:spcPts val="0"/>
              </a:spcAft>
              <a:buNone/>
            </a:pPr>
            <a:endParaRPr/>
          </a:p>
        </p:txBody>
      </p:sp>
      <p:sp>
        <p:nvSpPr>
          <p:cNvPr id="554" name="Google Shape;554;p9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fontScale="77500" lnSpcReduction="20000"/>
          </a:bodyPr>
          <a:lstStyle/>
          <a:p>
            <a:pPr marL="0" lvl="0" indent="0" algn="l" rtl="0">
              <a:lnSpc>
                <a:spcPct val="115000"/>
              </a:lnSpc>
              <a:spcBef>
                <a:spcPts val="0"/>
              </a:spcBef>
              <a:spcAft>
                <a:spcPts val="0"/>
              </a:spcAft>
              <a:buNone/>
            </a:pPr>
            <a:r>
              <a:rPr lang="en" sz="2000">
                <a:solidFill>
                  <a:srgbClr val="000000"/>
                </a:solidFill>
              </a:rPr>
              <a:t>It will converts a type to Boolean value</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ToChar</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It will converts a type to a character value</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ToByte</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It will converts a value to Byte Value</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ToDecimal</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It will converts a value to Decimal point value</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ToDouble</a:t>
            </a:r>
            <a:endParaRPr sz="2000">
              <a:solidFill>
                <a:srgbClr val="000000"/>
              </a:solidFill>
            </a:endParaRPr>
          </a:p>
          <a:p>
            <a:pPr marL="0" lvl="0" indent="0" algn="ctr" rtl="0">
              <a:lnSpc>
                <a:spcPct val="115000"/>
              </a:lnSpc>
              <a:spcBef>
                <a:spcPts val="800"/>
              </a:spcBef>
              <a:spcAft>
                <a:spcPts val="0"/>
              </a:spcAft>
              <a:buNone/>
            </a:pPr>
            <a:r>
              <a:rPr lang="en" sz="2000">
                <a:solidFill>
                  <a:srgbClr val="000000"/>
                </a:solidFill>
              </a:rPr>
              <a:t>It will converts a type to double data type</a:t>
            </a:r>
            <a:endParaRPr sz="2000">
              <a:solidFill>
                <a:srgbClr val="000000"/>
              </a:solidFill>
            </a:endParaRPr>
          </a:p>
          <a:p>
            <a:pPr marL="0" lvl="0" indent="0" algn="l" rtl="0">
              <a:spcBef>
                <a:spcPts val="800"/>
              </a:spcBef>
              <a:spcAft>
                <a:spcPts val="0"/>
              </a:spcAft>
              <a:buNone/>
            </a:pPr>
            <a:endParaRPr/>
          </a:p>
        </p:txBody>
      </p:sp>
      <p:graphicFrame>
        <p:nvGraphicFramePr>
          <p:cNvPr id="555" name="Google Shape;555;p92"/>
          <p:cNvGraphicFramePr/>
          <p:nvPr/>
        </p:nvGraphicFramePr>
        <p:xfrm>
          <a:off x="712150" y="1428750"/>
          <a:ext cx="3000000" cy="3000000"/>
        </p:xfrm>
        <a:graphic>
          <a:graphicData uri="http://schemas.openxmlformats.org/drawingml/2006/table">
            <a:tbl>
              <a:tblPr>
                <a:noFill/>
                <a:tableStyleId>{52AF7735-1A30-4EDB-8E02-57A44A249223}</a:tableStyleId>
              </a:tblPr>
              <a:tblGrid>
                <a:gridCol w="3561800">
                  <a:extLst>
                    <a:ext uri="{9D8B030D-6E8A-4147-A177-3AD203B41FA5}">
                      <a16:colId xmlns:a16="http://schemas.microsoft.com/office/drawing/2014/main" val="20000"/>
                    </a:ext>
                  </a:extLst>
                </a:gridCol>
                <a:gridCol w="4427100">
                  <a:extLst>
                    <a:ext uri="{9D8B030D-6E8A-4147-A177-3AD203B41FA5}">
                      <a16:colId xmlns:a16="http://schemas.microsoft.com/office/drawing/2014/main" val="20001"/>
                    </a:ext>
                  </a:extLst>
                </a:gridCol>
              </a:tblGrid>
              <a:tr h="381000">
                <a:tc>
                  <a:txBody>
                    <a:bodyPr/>
                    <a:lstStyle/>
                    <a:p>
                      <a:pPr marL="0" lvl="0" indent="0" algn="ctr" rtl="0">
                        <a:lnSpc>
                          <a:spcPct val="115000"/>
                        </a:lnSpc>
                        <a:spcBef>
                          <a:spcPts val="0"/>
                        </a:spcBef>
                        <a:spcAft>
                          <a:spcPts val="800"/>
                        </a:spcAft>
                        <a:buNone/>
                      </a:pPr>
                      <a:r>
                        <a:rPr lang="en" sz="1900" b="1">
                          <a:solidFill>
                            <a:schemeClr val="lt1"/>
                          </a:solidFill>
                          <a:latin typeface="Calibri"/>
                          <a:ea typeface="Calibri"/>
                          <a:cs typeface="Calibri"/>
                          <a:sym typeface="Calibri"/>
                        </a:rPr>
                        <a:t>Method</a:t>
                      </a:r>
                      <a:endParaRPr sz="1900" b="1">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900" b="1">
                          <a:solidFill>
                            <a:schemeClr val="lt1"/>
                          </a:solidFill>
                          <a:latin typeface="Calibri"/>
                          <a:ea typeface="Calibri"/>
                          <a:cs typeface="Calibri"/>
                          <a:sym typeface="Calibri"/>
                        </a:rPr>
                        <a:t>Description</a:t>
                      </a:r>
                      <a:endParaRPr sz="1900" b="1">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ToBoolean</a:t>
                      </a:r>
                      <a:endParaRPr sz="19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It will converts a type to Boolean value</a:t>
                      </a:r>
                      <a:endParaRPr sz="19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ToChar</a:t>
                      </a:r>
                      <a:endParaRPr sz="19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It will converts a type to a character value</a:t>
                      </a:r>
                      <a:endParaRPr sz="19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636250">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ToByte</a:t>
                      </a:r>
                      <a:endParaRPr sz="19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It will converts a value to Byte Value</a:t>
                      </a:r>
                      <a:endParaRPr sz="19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ToDecimal</a:t>
                      </a:r>
                      <a:endParaRPr sz="19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It will converts a value to Decimal point value</a:t>
                      </a:r>
                      <a:endParaRPr sz="19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ToDouble</a:t>
                      </a:r>
                      <a:endParaRPr sz="19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900">
                          <a:solidFill>
                            <a:schemeClr val="lt1"/>
                          </a:solidFill>
                          <a:latin typeface="Calibri"/>
                          <a:ea typeface="Calibri"/>
                          <a:cs typeface="Calibri"/>
                          <a:sym typeface="Calibri"/>
                        </a:rPr>
                        <a:t>It will converts a type to double data type</a:t>
                      </a:r>
                      <a:endParaRPr sz="19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graphicFrame>
        <p:nvGraphicFramePr>
          <p:cNvPr id="560" name="Google Shape;560;p93"/>
          <p:cNvGraphicFramePr/>
          <p:nvPr/>
        </p:nvGraphicFramePr>
        <p:xfrm>
          <a:off x="952500" y="701650"/>
          <a:ext cx="3000000" cy="3000000"/>
        </p:xfrm>
        <a:graphic>
          <a:graphicData uri="http://schemas.openxmlformats.org/drawingml/2006/table">
            <a:tbl>
              <a:tblPr>
                <a:noFill/>
                <a:tableStyleId>{52AF7735-1A30-4EDB-8E02-57A44A249223}</a:tableStyleId>
              </a:tblPr>
              <a:tblGrid>
                <a:gridCol w="2866325">
                  <a:extLst>
                    <a:ext uri="{9D8B030D-6E8A-4147-A177-3AD203B41FA5}">
                      <a16:colId xmlns:a16="http://schemas.microsoft.com/office/drawing/2014/main" val="20000"/>
                    </a:ext>
                  </a:extLst>
                </a:gridCol>
                <a:gridCol w="4926200">
                  <a:extLst>
                    <a:ext uri="{9D8B030D-6E8A-4147-A177-3AD203B41FA5}">
                      <a16:colId xmlns:a16="http://schemas.microsoft.com/office/drawing/2014/main" val="20001"/>
                    </a:ext>
                  </a:extLst>
                </a:gridCol>
              </a:tblGrid>
              <a:tr h="375050">
                <a:tc>
                  <a:txBody>
                    <a:bodyPr/>
                    <a:lstStyle/>
                    <a:p>
                      <a:pPr marL="0" lvl="0" indent="0" algn="ctr" rtl="0">
                        <a:lnSpc>
                          <a:spcPct val="115000"/>
                        </a:lnSpc>
                        <a:spcBef>
                          <a:spcPts val="0"/>
                        </a:spcBef>
                        <a:spcAft>
                          <a:spcPts val="0"/>
                        </a:spcAft>
                        <a:buNone/>
                      </a:pPr>
                      <a:r>
                        <a:rPr lang="en" sz="1800" b="1">
                          <a:solidFill>
                            <a:schemeClr val="lt1"/>
                          </a:solidFill>
                          <a:latin typeface="Calibri"/>
                          <a:ea typeface="Calibri"/>
                          <a:cs typeface="Calibri"/>
                          <a:sym typeface="Calibri"/>
                        </a:rPr>
                        <a:t>Method</a:t>
                      </a:r>
                      <a:endParaRPr sz="1800" b="1">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0"/>
                        </a:spcAft>
                        <a:buNone/>
                      </a:pPr>
                      <a:r>
                        <a:rPr lang="en" sz="1800" b="1">
                          <a:solidFill>
                            <a:schemeClr val="lt1"/>
                          </a:solidFill>
                          <a:latin typeface="Calibri"/>
                          <a:ea typeface="Calibri"/>
                          <a:cs typeface="Calibri"/>
                          <a:sym typeface="Calibri"/>
                        </a:rPr>
                        <a:t>Description</a:t>
                      </a:r>
                      <a:endParaRPr sz="1800" b="1">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375050">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ToString</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given type to string</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633875">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ToUInt16</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type to unsigned 16 bit integer</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633875">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ToUInt32</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type to unsigned 32 bit integer</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633875">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ToUInt64</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type to unsigned 64 bit integer</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r h="375050">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ToInt32</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type to 32 bit integer</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5"/>
                  </a:ext>
                </a:extLst>
              </a:tr>
              <a:tr h="375050">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ToInt16</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type to 16-bit integer</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6"/>
                  </a:ext>
                </a:extLst>
              </a:tr>
              <a:tr h="375050">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ToInt64</a:t>
                      </a:r>
                      <a:endParaRPr sz="1800">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800"/>
                        </a:spcAft>
                        <a:buNone/>
                      </a:pPr>
                      <a:r>
                        <a:rPr lang="en" sz="1800">
                          <a:solidFill>
                            <a:schemeClr val="lt1"/>
                          </a:solidFill>
                          <a:latin typeface="Calibri"/>
                          <a:ea typeface="Calibri"/>
                          <a:cs typeface="Calibri"/>
                          <a:sym typeface="Calibri"/>
                        </a:rPr>
                        <a:t>It will converts a type to 64 bit integer</a:t>
                      </a:r>
                      <a:endParaRPr sz="18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94"/>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t>NAMESPACE</a:t>
            </a:r>
            <a:endParaRPr/>
          </a:p>
        </p:txBody>
      </p:sp>
      <p:sp>
        <p:nvSpPr>
          <p:cNvPr id="566" name="Google Shape;566;p94"/>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9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000">
                <a:solidFill>
                  <a:srgbClr val="FFFFFF"/>
                </a:solidFill>
              </a:rPr>
              <a:t>What is namespace</a:t>
            </a:r>
            <a:endParaRPr/>
          </a:p>
        </p:txBody>
      </p:sp>
      <p:sp>
        <p:nvSpPr>
          <p:cNvPr id="572" name="Google Shape;572;p9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fontScale="92500" lnSpcReduction="20000"/>
          </a:bodyPr>
          <a:lstStyle/>
          <a:p>
            <a:pPr marL="0" lvl="0" indent="0" algn="l" rtl="0">
              <a:spcBef>
                <a:spcPts val="1000"/>
              </a:spcBef>
              <a:spcAft>
                <a:spcPts val="0"/>
              </a:spcAft>
              <a:buClr>
                <a:schemeClr val="dk1"/>
              </a:buClr>
              <a:buSzPct val="50000"/>
              <a:buFont typeface="Arial"/>
              <a:buNone/>
            </a:pPr>
            <a:r>
              <a:rPr lang="en" sz="2200">
                <a:latin typeface="Calibri"/>
                <a:ea typeface="Calibri"/>
                <a:cs typeface="Calibri"/>
                <a:sym typeface="Calibri"/>
              </a:rPr>
              <a:t>•A </a:t>
            </a:r>
            <a:r>
              <a:rPr lang="en" sz="2200" b="1">
                <a:latin typeface="Calibri"/>
                <a:ea typeface="Calibri"/>
                <a:cs typeface="Calibri"/>
                <a:sym typeface="Calibri"/>
              </a:rPr>
              <a:t>namespace</a:t>
            </a:r>
            <a:r>
              <a:rPr lang="en" sz="2200">
                <a:latin typeface="Calibri"/>
                <a:ea typeface="Calibri"/>
                <a:cs typeface="Calibri"/>
                <a:sym typeface="Calibri"/>
              </a:rPr>
              <a:t> is designed for providing a way to keep one set of names separate from another.</a:t>
            </a:r>
            <a:endParaRPr sz="2200">
              <a:latin typeface="Calibri"/>
              <a:ea typeface="Calibri"/>
              <a:cs typeface="Calibri"/>
              <a:sym typeface="Calibri"/>
            </a:endParaRPr>
          </a:p>
          <a:p>
            <a:pPr marL="0" lvl="0" indent="0" algn="l" rtl="0">
              <a:spcBef>
                <a:spcPts val="1000"/>
              </a:spcBef>
              <a:spcAft>
                <a:spcPts val="0"/>
              </a:spcAft>
              <a:buClr>
                <a:schemeClr val="dk1"/>
              </a:buClr>
              <a:buSzPct val="50000"/>
              <a:buFont typeface="Arial"/>
              <a:buNone/>
            </a:pPr>
            <a:r>
              <a:rPr lang="en" sz="2200">
                <a:latin typeface="Calibri"/>
                <a:ea typeface="Calibri"/>
                <a:cs typeface="Calibri"/>
                <a:sym typeface="Calibri"/>
              </a:rPr>
              <a:t>•The class names declared in one namespace does not conflict with the same class names declared in another.</a:t>
            </a:r>
            <a:endParaRPr sz="2200">
              <a:latin typeface="Calibri"/>
              <a:ea typeface="Calibri"/>
              <a:cs typeface="Calibri"/>
              <a:sym typeface="Calibri"/>
            </a:endParaRPr>
          </a:p>
          <a:p>
            <a:pPr marL="0" lvl="0" indent="0" algn="l" rtl="0">
              <a:spcBef>
                <a:spcPts val="1000"/>
              </a:spcBef>
              <a:spcAft>
                <a:spcPts val="0"/>
              </a:spcAft>
              <a:buClr>
                <a:schemeClr val="dk1"/>
              </a:buClr>
              <a:buSzPct val="50000"/>
              <a:buFont typeface="Arial"/>
              <a:buNone/>
            </a:pPr>
            <a:r>
              <a:rPr lang="en" sz="2200" b="1">
                <a:latin typeface="Calibri"/>
                <a:ea typeface="Calibri"/>
                <a:cs typeface="Calibri"/>
                <a:sym typeface="Calibri"/>
              </a:rPr>
              <a:t>Why Use Namespaces?</a:t>
            </a:r>
            <a:endParaRPr sz="2200" b="1">
              <a:latin typeface="Calibri"/>
              <a:ea typeface="Calibri"/>
              <a:cs typeface="Calibri"/>
              <a:sym typeface="Calibri"/>
            </a:endParaRPr>
          </a:p>
          <a:p>
            <a:pPr marL="0" lvl="0" indent="0" algn="l" rtl="0">
              <a:spcBef>
                <a:spcPts val="1000"/>
              </a:spcBef>
              <a:spcAft>
                <a:spcPts val="0"/>
              </a:spcAft>
              <a:buClr>
                <a:schemeClr val="dk1"/>
              </a:buClr>
              <a:buSzPct val="50000"/>
              <a:buFont typeface="Arial"/>
              <a:buNone/>
            </a:pPr>
            <a:r>
              <a:rPr lang="en" sz="2200">
                <a:latin typeface="Calibri"/>
                <a:ea typeface="Calibri"/>
                <a:cs typeface="Calibri"/>
                <a:sym typeface="Calibri"/>
              </a:rPr>
              <a:t>•</a:t>
            </a:r>
            <a:r>
              <a:rPr lang="en" sz="2200" b="1">
                <a:latin typeface="Calibri"/>
                <a:ea typeface="Calibri"/>
                <a:cs typeface="Calibri"/>
                <a:sym typeface="Calibri"/>
              </a:rPr>
              <a:t>Avoid Name Conflicts</a:t>
            </a:r>
            <a:r>
              <a:rPr lang="en" sz="2200">
                <a:latin typeface="Calibri"/>
                <a:ea typeface="Calibri"/>
                <a:cs typeface="Calibri"/>
                <a:sym typeface="Calibri"/>
              </a:rPr>
              <a:t>: Two classes with the same name can exist in different namespaces.</a:t>
            </a:r>
            <a:endParaRPr sz="2200">
              <a:latin typeface="Calibri"/>
              <a:ea typeface="Calibri"/>
              <a:cs typeface="Calibri"/>
              <a:sym typeface="Calibri"/>
            </a:endParaRPr>
          </a:p>
          <a:p>
            <a:pPr marL="0" lvl="0" indent="0" algn="l" rtl="0">
              <a:spcBef>
                <a:spcPts val="1000"/>
              </a:spcBef>
              <a:spcAft>
                <a:spcPts val="0"/>
              </a:spcAft>
              <a:buClr>
                <a:schemeClr val="dk1"/>
              </a:buClr>
              <a:buSzPct val="50000"/>
              <a:buFont typeface="Arial"/>
              <a:buNone/>
            </a:pPr>
            <a:r>
              <a:rPr lang="en" sz="2200">
                <a:latin typeface="Calibri"/>
                <a:ea typeface="Calibri"/>
                <a:cs typeface="Calibri"/>
                <a:sym typeface="Calibri"/>
              </a:rPr>
              <a:t>•</a:t>
            </a:r>
            <a:r>
              <a:rPr lang="en" sz="2200" b="1">
                <a:latin typeface="Calibri"/>
                <a:ea typeface="Calibri"/>
                <a:cs typeface="Calibri"/>
                <a:sym typeface="Calibri"/>
              </a:rPr>
              <a:t>Code Organization</a:t>
            </a:r>
            <a:r>
              <a:rPr lang="en" sz="2200">
                <a:latin typeface="Calibri"/>
                <a:ea typeface="Calibri"/>
                <a:cs typeface="Calibri"/>
                <a:sym typeface="Calibri"/>
              </a:rPr>
              <a:t>: Helps organize code into logical groups.</a:t>
            </a:r>
            <a:endParaRPr sz="2200">
              <a:latin typeface="Calibri"/>
              <a:ea typeface="Calibri"/>
              <a:cs typeface="Calibri"/>
              <a:sym typeface="Calibri"/>
            </a:endParaRPr>
          </a:p>
          <a:p>
            <a:pPr marL="0" lvl="0" indent="0" algn="l" rtl="0">
              <a:spcBef>
                <a:spcPts val="1000"/>
              </a:spcBef>
              <a:spcAft>
                <a:spcPts val="0"/>
              </a:spcAft>
              <a:buClr>
                <a:schemeClr val="dk1"/>
              </a:buClr>
              <a:buSzPct val="50000"/>
              <a:buFont typeface="Arial"/>
              <a:buNone/>
            </a:pPr>
            <a:r>
              <a:rPr lang="en" sz="2200">
                <a:latin typeface="Calibri"/>
                <a:ea typeface="Calibri"/>
                <a:cs typeface="Calibri"/>
                <a:sym typeface="Calibri"/>
              </a:rPr>
              <a:t>•</a:t>
            </a:r>
            <a:r>
              <a:rPr lang="en" sz="2200" b="1">
                <a:latin typeface="Calibri"/>
                <a:ea typeface="Calibri"/>
                <a:cs typeface="Calibri"/>
                <a:sym typeface="Calibri"/>
              </a:rPr>
              <a:t>Maintainability</a:t>
            </a:r>
            <a:r>
              <a:rPr lang="en" sz="2200">
                <a:latin typeface="Calibri"/>
                <a:ea typeface="Calibri"/>
                <a:cs typeface="Calibri"/>
                <a:sym typeface="Calibri"/>
              </a:rPr>
              <a:t>: Easier to manage large projects.</a:t>
            </a:r>
            <a:endParaRPr sz="2200">
              <a:latin typeface="Calibri"/>
              <a:ea typeface="Calibri"/>
              <a:cs typeface="Calibri"/>
              <a:sym typeface="Calibri"/>
            </a:endParaRPr>
          </a:p>
          <a:p>
            <a:pPr marL="0" lvl="0" indent="0" algn="l" rtl="0">
              <a:spcBef>
                <a:spcPts val="800"/>
              </a:spcBef>
              <a:spcAft>
                <a:spcPts val="0"/>
              </a:spcAft>
              <a:buNone/>
            </a:pPr>
            <a:endParaRPr>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96"/>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t>DECISION MAKING</a:t>
            </a:r>
            <a:endParaRPr/>
          </a:p>
        </p:txBody>
      </p:sp>
      <p:sp>
        <p:nvSpPr>
          <p:cNvPr id="578" name="Google Shape;578;p96"/>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9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WHAT IS DECISION MAKING</a:t>
            </a:r>
            <a:endParaRPr/>
          </a:p>
        </p:txBody>
      </p:sp>
      <p:sp>
        <p:nvSpPr>
          <p:cNvPr id="584" name="Google Shape;584;p9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1000"/>
              </a:spcBef>
              <a:spcAft>
                <a:spcPts val="0"/>
              </a:spcAft>
              <a:buClr>
                <a:schemeClr val="dk1"/>
              </a:buClr>
              <a:buSzPts val="1100"/>
              <a:buFont typeface="Arial"/>
              <a:buNone/>
            </a:pPr>
            <a:r>
              <a:rPr lang="en" sz="1800">
                <a:latin typeface="Calibri"/>
                <a:ea typeface="Calibri"/>
                <a:cs typeface="Calibri"/>
                <a:sym typeface="Calibri"/>
              </a:rPr>
              <a:t>•Decision making structures requires the programmer to specify one or more conditions to be evaluated or tested by the program, along with a statement or statements to be executed if the condition is determined to be true, and optionally, other statements to be executed if the condition is determined to be false.</a:t>
            </a:r>
            <a:endParaRPr sz="1800">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endParaRPr sz="1800">
              <a:latin typeface="Calibri"/>
              <a:ea typeface="Calibri"/>
              <a:cs typeface="Calibri"/>
              <a:sym typeface="Calibri"/>
            </a:endParaRPr>
          </a:p>
          <a:p>
            <a:pPr marL="0" lvl="0" indent="0" algn="l" rtl="0">
              <a:spcBef>
                <a:spcPts val="800"/>
              </a:spcBef>
              <a:spcAft>
                <a:spcPts val="0"/>
              </a:spcAft>
              <a:buNone/>
            </a:pPr>
            <a:endParaRPr sz="1800">
              <a:latin typeface="Calibri"/>
              <a:ea typeface="Calibri"/>
              <a:cs typeface="Calibri"/>
              <a:sym typeface="Calibri"/>
            </a:endParaRPr>
          </a:p>
        </p:txBody>
      </p:sp>
      <p:pic>
        <p:nvPicPr>
          <p:cNvPr id="585" name="Google Shape;585;p97"/>
          <p:cNvPicPr preferRelativeResize="0"/>
          <p:nvPr/>
        </p:nvPicPr>
        <p:blipFill>
          <a:blip r:embed="rId3">
            <a:alphaModFix/>
          </a:blip>
          <a:stretch>
            <a:fillRect/>
          </a:stretch>
        </p:blipFill>
        <p:spPr>
          <a:xfrm>
            <a:off x="2513800" y="2845750"/>
            <a:ext cx="3648775" cy="21727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9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fontScale="90000"/>
          </a:bodyPr>
          <a:lstStyle/>
          <a:p>
            <a:pPr marL="0" lvl="0" indent="0" algn="r" rtl="0">
              <a:spcBef>
                <a:spcPts val="0"/>
              </a:spcBef>
              <a:spcAft>
                <a:spcPts val="0"/>
              </a:spcAft>
              <a:buNone/>
            </a:pPr>
            <a:r>
              <a:rPr lang="en" sz="4000">
                <a:solidFill>
                  <a:srgbClr val="FFFFFF"/>
                </a:solidFill>
              </a:rPr>
              <a:t>Conditional statements of c#</a:t>
            </a:r>
            <a:endParaRPr/>
          </a:p>
        </p:txBody>
      </p:sp>
      <p:sp>
        <p:nvSpPr>
          <p:cNvPr id="591" name="Google Shape;591;p9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1000"/>
              </a:spcBef>
              <a:spcAft>
                <a:spcPts val="0"/>
              </a:spcAft>
              <a:buClr>
                <a:schemeClr val="dk1"/>
              </a:buClr>
              <a:buSzPts val="1100"/>
              <a:buFont typeface="Arial"/>
              <a:buNone/>
            </a:pPr>
            <a:r>
              <a:rPr lang="en" sz="2200">
                <a:latin typeface="Calibri"/>
                <a:ea typeface="Calibri"/>
                <a:cs typeface="Calibri"/>
                <a:sym typeface="Calibri"/>
              </a:rPr>
              <a:t>There are few conditional statements of C# is mentioned below:</a:t>
            </a:r>
            <a:endParaRPr sz="2200">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200">
                <a:latin typeface="Calibri"/>
                <a:ea typeface="Calibri"/>
                <a:cs typeface="Calibri"/>
                <a:sym typeface="Calibri"/>
              </a:rPr>
              <a:t>•if</a:t>
            </a:r>
            <a:endParaRPr sz="2200">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200">
                <a:latin typeface="Calibri"/>
                <a:ea typeface="Calibri"/>
                <a:cs typeface="Calibri"/>
                <a:sym typeface="Calibri"/>
              </a:rPr>
              <a:t>•if-else</a:t>
            </a:r>
            <a:endParaRPr sz="2200">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200">
                <a:latin typeface="Calibri"/>
                <a:ea typeface="Calibri"/>
                <a:cs typeface="Calibri"/>
                <a:sym typeface="Calibri"/>
              </a:rPr>
              <a:t>•if-else-if</a:t>
            </a:r>
            <a:endParaRPr sz="2200">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200">
                <a:latin typeface="Calibri"/>
                <a:ea typeface="Calibri"/>
                <a:cs typeface="Calibri"/>
                <a:sym typeface="Calibri"/>
              </a:rPr>
              <a:t>•Nested if</a:t>
            </a:r>
            <a:endParaRPr sz="2200">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200">
                <a:latin typeface="Calibri"/>
                <a:ea typeface="Calibri"/>
                <a:cs typeface="Calibri"/>
                <a:sym typeface="Calibri"/>
              </a:rPr>
              <a:t>•Switch</a:t>
            </a:r>
            <a:endParaRPr sz="2200">
              <a:latin typeface="Calibri"/>
              <a:ea typeface="Calibri"/>
              <a:cs typeface="Calibri"/>
              <a:sym typeface="Calibri"/>
            </a:endParaRPr>
          </a:p>
          <a:p>
            <a:pPr marL="12700" lvl="0" indent="0" algn="l" rtl="0">
              <a:spcBef>
                <a:spcPts val="500"/>
              </a:spcBef>
              <a:spcAft>
                <a:spcPts val="0"/>
              </a:spcAft>
              <a:buClr>
                <a:schemeClr val="dk1"/>
              </a:buClr>
              <a:buSzPts val="1100"/>
              <a:buFont typeface="Arial"/>
              <a:buNone/>
            </a:pPr>
            <a:r>
              <a:rPr lang="en" sz="2200">
                <a:latin typeface="Calibri"/>
                <a:ea typeface="Calibri"/>
                <a:cs typeface="Calibri"/>
                <a:sym typeface="Calibri"/>
              </a:rPr>
              <a:t>•Nested Switch</a:t>
            </a:r>
            <a:endParaRPr sz="2200">
              <a:latin typeface="Calibri"/>
              <a:ea typeface="Calibri"/>
              <a:cs typeface="Calibri"/>
              <a:sym typeface="Calibri"/>
            </a:endParaRPr>
          </a:p>
          <a:p>
            <a:pPr marL="0" lvl="0" indent="0" algn="l" rtl="0">
              <a:spcBef>
                <a:spcPts val="1000"/>
              </a:spcBef>
              <a:spcAft>
                <a:spcPts val="0"/>
              </a:spcAft>
              <a:buClr>
                <a:schemeClr val="dk1"/>
              </a:buClr>
              <a:buSzPts val="1100"/>
              <a:buFont typeface="Arial"/>
              <a:buNone/>
            </a:pPr>
            <a:endParaRPr sz="2200">
              <a:latin typeface="Calibri"/>
              <a:ea typeface="Calibri"/>
              <a:cs typeface="Calibri"/>
              <a:sym typeface="Calibri"/>
            </a:endParaRPr>
          </a:p>
          <a:p>
            <a:pPr marL="0" lvl="0" indent="0" algn="l" rtl="0">
              <a:spcBef>
                <a:spcPts val="800"/>
              </a:spcBef>
              <a:spcAft>
                <a:spcPts val="0"/>
              </a:spcAft>
              <a:buNone/>
            </a:pPr>
            <a:endParaRPr>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9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a:t>TYPES OF DECISION MAKING STATEMENTS</a:t>
            </a:r>
            <a:endParaRPr/>
          </a:p>
        </p:txBody>
      </p:sp>
      <p:graphicFrame>
        <p:nvGraphicFramePr>
          <p:cNvPr id="597" name="Google Shape;597;p99"/>
          <p:cNvGraphicFramePr/>
          <p:nvPr/>
        </p:nvGraphicFramePr>
        <p:xfrm>
          <a:off x="952500" y="1619250"/>
          <a:ext cx="3000000" cy="3000000"/>
        </p:xfrm>
        <a:graphic>
          <a:graphicData uri="http://schemas.openxmlformats.org/drawingml/2006/table">
            <a:tbl>
              <a:tblPr>
                <a:noFill/>
                <a:tableStyleId>{52AF7735-1A30-4EDB-8E02-57A44A249223}</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solidFill>
                            <a:schemeClr val="lt1"/>
                          </a:solidFill>
                        </a:rPr>
                        <a:t>STATEMENT</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DESCRIPTION</a:t>
                      </a:r>
                      <a:endParaRPr>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solidFill>
                            <a:schemeClr val="lt1"/>
                          </a:solidFill>
                        </a:rPr>
                        <a:t>IF Statement</a:t>
                      </a:r>
                      <a:endParaRPr>
                        <a:solidFill>
                          <a:schemeClr val="lt1"/>
                        </a:solidFill>
                      </a:endParaRPr>
                    </a:p>
                  </a:txBody>
                  <a:tcPr marL="91425" marR="91425" marT="91425" marB="91425"/>
                </a:tc>
                <a:tc>
                  <a:txBody>
                    <a:bodyPr/>
                    <a:lstStyle/>
                    <a:p>
                      <a:pPr marL="0" lvl="0" indent="0" algn="l" rtl="0">
                        <a:spcBef>
                          <a:spcPts val="0"/>
                        </a:spcBef>
                        <a:spcAft>
                          <a:spcPts val="0"/>
                        </a:spcAft>
                        <a:buNone/>
                      </a:pPr>
                      <a:r>
                        <a:rPr lang="en" sz="1200">
                          <a:solidFill>
                            <a:schemeClr val="lt1"/>
                          </a:solidFill>
                          <a:highlight>
                            <a:schemeClr val="dk1"/>
                          </a:highlight>
                          <a:latin typeface="Verdana"/>
                          <a:ea typeface="Verdana"/>
                          <a:cs typeface="Verdana"/>
                          <a:sym typeface="Verdana"/>
                        </a:rPr>
                        <a:t>An </a:t>
                      </a:r>
                      <a:r>
                        <a:rPr lang="en" sz="1200" b="1">
                          <a:solidFill>
                            <a:schemeClr val="lt1"/>
                          </a:solidFill>
                          <a:highlight>
                            <a:schemeClr val="dk1"/>
                          </a:highlight>
                          <a:latin typeface="Verdana"/>
                          <a:ea typeface="Verdana"/>
                          <a:cs typeface="Verdana"/>
                          <a:sym typeface="Verdana"/>
                        </a:rPr>
                        <a:t>if statement</a:t>
                      </a:r>
                      <a:r>
                        <a:rPr lang="en" sz="1200">
                          <a:solidFill>
                            <a:schemeClr val="lt1"/>
                          </a:solidFill>
                          <a:highlight>
                            <a:schemeClr val="dk1"/>
                          </a:highlight>
                          <a:latin typeface="Verdana"/>
                          <a:ea typeface="Verdana"/>
                          <a:cs typeface="Verdana"/>
                          <a:sym typeface="Verdana"/>
                        </a:rPr>
                        <a:t> consists of a boolean expression followed by one or more statements.</a:t>
                      </a:r>
                      <a:endParaRPr>
                        <a:solidFill>
                          <a:schemeClr val="lt1"/>
                        </a:solidFill>
                        <a:highlight>
                          <a:schemeClr val="dk1"/>
                        </a:highlight>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a:solidFill>
                            <a:schemeClr val="lt1"/>
                          </a:solidFill>
                        </a:rPr>
                        <a:t>IF ELSE Statement</a:t>
                      </a:r>
                      <a:endParaRPr>
                        <a:solidFill>
                          <a:schemeClr val="lt1"/>
                        </a:solidFill>
                      </a:endParaRPr>
                    </a:p>
                  </a:txBody>
                  <a:tcPr marL="91425" marR="91425" marT="91425" marB="91425"/>
                </a:tc>
                <a:tc>
                  <a:txBody>
                    <a:bodyPr/>
                    <a:lstStyle/>
                    <a:p>
                      <a:pPr marL="0" lvl="0" indent="0" algn="l" rtl="0">
                        <a:spcBef>
                          <a:spcPts val="0"/>
                        </a:spcBef>
                        <a:spcAft>
                          <a:spcPts val="0"/>
                        </a:spcAft>
                        <a:buNone/>
                      </a:pPr>
                      <a:r>
                        <a:rPr lang="en" sz="1200">
                          <a:solidFill>
                            <a:schemeClr val="lt1"/>
                          </a:solidFill>
                          <a:highlight>
                            <a:schemeClr val="dk1"/>
                          </a:highlight>
                          <a:latin typeface="Verdana"/>
                          <a:ea typeface="Verdana"/>
                          <a:cs typeface="Verdana"/>
                          <a:sym typeface="Verdana"/>
                        </a:rPr>
                        <a:t>An </a:t>
                      </a:r>
                      <a:r>
                        <a:rPr lang="en" sz="1200" b="1">
                          <a:solidFill>
                            <a:schemeClr val="lt1"/>
                          </a:solidFill>
                          <a:highlight>
                            <a:schemeClr val="dk1"/>
                          </a:highlight>
                          <a:latin typeface="Verdana"/>
                          <a:ea typeface="Verdana"/>
                          <a:cs typeface="Verdana"/>
                          <a:sym typeface="Verdana"/>
                        </a:rPr>
                        <a:t>if statement</a:t>
                      </a:r>
                      <a:r>
                        <a:rPr lang="en" sz="1200">
                          <a:solidFill>
                            <a:schemeClr val="lt1"/>
                          </a:solidFill>
                          <a:highlight>
                            <a:schemeClr val="dk1"/>
                          </a:highlight>
                          <a:latin typeface="Verdana"/>
                          <a:ea typeface="Verdana"/>
                          <a:cs typeface="Verdana"/>
                          <a:sym typeface="Verdana"/>
                        </a:rPr>
                        <a:t> can be followed by an optional </a:t>
                      </a:r>
                      <a:r>
                        <a:rPr lang="en" sz="1200" b="1">
                          <a:solidFill>
                            <a:schemeClr val="lt1"/>
                          </a:solidFill>
                          <a:highlight>
                            <a:schemeClr val="dk1"/>
                          </a:highlight>
                          <a:latin typeface="Verdana"/>
                          <a:ea typeface="Verdana"/>
                          <a:cs typeface="Verdana"/>
                          <a:sym typeface="Verdana"/>
                        </a:rPr>
                        <a:t>else statement</a:t>
                      </a:r>
                      <a:r>
                        <a:rPr lang="en" sz="1200">
                          <a:solidFill>
                            <a:schemeClr val="lt1"/>
                          </a:solidFill>
                          <a:highlight>
                            <a:schemeClr val="dk1"/>
                          </a:highlight>
                          <a:latin typeface="Verdana"/>
                          <a:ea typeface="Verdana"/>
                          <a:cs typeface="Verdana"/>
                          <a:sym typeface="Verdana"/>
                        </a:rPr>
                        <a:t>, which executes when the boolean expression is false</a:t>
                      </a:r>
                      <a:endParaRPr>
                        <a:solidFill>
                          <a:schemeClr val="lt1"/>
                        </a:solidFill>
                        <a:highlight>
                          <a:schemeClr val="dk1"/>
                        </a:highlight>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a:solidFill>
                            <a:schemeClr val="lt1"/>
                          </a:solidFill>
                        </a:rPr>
                        <a:t>NESTED IF Statement</a:t>
                      </a:r>
                      <a:endParaRPr>
                        <a:solidFill>
                          <a:schemeClr val="lt1"/>
                        </a:solidFill>
                      </a:endParaRPr>
                    </a:p>
                  </a:txBody>
                  <a:tcPr marL="91425" marR="91425" marT="91425" marB="91425"/>
                </a:tc>
                <a:tc>
                  <a:txBody>
                    <a:bodyPr/>
                    <a:lstStyle/>
                    <a:p>
                      <a:pPr marL="0" lvl="0" indent="0" algn="l" rtl="0">
                        <a:spcBef>
                          <a:spcPts val="0"/>
                        </a:spcBef>
                        <a:spcAft>
                          <a:spcPts val="0"/>
                        </a:spcAft>
                        <a:buNone/>
                      </a:pPr>
                      <a:r>
                        <a:rPr lang="en" sz="1200">
                          <a:solidFill>
                            <a:schemeClr val="lt1"/>
                          </a:solidFill>
                          <a:highlight>
                            <a:schemeClr val="dk1"/>
                          </a:highlight>
                          <a:latin typeface="Verdana"/>
                          <a:ea typeface="Verdana"/>
                          <a:cs typeface="Verdana"/>
                          <a:sym typeface="Verdana"/>
                        </a:rPr>
                        <a:t>You can use one </a:t>
                      </a:r>
                      <a:r>
                        <a:rPr lang="en" sz="1200" b="1">
                          <a:solidFill>
                            <a:schemeClr val="lt1"/>
                          </a:solidFill>
                          <a:highlight>
                            <a:schemeClr val="dk1"/>
                          </a:highlight>
                          <a:latin typeface="Verdana"/>
                          <a:ea typeface="Verdana"/>
                          <a:cs typeface="Verdana"/>
                          <a:sym typeface="Verdana"/>
                        </a:rPr>
                        <a:t>if</a:t>
                      </a:r>
                      <a:r>
                        <a:rPr lang="en" sz="1200">
                          <a:solidFill>
                            <a:schemeClr val="lt1"/>
                          </a:solidFill>
                          <a:highlight>
                            <a:schemeClr val="dk1"/>
                          </a:highlight>
                          <a:latin typeface="Verdana"/>
                          <a:ea typeface="Verdana"/>
                          <a:cs typeface="Verdana"/>
                          <a:sym typeface="Verdana"/>
                        </a:rPr>
                        <a:t> or </a:t>
                      </a:r>
                      <a:r>
                        <a:rPr lang="en" sz="1200" b="1">
                          <a:solidFill>
                            <a:schemeClr val="lt1"/>
                          </a:solidFill>
                          <a:highlight>
                            <a:schemeClr val="dk1"/>
                          </a:highlight>
                          <a:latin typeface="Verdana"/>
                          <a:ea typeface="Verdana"/>
                          <a:cs typeface="Verdana"/>
                          <a:sym typeface="Verdana"/>
                        </a:rPr>
                        <a:t>else if</a:t>
                      </a:r>
                      <a:r>
                        <a:rPr lang="en" sz="1200">
                          <a:solidFill>
                            <a:schemeClr val="lt1"/>
                          </a:solidFill>
                          <a:highlight>
                            <a:schemeClr val="dk1"/>
                          </a:highlight>
                          <a:latin typeface="Verdana"/>
                          <a:ea typeface="Verdana"/>
                          <a:cs typeface="Verdana"/>
                          <a:sym typeface="Verdana"/>
                        </a:rPr>
                        <a:t> statement inside another </a:t>
                      </a:r>
                      <a:r>
                        <a:rPr lang="en" sz="1200" b="1">
                          <a:solidFill>
                            <a:schemeClr val="lt1"/>
                          </a:solidFill>
                          <a:highlight>
                            <a:schemeClr val="dk1"/>
                          </a:highlight>
                          <a:latin typeface="Verdana"/>
                          <a:ea typeface="Verdana"/>
                          <a:cs typeface="Verdana"/>
                          <a:sym typeface="Verdana"/>
                        </a:rPr>
                        <a:t>if</a:t>
                      </a:r>
                      <a:r>
                        <a:rPr lang="en" sz="1200">
                          <a:solidFill>
                            <a:schemeClr val="lt1"/>
                          </a:solidFill>
                          <a:highlight>
                            <a:schemeClr val="dk1"/>
                          </a:highlight>
                          <a:latin typeface="Verdana"/>
                          <a:ea typeface="Verdana"/>
                          <a:cs typeface="Verdana"/>
                          <a:sym typeface="Verdana"/>
                        </a:rPr>
                        <a:t> or </a:t>
                      </a:r>
                      <a:r>
                        <a:rPr lang="en" sz="1200" b="1">
                          <a:solidFill>
                            <a:schemeClr val="lt1"/>
                          </a:solidFill>
                          <a:highlight>
                            <a:schemeClr val="dk1"/>
                          </a:highlight>
                          <a:latin typeface="Verdana"/>
                          <a:ea typeface="Verdana"/>
                          <a:cs typeface="Verdana"/>
                          <a:sym typeface="Verdana"/>
                        </a:rPr>
                        <a:t>else if</a:t>
                      </a:r>
                      <a:r>
                        <a:rPr lang="en" sz="1200">
                          <a:solidFill>
                            <a:schemeClr val="lt1"/>
                          </a:solidFill>
                          <a:highlight>
                            <a:schemeClr val="dk1"/>
                          </a:highlight>
                          <a:latin typeface="Verdana"/>
                          <a:ea typeface="Verdana"/>
                          <a:cs typeface="Verdana"/>
                          <a:sym typeface="Verdana"/>
                        </a:rPr>
                        <a:t> statement(s).</a:t>
                      </a:r>
                      <a:endParaRPr>
                        <a:solidFill>
                          <a:schemeClr val="lt1"/>
                        </a:solidFill>
                        <a:highlight>
                          <a:schemeClr val="dk1"/>
                        </a:highlight>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a:solidFill>
                            <a:schemeClr val="lt1"/>
                          </a:solidFill>
                        </a:rPr>
                        <a:t>SWITCH Statement</a:t>
                      </a:r>
                      <a:endParaRPr>
                        <a:solidFill>
                          <a:schemeClr val="lt1"/>
                        </a:solidFill>
                      </a:endParaRPr>
                    </a:p>
                  </a:txBody>
                  <a:tcPr marL="91425" marR="91425" marT="91425" marB="91425"/>
                </a:tc>
                <a:tc>
                  <a:txBody>
                    <a:bodyPr/>
                    <a:lstStyle/>
                    <a:p>
                      <a:pPr marL="0" lvl="0" indent="0" algn="l" rtl="0">
                        <a:spcBef>
                          <a:spcPts val="0"/>
                        </a:spcBef>
                        <a:spcAft>
                          <a:spcPts val="0"/>
                        </a:spcAft>
                        <a:buNone/>
                      </a:pPr>
                      <a:r>
                        <a:rPr lang="en" sz="1200">
                          <a:solidFill>
                            <a:schemeClr val="lt1"/>
                          </a:solidFill>
                          <a:highlight>
                            <a:schemeClr val="dk1"/>
                          </a:highlight>
                          <a:latin typeface="Verdana"/>
                          <a:ea typeface="Verdana"/>
                          <a:cs typeface="Verdana"/>
                          <a:sym typeface="Verdana"/>
                        </a:rPr>
                        <a:t>A </a:t>
                      </a:r>
                      <a:r>
                        <a:rPr lang="en" sz="1200" b="1">
                          <a:solidFill>
                            <a:schemeClr val="lt1"/>
                          </a:solidFill>
                          <a:highlight>
                            <a:schemeClr val="dk1"/>
                          </a:highlight>
                          <a:latin typeface="Verdana"/>
                          <a:ea typeface="Verdana"/>
                          <a:cs typeface="Verdana"/>
                          <a:sym typeface="Verdana"/>
                        </a:rPr>
                        <a:t>switch</a:t>
                      </a:r>
                      <a:r>
                        <a:rPr lang="en" sz="1200">
                          <a:solidFill>
                            <a:schemeClr val="lt1"/>
                          </a:solidFill>
                          <a:highlight>
                            <a:schemeClr val="dk1"/>
                          </a:highlight>
                          <a:latin typeface="Verdana"/>
                          <a:ea typeface="Verdana"/>
                          <a:cs typeface="Verdana"/>
                          <a:sym typeface="Verdana"/>
                        </a:rPr>
                        <a:t> statement allows a variable to be tested for equality against a list of values.</a:t>
                      </a:r>
                      <a:endParaRPr>
                        <a:solidFill>
                          <a:schemeClr val="lt1"/>
                        </a:solidFill>
                        <a:highlight>
                          <a:schemeClr val="dk1"/>
                        </a:highlight>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10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IF Statement</a:t>
            </a:r>
            <a:endParaRPr/>
          </a:p>
        </p:txBody>
      </p:sp>
      <p:sp>
        <p:nvSpPr>
          <p:cNvPr id="603" name="Google Shape;603;p10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39725" algn="l" rtl="0">
              <a:spcBef>
                <a:spcPts val="800"/>
              </a:spcBef>
              <a:spcAft>
                <a:spcPts val="0"/>
              </a:spcAft>
              <a:buClr>
                <a:srgbClr val="FFFFFF"/>
              </a:buClr>
              <a:buSzPts val="1750"/>
              <a:buFont typeface="Calibri"/>
              <a:buChar char="•"/>
            </a:pPr>
            <a:r>
              <a:rPr lang="en" sz="1750">
                <a:solidFill>
                  <a:srgbClr val="FFFFFF"/>
                </a:solidFill>
                <a:highlight>
                  <a:srgbClr val="131417"/>
                </a:highlight>
                <a:latin typeface="Calibri"/>
                <a:ea typeface="Calibri"/>
                <a:cs typeface="Calibri"/>
                <a:sym typeface="Calibri"/>
              </a:rPr>
              <a:t>The if statement checks the given condition. If the condition evaluates to be true then the block of code/statements will execute otherwise not.</a:t>
            </a:r>
            <a:endParaRPr sz="1750">
              <a:solidFill>
                <a:srgbClr val="FFFFFF"/>
              </a:solidFill>
              <a:highlight>
                <a:srgbClr val="131417"/>
              </a:highlight>
              <a:latin typeface="Calibri"/>
              <a:ea typeface="Calibri"/>
              <a:cs typeface="Calibri"/>
              <a:sym typeface="Calibri"/>
            </a:endParaRPr>
          </a:p>
          <a:p>
            <a:pPr marL="457200" lvl="0" indent="0" algn="l" rtl="0">
              <a:spcBef>
                <a:spcPts val="800"/>
              </a:spcBef>
              <a:spcAft>
                <a:spcPts val="0"/>
              </a:spcAft>
              <a:buNone/>
            </a:pPr>
            <a:endParaRPr sz="1750">
              <a:solidFill>
                <a:srgbClr val="FFFFFF"/>
              </a:solidFill>
              <a:highlight>
                <a:srgbClr val="131417"/>
              </a:highlight>
              <a:latin typeface="Calibri"/>
              <a:ea typeface="Calibri"/>
              <a:cs typeface="Calibri"/>
              <a:sym typeface="Calibri"/>
            </a:endParaRPr>
          </a:p>
          <a:p>
            <a:pPr marL="457200" lvl="0" indent="0" algn="l" rtl="0">
              <a:spcBef>
                <a:spcPts val="800"/>
              </a:spcBef>
              <a:spcAft>
                <a:spcPts val="0"/>
              </a:spcAft>
              <a:buNone/>
            </a:pPr>
            <a:endParaRPr sz="1750">
              <a:solidFill>
                <a:srgbClr val="FFFFFF"/>
              </a:solidFill>
              <a:highlight>
                <a:srgbClr val="131417"/>
              </a:highlight>
              <a:latin typeface="Calibri"/>
              <a:ea typeface="Calibri"/>
              <a:cs typeface="Calibri"/>
              <a:sym typeface="Calibri"/>
            </a:endParaRPr>
          </a:p>
        </p:txBody>
      </p:sp>
      <p:pic>
        <p:nvPicPr>
          <p:cNvPr id="604" name="Google Shape;604;p100"/>
          <p:cNvPicPr preferRelativeResize="0"/>
          <p:nvPr/>
        </p:nvPicPr>
        <p:blipFill>
          <a:blip r:embed="rId3">
            <a:alphaModFix/>
          </a:blip>
          <a:stretch>
            <a:fillRect/>
          </a:stretch>
        </p:blipFill>
        <p:spPr>
          <a:xfrm>
            <a:off x="2447652" y="2290825"/>
            <a:ext cx="3596997" cy="257174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10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IF-ELSE Statement</a:t>
            </a:r>
            <a:endParaRPr/>
          </a:p>
        </p:txBody>
      </p:sp>
      <p:sp>
        <p:nvSpPr>
          <p:cNvPr id="610" name="Google Shape;610;p10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sz="1800">
                <a:solidFill>
                  <a:srgbClr val="FFFFFF"/>
                </a:solidFill>
                <a:highlight>
                  <a:srgbClr val="131417"/>
                </a:highlight>
                <a:latin typeface="Calibri"/>
                <a:ea typeface="Calibri"/>
                <a:cs typeface="Calibri"/>
                <a:sym typeface="Calibri"/>
              </a:rPr>
              <a:t>The if statement evaluates the code if the condition is true but what if the condition is not true, here comes the else statement. It tells the code what to do when the if condition is false.</a:t>
            </a:r>
            <a:endParaRPr sz="1800">
              <a:solidFill>
                <a:srgbClr val="FFFFFF"/>
              </a:solidFill>
              <a:highlight>
                <a:srgbClr val="131417"/>
              </a:highlight>
              <a:latin typeface="Calibri"/>
              <a:ea typeface="Calibri"/>
              <a:cs typeface="Calibri"/>
              <a:sym typeface="Calibri"/>
            </a:endParaRPr>
          </a:p>
          <a:p>
            <a:pPr marL="0" lvl="0" indent="0" algn="l" rtl="0">
              <a:spcBef>
                <a:spcPts val="800"/>
              </a:spcBef>
              <a:spcAft>
                <a:spcPts val="0"/>
              </a:spcAft>
              <a:buNone/>
            </a:pPr>
            <a:endParaRPr sz="1800">
              <a:solidFill>
                <a:srgbClr val="FFFFFF"/>
              </a:solidFill>
              <a:highlight>
                <a:srgbClr val="131417"/>
              </a:highlight>
              <a:latin typeface="Calibri"/>
              <a:ea typeface="Calibri"/>
              <a:cs typeface="Calibri"/>
              <a:sym typeface="Calibri"/>
            </a:endParaRPr>
          </a:p>
        </p:txBody>
      </p:sp>
      <p:pic>
        <p:nvPicPr>
          <p:cNvPr id="611" name="Google Shape;611;p101"/>
          <p:cNvPicPr preferRelativeResize="0"/>
          <p:nvPr/>
        </p:nvPicPr>
        <p:blipFill>
          <a:blip r:embed="rId3">
            <a:alphaModFix/>
          </a:blip>
          <a:stretch>
            <a:fillRect/>
          </a:stretch>
        </p:blipFill>
        <p:spPr>
          <a:xfrm>
            <a:off x="2534302" y="2271550"/>
            <a:ext cx="3596997" cy="25717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10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IF-ELSE-IF Statement</a:t>
            </a:r>
            <a:endParaRPr/>
          </a:p>
        </p:txBody>
      </p:sp>
      <p:sp>
        <p:nvSpPr>
          <p:cNvPr id="617" name="Google Shape;617;p10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en" sz="1350">
                <a:solidFill>
                  <a:srgbClr val="FFFFFF"/>
                </a:solidFill>
                <a:highlight>
                  <a:srgbClr val="131417"/>
                </a:highlight>
                <a:latin typeface="Calibri"/>
                <a:ea typeface="Calibri"/>
                <a:cs typeface="Calibri"/>
                <a:sym typeface="Calibri"/>
              </a:rPr>
              <a:t>The if-else-if ladder is used when you need to test multiple conditions one after another.</a:t>
            </a:r>
            <a:endParaRPr sz="1350">
              <a:solidFill>
                <a:srgbClr val="FFFFFF"/>
              </a:solidFill>
              <a:highlight>
                <a:srgbClr val="131417"/>
              </a:highlight>
              <a:latin typeface="Calibri"/>
              <a:ea typeface="Calibri"/>
              <a:cs typeface="Calibri"/>
              <a:sym typeface="Calibri"/>
            </a:endParaRPr>
          </a:p>
          <a:p>
            <a:pPr marL="685800" lvl="0" indent="-314325" algn="l" rtl="0">
              <a:lnSpc>
                <a:spcPct val="158000"/>
              </a:lnSpc>
              <a:spcBef>
                <a:spcPts val="800"/>
              </a:spcBef>
              <a:spcAft>
                <a:spcPts val="0"/>
              </a:spcAft>
              <a:buClr>
                <a:srgbClr val="FFFFFF"/>
              </a:buClr>
              <a:buSzPts val="1350"/>
              <a:buFont typeface="Calibri"/>
              <a:buChar char="●"/>
            </a:pPr>
            <a:r>
              <a:rPr lang="en" sz="1350">
                <a:solidFill>
                  <a:srgbClr val="FFFFFF"/>
                </a:solidFill>
                <a:highlight>
                  <a:srgbClr val="131417"/>
                </a:highlight>
                <a:latin typeface="Calibri"/>
                <a:ea typeface="Calibri"/>
                <a:cs typeface="Calibri"/>
                <a:sym typeface="Calibri"/>
              </a:rPr>
              <a:t>The program evaluates each condition in order.</a:t>
            </a:r>
            <a:endParaRPr sz="1350">
              <a:solidFill>
                <a:srgbClr val="FFFFFF"/>
              </a:solidFill>
              <a:highlight>
                <a:srgbClr val="131417"/>
              </a:highlight>
              <a:latin typeface="Calibri"/>
              <a:ea typeface="Calibri"/>
              <a:cs typeface="Calibri"/>
              <a:sym typeface="Calibri"/>
            </a:endParaRPr>
          </a:p>
          <a:p>
            <a:pPr marL="685800" lvl="0" indent="-314325" algn="l" rtl="0">
              <a:lnSpc>
                <a:spcPct val="158000"/>
              </a:lnSpc>
              <a:spcBef>
                <a:spcPts val="0"/>
              </a:spcBef>
              <a:spcAft>
                <a:spcPts val="0"/>
              </a:spcAft>
              <a:buClr>
                <a:srgbClr val="FFFFFF"/>
              </a:buClr>
              <a:buSzPts val="1350"/>
              <a:buFont typeface="Calibri"/>
              <a:buChar char="●"/>
            </a:pPr>
            <a:r>
              <a:rPr lang="en" sz="1350">
                <a:solidFill>
                  <a:srgbClr val="FFFFFF"/>
                </a:solidFill>
                <a:highlight>
                  <a:srgbClr val="131417"/>
                </a:highlight>
                <a:latin typeface="Calibri"/>
                <a:ea typeface="Calibri"/>
                <a:cs typeface="Calibri"/>
                <a:sym typeface="Calibri"/>
              </a:rPr>
              <a:t>As soon as one condition is true, its block executes and the ladder ends.</a:t>
            </a:r>
            <a:endParaRPr sz="1350">
              <a:solidFill>
                <a:srgbClr val="FFFFFF"/>
              </a:solidFill>
              <a:highlight>
                <a:srgbClr val="131417"/>
              </a:highlight>
              <a:latin typeface="Calibri"/>
              <a:ea typeface="Calibri"/>
              <a:cs typeface="Calibri"/>
              <a:sym typeface="Calibri"/>
            </a:endParaRPr>
          </a:p>
          <a:p>
            <a:pPr marL="685800" lvl="0" indent="-314325" algn="l" rtl="0">
              <a:lnSpc>
                <a:spcPct val="158000"/>
              </a:lnSpc>
              <a:spcBef>
                <a:spcPts val="0"/>
              </a:spcBef>
              <a:spcAft>
                <a:spcPts val="0"/>
              </a:spcAft>
              <a:buClr>
                <a:srgbClr val="FFFFFF"/>
              </a:buClr>
              <a:buSzPts val="1350"/>
              <a:buFont typeface="Calibri"/>
              <a:buChar char="●"/>
            </a:pPr>
            <a:r>
              <a:rPr lang="en" sz="1350">
                <a:solidFill>
                  <a:srgbClr val="FFFFFF"/>
                </a:solidFill>
                <a:highlight>
                  <a:srgbClr val="131417"/>
                </a:highlight>
                <a:latin typeface="Calibri"/>
                <a:ea typeface="Calibri"/>
                <a:cs typeface="Calibri"/>
                <a:sym typeface="Calibri"/>
              </a:rPr>
              <a:t>If none of the conditions are true, the else block (if provided) executes.</a:t>
            </a:r>
            <a:endParaRPr sz="1350">
              <a:solidFill>
                <a:srgbClr val="FFFFFF"/>
              </a:solidFill>
              <a:highlight>
                <a:srgbClr val="131417"/>
              </a:highlight>
              <a:latin typeface="Calibri"/>
              <a:ea typeface="Calibri"/>
              <a:cs typeface="Calibri"/>
              <a:sym typeface="Calibri"/>
            </a:endParaRPr>
          </a:p>
          <a:p>
            <a:pPr marL="457200" lvl="0" indent="0" algn="l" rtl="0">
              <a:lnSpc>
                <a:spcPct val="158000"/>
              </a:lnSpc>
              <a:spcBef>
                <a:spcPts val="1800"/>
              </a:spcBef>
              <a:spcAft>
                <a:spcPts val="0"/>
              </a:spcAft>
              <a:buNone/>
            </a:pPr>
            <a:endParaRPr sz="1350">
              <a:solidFill>
                <a:srgbClr val="FFFFFF"/>
              </a:solidFill>
              <a:highlight>
                <a:srgbClr val="131417"/>
              </a:highlight>
              <a:latin typeface="Calibri"/>
              <a:ea typeface="Calibri"/>
              <a:cs typeface="Calibri"/>
              <a:sym typeface="Calibri"/>
            </a:endParaRPr>
          </a:p>
          <a:p>
            <a:pPr marL="0" lvl="0" indent="0" algn="l" rtl="0">
              <a:spcBef>
                <a:spcPts val="1800"/>
              </a:spcBef>
              <a:spcAft>
                <a:spcPts val="0"/>
              </a:spcAft>
              <a:buNone/>
            </a:pPr>
            <a:endParaRPr>
              <a:latin typeface="Calibri"/>
              <a:ea typeface="Calibri"/>
              <a:cs typeface="Calibri"/>
              <a:sym typeface="Calibri"/>
            </a:endParaRPr>
          </a:p>
        </p:txBody>
      </p:sp>
      <p:pic>
        <p:nvPicPr>
          <p:cNvPr id="618" name="Google Shape;618;p102"/>
          <p:cNvPicPr preferRelativeResize="0"/>
          <p:nvPr/>
        </p:nvPicPr>
        <p:blipFill>
          <a:blip r:embed="rId3">
            <a:alphaModFix/>
          </a:blip>
          <a:stretch>
            <a:fillRect/>
          </a:stretch>
        </p:blipFill>
        <p:spPr>
          <a:xfrm>
            <a:off x="2919302" y="2906825"/>
            <a:ext cx="2695162" cy="1926963"/>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10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NESTED-IF Statement</a:t>
            </a:r>
            <a:endParaRPr/>
          </a:p>
        </p:txBody>
      </p:sp>
      <p:sp>
        <p:nvSpPr>
          <p:cNvPr id="624" name="Google Shape;624;p10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4325" algn="l" rtl="0">
              <a:spcBef>
                <a:spcPts val="800"/>
              </a:spcBef>
              <a:spcAft>
                <a:spcPts val="0"/>
              </a:spcAft>
              <a:buClr>
                <a:srgbClr val="FFFFFF"/>
              </a:buClr>
              <a:buSzPts val="1350"/>
              <a:buFont typeface="Nunito"/>
              <a:buChar char="•"/>
            </a:pPr>
            <a:r>
              <a:rPr lang="en" sz="1350">
                <a:solidFill>
                  <a:srgbClr val="FFFFFF"/>
                </a:solidFill>
                <a:highlight>
                  <a:srgbClr val="131417"/>
                </a:highlight>
                <a:latin typeface="Nunito"/>
                <a:ea typeface="Nunito"/>
                <a:cs typeface="Nunito"/>
                <a:sym typeface="Nunito"/>
              </a:rPr>
              <a:t>If statement inside an if statement is known as nested if. if statement in this case is the target of another if or else statement.</a:t>
            </a:r>
            <a:endParaRPr sz="1350">
              <a:solidFill>
                <a:srgbClr val="FFFFFF"/>
              </a:solidFill>
              <a:highlight>
                <a:srgbClr val="131417"/>
              </a:highlight>
              <a:latin typeface="Nunito"/>
              <a:ea typeface="Nunito"/>
              <a:cs typeface="Nunito"/>
              <a:sym typeface="Nunito"/>
            </a:endParaRPr>
          </a:p>
          <a:p>
            <a:pPr marL="457200" lvl="0" indent="-314325" algn="l" rtl="0">
              <a:spcBef>
                <a:spcPts val="0"/>
              </a:spcBef>
              <a:spcAft>
                <a:spcPts val="0"/>
              </a:spcAft>
              <a:buClr>
                <a:srgbClr val="FFFFFF"/>
              </a:buClr>
              <a:buSzPts val="1350"/>
              <a:buFont typeface="Nunito"/>
              <a:buChar char="•"/>
            </a:pPr>
            <a:r>
              <a:rPr lang="en" sz="1350">
                <a:solidFill>
                  <a:srgbClr val="FFFFFF"/>
                </a:solidFill>
                <a:highlight>
                  <a:srgbClr val="131417"/>
                </a:highlight>
                <a:latin typeface="Nunito"/>
                <a:ea typeface="Nunito"/>
                <a:cs typeface="Nunito"/>
                <a:sym typeface="Nunito"/>
              </a:rPr>
              <a:t> When more than one condition needs to be true and one of the condition is the sub-condition of parent condition, nested if can be used.</a:t>
            </a:r>
            <a:endParaRPr/>
          </a:p>
        </p:txBody>
      </p:sp>
      <p:pic>
        <p:nvPicPr>
          <p:cNvPr id="625" name="Google Shape;625;p103"/>
          <p:cNvPicPr preferRelativeResize="0"/>
          <p:nvPr/>
        </p:nvPicPr>
        <p:blipFill>
          <a:blip r:embed="rId3">
            <a:alphaModFix/>
          </a:blip>
          <a:stretch>
            <a:fillRect/>
          </a:stretch>
        </p:blipFill>
        <p:spPr>
          <a:xfrm>
            <a:off x="2398300" y="2571750"/>
            <a:ext cx="4184350" cy="20921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10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SWITCH Statement</a:t>
            </a:r>
            <a:endParaRPr/>
          </a:p>
        </p:txBody>
      </p:sp>
      <p:sp>
        <p:nvSpPr>
          <p:cNvPr id="631" name="Google Shape;631;p10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4325" algn="l" rtl="0">
              <a:spcBef>
                <a:spcPts val="800"/>
              </a:spcBef>
              <a:spcAft>
                <a:spcPts val="0"/>
              </a:spcAft>
              <a:buSzPts val="1350"/>
              <a:buFont typeface="Nunito"/>
              <a:buChar char="•"/>
            </a:pPr>
            <a:r>
              <a:rPr lang="en" sz="1350">
                <a:solidFill>
                  <a:srgbClr val="FFFFFF"/>
                </a:solidFill>
                <a:highlight>
                  <a:srgbClr val="131417"/>
                </a:highlight>
                <a:uFill>
                  <a:noFill/>
                </a:uFill>
                <a:latin typeface="Nunito"/>
                <a:ea typeface="Nunito"/>
                <a:cs typeface="Nunito"/>
                <a:sym typeface="Nunito"/>
                <a:hlinkClick r:id="rId3">
                  <a:extLst>
                    <a:ext uri="{A12FA001-AC4F-418D-AE19-62706E023703}">
                      <ahyp:hlinkClr xmlns:ahyp="http://schemas.microsoft.com/office/drawing/2018/hyperlinkcolor" val="tx"/>
                    </a:ext>
                  </a:extLst>
                </a:hlinkClick>
              </a:rPr>
              <a:t>Switch statement</a:t>
            </a:r>
            <a:r>
              <a:rPr lang="en" sz="1350">
                <a:solidFill>
                  <a:srgbClr val="FFFFFF"/>
                </a:solidFill>
                <a:highlight>
                  <a:srgbClr val="131417"/>
                </a:highlight>
                <a:latin typeface="Nunito"/>
                <a:ea typeface="Nunito"/>
                <a:cs typeface="Nunito"/>
                <a:sym typeface="Nunito"/>
              </a:rPr>
              <a:t> is an alternative to long if-else-if ladders. The expression is checked for different cases and the one match is execute. </a:t>
            </a:r>
            <a:endParaRPr sz="1350">
              <a:solidFill>
                <a:srgbClr val="FFFFFF"/>
              </a:solidFill>
              <a:highlight>
                <a:srgbClr val="131417"/>
              </a:highlight>
              <a:latin typeface="Nunito"/>
              <a:ea typeface="Nunito"/>
              <a:cs typeface="Nunito"/>
              <a:sym typeface="Nunito"/>
            </a:endParaRPr>
          </a:p>
          <a:p>
            <a:pPr marL="457200" lvl="0" indent="-314325" algn="l" rtl="0">
              <a:spcBef>
                <a:spcPts val="0"/>
              </a:spcBef>
              <a:spcAft>
                <a:spcPts val="0"/>
              </a:spcAft>
              <a:buSzPts val="1350"/>
              <a:buFont typeface="Nunito"/>
              <a:buChar char="•"/>
            </a:pPr>
            <a:r>
              <a:rPr lang="en" sz="1350">
                <a:solidFill>
                  <a:srgbClr val="FFFFFF"/>
                </a:solidFill>
                <a:highlight>
                  <a:srgbClr val="131417"/>
                </a:highlight>
                <a:latin typeface="Nunito"/>
                <a:ea typeface="Nunito"/>
                <a:cs typeface="Nunito"/>
                <a:sym typeface="Nunito"/>
              </a:rPr>
              <a:t>Break Statement is used to move out of the switch. If the break is not used, the control will flow to all cases below it until break is found or switch comes to an end.</a:t>
            </a:r>
            <a:endParaRPr sz="1350">
              <a:solidFill>
                <a:srgbClr val="FFFFFF"/>
              </a:solidFill>
              <a:highlight>
                <a:srgbClr val="131417"/>
              </a:highlight>
              <a:latin typeface="Nunito"/>
              <a:ea typeface="Nunito"/>
              <a:cs typeface="Nunito"/>
              <a:sym typeface="Nunito"/>
            </a:endParaRPr>
          </a:p>
          <a:p>
            <a:pPr marL="457200" lvl="0" indent="0" algn="l" rtl="0">
              <a:spcBef>
                <a:spcPts val="800"/>
              </a:spcBef>
              <a:spcAft>
                <a:spcPts val="0"/>
              </a:spcAft>
              <a:buNone/>
            </a:pPr>
            <a:endParaRPr sz="1350">
              <a:solidFill>
                <a:srgbClr val="FFFFFF"/>
              </a:solidFill>
              <a:highlight>
                <a:srgbClr val="131417"/>
              </a:highlight>
              <a:latin typeface="Nunito"/>
              <a:ea typeface="Nunito"/>
              <a:cs typeface="Nunito"/>
              <a:sym typeface="Nunito"/>
            </a:endParaRPr>
          </a:p>
        </p:txBody>
      </p:sp>
      <p:pic>
        <p:nvPicPr>
          <p:cNvPr id="632" name="Google Shape;632;p104"/>
          <p:cNvPicPr preferRelativeResize="0"/>
          <p:nvPr/>
        </p:nvPicPr>
        <p:blipFill>
          <a:blip r:embed="rId4">
            <a:alphaModFix/>
          </a:blip>
          <a:stretch>
            <a:fillRect/>
          </a:stretch>
        </p:blipFill>
        <p:spPr>
          <a:xfrm>
            <a:off x="2534302" y="2464075"/>
            <a:ext cx="3596997" cy="25717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05"/>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latin typeface="Calibri"/>
                <a:ea typeface="Calibri"/>
                <a:cs typeface="Calibri"/>
                <a:sym typeface="Calibri"/>
              </a:rPr>
              <a:t>LOOPING STATEMENTS</a:t>
            </a:r>
            <a:endParaRPr>
              <a:latin typeface="Calibri"/>
              <a:ea typeface="Calibri"/>
              <a:cs typeface="Calibri"/>
              <a:sym typeface="Calibri"/>
            </a:endParaRPr>
          </a:p>
        </p:txBody>
      </p:sp>
      <p:sp>
        <p:nvSpPr>
          <p:cNvPr id="638" name="Google Shape;638;p105"/>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0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Looping Statements</a:t>
            </a:r>
            <a:endParaRPr/>
          </a:p>
        </p:txBody>
      </p:sp>
      <p:sp>
        <p:nvSpPr>
          <p:cNvPr id="644" name="Google Shape;644;p10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55600" algn="l" rtl="0">
              <a:spcBef>
                <a:spcPts val="800"/>
              </a:spcBef>
              <a:spcAft>
                <a:spcPts val="0"/>
              </a:spcAft>
              <a:buSzPts val="2000"/>
              <a:buFont typeface="Calibri"/>
              <a:buChar char="•"/>
            </a:pPr>
            <a:r>
              <a:rPr lang="en" sz="2000">
                <a:highlight>
                  <a:schemeClr val="dk1"/>
                </a:highlight>
                <a:latin typeface="Calibri"/>
                <a:ea typeface="Calibri"/>
                <a:cs typeface="Calibri"/>
                <a:sym typeface="Calibri"/>
              </a:rPr>
              <a:t>Looping in a programming language is a way to execute a statement or a set of statements multiple times, depending on the result of the condition to be evaluated to execute statements. The result condition should be true to execute statements within loops.</a:t>
            </a:r>
            <a:endParaRPr sz="2000">
              <a:highlight>
                <a:schemeClr val="dk1"/>
              </a:highlight>
              <a:latin typeface="Calibri"/>
              <a:ea typeface="Calibri"/>
              <a:cs typeface="Calibri"/>
              <a:sym typeface="Calibri"/>
            </a:endParaRPr>
          </a:p>
        </p:txBody>
      </p:sp>
      <p:pic>
        <p:nvPicPr>
          <p:cNvPr id="645" name="Google Shape;645;p106"/>
          <p:cNvPicPr preferRelativeResize="0"/>
          <p:nvPr/>
        </p:nvPicPr>
        <p:blipFill>
          <a:blip r:embed="rId3">
            <a:alphaModFix/>
          </a:blip>
          <a:stretch>
            <a:fillRect/>
          </a:stretch>
        </p:blipFill>
        <p:spPr>
          <a:xfrm>
            <a:off x="3871825" y="2858175"/>
            <a:ext cx="1766316" cy="2021967"/>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0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TYPES OF LOOP</a:t>
            </a:r>
            <a:endParaRPr/>
          </a:p>
        </p:txBody>
      </p:sp>
      <p:graphicFrame>
        <p:nvGraphicFramePr>
          <p:cNvPr id="651" name="Google Shape;651;p107"/>
          <p:cNvGraphicFramePr/>
          <p:nvPr/>
        </p:nvGraphicFramePr>
        <p:xfrm>
          <a:off x="952500" y="1619250"/>
          <a:ext cx="3000000" cy="3000000"/>
        </p:xfrm>
        <a:graphic>
          <a:graphicData uri="http://schemas.openxmlformats.org/drawingml/2006/table">
            <a:tbl>
              <a:tblPr>
                <a:noFill/>
                <a:tableStyleId>{52AF7735-1A30-4EDB-8E02-57A44A249223}</a:tableStyleId>
              </a:tblPr>
              <a:tblGrid>
                <a:gridCol w="1476375">
                  <a:extLst>
                    <a:ext uri="{9D8B030D-6E8A-4147-A177-3AD203B41FA5}">
                      <a16:colId xmlns:a16="http://schemas.microsoft.com/office/drawing/2014/main" val="20000"/>
                    </a:ext>
                  </a:extLst>
                </a:gridCol>
                <a:gridCol w="5762625">
                  <a:extLst>
                    <a:ext uri="{9D8B030D-6E8A-4147-A177-3AD203B41FA5}">
                      <a16:colId xmlns:a16="http://schemas.microsoft.com/office/drawing/2014/main" val="20001"/>
                    </a:ext>
                  </a:extLst>
                </a:gridCol>
              </a:tblGrid>
              <a:tr h="381000">
                <a:tc>
                  <a:txBody>
                    <a:bodyPr/>
                    <a:lstStyle/>
                    <a:p>
                      <a:pPr marL="0" lvl="0" indent="0" algn="ctr" rtl="0">
                        <a:lnSpc>
                          <a:spcPct val="115000"/>
                        </a:lnSpc>
                        <a:spcBef>
                          <a:spcPts val="0"/>
                        </a:spcBef>
                        <a:spcAft>
                          <a:spcPts val="0"/>
                        </a:spcAft>
                        <a:buNone/>
                      </a:pPr>
                      <a:r>
                        <a:rPr lang="en" sz="1200" b="1">
                          <a:solidFill>
                            <a:schemeClr val="lt1"/>
                          </a:solidFill>
                          <a:highlight>
                            <a:schemeClr val="dk1"/>
                          </a:highlight>
                          <a:latin typeface="Verdana"/>
                          <a:ea typeface="Verdana"/>
                          <a:cs typeface="Verdana"/>
                          <a:sym typeface="Verdana"/>
                        </a:rPr>
                        <a:t>Sr.No.</a:t>
                      </a:r>
                      <a:endParaRPr sz="1200" b="1">
                        <a:solidFill>
                          <a:schemeClr val="lt1"/>
                        </a:solidFill>
                        <a:highlight>
                          <a:schemeClr val="dk1"/>
                        </a:highlight>
                        <a:latin typeface="Verdana"/>
                        <a:ea typeface="Verdana"/>
                        <a:cs typeface="Verdana"/>
                        <a:sym typeface="Verdana"/>
                      </a:endParaRPr>
                    </a:p>
                  </a:txBody>
                  <a:tcPr marL="76200" marR="76200" marT="76200" marB="76200"/>
                </a:tc>
                <a:tc>
                  <a:txBody>
                    <a:bodyPr/>
                    <a:lstStyle/>
                    <a:p>
                      <a:pPr marL="0" lvl="0" indent="0" algn="ctr" rtl="0">
                        <a:lnSpc>
                          <a:spcPct val="115000"/>
                        </a:lnSpc>
                        <a:spcBef>
                          <a:spcPts val="0"/>
                        </a:spcBef>
                        <a:spcAft>
                          <a:spcPts val="0"/>
                        </a:spcAft>
                        <a:buNone/>
                      </a:pPr>
                      <a:r>
                        <a:rPr lang="en" sz="1200" b="1">
                          <a:solidFill>
                            <a:schemeClr val="lt1"/>
                          </a:solidFill>
                          <a:highlight>
                            <a:schemeClr val="dk1"/>
                          </a:highlight>
                          <a:latin typeface="Verdana"/>
                          <a:ea typeface="Verdana"/>
                          <a:cs typeface="Verdana"/>
                          <a:sym typeface="Verdana"/>
                        </a:rPr>
                        <a:t>Loop Type &amp; Description</a:t>
                      </a:r>
                      <a:endParaRPr sz="1200" b="1">
                        <a:solidFill>
                          <a:schemeClr val="lt1"/>
                        </a:solidFill>
                        <a:highlight>
                          <a:schemeClr val="dk1"/>
                        </a:highlight>
                        <a:latin typeface="Verdana"/>
                        <a:ea typeface="Verdana"/>
                        <a:cs typeface="Verdana"/>
                        <a:sym typeface="Verdana"/>
                      </a:endParaRPr>
                    </a:p>
                  </a:txBody>
                  <a:tcPr marL="76200" marR="76200" marT="76200" marB="76200"/>
                </a:tc>
                <a:extLst>
                  <a:ext uri="{0D108BD9-81ED-4DB2-BD59-A6C34878D82A}">
                    <a16:rowId xmlns:a16="http://schemas.microsoft.com/office/drawing/2014/main" val="10000"/>
                  </a:ext>
                </a:extLst>
              </a:tr>
              <a:tr h="381000">
                <a:tc>
                  <a:txBody>
                    <a:bodyPr/>
                    <a:lstStyle/>
                    <a:p>
                      <a:pPr marL="0" lvl="0" indent="0" algn="ctr"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1</a:t>
                      </a:r>
                      <a:endParaRPr sz="1200">
                        <a:solidFill>
                          <a:schemeClr val="lt1"/>
                        </a:solidFill>
                        <a:highlight>
                          <a:schemeClr val="dk1"/>
                        </a:highlight>
                        <a:latin typeface="Verdana"/>
                        <a:ea typeface="Verdana"/>
                        <a:cs typeface="Verdana"/>
                        <a:sym typeface="Verdana"/>
                      </a:endParaRPr>
                    </a:p>
                  </a:txBody>
                  <a:tcPr marL="76200" marR="76200" marT="76200" marB="76200"/>
                </a:tc>
                <a:tc>
                  <a:txBody>
                    <a:bodyPr/>
                    <a:lstStyle/>
                    <a:p>
                      <a:pPr marL="0" lvl="0" indent="0" algn="l" rtl="0">
                        <a:lnSpc>
                          <a:spcPct val="115000"/>
                        </a:lnSpc>
                        <a:spcBef>
                          <a:spcPts val="0"/>
                        </a:spcBef>
                        <a:spcAft>
                          <a:spcPts val="0"/>
                        </a:spcAft>
                        <a:buNone/>
                      </a:pPr>
                      <a:r>
                        <a:rPr lang="en" sz="1200" b="1">
                          <a:solidFill>
                            <a:srgbClr val="FF0000"/>
                          </a:solidFill>
                          <a:highlight>
                            <a:schemeClr val="dk1"/>
                          </a:highlight>
                          <a:uFill>
                            <a:noFill/>
                          </a:uFill>
                          <a:latin typeface="Verdana"/>
                          <a:ea typeface="Verdana"/>
                          <a:cs typeface="Verdana"/>
                          <a:sym typeface="Verdana"/>
                          <a:hlinkClick r:id="rId3">
                            <a:extLst>
                              <a:ext uri="{A12FA001-AC4F-418D-AE19-62706E023703}">
                                <ahyp:hlinkClr xmlns:ahyp="http://schemas.microsoft.com/office/drawing/2018/hyperlinkcolor" val="tx"/>
                              </a:ext>
                            </a:extLst>
                          </a:hlinkClick>
                        </a:rPr>
                        <a:t>while loop</a:t>
                      </a:r>
                      <a:endParaRPr sz="1200" b="1">
                        <a:solidFill>
                          <a:srgbClr val="FF0000"/>
                        </a:solidFill>
                        <a:highlight>
                          <a:schemeClr val="dk1"/>
                        </a:highlight>
                        <a:latin typeface="Verdana"/>
                        <a:ea typeface="Verdana"/>
                        <a:cs typeface="Verdana"/>
                        <a:sym typeface="Verdana"/>
                      </a:endParaRPr>
                    </a:p>
                    <a:p>
                      <a:pPr marL="0" lvl="0" indent="0" algn="l"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It repeats a statement or a group of statements while a given condition is true. It tests the condition before executing the loop body.</a:t>
                      </a:r>
                      <a:endParaRPr sz="1200">
                        <a:solidFill>
                          <a:schemeClr val="lt1"/>
                        </a:solidFill>
                        <a:highlight>
                          <a:schemeClr val="dk1"/>
                        </a:highlight>
                        <a:latin typeface="Verdana"/>
                        <a:ea typeface="Verdana"/>
                        <a:cs typeface="Verdana"/>
                        <a:sym typeface="Verdana"/>
                      </a:endParaRPr>
                    </a:p>
                  </a:txBody>
                  <a:tcPr marL="76200" marR="76200" marT="76200" marB="76200"/>
                </a:tc>
                <a:extLst>
                  <a:ext uri="{0D108BD9-81ED-4DB2-BD59-A6C34878D82A}">
                    <a16:rowId xmlns:a16="http://schemas.microsoft.com/office/drawing/2014/main" val="10001"/>
                  </a:ext>
                </a:extLst>
              </a:tr>
              <a:tr h="381000">
                <a:tc>
                  <a:txBody>
                    <a:bodyPr/>
                    <a:lstStyle/>
                    <a:p>
                      <a:pPr marL="0" lvl="0" indent="0" algn="ctr"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2</a:t>
                      </a:r>
                      <a:endParaRPr sz="1200">
                        <a:solidFill>
                          <a:schemeClr val="lt1"/>
                        </a:solidFill>
                        <a:highlight>
                          <a:schemeClr val="dk1"/>
                        </a:highlight>
                        <a:latin typeface="Verdana"/>
                        <a:ea typeface="Verdana"/>
                        <a:cs typeface="Verdana"/>
                        <a:sym typeface="Verdana"/>
                      </a:endParaRPr>
                    </a:p>
                  </a:txBody>
                  <a:tcPr marL="76200" marR="76200" marT="76200" marB="76200"/>
                </a:tc>
                <a:tc>
                  <a:txBody>
                    <a:bodyPr/>
                    <a:lstStyle/>
                    <a:p>
                      <a:pPr marL="0" lvl="0" indent="0" algn="l" rtl="0">
                        <a:lnSpc>
                          <a:spcPct val="115000"/>
                        </a:lnSpc>
                        <a:spcBef>
                          <a:spcPts val="0"/>
                        </a:spcBef>
                        <a:spcAft>
                          <a:spcPts val="0"/>
                        </a:spcAft>
                        <a:buNone/>
                      </a:pPr>
                      <a:r>
                        <a:rPr lang="en" sz="1200" b="1">
                          <a:solidFill>
                            <a:srgbClr val="FF0000"/>
                          </a:solidFill>
                          <a:highlight>
                            <a:schemeClr val="dk1"/>
                          </a:highlight>
                          <a:uFill>
                            <a:noFill/>
                          </a:uFill>
                          <a:latin typeface="Verdana"/>
                          <a:ea typeface="Verdana"/>
                          <a:cs typeface="Verdana"/>
                          <a:sym typeface="Verdana"/>
                          <a:hlinkClick r:id="rId4">
                            <a:extLst>
                              <a:ext uri="{A12FA001-AC4F-418D-AE19-62706E023703}">
                                <ahyp:hlinkClr xmlns:ahyp="http://schemas.microsoft.com/office/drawing/2018/hyperlinkcolor" val="tx"/>
                              </a:ext>
                            </a:extLst>
                          </a:hlinkClick>
                        </a:rPr>
                        <a:t>for loop</a:t>
                      </a:r>
                      <a:endParaRPr sz="1200" b="1">
                        <a:solidFill>
                          <a:srgbClr val="FF0000"/>
                        </a:solidFill>
                        <a:highlight>
                          <a:schemeClr val="dk1"/>
                        </a:highlight>
                        <a:latin typeface="Verdana"/>
                        <a:ea typeface="Verdana"/>
                        <a:cs typeface="Verdana"/>
                        <a:sym typeface="Verdana"/>
                      </a:endParaRPr>
                    </a:p>
                    <a:p>
                      <a:pPr marL="0" lvl="0" indent="0" algn="l"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It executes a sequence of statements multiple times and abbreviates the code that manages the loop variable.</a:t>
                      </a:r>
                      <a:endParaRPr sz="1200">
                        <a:solidFill>
                          <a:schemeClr val="lt1"/>
                        </a:solidFill>
                        <a:highlight>
                          <a:schemeClr val="dk1"/>
                        </a:highlight>
                        <a:latin typeface="Verdana"/>
                        <a:ea typeface="Verdana"/>
                        <a:cs typeface="Verdana"/>
                        <a:sym typeface="Verdana"/>
                      </a:endParaRPr>
                    </a:p>
                  </a:txBody>
                  <a:tcPr marL="76200" marR="76200" marT="76200" marB="76200"/>
                </a:tc>
                <a:extLst>
                  <a:ext uri="{0D108BD9-81ED-4DB2-BD59-A6C34878D82A}">
                    <a16:rowId xmlns:a16="http://schemas.microsoft.com/office/drawing/2014/main" val="10002"/>
                  </a:ext>
                </a:extLst>
              </a:tr>
              <a:tr h="381000">
                <a:tc>
                  <a:txBody>
                    <a:bodyPr/>
                    <a:lstStyle/>
                    <a:p>
                      <a:pPr marL="0" lvl="0" indent="0" algn="ctr"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3</a:t>
                      </a:r>
                      <a:endParaRPr sz="1200">
                        <a:solidFill>
                          <a:schemeClr val="lt1"/>
                        </a:solidFill>
                        <a:highlight>
                          <a:schemeClr val="dk1"/>
                        </a:highlight>
                        <a:latin typeface="Verdana"/>
                        <a:ea typeface="Verdana"/>
                        <a:cs typeface="Verdana"/>
                        <a:sym typeface="Verdana"/>
                      </a:endParaRPr>
                    </a:p>
                  </a:txBody>
                  <a:tcPr marL="76200" marR="76200" marT="76200" marB="76200"/>
                </a:tc>
                <a:tc>
                  <a:txBody>
                    <a:bodyPr/>
                    <a:lstStyle/>
                    <a:p>
                      <a:pPr marL="0" lvl="0" indent="0" algn="l" rtl="0">
                        <a:lnSpc>
                          <a:spcPct val="115000"/>
                        </a:lnSpc>
                        <a:spcBef>
                          <a:spcPts val="0"/>
                        </a:spcBef>
                        <a:spcAft>
                          <a:spcPts val="0"/>
                        </a:spcAft>
                        <a:buNone/>
                      </a:pPr>
                      <a:r>
                        <a:rPr lang="en" sz="1200" b="1">
                          <a:solidFill>
                            <a:srgbClr val="FF0000"/>
                          </a:solidFill>
                          <a:highlight>
                            <a:schemeClr val="dk1"/>
                          </a:highlight>
                          <a:uFill>
                            <a:noFill/>
                          </a:uFill>
                          <a:latin typeface="Verdana"/>
                          <a:ea typeface="Verdana"/>
                          <a:cs typeface="Verdana"/>
                          <a:sym typeface="Verdana"/>
                          <a:hlinkClick r:id="rId5">
                            <a:extLst>
                              <a:ext uri="{A12FA001-AC4F-418D-AE19-62706E023703}">
                                <ahyp:hlinkClr xmlns:ahyp="http://schemas.microsoft.com/office/drawing/2018/hyperlinkcolor" val="tx"/>
                              </a:ext>
                            </a:extLst>
                          </a:hlinkClick>
                        </a:rPr>
                        <a:t>do...while loop</a:t>
                      </a:r>
                      <a:endParaRPr sz="1200" b="1">
                        <a:solidFill>
                          <a:srgbClr val="FF0000"/>
                        </a:solidFill>
                        <a:highlight>
                          <a:schemeClr val="dk1"/>
                        </a:highlight>
                        <a:latin typeface="Verdana"/>
                        <a:ea typeface="Verdana"/>
                        <a:cs typeface="Verdana"/>
                        <a:sym typeface="Verdana"/>
                      </a:endParaRPr>
                    </a:p>
                    <a:p>
                      <a:pPr marL="0" lvl="0" indent="0" algn="l"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It is similar to a while statement, except that it tests the condition at the end of the loop body</a:t>
                      </a:r>
                      <a:endParaRPr sz="1200">
                        <a:solidFill>
                          <a:schemeClr val="lt1"/>
                        </a:solidFill>
                        <a:highlight>
                          <a:schemeClr val="dk1"/>
                        </a:highlight>
                        <a:latin typeface="Verdana"/>
                        <a:ea typeface="Verdana"/>
                        <a:cs typeface="Verdana"/>
                        <a:sym typeface="Verdana"/>
                      </a:endParaRPr>
                    </a:p>
                  </a:txBody>
                  <a:tcPr marL="76200" marR="76200" marT="76200" marB="76200"/>
                </a:tc>
                <a:extLst>
                  <a:ext uri="{0D108BD9-81ED-4DB2-BD59-A6C34878D82A}">
                    <a16:rowId xmlns:a16="http://schemas.microsoft.com/office/drawing/2014/main" val="10003"/>
                  </a:ext>
                </a:extLst>
              </a:tr>
              <a:tr h="381000">
                <a:tc>
                  <a:txBody>
                    <a:bodyPr/>
                    <a:lstStyle/>
                    <a:p>
                      <a:pPr marL="0" lvl="0" indent="0" algn="ctr"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4</a:t>
                      </a:r>
                      <a:endParaRPr sz="1200">
                        <a:solidFill>
                          <a:schemeClr val="lt1"/>
                        </a:solidFill>
                        <a:highlight>
                          <a:schemeClr val="dk1"/>
                        </a:highlight>
                        <a:latin typeface="Verdana"/>
                        <a:ea typeface="Verdana"/>
                        <a:cs typeface="Verdana"/>
                        <a:sym typeface="Verdana"/>
                      </a:endParaRPr>
                    </a:p>
                  </a:txBody>
                  <a:tcPr marL="76200" marR="76200" marT="76200" marB="76200"/>
                </a:tc>
                <a:tc>
                  <a:txBody>
                    <a:bodyPr/>
                    <a:lstStyle/>
                    <a:p>
                      <a:pPr marL="0" lvl="0" indent="0" algn="l" rtl="0">
                        <a:lnSpc>
                          <a:spcPct val="115000"/>
                        </a:lnSpc>
                        <a:spcBef>
                          <a:spcPts val="0"/>
                        </a:spcBef>
                        <a:spcAft>
                          <a:spcPts val="0"/>
                        </a:spcAft>
                        <a:buNone/>
                      </a:pPr>
                      <a:r>
                        <a:rPr lang="en" sz="1200" b="1">
                          <a:solidFill>
                            <a:srgbClr val="FF0000"/>
                          </a:solidFill>
                          <a:highlight>
                            <a:schemeClr val="dk1"/>
                          </a:highlight>
                          <a:uFill>
                            <a:noFill/>
                          </a:uFill>
                          <a:latin typeface="Verdana"/>
                          <a:ea typeface="Verdana"/>
                          <a:cs typeface="Verdana"/>
                          <a:sym typeface="Verdana"/>
                          <a:hlinkClick r:id="rId6">
                            <a:extLst>
                              <a:ext uri="{A12FA001-AC4F-418D-AE19-62706E023703}">
                                <ahyp:hlinkClr xmlns:ahyp="http://schemas.microsoft.com/office/drawing/2018/hyperlinkcolor" val="tx"/>
                              </a:ext>
                            </a:extLst>
                          </a:hlinkClick>
                        </a:rPr>
                        <a:t>nested loops</a:t>
                      </a:r>
                      <a:endParaRPr sz="1200" b="1">
                        <a:solidFill>
                          <a:srgbClr val="FF0000"/>
                        </a:solidFill>
                        <a:highlight>
                          <a:schemeClr val="dk1"/>
                        </a:highlight>
                        <a:latin typeface="Verdana"/>
                        <a:ea typeface="Verdana"/>
                        <a:cs typeface="Verdana"/>
                        <a:sym typeface="Verdana"/>
                      </a:endParaRPr>
                    </a:p>
                    <a:p>
                      <a:pPr marL="0" lvl="0" indent="0" algn="l" rtl="0">
                        <a:lnSpc>
                          <a:spcPct val="115000"/>
                        </a:lnSpc>
                        <a:spcBef>
                          <a:spcPts val="0"/>
                        </a:spcBef>
                        <a:spcAft>
                          <a:spcPts val="0"/>
                        </a:spcAft>
                        <a:buNone/>
                      </a:pPr>
                      <a:r>
                        <a:rPr lang="en" sz="1200">
                          <a:solidFill>
                            <a:schemeClr val="lt1"/>
                          </a:solidFill>
                          <a:highlight>
                            <a:schemeClr val="dk1"/>
                          </a:highlight>
                          <a:latin typeface="Verdana"/>
                          <a:ea typeface="Verdana"/>
                          <a:cs typeface="Verdana"/>
                          <a:sym typeface="Verdana"/>
                        </a:rPr>
                        <a:t>You can use one or more loop inside any another while, for or do..while loop.</a:t>
                      </a:r>
                      <a:endParaRPr sz="1200">
                        <a:solidFill>
                          <a:schemeClr val="lt1"/>
                        </a:solidFill>
                        <a:highlight>
                          <a:schemeClr val="dk1"/>
                        </a:highlight>
                        <a:latin typeface="Verdana"/>
                        <a:ea typeface="Verdana"/>
                        <a:cs typeface="Verdana"/>
                        <a:sym typeface="Verdana"/>
                      </a:endParaRPr>
                    </a:p>
                  </a:txBody>
                  <a:tcPr marL="76200" marR="76200" marT="76200" marB="76200"/>
                </a:tc>
                <a:extLst>
                  <a:ext uri="{0D108BD9-81ED-4DB2-BD59-A6C34878D82A}">
                    <a16:rowId xmlns:a16="http://schemas.microsoft.com/office/drawing/2014/main" val="10004"/>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10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WHILE LOOP</a:t>
            </a:r>
            <a:endParaRPr/>
          </a:p>
        </p:txBody>
      </p:sp>
      <p:sp>
        <p:nvSpPr>
          <p:cNvPr id="657" name="Google Shape;657;p10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Clr>
                <a:srgbClr val="FFFFFF"/>
              </a:buClr>
              <a:buSzPts val="1800"/>
              <a:buFont typeface="Calibri"/>
              <a:buChar char="•"/>
            </a:pPr>
            <a:r>
              <a:rPr lang="en" sz="1800">
                <a:solidFill>
                  <a:srgbClr val="FFFFFF"/>
                </a:solidFill>
                <a:highlight>
                  <a:srgbClr val="131417"/>
                </a:highlight>
                <a:latin typeface="Calibri"/>
                <a:ea typeface="Calibri"/>
                <a:cs typeface="Calibri"/>
                <a:sym typeface="Calibri"/>
              </a:rPr>
              <a:t>The test condition is given at the beginning of the loop and all statements are executed till the given Boolean condition is satisfied. When the condition becomes false, the control will be out of the while loop.</a:t>
            </a:r>
            <a:endParaRPr sz="1800">
              <a:latin typeface="Calibri"/>
              <a:ea typeface="Calibri"/>
              <a:cs typeface="Calibri"/>
              <a:sym typeface="Calibri"/>
            </a:endParaRPr>
          </a:p>
        </p:txBody>
      </p:sp>
      <p:pic>
        <p:nvPicPr>
          <p:cNvPr id="658" name="Google Shape;658;p108"/>
          <p:cNvPicPr preferRelativeResize="0"/>
          <p:nvPr/>
        </p:nvPicPr>
        <p:blipFill>
          <a:blip r:embed="rId3">
            <a:alphaModFix/>
          </a:blip>
          <a:stretch>
            <a:fillRect/>
          </a:stretch>
        </p:blipFill>
        <p:spPr>
          <a:xfrm>
            <a:off x="2572696" y="2492000"/>
            <a:ext cx="3673930" cy="2571751"/>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10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664" name="Google Shape;664;p10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914400" lvl="1" indent="-323850" algn="l" rtl="0">
              <a:lnSpc>
                <a:spcPct val="100000"/>
              </a:lnSpc>
              <a:spcBef>
                <a:spcPts val="0"/>
              </a:spcBef>
              <a:spcAft>
                <a:spcPts val="0"/>
              </a:spcAft>
              <a:buSzPts val="1500"/>
              <a:buFont typeface="Calibri"/>
              <a:buChar char="•"/>
            </a:pPr>
            <a:r>
              <a:rPr lang="en" sz="1700">
                <a:latin typeface="Calibri"/>
                <a:ea typeface="Calibri"/>
                <a:cs typeface="Calibri"/>
                <a:sym typeface="Calibri"/>
              </a:rPr>
              <a:t>In the while loop, the Boolean expression is first calculated, and if it is true, the sequence of operations in the loop's body is executed.</a:t>
            </a:r>
            <a:endParaRPr sz="1700">
              <a:latin typeface="Calibri"/>
              <a:ea typeface="Calibri"/>
              <a:cs typeface="Calibri"/>
              <a:sym typeface="Calibri"/>
            </a:endParaRPr>
          </a:p>
          <a:p>
            <a:pPr marL="914400" lvl="1" indent="-323850" algn="l" rtl="0">
              <a:lnSpc>
                <a:spcPct val="100000"/>
              </a:lnSpc>
              <a:spcBef>
                <a:spcPts val="0"/>
              </a:spcBef>
              <a:spcAft>
                <a:spcPts val="0"/>
              </a:spcAft>
              <a:buSzPts val="1500"/>
              <a:buFont typeface="Calibri"/>
              <a:buChar char="•"/>
            </a:pPr>
            <a:r>
              <a:rPr lang="en" sz="1700">
                <a:latin typeface="Calibri"/>
                <a:ea typeface="Calibri"/>
                <a:cs typeface="Calibri"/>
                <a:sym typeface="Calibri"/>
              </a:rPr>
              <a:t>The input condition is then checked again, and if it is true, the loop's body is executed once more.</a:t>
            </a:r>
            <a:endParaRPr sz="1700">
              <a:latin typeface="Calibri"/>
              <a:ea typeface="Calibri"/>
              <a:cs typeface="Calibri"/>
              <a:sym typeface="Calibri"/>
            </a:endParaRPr>
          </a:p>
          <a:p>
            <a:pPr marL="914400" lvl="1" indent="-323850" algn="l" rtl="0">
              <a:lnSpc>
                <a:spcPct val="100000"/>
              </a:lnSpc>
              <a:spcBef>
                <a:spcPts val="0"/>
              </a:spcBef>
              <a:spcAft>
                <a:spcPts val="0"/>
              </a:spcAft>
              <a:buSzPts val="1500"/>
              <a:buFont typeface="Calibri"/>
              <a:buChar char="•"/>
            </a:pPr>
            <a:r>
              <a:rPr lang="en" sz="1700">
                <a:latin typeface="Calibri"/>
                <a:ea typeface="Calibri"/>
                <a:cs typeface="Calibri"/>
                <a:sym typeface="Calibri"/>
              </a:rPr>
              <a:t>All of this is repeated until the conditional expression returns false at some point.</a:t>
            </a:r>
            <a:endParaRPr sz="1700">
              <a:latin typeface="Calibri"/>
              <a:ea typeface="Calibri"/>
              <a:cs typeface="Calibri"/>
              <a:sym typeface="Calibri"/>
            </a:endParaRPr>
          </a:p>
          <a:p>
            <a:pPr marL="914400" lvl="1" indent="-323850" algn="l" rtl="0">
              <a:lnSpc>
                <a:spcPct val="100000"/>
              </a:lnSpc>
              <a:spcBef>
                <a:spcPts val="0"/>
              </a:spcBef>
              <a:spcAft>
                <a:spcPts val="0"/>
              </a:spcAft>
              <a:buSzPts val="1500"/>
              <a:buFont typeface="Calibri"/>
              <a:buChar char="•"/>
            </a:pPr>
            <a:r>
              <a:rPr lang="en" sz="1700">
                <a:latin typeface="Calibri"/>
                <a:ea typeface="Calibri"/>
                <a:cs typeface="Calibri"/>
                <a:sym typeface="Calibri"/>
              </a:rPr>
              <a:t>At this point, the loop is terminated, and the program proceeds to the next line, immediately following the loop's body.</a:t>
            </a:r>
            <a:endParaRPr sz="1700">
              <a:latin typeface="Calibri"/>
              <a:ea typeface="Calibri"/>
              <a:cs typeface="Calibri"/>
              <a:sym typeface="Calibri"/>
            </a:endParaRPr>
          </a:p>
          <a:p>
            <a:pPr marL="914400" lvl="1" indent="-323850" algn="l" rtl="0">
              <a:lnSpc>
                <a:spcPct val="100000"/>
              </a:lnSpc>
              <a:spcBef>
                <a:spcPts val="0"/>
              </a:spcBef>
              <a:spcAft>
                <a:spcPts val="0"/>
              </a:spcAft>
              <a:buSzPts val="1500"/>
              <a:buFont typeface="Calibri"/>
              <a:buChar char="•"/>
            </a:pPr>
            <a:r>
              <a:rPr lang="en" sz="1700">
                <a:latin typeface="Calibri"/>
                <a:ea typeface="Calibri"/>
                <a:cs typeface="Calibri"/>
                <a:sym typeface="Calibri"/>
              </a:rPr>
              <a:t>If the cycle condition returns false at the start, the body of the while loop may not be executed even once. If the cycle's condition is never broken, the loop will continue indefinitely.</a:t>
            </a:r>
            <a:endParaRPr>
              <a:latin typeface="Calibri"/>
              <a:ea typeface="Calibri"/>
              <a:cs typeface="Calibri"/>
              <a:sym typeface="Calibri"/>
            </a:endParaRPr>
          </a:p>
          <a:p>
            <a:pPr marL="457200" lvl="0" indent="0" algn="l" rtl="0">
              <a:lnSpc>
                <a:spcPct val="100000"/>
              </a:lnSpc>
              <a:spcBef>
                <a:spcPts val="2300"/>
              </a:spcBef>
              <a:spcAft>
                <a:spcPts val="0"/>
              </a:spcAft>
              <a:buNone/>
            </a:pPr>
            <a:endParaRPr sz="1600">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11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FOR LOOP</a:t>
            </a:r>
            <a:endParaRPr/>
          </a:p>
        </p:txBody>
      </p:sp>
      <p:sp>
        <p:nvSpPr>
          <p:cNvPr id="670" name="Google Shape;670;p11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Font typeface="Calibri"/>
              <a:buChar char="•"/>
            </a:pPr>
            <a:r>
              <a:rPr lang="en" sz="1800">
                <a:latin typeface="Calibri"/>
                <a:ea typeface="Calibri"/>
                <a:cs typeface="Calibri"/>
                <a:sym typeface="Calibri"/>
              </a:rPr>
              <a:t>The </a:t>
            </a:r>
            <a:r>
              <a:rPr lang="en" sz="1800" b="1">
                <a:latin typeface="Calibri"/>
                <a:ea typeface="Calibri"/>
                <a:cs typeface="Calibri"/>
                <a:sym typeface="Calibri"/>
              </a:rPr>
              <a:t>C# for loop</a:t>
            </a:r>
            <a:r>
              <a:rPr lang="en" sz="1800">
                <a:latin typeface="Calibri"/>
                <a:ea typeface="Calibri"/>
                <a:cs typeface="Calibri"/>
                <a:sym typeface="Calibri"/>
              </a:rPr>
              <a:t> is a repetition control structure that executes a block of code a specific number of times instead of writing the same code multiple times. </a:t>
            </a:r>
            <a:endParaRPr sz="1800">
              <a:latin typeface="Calibri"/>
              <a:ea typeface="Calibri"/>
              <a:cs typeface="Calibri"/>
              <a:sym typeface="Calibri"/>
            </a:endParaRPr>
          </a:p>
          <a:p>
            <a:pPr marL="457200" lvl="0" indent="-342900" algn="l" rtl="0">
              <a:spcBef>
                <a:spcPts val="0"/>
              </a:spcBef>
              <a:spcAft>
                <a:spcPts val="0"/>
              </a:spcAft>
              <a:buSzPts val="1800"/>
              <a:buFont typeface="Calibri"/>
              <a:buChar char="•"/>
            </a:pPr>
            <a:r>
              <a:rPr lang="en" sz="1800">
                <a:latin typeface="Calibri"/>
                <a:ea typeface="Calibri"/>
                <a:cs typeface="Calibri"/>
                <a:sym typeface="Calibri"/>
              </a:rPr>
              <a:t>It is especially useful when the number of iterations is known in advance.</a:t>
            </a:r>
            <a:endParaRPr sz="1800">
              <a:latin typeface="Calibri"/>
              <a:ea typeface="Calibri"/>
              <a:cs typeface="Calibri"/>
              <a:sym typeface="Calibri"/>
            </a:endParaRPr>
          </a:p>
          <a:p>
            <a:pPr marL="457200" lvl="0" indent="-342900" algn="l" rtl="0">
              <a:spcBef>
                <a:spcPts val="0"/>
              </a:spcBef>
              <a:spcAft>
                <a:spcPts val="0"/>
              </a:spcAft>
              <a:buSzPts val="1800"/>
              <a:buFont typeface="Calibri"/>
              <a:buChar char="•"/>
            </a:pPr>
            <a:r>
              <a:rPr lang="en" sz="1800">
                <a:latin typeface="Calibri"/>
                <a:ea typeface="Calibri"/>
                <a:cs typeface="Calibri"/>
                <a:sym typeface="Calibri"/>
              </a:rPr>
              <a:t>When you know exactly how many times you want to loop through a block of code, use the for loop instead of a while loop:</a:t>
            </a:r>
            <a:endParaRPr sz="1800">
              <a:latin typeface="Calibri"/>
              <a:ea typeface="Calibri"/>
              <a:cs typeface="Calibri"/>
              <a:sym typeface="Calibri"/>
            </a:endParaRPr>
          </a:p>
        </p:txBody>
      </p:sp>
      <p:pic>
        <p:nvPicPr>
          <p:cNvPr id="671" name="Google Shape;671;p110"/>
          <p:cNvPicPr preferRelativeResize="0"/>
          <p:nvPr/>
        </p:nvPicPr>
        <p:blipFill>
          <a:blip r:embed="rId3">
            <a:alphaModFix/>
          </a:blip>
          <a:stretch>
            <a:fillRect/>
          </a:stretch>
        </p:blipFill>
        <p:spPr>
          <a:xfrm>
            <a:off x="3551940" y="2940575"/>
            <a:ext cx="2584636" cy="200452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11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Control Flow of For Loop</a:t>
            </a:r>
            <a:endParaRPr/>
          </a:p>
        </p:txBody>
      </p:sp>
      <p:sp>
        <p:nvSpPr>
          <p:cNvPr id="677" name="Google Shape;677;p11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just" rtl="0">
              <a:lnSpc>
                <a:spcPct val="115000"/>
              </a:lnSpc>
              <a:spcBef>
                <a:spcPts val="0"/>
              </a:spcBef>
              <a:spcAft>
                <a:spcPts val="0"/>
              </a:spcAft>
              <a:buSzPts val="1400"/>
              <a:buFont typeface="Calibri"/>
              <a:buChar char="•"/>
            </a:pPr>
            <a:r>
              <a:rPr lang="en" sz="1400">
                <a:latin typeface="Calibri"/>
                <a:ea typeface="Calibri"/>
                <a:cs typeface="Calibri"/>
                <a:sym typeface="Calibri"/>
              </a:rPr>
              <a:t>The </a:t>
            </a:r>
            <a:r>
              <a:rPr lang="en" sz="1400" b="1">
                <a:solidFill>
                  <a:srgbClr val="FF0000"/>
                </a:solidFill>
                <a:latin typeface="Calibri"/>
                <a:ea typeface="Calibri"/>
                <a:cs typeface="Calibri"/>
                <a:sym typeface="Calibri"/>
              </a:rPr>
              <a:t>init</a:t>
            </a:r>
            <a:r>
              <a:rPr lang="en" sz="1400">
                <a:solidFill>
                  <a:srgbClr val="FF0000"/>
                </a:solidFill>
                <a:latin typeface="Calibri"/>
                <a:ea typeface="Calibri"/>
                <a:cs typeface="Calibri"/>
                <a:sym typeface="Calibri"/>
              </a:rPr>
              <a:t> </a:t>
            </a:r>
            <a:r>
              <a:rPr lang="en" sz="1400">
                <a:latin typeface="Calibri"/>
                <a:ea typeface="Calibri"/>
                <a:cs typeface="Calibri"/>
                <a:sym typeface="Calibri"/>
              </a:rPr>
              <a:t>step is executed first, and only once. This step allows you to declare and initialize any loop control variables. You are not required to put a statement here, as long as a semicolon appears.</a:t>
            </a:r>
            <a:endParaRPr sz="1400">
              <a:latin typeface="Calibri"/>
              <a:ea typeface="Calibri"/>
              <a:cs typeface="Calibri"/>
              <a:sym typeface="Calibri"/>
            </a:endParaRPr>
          </a:p>
          <a:p>
            <a:pPr marL="457200" lvl="0" indent="-317500" algn="just" rtl="0">
              <a:lnSpc>
                <a:spcPct val="115000"/>
              </a:lnSpc>
              <a:spcBef>
                <a:spcPts val="0"/>
              </a:spcBef>
              <a:spcAft>
                <a:spcPts val="0"/>
              </a:spcAft>
              <a:buSzPts val="1400"/>
              <a:buFont typeface="Calibri"/>
              <a:buChar char="•"/>
            </a:pPr>
            <a:r>
              <a:rPr lang="en" sz="1400">
                <a:latin typeface="Calibri"/>
                <a:ea typeface="Calibri"/>
                <a:cs typeface="Calibri"/>
                <a:sym typeface="Calibri"/>
              </a:rPr>
              <a:t>Next, the </a:t>
            </a:r>
            <a:r>
              <a:rPr lang="en" sz="1400" b="1">
                <a:solidFill>
                  <a:srgbClr val="FF0000"/>
                </a:solidFill>
                <a:latin typeface="Calibri"/>
                <a:ea typeface="Calibri"/>
                <a:cs typeface="Calibri"/>
                <a:sym typeface="Calibri"/>
              </a:rPr>
              <a:t>condition</a:t>
            </a:r>
            <a:r>
              <a:rPr lang="en" sz="1400">
                <a:solidFill>
                  <a:srgbClr val="FF0000"/>
                </a:solidFill>
                <a:latin typeface="Calibri"/>
                <a:ea typeface="Calibri"/>
                <a:cs typeface="Calibri"/>
                <a:sym typeface="Calibri"/>
              </a:rPr>
              <a:t> </a:t>
            </a:r>
            <a:r>
              <a:rPr lang="en" sz="1400">
                <a:latin typeface="Calibri"/>
                <a:ea typeface="Calibri"/>
                <a:cs typeface="Calibri"/>
                <a:sym typeface="Calibri"/>
              </a:rPr>
              <a:t>is evaluated. If it is true, the body of the loop is executed. If it is false, the body of the loop does not execute and flow of control jumps to the next statement just after the for loop.</a:t>
            </a:r>
            <a:endParaRPr sz="1400">
              <a:latin typeface="Calibri"/>
              <a:ea typeface="Calibri"/>
              <a:cs typeface="Calibri"/>
              <a:sym typeface="Calibri"/>
            </a:endParaRPr>
          </a:p>
          <a:p>
            <a:pPr marL="457200" lvl="0" indent="-317500" algn="just" rtl="0">
              <a:lnSpc>
                <a:spcPct val="115000"/>
              </a:lnSpc>
              <a:spcBef>
                <a:spcPts val="0"/>
              </a:spcBef>
              <a:spcAft>
                <a:spcPts val="0"/>
              </a:spcAft>
              <a:buSzPts val="1400"/>
              <a:buFont typeface="Calibri"/>
              <a:buChar char="•"/>
            </a:pPr>
            <a:r>
              <a:rPr lang="en" sz="1400">
                <a:latin typeface="Calibri"/>
                <a:ea typeface="Calibri"/>
                <a:cs typeface="Calibri"/>
                <a:sym typeface="Calibri"/>
              </a:rPr>
              <a:t>After the body of the for loop executes, the flow of control jumps back up to the </a:t>
            </a:r>
            <a:r>
              <a:rPr lang="en" sz="1400" b="1">
                <a:solidFill>
                  <a:srgbClr val="FF0000"/>
                </a:solidFill>
                <a:latin typeface="Calibri"/>
                <a:ea typeface="Calibri"/>
                <a:cs typeface="Calibri"/>
                <a:sym typeface="Calibri"/>
              </a:rPr>
              <a:t>increment</a:t>
            </a:r>
            <a:r>
              <a:rPr lang="en" sz="1400">
                <a:solidFill>
                  <a:srgbClr val="FF0000"/>
                </a:solidFill>
                <a:latin typeface="Calibri"/>
                <a:ea typeface="Calibri"/>
                <a:cs typeface="Calibri"/>
                <a:sym typeface="Calibri"/>
              </a:rPr>
              <a:t> </a:t>
            </a:r>
            <a:r>
              <a:rPr lang="en" sz="1400">
                <a:latin typeface="Calibri"/>
                <a:ea typeface="Calibri"/>
                <a:cs typeface="Calibri"/>
                <a:sym typeface="Calibri"/>
              </a:rPr>
              <a:t>statement. This statement allows you to update any loop control variables. This statement can be left blank, as long as a semicolon appears after the condition.</a:t>
            </a:r>
            <a:endParaRPr sz="1400">
              <a:latin typeface="Calibri"/>
              <a:ea typeface="Calibri"/>
              <a:cs typeface="Calibri"/>
              <a:sym typeface="Calibri"/>
            </a:endParaRPr>
          </a:p>
          <a:p>
            <a:pPr marL="457200" lvl="0" indent="-317500" algn="just" rtl="0">
              <a:lnSpc>
                <a:spcPct val="115000"/>
              </a:lnSpc>
              <a:spcBef>
                <a:spcPts val="0"/>
              </a:spcBef>
              <a:spcAft>
                <a:spcPts val="0"/>
              </a:spcAft>
              <a:buSzPts val="1400"/>
              <a:buFont typeface="Calibri"/>
              <a:buChar char="•"/>
            </a:pPr>
            <a:r>
              <a:rPr lang="en" sz="1400">
                <a:latin typeface="Calibri"/>
                <a:ea typeface="Calibri"/>
                <a:cs typeface="Calibri"/>
                <a:sym typeface="Calibri"/>
              </a:rPr>
              <a:t>The condition is now evaluated again. If it is true, the loop executes and the process repeats itself (body of loop, then increment step, and then again testing for a condition). After the condition becomes false, the for loop terminates</a:t>
            </a:r>
            <a:endParaRPr sz="1400">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1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DO-WHILE LOOP</a:t>
            </a:r>
            <a:endParaRPr/>
          </a:p>
        </p:txBody>
      </p:sp>
      <p:sp>
        <p:nvSpPr>
          <p:cNvPr id="683" name="Google Shape;683;p11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Font typeface="Calibri"/>
              <a:buChar char="•"/>
            </a:pPr>
            <a:r>
              <a:rPr lang="en" sz="1400">
                <a:latin typeface="Calibri"/>
                <a:ea typeface="Calibri"/>
                <a:cs typeface="Calibri"/>
                <a:sym typeface="Calibri"/>
              </a:rPr>
              <a:t>A </a:t>
            </a:r>
            <a:r>
              <a:rPr lang="en" sz="1400" b="1">
                <a:latin typeface="Calibri"/>
                <a:ea typeface="Calibri"/>
                <a:cs typeface="Calibri"/>
                <a:sym typeface="Calibri"/>
              </a:rPr>
              <a:t>do-while</a:t>
            </a:r>
            <a:r>
              <a:rPr lang="en" sz="1400">
                <a:latin typeface="Calibri"/>
                <a:ea typeface="Calibri"/>
                <a:cs typeface="Calibri"/>
                <a:sym typeface="Calibri"/>
              </a:rPr>
              <a:t> loop in C# is similar to a </a:t>
            </a:r>
            <a:r>
              <a:rPr lang="en" sz="1400">
                <a:uFill>
                  <a:noFill/>
                </a:uFill>
                <a:latin typeface="Calibri"/>
                <a:ea typeface="Calibri"/>
                <a:cs typeface="Calibri"/>
                <a:sym typeface="Calibri"/>
                <a:hlinkClick r:id="rId3"/>
              </a:rPr>
              <a:t>while loop</a:t>
            </a:r>
            <a:r>
              <a:rPr lang="en" sz="1400">
                <a:latin typeface="Calibri"/>
                <a:ea typeface="Calibri"/>
                <a:cs typeface="Calibri"/>
                <a:sym typeface="Calibri"/>
              </a:rPr>
              <a:t>, but it guarantees at least one execution of the loop body, even if the condition is false. This makes it useful for scenarios where the loop body must run at least once before evaluating the condition.</a:t>
            </a:r>
            <a:endParaRPr sz="1400">
              <a:latin typeface="Calibri"/>
              <a:ea typeface="Calibri"/>
              <a:cs typeface="Calibri"/>
              <a:sym typeface="Calibri"/>
            </a:endParaRPr>
          </a:p>
        </p:txBody>
      </p:sp>
      <p:pic>
        <p:nvPicPr>
          <p:cNvPr id="684" name="Google Shape;684;p112"/>
          <p:cNvPicPr preferRelativeResize="0"/>
          <p:nvPr/>
        </p:nvPicPr>
        <p:blipFill>
          <a:blip r:embed="rId4">
            <a:alphaModFix/>
          </a:blip>
          <a:stretch>
            <a:fillRect/>
          </a:stretch>
        </p:blipFill>
        <p:spPr>
          <a:xfrm>
            <a:off x="3711313" y="2329638"/>
            <a:ext cx="1878559" cy="224477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1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690" name="Google Shape;690;p11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The loop body is executed first, and its condition is evaluated.</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If it is true, the loop's body is repeated; otherwise, it is terminated.</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This logic is repeated until the loop's condition is broken. The loop's body is executed at least once.</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If the loop's condition is always true, the loop will never end.</a:t>
            </a:r>
            <a:endParaRPr sz="1600">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1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NESTED LOOPvs</a:t>
            </a:r>
            <a:endParaRPr/>
          </a:p>
        </p:txBody>
      </p:sp>
      <p:sp>
        <p:nvSpPr>
          <p:cNvPr id="696" name="Google Shape;696;p11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457200" lvl="0" indent="-327660" algn="l" rtl="0">
              <a:lnSpc>
                <a:spcPct val="70000"/>
              </a:lnSpc>
              <a:spcBef>
                <a:spcPts val="800"/>
              </a:spcBef>
              <a:spcAft>
                <a:spcPts val="0"/>
              </a:spcAft>
              <a:buSzPts val="1560"/>
              <a:buFont typeface="Calibri"/>
              <a:buChar char="•"/>
            </a:pPr>
            <a:r>
              <a:rPr lang="en" sz="1560">
                <a:latin typeface="Calibri"/>
                <a:ea typeface="Calibri"/>
                <a:cs typeface="Calibri"/>
                <a:sym typeface="Calibri"/>
              </a:rPr>
              <a:t>A nested loop in c# states that a loop inside another loop where the inner loop executes completely for each iteration of the outer loop. The following section shows a few examples to illustrate the nested loops.</a:t>
            </a:r>
            <a:endParaRPr sz="1560">
              <a:latin typeface="Calibri"/>
              <a:ea typeface="Calibri"/>
              <a:cs typeface="Calibri"/>
              <a:sym typeface="Calibri"/>
            </a:endParaRPr>
          </a:p>
          <a:p>
            <a:pPr marL="914400" lvl="1" indent="-327660" algn="l" rtl="0">
              <a:lnSpc>
                <a:spcPct val="130000"/>
              </a:lnSpc>
              <a:spcBef>
                <a:spcPts val="0"/>
              </a:spcBef>
              <a:spcAft>
                <a:spcPts val="0"/>
              </a:spcAft>
              <a:buSzPts val="1560"/>
              <a:buFont typeface="Calibri"/>
              <a:buChar char="•"/>
            </a:pPr>
            <a:r>
              <a:rPr lang="en" sz="1560">
                <a:latin typeface="Calibri"/>
                <a:ea typeface="Calibri"/>
                <a:cs typeface="Calibri"/>
                <a:sym typeface="Calibri"/>
              </a:rPr>
              <a:t>Following the initialization of the first for loop, the execution of its body, which contains the second (nested) loop, will begin.</a:t>
            </a:r>
            <a:endParaRPr sz="1560">
              <a:latin typeface="Calibri"/>
              <a:ea typeface="Calibri"/>
              <a:cs typeface="Calibri"/>
              <a:sym typeface="Calibri"/>
            </a:endParaRPr>
          </a:p>
          <a:p>
            <a:pPr marL="914400" lvl="1" indent="-327660" algn="l" rtl="0">
              <a:lnSpc>
                <a:spcPct val="130000"/>
              </a:lnSpc>
              <a:spcBef>
                <a:spcPts val="0"/>
              </a:spcBef>
              <a:spcAft>
                <a:spcPts val="0"/>
              </a:spcAft>
              <a:buSzPts val="1560"/>
              <a:buFont typeface="Calibri"/>
              <a:buChar char="•"/>
            </a:pPr>
            <a:r>
              <a:rPr lang="en" sz="1560">
                <a:latin typeface="Calibri"/>
                <a:ea typeface="Calibri"/>
                <a:cs typeface="Calibri"/>
                <a:sym typeface="Calibri"/>
              </a:rPr>
              <a:t>Its variable will be initialized, its condition will be checked, and it will execute the code within its body, followed by the variable being updated and execution continuing until the condition returns false.</a:t>
            </a:r>
            <a:endParaRPr sz="1560">
              <a:latin typeface="Calibri"/>
              <a:ea typeface="Calibri"/>
              <a:cs typeface="Calibri"/>
              <a:sym typeface="Calibri"/>
            </a:endParaRPr>
          </a:p>
          <a:p>
            <a:pPr marL="914400" lvl="1" indent="-327660" algn="l" rtl="0">
              <a:lnSpc>
                <a:spcPct val="130000"/>
              </a:lnSpc>
              <a:spcBef>
                <a:spcPts val="0"/>
              </a:spcBef>
              <a:spcAft>
                <a:spcPts val="0"/>
              </a:spcAft>
              <a:buSzPts val="1560"/>
              <a:buFont typeface="Calibri"/>
              <a:buChar char="•"/>
            </a:pPr>
            <a:r>
              <a:rPr lang="en" sz="1560">
                <a:latin typeface="Calibri"/>
                <a:ea typeface="Calibri"/>
                <a:cs typeface="Calibri"/>
                <a:sym typeface="Calibri"/>
              </a:rPr>
              <a:t>Following that, the second iteration of the first for loop will continue, its variable will be updated, and the entire second loop will be repeated.</a:t>
            </a:r>
            <a:endParaRPr sz="1560">
              <a:latin typeface="Calibri"/>
              <a:ea typeface="Calibri"/>
              <a:cs typeface="Calibri"/>
              <a:sym typeface="Calibri"/>
            </a:endParaRPr>
          </a:p>
          <a:p>
            <a:pPr marL="914400" lvl="1" indent="-327660" algn="l" rtl="0">
              <a:lnSpc>
                <a:spcPct val="130000"/>
              </a:lnSpc>
              <a:spcBef>
                <a:spcPts val="0"/>
              </a:spcBef>
              <a:spcAft>
                <a:spcPts val="0"/>
              </a:spcAft>
              <a:buSzPts val="1560"/>
              <a:buFont typeface="Calibri"/>
              <a:buChar char="•"/>
            </a:pPr>
            <a:r>
              <a:rPr lang="en" sz="1560">
                <a:latin typeface="Calibri"/>
                <a:ea typeface="Calibri"/>
                <a:cs typeface="Calibri"/>
                <a:sym typeface="Calibri"/>
              </a:rPr>
              <a:t>The inner loop will be executed as many times as the outer loop's body.</a:t>
            </a:r>
            <a:endParaRPr sz="1560">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1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CONTINUE LOOP</a:t>
            </a:r>
            <a:endParaRPr/>
          </a:p>
        </p:txBody>
      </p:sp>
      <p:sp>
        <p:nvSpPr>
          <p:cNvPr id="702" name="Google Shape;702;p11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Continue is one of many conditional statements in the C# programming language that can be used inside a conditional loop block to function as a clause to continue the loop execution after the iterative condition is executed to move on to the execution of the next iteration in the conditional loop. It is commonly used with iterative conditional loops such as a for-while loop, a do-while loop, and a for-each loop</a:t>
            </a:r>
            <a:endParaRPr sz="1500">
              <a:latin typeface="Calibri"/>
              <a:ea typeface="Calibri"/>
              <a:cs typeface="Calibri"/>
              <a:sym typeface="Calibri"/>
            </a:endParaRPr>
          </a:p>
        </p:txBody>
      </p:sp>
      <p:pic>
        <p:nvPicPr>
          <p:cNvPr id="703" name="Google Shape;703;p115"/>
          <p:cNvPicPr preferRelativeResize="0"/>
          <p:nvPr/>
        </p:nvPicPr>
        <p:blipFill>
          <a:blip r:embed="rId3">
            <a:alphaModFix/>
          </a:blip>
          <a:stretch>
            <a:fillRect/>
          </a:stretch>
        </p:blipFill>
        <p:spPr>
          <a:xfrm>
            <a:off x="3835928" y="2651500"/>
            <a:ext cx="2743447" cy="240879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1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BREAK LOOP</a:t>
            </a:r>
            <a:endParaRPr/>
          </a:p>
        </p:txBody>
      </p:sp>
      <p:sp>
        <p:nvSpPr>
          <p:cNvPr id="709" name="Google Shape;709;p11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sz="1600">
                <a:latin typeface="Calibri"/>
                <a:ea typeface="Calibri"/>
                <a:cs typeface="Calibri"/>
                <a:sym typeface="Calibri"/>
              </a:rPr>
              <a:t>The break statement is used to end the loop or statement that it is present in. If they are present, it will pass the control to the statements that follow the break statement. If the break statement is present in the nested loop, it only terminates the loops that contain the break statement.</a:t>
            </a:r>
            <a:endParaRPr sz="2100">
              <a:latin typeface="Calibri"/>
              <a:ea typeface="Calibri"/>
              <a:cs typeface="Calibri"/>
              <a:sym typeface="Calibri"/>
            </a:endParaRPr>
          </a:p>
        </p:txBody>
      </p:sp>
      <p:pic>
        <p:nvPicPr>
          <p:cNvPr id="710" name="Google Shape;710;p116"/>
          <p:cNvPicPr preferRelativeResize="0"/>
          <p:nvPr/>
        </p:nvPicPr>
        <p:blipFill>
          <a:blip r:embed="rId3">
            <a:alphaModFix/>
          </a:blip>
          <a:stretch>
            <a:fillRect/>
          </a:stretch>
        </p:blipFill>
        <p:spPr>
          <a:xfrm>
            <a:off x="2489125" y="2397313"/>
            <a:ext cx="3867150" cy="2357438"/>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17"/>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t>OBJECT-ORIENTED PROGRAMMING</a:t>
            </a:r>
            <a:endParaRPr/>
          </a:p>
        </p:txBody>
      </p:sp>
      <p:sp>
        <p:nvSpPr>
          <p:cNvPr id="716" name="Google Shape;716;p117"/>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11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What is OOPs</a:t>
            </a:r>
            <a:endParaRPr/>
          </a:p>
        </p:txBody>
      </p:sp>
      <p:sp>
        <p:nvSpPr>
          <p:cNvPr id="722" name="Google Shape;722;p11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Font typeface="Calibri"/>
              <a:buChar char="•"/>
            </a:pPr>
            <a:r>
              <a:rPr lang="en" sz="1800" b="1">
                <a:latin typeface="Calibri"/>
                <a:ea typeface="Calibri"/>
                <a:cs typeface="Calibri"/>
                <a:sym typeface="Calibri"/>
              </a:rPr>
              <a:t>OOP (Object-Oriented Programming)</a:t>
            </a:r>
            <a:r>
              <a:rPr lang="en" sz="1800">
                <a:latin typeface="Calibri"/>
                <a:ea typeface="Calibri"/>
                <a:cs typeface="Calibri"/>
                <a:sym typeface="Calibri"/>
              </a:rPr>
              <a:t> is a programming approach that uses </a:t>
            </a:r>
            <a:r>
              <a:rPr lang="en" sz="1800" b="1">
                <a:latin typeface="Calibri"/>
                <a:ea typeface="Calibri"/>
                <a:cs typeface="Calibri"/>
                <a:sym typeface="Calibri"/>
              </a:rPr>
              <a:t>objects</a:t>
            </a:r>
            <a:r>
              <a:rPr lang="en" sz="1800">
                <a:latin typeface="Calibri"/>
                <a:ea typeface="Calibri"/>
                <a:cs typeface="Calibri"/>
                <a:sym typeface="Calibri"/>
              </a:rPr>
              <a:t> and </a:t>
            </a:r>
            <a:r>
              <a:rPr lang="en" sz="1800" b="1">
                <a:latin typeface="Calibri"/>
                <a:ea typeface="Calibri"/>
                <a:cs typeface="Calibri"/>
                <a:sym typeface="Calibri"/>
              </a:rPr>
              <a:t>classes</a:t>
            </a:r>
            <a:r>
              <a:rPr lang="en" sz="1800">
                <a:latin typeface="Calibri"/>
                <a:ea typeface="Calibri"/>
                <a:cs typeface="Calibri"/>
                <a:sym typeface="Calibri"/>
              </a:rPr>
              <a:t> to organize code by combining </a:t>
            </a:r>
            <a:r>
              <a:rPr lang="en" sz="1800" b="1">
                <a:latin typeface="Calibri"/>
                <a:ea typeface="Calibri"/>
                <a:cs typeface="Calibri"/>
                <a:sym typeface="Calibri"/>
              </a:rPr>
              <a:t>data</a:t>
            </a:r>
            <a:r>
              <a:rPr lang="en" sz="1800">
                <a:latin typeface="Calibri"/>
                <a:ea typeface="Calibri"/>
                <a:cs typeface="Calibri"/>
                <a:sym typeface="Calibri"/>
              </a:rPr>
              <a:t> and </a:t>
            </a:r>
            <a:r>
              <a:rPr lang="en" sz="1800" b="1">
                <a:latin typeface="Calibri"/>
                <a:ea typeface="Calibri"/>
                <a:cs typeface="Calibri"/>
                <a:sym typeface="Calibri"/>
              </a:rPr>
              <a:t>methods</a:t>
            </a:r>
            <a:r>
              <a:rPr lang="en" sz="1800">
                <a:latin typeface="Calibri"/>
                <a:ea typeface="Calibri"/>
                <a:cs typeface="Calibri"/>
                <a:sym typeface="Calibri"/>
              </a:rPr>
              <a:t> into a single unit.</a:t>
            </a:r>
            <a:endParaRPr sz="1800">
              <a:latin typeface="Calibri"/>
              <a:ea typeface="Calibri"/>
              <a:cs typeface="Calibri"/>
              <a:sym typeface="Calibri"/>
            </a:endParaRPr>
          </a:p>
          <a:p>
            <a:pPr marL="0" lvl="0" indent="0" algn="l" rtl="0">
              <a:lnSpc>
                <a:spcPct val="115000"/>
              </a:lnSpc>
              <a:spcBef>
                <a:spcPts val="1400"/>
              </a:spcBef>
              <a:spcAft>
                <a:spcPts val="0"/>
              </a:spcAft>
              <a:buNone/>
            </a:pPr>
            <a:r>
              <a:rPr lang="en" sz="1400">
                <a:latin typeface="Calibri"/>
                <a:ea typeface="Calibri"/>
                <a:cs typeface="Calibri"/>
                <a:sym typeface="Calibri"/>
              </a:rPr>
              <a:t>Object-oriented programming has several advantages over procedural programming:</a:t>
            </a:r>
            <a:endParaRPr sz="1400">
              <a:latin typeface="Calibri"/>
              <a:ea typeface="Calibri"/>
              <a:cs typeface="Calibri"/>
              <a:sym typeface="Calibri"/>
            </a:endParaRPr>
          </a:p>
          <a:p>
            <a:pPr marL="914400" lvl="0" indent="-317500" algn="l" rtl="0">
              <a:lnSpc>
                <a:spcPct val="115000"/>
              </a:lnSpc>
              <a:spcBef>
                <a:spcPts val="1400"/>
              </a:spcBef>
              <a:spcAft>
                <a:spcPts val="0"/>
              </a:spcAft>
              <a:buClr>
                <a:schemeClr val="lt1"/>
              </a:buClr>
              <a:buSzPts val="1400"/>
              <a:buFont typeface="Calibri"/>
              <a:buChar char="●"/>
            </a:pPr>
            <a:r>
              <a:rPr lang="en" sz="1400">
                <a:latin typeface="Calibri"/>
                <a:ea typeface="Calibri"/>
                <a:cs typeface="Calibri"/>
                <a:sym typeface="Calibri"/>
              </a:rPr>
              <a:t>OOP is faster and easier to execute</a:t>
            </a:r>
            <a:endParaRPr sz="1400">
              <a:latin typeface="Calibri"/>
              <a:ea typeface="Calibri"/>
              <a:cs typeface="Calibri"/>
              <a:sym typeface="Calibri"/>
            </a:endParaRPr>
          </a:p>
          <a:p>
            <a:pPr marL="914400" lvl="0" indent="-317500" algn="l" rtl="0">
              <a:lnSpc>
                <a:spcPct val="115000"/>
              </a:lnSpc>
              <a:spcBef>
                <a:spcPts val="0"/>
              </a:spcBef>
              <a:spcAft>
                <a:spcPts val="0"/>
              </a:spcAft>
              <a:buClr>
                <a:schemeClr val="lt1"/>
              </a:buClr>
              <a:buSzPts val="1400"/>
              <a:buFont typeface="Calibri"/>
              <a:buChar char="●"/>
            </a:pPr>
            <a:r>
              <a:rPr lang="en" sz="1400">
                <a:latin typeface="Calibri"/>
                <a:ea typeface="Calibri"/>
                <a:cs typeface="Calibri"/>
                <a:sym typeface="Calibri"/>
              </a:rPr>
              <a:t>OOP provides a clear structure for the programs</a:t>
            </a:r>
            <a:endParaRPr sz="1400">
              <a:latin typeface="Calibri"/>
              <a:ea typeface="Calibri"/>
              <a:cs typeface="Calibri"/>
              <a:sym typeface="Calibri"/>
            </a:endParaRPr>
          </a:p>
          <a:p>
            <a:pPr marL="914400" lvl="0" indent="-317500" algn="l" rtl="0">
              <a:lnSpc>
                <a:spcPct val="115000"/>
              </a:lnSpc>
              <a:spcBef>
                <a:spcPts val="0"/>
              </a:spcBef>
              <a:spcAft>
                <a:spcPts val="0"/>
              </a:spcAft>
              <a:buClr>
                <a:schemeClr val="lt1"/>
              </a:buClr>
              <a:buSzPts val="1400"/>
              <a:buFont typeface="Calibri"/>
              <a:buChar char="●"/>
            </a:pPr>
            <a:r>
              <a:rPr lang="en" sz="1400">
                <a:latin typeface="Calibri"/>
                <a:ea typeface="Calibri"/>
                <a:cs typeface="Calibri"/>
                <a:sym typeface="Calibri"/>
              </a:rPr>
              <a:t>OOP helps to keep the C# code DRY "Don't Repeat Yourself", and makes the code easier to maintain, modify and debug</a:t>
            </a:r>
            <a:endParaRPr sz="1400">
              <a:latin typeface="Calibri"/>
              <a:ea typeface="Calibri"/>
              <a:cs typeface="Calibri"/>
              <a:sym typeface="Calibri"/>
            </a:endParaRPr>
          </a:p>
          <a:p>
            <a:pPr marL="914400" lvl="0" indent="-317500" algn="l" rtl="0">
              <a:lnSpc>
                <a:spcPct val="115000"/>
              </a:lnSpc>
              <a:spcBef>
                <a:spcPts val="0"/>
              </a:spcBef>
              <a:spcAft>
                <a:spcPts val="0"/>
              </a:spcAft>
              <a:buClr>
                <a:schemeClr val="lt1"/>
              </a:buClr>
              <a:buSzPts val="1400"/>
              <a:buFont typeface="Calibri"/>
              <a:buChar char="●"/>
            </a:pPr>
            <a:r>
              <a:rPr lang="en" sz="1400">
                <a:latin typeface="Calibri"/>
                <a:ea typeface="Calibri"/>
                <a:cs typeface="Calibri"/>
                <a:sym typeface="Calibri"/>
              </a:rPr>
              <a:t>OOP makes it possible to create full reusable applications with less code and shorter development time</a:t>
            </a:r>
            <a:endParaRPr sz="1400">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11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2400">
                <a:latin typeface="Arial"/>
                <a:ea typeface="Arial"/>
                <a:cs typeface="Arial"/>
                <a:sym typeface="Arial"/>
              </a:rPr>
              <a:t>What are Class and Objects</a:t>
            </a:r>
            <a:endParaRPr/>
          </a:p>
        </p:txBody>
      </p:sp>
      <p:sp>
        <p:nvSpPr>
          <p:cNvPr id="728" name="Google Shape;728;p11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lnSpc>
                <a:spcPct val="115000"/>
              </a:lnSpc>
              <a:spcBef>
                <a:spcPts val="800"/>
              </a:spcBef>
              <a:spcAft>
                <a:spcPts val="0"/>
              </a:spcAft>
              <a:buSzPts val="1500"/>
              <a:buFont typeface="Calibri"/>
              <a:buChar char="•"/>
            </a:pPr>
            <a:r>
              <a:rPr lang="en" sz="1500" b="1">
                <a:latin typeface="Calibri"/>
                <a:ea typeface="Calibri"/>
                <a:cs typeface="Calibri"/>
                <a:sym typeface="Calibri"/>
              </a:rPr>
              <a:t>Class:</a:t>
            </a:r>
            <a:r>
              <a:rPr lang="en" sz="1500">
                <a:latin typeface="Calibri"/>
                <a:ea typeface="Calibri"/>
                <a:cs typeface="Calibri"/>
                <a:sym typeface="Calibri"/>
              </a:rPr>
              <a:t> A class is a blueprint or template for creating objects. It defines the structure (attributes or properties) and behavior (methods or functions) that objects of that class will possess. </a:t>
            </a:r>
            <a:endParaRPr sz="1500">
              <a:latin typeface="Calibri"/>
              <a:ea typeface="Calibri"/>
              <a:cs typeface="Calibri"/>
              <a:sym typeface="Calibri"/>
            </a:endParaRPr>
          </a:p>
          <a:p>
            <a:pPr marL="457200" lvl="0" indent="-323850" algn="l" rtl="0">
              <a:lnSpc>
                <a:spcPct val="115000"/>
              </a:lnSpc>
              <a:spcBef>
                <a:spcPts val="0"/>
              </a:spcBef>
              <a:spcAft>
                <a:spcPts val="0"/>
              </a:spcAft>
              <a:buSzPts val="1500"/>
              <a:buFont typeface="Calibri"/>
              <a:buChar char="•"/>
            </a:pPr>
            <a:r>
              <a:rPr lang="en" sz="1500" b="1">
                <a:latin typeface="Calibri"/>
                <a:ea typeface="Calibri"/>
                <a:cs typeface="Calibri"/>
                <a:sym typeface="Calibri"/>
              </a:rPr>
              <a:t>Object: </a:t>
            </a:r>
            <a:r>
              <a:rPr lang="en" sz="1500">
                <a:latin typeface="Calibri"/>
                <a:ea typeface="Calibri"/>
                <a:cs typeface="Calibri"/>
                <a:sym typeface="Calibri"/>
              </a:rPr>
              <a:t>An object is an instance of a class. When you create an object, you are creating a concrete entity based on the class's blueprint.</a:t>
            </a:r>
            <a:endParaRPr sz="1500">
              <a:latin typeface="Calibri"/>
              <a:ea typeface="Calibri"/>
              <a:cs typeface="Calibri"/>
              <a:sym typeface="Calibri"/>
            </a:endParaRPr>
          </a:p>
          <a:p>
            <a:pPr marL="914400" lvl="0" indent="0" algn="l" rtl="0">
              <a:lnSpc>
                <a:spcPct val="115000"/>
              </a:lnSpc>
              <a:spcBef>
                <a:spcPts val="1500"/>
              </a:spcBef>
              <a:spcAft>
                <a:spcPts val="1500"/>
              </a:spcAft>
              <a:buNone/>
            </a:pPr>
            <a:endParaRPr sz="1500">
              <a:latin typeface="Calibri"/>
              <a:ea typeface="Calibri"/>
              <a:cs typeface="Calibri"/>
              <a:sym typeface="Calibri"/>
            </a:endParaRPr>
          </a:p>
        </p:txBody>
      </p:sp>
      <p:pic>
        <p:nvPicPr>
          <p:cNvPr id="729" name="Google Shape;729;p119"/>
          <p:cNvPicPr preferRelativeResize="0"/>
          <p:nvPr/>
        </p:nvPicPr>
        <p:blipFill>
          <a:blip r:embed="rId3">
            <a:alphaModFix/>
          </a:blip>
          <a:stretch>
            <a:fillRect/>
          </a:stretch>
        </p:blipFill>
        <p:spPr>
          <a:xfrm>
            <a:off x="2674938" y="2743675"/>
            <a:ext cx="3413760" cy="192024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12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PILLARS OF OOPs</a:t>
            </a:r>
            <a:endParaRPr/>
          </a:p>
        </p:txBody>
      </p:sp>
      <p:sp>
        <p:nvSpPr>
          <p:cNvPr id="735" name="Google Shape;735;p12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lnSpc>
                <a:spcPct val="115000"/>
              </a:lnSpc>
              <a:spcBef>
                <a:spcPts val="1200"/>
              </a:spcBef>
              <a:spcAft>
                <a:spcPts val="0"/>
              </a:spcAft>
              <a:buSzPts val="1500"/>
              <a:buFont typeface="Arial"/>
              <a:buChar char="•"/>
            </a:pPr>
            <a:r>
              <a:rPr lang="en" sz="1500">
                <a:latin typeface="Calibri"/>
                <a:ea typeface="Calibri"/>
                <a:cs typeface="Calibri"/>
                <a:sym typeface="Calibri"/>
              </a:rPr>
              <a:t>Object Oriented Programming  is based on </a:t>
            </a:r>
            <a:r>
              <a:rPr lang="en" sz="1500" b="1">
                <a:latin typeface="Calibri"/>
                <a:ea typeface="Calibri"/>
                <a:cs typeface="Calibri"/>
                <a:sym typeface="Calibri"/>
              </a:rPr>
              <a:t>four fundamental principles</a:t>
            </a:r>
            <a:r>
              <a:rPr lang="en" sz="1500">
                <a:latin typeface="Calibri"/>
                <a:ea typeface="Calibri"/>
                <a:cs typeface="Calibri"/>
                <a:sym typeface="Calibri"/>
              </a:rPr>
              <a:t> that make programs </a:t>
            </a:r>
            <a:r>
              <a:rPr lang="en" sz="1500" b="1">
                <a:latin typeface="Calibri"/>
                <a:ea typeface="Calibri"/>
                <a:cs typeface="Calibri"/>
                <a:sym typeface="Calibri"/>
              </a:rPr>
              <a:t>organized, reusable, and maintainable</a:t>
            </a:r>
            <a:r>
              <a:rPr lang="en" sz="1500">
                <a:latin typeface="Calibri"/>
                <a:ea typeface="Calibri"/>
                <a:cs typeface="Calibri"/>
                <a:sym typeface="Calibri"/>
              </a:rPr>
              <a:t>:</a:t>
            </a:r>
            <a:endParaRPr sz="1500">
              <a:latin typeface="Calibri"/>
              <a:ea typeface="Calibri"/>
              <a:cs typeface="Calibri"/>
              <a:sym typeface="Calibri"/>
            </a:endParaRPr>
          </a:p>
          <a:p>
            <a:pPr marL="1371600" lvl="2" indent="-323850" algn="l" rtl="0">
              <a:lnSpc>
                <a:spcPct val="115000"/>
              </a:lnSpc>
              <a:spcBef>
                <a:spcPts val="0"/>
              </a:spcBef>
              <a:spcAft>
                <a:spcPts val="0"/>
              </a:spcAft>
              <a:buSzPts val="1500"/>
              <a:buFont typeface="Calibri"/>
              <a:buChar char="•"/>
            </a:pPr>
            <a:r>
              <a:rPr lang="en" sz="1500">
                <a:latin typeface="Calibri"/>
                <a:ea typeface="Calibri"/>
                <a:cs typeface="Calibri"/>
                <a:sym typeface="Calibri"/>
              </a:rPr>
              <a:t>Encapsulation</a:t>
            </a:r>
            <a:endParaRPr sz="1500">
              <a:latin typeface="Calibri"/>
              <a:ea typeface="Calibri"/>
              <a:cs typeface="Calibri"/>
              <a:sym typeface="Calibri"/>
            </a:endParaRPr>
          </a:p>
          <a:p>
            <a:pPr marL="1371600" lvl="2" indent="-323850" algn="l" rtl="0">
              <a:lnSpc>
                <a:spcPct val="115000"/>
              </a:lnSpc>
              <a:spcBef>
                <a:spcPts val="0"/>
              </a:spcBef>
              <a:spcAft>
                <a:spcPts val="0"/>
              </a:spcAft>
              <a:buSzPts val="1500"/>
              <a:buFont typeface="Calibri"/>
              <a:buChar char="•"/>
            </a:pPr>
            <a:r>
              <a:rPr lang="en" sz="1500">
                <a:latin typeface="Calibri"/>
                <a:ea typeface="Calibri"/>
                <a:cs typeface="Calibri"/>
                <a:sym typeface="Calibri"/>
              </a:rPr>
              <a:t>Abstraction</a:t>
            </a:r>
            <a:endParaRPr sz="1500">
              <a:latin typeface="Calibri"/>
              <a:ea typeface="Calibri"/>
              <a:cs typeface="Calibri"/>
              <a:sym typeface="Calibri"/>
            </a:endParaRPr>
          </a:p>
          <a:p>
            <a:pPr marL="1371600" lvl="2" indent="-323850" algn="l" rtl="0">
              <a:lnSpc>
                <a:spcPct val="115000"/>
              </a:lnSpc>
              <a:spcBef>
                <a:spcPts val="0"/>
              </a:spcBef>
              <a:spcAft>
                <a:spcPts val="0"/>
              </a:spcAft>
              <a:buSzPts val="1500"/>
              <a:buFont typeface="Calibri"/>
              <a:buChar char="•"/>
            </a:pPr>
            <a:r>
              <a:rPr lang="en" sz="1500">
                <a:latin typeface="Calibri"/>
                <a:ea typeface="Calibri"/>
                <a:cs typeface="Calibri"/>
                <a:sym typeface="Calibri"/>
              </a:rPr>
              <a:t>Inheritance</a:t>
            </a:r>
            <a:endParaRPr sz="1500">
              <a:latin typeface="Calibri"/>
              <a:ea typeface="Calibri"/>
              <a:cs typeface="Calibri"/>
              <a:sym typeface="Calibri"/>
            </a:endParaRPr>
          </a:p>
          <a:p>
            <a:pPr marL="1371600" lvl="2" indent="-323850" algn="l" rtl="0">
              <a:lnSpc>
                <a:spcPct val="115000"/>
              </a:lnSpc>
              <a:spcBef>
                <a:spcPts val="0"/>
              </a:spcBef>
              <a:spcAft>
                <a:spcPts val="0"/>
              </a:spcAft>
              <a:buSzPts val="1500"/>
              <a:buFont typeface="Calibri"/>
              <a:buChar char="•"/>
            </a:pPr>
            <a:r>
              <a:rPr lang="en" sz="1500">
                <a:latin typeface="Calibri"/>
                <a:ea typeface="Calibri"/>
                <a:cs typeface="Calibri"/>
                <a:sym typeface="Calibri"/>
              </a:rPr>
              <a:t>Polymorphism   </a:t>
            </a:r>
            <a:endParaRPr sz="1500">
              <a:latin typeface="Calibri"/>
              <a:ea typeface="Calibri"/>
              <a:cs typeface="Calibri"/>
              <a:sym typeface="Calibri"/>
            </a:endParaRPr>
          </a:p>
          <a:p>
            <a:pPr marL="457200" lvl="0" indent="0" algn="l" rtl="0">
              <a:spcBef>
                <a:spcPts val="1200"/>
              </a:spcBef>
              <a:spcAft>
                <a:spcPts val="0"/>
              </a:spcAft>
              <a:buNone/>
            </a:pPr>
            <a:endParaRPr sz="1400">
              <a:latin typeface="Calibri"/>
              <a:ea typeface="Calibri"/>
              <a:cs typeface="Calibri"/>
              <a:sym typeface="Calibri"/>
            </a:endParaRPr>
          </a:p>
        </p:txBody>
      </p:sp>
      <p:pic>
        <p:nvPicPr>
          <p:cNvPr id="736" name="Google Shape;736;p120"/>
          <p:cNvPicPr preferRelativeResize="0"/>
          <p:nvPr/>
        </p:nvPicPr>
        <p:blipFill>
          <a:blip r:embed="rId3">
            <a:alphaModFix/>
          </a:blip>
          <a:stretch>
            <a:fillRect/>
          </a:stretch>
        </p:blipFill>
        <p:spPr>
          <a:xfrm>
            <a:off x="3679001" y="2202925"/>
            <a:ext cx="3783724" cy="25717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2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ENCAPSULATION</a:t>
            </a:r>
            <a:endParaRPr/>
          </a:p>
        </p:txBody>
      </p:sp>
      <p:sp>
        <p:nvSpPr>
          <p:cNvPr id="742" name="Google Shape;742;p12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Clr>
                <a:schemeClr val="lt1"/>
              </a:buClr>
              <a:buSzPts val="1400"/>
              <a:buChar char="●"/>
            </a:pPr>
            <a:r>
              <a:rPr lang="en" sz="1400">
                <a:latin typeface="Calibri"/>
                <a:ea typeface="Calibri"/>
                <a:cs typeface="Calibri"/>
                <a:sym typeface="Calibri"/>
              </a:rPr>
              <a:t>Encapsulation is the bundling of data (attributes) and methods (functions) that operate on the data within a single unit, the class. It also involves restricting direct access to some of an object's components, meaning that the internal workings are hidden from the outside world. This is achieved using access modifiers (e.g., public, private, protected).</a:t>
            </a:r>
            <a:endParaRPr sz="1400">
              <a:latin typeface="Calibri"/>
              <a:ea typeface="Calibri"/>
              <a:cs typeface="Calibri"/>
              <a:sym typeface="Calibri"/>
            </a:endParaRPr>
          </a:p>
          <a:p>
            <a:pPr marL="0" lvl="0" indent="0" algn="l" rtl="0">
              <a:spcBef>
                <a:spcPts val="1500"/>
              </a:spcBef>
              <a:spcAft>
                <a:spcPts val="0"/>
              </a:spcAft>
              <a:buNone/>
            </a:pPr>
            <a:r>
              <a:rPr lang="en" sz="1400">
                <a:latin typeface="Calibri"/>
                <a:ea typeface="Calibri"/>
                <a:cs typeface="Calibri"/>
                <a:sym typeface="Calibri"/>
              </a:rPr>
              <a:t>	</a:t>
            </a:r>
            <a:r>
              <a:rPr lang="en" sz="1500" b="1">
                <a:latin typeface="Calibri"/>
                <a:ea typeface="Calibri"/>
                <a:cs typeface="Calibri"/>
                <a:sym typeface="Calibri"/>
              </a:rPr>
              <a:t>Key Points:</a:t>
            </a:r>
            <a:endParaRPr sz="1500" b="1">
              <a:latin typeface="Calibri"/>
              <a:ea typeface="Calibri"/>
              <a:cs typeface="Calibri"/>
              <a:sym typeface="Calibri"/>
            </a:endParaRPr>
          </a:p>
          <a:p>
            <a:pPr marL="457200" lvl="0" indent="-298450" algn="l" rtl="0">
              <a:lnSpc>
                <a:spcPct val="115000"/>
              </a:lnSpc>
              <a:spcBef>
                <a:spcPts val="1200"/>
              </a:spcBef>
              <a:spcAft>
                <a:spcPts val="0"/>
              </a:spcAft>
              <a:buClr>
                <a:schemeClr val="lt1"/>
              </a:buClr>
              <a:buSzPts val="1100"/>
              <a:buAutoNum type="arabicPeriod"/>
            </a:pPr>
            <a:r>
              <a:rPr lang="en" sz="1400">
                <a:latin typeface="Calibri"/>
                <a:ea typeface="Calibri"/>
                <a:cs typeface="Calibri"/>
                <a:sym typeface="Calibri"/>
              </a:rPr>
              <a:t>Data members (variables) are private.</a:t>
            </a:r>
            <a:endParaRPr sz="1400">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AutoNum type="arabicPeriod"/>
            </a:pPr>
            <a:r>
              <a:rPr lang="en" sz="1400">
                <a:latin typeface="Calibri"/>
                <a:ea typeface="Calibri"/>
                <a:cs typeface="Calibri"/>
                <a:sym typeface="Calibri"/>
              </a:rPr>
              <a:t>Methods (functions) are public to access or modify data.</a:t>
            </a:r>
            <a:endParaRPr sz="1400">
              <a:latin typeface="Calibri"/>
              <a:ea typeface="Calibri"/>
              <a:cs typeface="Calibri"/>
              <a:sym typeface="Calibri"/>
            </a:endParaRPr>
          </a:p>
          <a:p>
            <a:pPr marL="457200" lvl="0" indent="-298450" algn="l" rtl="0">
              <a:lnSpc>
                <a:spcPct val="115000"/>
              </a:lnSpc>
              <a:spcBef>
                <a:spcPts val="0"/>
              </a:spcBef>
              <a:spcAft>
                <a:spcPts val="0"/>
              </a:spcAft>
              <a:buClr>
                <a:schemeClr val="lt1"/>
              </a:buClr>
              <a:buSzPts val="1100"/>
              <a:buAutoNum type="arabicPeriod"/>
            </a:pPr>
            <a:r>
              <a:rPr lang="en" sz="1400">
                <a:latin typeface="Calibri"/>
                <a:ea typeface="Calibri"/>
                <a:cs typeface="Calibri"/>
                <a:sym typeface="Calibri"/>
              </a:rPr>
              <a:t>Helps in maintaining data integrity and security.</a:t>
            </a:r>
            <a:endParaRPr sz="1100">
              <a:latin typeface="Arial"/>
              <a:ea typeface="Arial"/>
              <a:cs typeface="Arial"/>
              <a:sym typeface="Arial"/>
            </a:endParaRPr>
          </a:p>
          <a:p>
            <a:pPr marL="0" lvl="0" indent="0" algn="l" rtl="0">
              <a:spcBef>
                <a:spcPts val="1200"/>
              </a:spcBef>
              <a:spcAft>
                <a:spcPts val="0"/>
              </a:spcAft>
              <a:buNone/>
            </a:pPr>
            <a:endParaRPr sz="1400">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12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lnSpc>
                <a:spcPct val="115000"/>
              </a:lnSpc>
              <a:spcBef>
                <a:spcPts val="1500"/>
              </a:spcBef>
              <a:spcAft>
                <a:spcPts val="800"/>
              </a:spcAft>
              <a:buClr>
                <a:schemeClr val="dk1"/>
              </a:buClr>
              <a:buSzPts val="1100"/>
              <a:buFont typeface="Arial"/>
              <a:buNone/>
            </a:pPr>
            <a:r>
              <a:rPr lang="en" sz="2100" b="1">
                <a:latin typeface="Calibri"/>
                <a:ea typeface="Calibri"/>
                <a:cs typeface="Calibri"/>
                <a:sym typeface="Calibri"/>
              </a:rPr>
              <a:t>Key aspects of encapsulation in C#:</a:t>
            </a:r>
            <a:endParaRPr sz="3600"/>
          </a:p>
        </p:txBody>
      </p:sp>
      <p:sp>
        <p:nvSpPr>
          <p:cNvPr id="748" name="Google Shape;748;p12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ctr" rtl="0">
              <a:lnSpc>
                <a:spcPct val="115000"/>
              </a:lnSpc>
              <a:spcBef>
                <a:spcPts val="1500"/>
              </a:spcBef>
              <a:spcAft>
                <a:spcPts val="0"/>
              </a:spcAft>
              <a:buClr>
                <a:schemeClr val="dk1"/>
              </a:buClr>
              <a:buSzPts val="1100"/>
              <a:buFont typeface="Arial"/>
              <a:buNone/>
            </a:pPr>
            <a:endParaRPr sz="1600" b="1">
              <a:latin typeface="Calibri"/>
              <a:ea typeface="Calibri"/>
              <a:cs typeface="Calibri"/>
              <a:sym typeface="Calibri"/>
            </a:endParaRPr>
          </a:p>
          <a:p>
            <a:pPr marL="457200" lvl="0" indent="-311150" algn="l" rtl="0">
              <a:lnSpc>
                <a:spcPct val="115000"/>
              </a:lnSpc>
              <a:spcBef>
                <a:spcPts val="800"/>
              </a:spcBef>
              <a:spcAft>
                <a:spcPts val="0"/>
              </a:spcAft>
              <a:buClr>
                <a:schemeClr val="lt1"/>
              </a:buClr>
              <a:buSzPts val="1300"/>
              <a:buChar char="●"/>
            </a:pPr>
            <a:r>
              <a:rPr lang="en" sz="1300" b="1">
                <a:latin typeface="Calibri"/>
                <a:ea typeface="Calibri"/>
                <a:cs typeface="Calibri"/>
                <a:sym typeface="Calibri"/>
              </a:rPr>
              <a:t>Bundling Data and Methods:</a:t>
            </a:r>
            <a:r>
              <a:rPr lang="en" sz="1300">
                <a:latin typeface="Calibri"/>
                <a:ea typeface="Calibri"/>
                <a:cs typeface="Calibri"/>
                <a:sym typeface="Calibri"/>
              </a:rPr>
              <a:t> Encapsulation combines related data and the methods that manipulate that data within a single class. For example, a BankAccount class might encapsulate a balance field and methods like Deposit() and Withdraw().</a:t>
            </a:r>
            <a:endParaRPr sz="1300">
              <a:latin typeface="Calibri"/>
              <a:ea typeface="Calibri"/>
              <a:cs typeface="Calibri"/>
              <a:sym typeface="Calibri"/>
            </a:endParaRPr>
          </a:p>
          <a:p>
            <a:pPr marL="457200" lvl="0" indent="-311150" algn="l" rtl="0">
              <a:lnSpc>
                <a:spcPct val="115000"/>
              </a:lnSpc>
              <a:spcBef>
                <a:spcPts val="0"/>
              </a:spcBef>
              <a:spcAft>
                <a:spcPts val="0"/>
              </a:spcAft>
              <a:buClr>
                <a:schemeClr val="lt1"/>
              </a:buClr>
              <a:buSzPts val="1300"/>
              <a:buChar char="●"/>
            </a:pPr>
            <a:r>
              <a:rPr lang="en" sz="1300" b="1">
                <a:latin typeface="Calibri"/>
                <a:ea typeface="Calibri"/>
                <a:cs typeface="Calibri"/>
                <a:sym typeface="Calibri"/>
              </a:rPr>
              <a:t>Information Hiding (Data Hiding):</a:t>
            </a:r>
            <a:r>
              <a:rPr lang="en" sz="1300">
                <a:latin typeface="Calibri"/>
                <a:ea typeface="Calibri"/>
                <a:cs typeface="Calibri"/>
                <a:sym typeface="Calibri"/>
              </a:rPr>
              <a:t> A core aspect of encapsulation is hiding the internal implementation details of a class from outside access. This is achieved through access modifiers like private, protected, and internal. By declaring fields as private, their direct access from outside the class is prevented, ensuring that data can only be manipulated through controlled methods or properties. </a:t>
            </a:r>
            <a:endParaRPr sz="1300">
              <a:latin typeface="Calibri"/>
              <a:ea typeface="Calibri"/>
              <a:cs typeface="Calibri"/>
              <a:sym typeface="Calibri"/>
            </a:endParaRPr>
          </a:p>
          <a:p>
            <a:pPr marL="457200" lvl="0" indent="-311150" algn="l" rtl="0">
              <a:lnSpc>
                <a:spcPct val="115000"/>
              </a:lnSpc>
              <a:spcBef>
                <a:spcPts val="0"/>
              </a:spcBef>
              <a:spcAft>
                <a:spcPts val="0"/>
              </a:spcAft>
              <a:buClr>
                <a:schemeClr val="lt1"/>
              </a:buClr>
              <a:buSzPts val="1300"/>
              <a:buChar char="●"/>
            </a:pPr>
            <a:r>
              <a:rPr lang="en" sz="1300" b="1">
                <a:latin typeface="Calibri"/>
                <a:ea typeface="Calibri"/>
                <a:cs typeface="Calibri"/>
                <a:sym typeface="Calibri"/>
              </a:rPr>
              <a:t>Controlled Access:</a:t>
            </a:r>
            <a:r>
              <a:rPr lang="en" sz="1300">
                <a:latin typeface="Calibri"/>
                <a:ea typeface="Calibri"/>
                <a:cs typeface="Calibri"/>
                <a:sym typeface="Calibri"/>
              </a:rPr>
              <a:t> Instead of direct access to private fields, public methods or properties are provided to interact with the encapsulated data. These methods or properties can include validation logic or other business rules to ensure data integrity.</a:t>
            </a:r>
            <a:endParaRPr sz="1800">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12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754" name="Google Shape;754;p12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 b="1">
                <a:latin typeface="Calibri"/>
                <a:ea typeface="Calibri"/>
                <a:cs typeface="Calibri"/>
                <a:sym typeface="Calibri"/>
              </a:rPr>
              <a:t>Advantages of Encapsulation:</a:t>
            </a:r>
            <a:endParaRPr b="1">
              <a:latin typeface="Calibri"/>
              <a:ea typeface="Calibri"/>
              <a:cs typeface="Calibri"/>
              <a:sym typeface="Calibri"/>
            </a:endParaRPr>
          </a:p>
          <a:p>
            <a:pPr marL="457200" lvl="0" indent="-323850" algn="l" rtl="0">
              <a:lnSpc>
                <a:spcPct val="115000"/>
              </a:lnSpc>
              <a:spcBef>
                <a:spcPts val="1200"/>
              </a:spcBef>
              <a:spcAft>
                <a:spcPts val="0"/>
              </a:spcAft>
              <a:buClr>
                <a:schemeClr val="lt1"/>
              </a:buClr>
              <a:buSzPts val="1500"/>
              <a:buChar char="●"/>
            </a:pPr>
            <a:r>
              <a:rPr lang="en" sz="1500">
                <a:latin typeface="Calibri"/>
                <a:ea typeface="Calibri"/>
                <a:cs typeface="Calibri"/>
                <a:sym typeface="Calibri"/>
              </a:rPr>
              <a:t>Protects data from being </a:t>
            </a:r>
            <a:r>
              <a:rPr lang="en" sz="1500" b="1">
                <a:latin typeface="Calibri"/>
                <a:ea typeface="Calibri"/>
                <a:cs typeface="Calibri"/>
                <a:sym typeface="Calibri"/>
              </a:rPr>
              <a:t>modified incorrectly</a:t>
            </a:r>
            <a:endParaRPr sz="1500" b="1">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a:latin typeface="Calibri"/>
                <a:ea typeface="Calibri"/>
                <a:cs typeface="Calibri"/>
                <a:sym typeface="Calibri"/>
              </a:rPr>
              <a:t>Makes code </a:t>
            </a:r>
            <a:r>
              <a:rPr lang="en" sz="1500" b="1">
                <a:latin typeface="Calibri"/>
                <a:ea typeface="Calibri"/>
                <a:cs typeface="Calibri"/>
                <a:sym typeface="Calibri"/>
              </a:rPr>
              <a:t>more secure and robust</a:t>
            </a:r>
            <a:endParaRPr sz="1500" b="1">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a:latin typeface="Calibri"/>
                <a:ea typeface="Calibri"/>
                <a:cs typeface="Calibri"/>
                <a:sym typeface="Calibri"/>
              </a:rPr>
              <a:t>Provides </a:t>
            </a:r>
            <a:r>
              <a:rPr lang="en" sz="1500" b="1">
                <a:latin typeface="Calibri"/>
                <a:ea typeface="Calibri"/>
                <a:cs typeface="Calibri"/>
                <a:sym typeface="Calibri"/>
              </a:rPr>
              <a:t>controlled access</a:t>
            </a:r>
            <a:r>
              <a:rPr lang="en" sz="1500">
                <a:latin typeface="Calibri"/>
                <a:ea typeface="Calibri"/>
                <a:cs typeface="Calibri"/>
                <a:sym typeface="Calibri"/>
              </a:rPr>
              <a:t> to variables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a:latin typeface="Calibri"/>
                <a:ea typeface="Calibri"/>
                <a:cs typeface="Calibri"/>
                <a:sym typeface="Calibri"/>
              </a:rPr>
              <a:t>Improves </a:t>
            </a:r>
            <a:r>
              <a:rPr lang="en" sz="1500" b="1">
                <a:latin typeface="Calibri"/>
                <a:ea typeface="Calibri"/>
                <a:cs typeface="Calibri"/>
                <a:sym typeface="Calibri"/>
              </a:rPr>
              <a:t>maintainability</a:t>
            </a:r>
            <a:endParaRPr sz="1500" b="1">
              <a:latin typeface="Calibri"/>
              <a:ea typeface="Calibri"/>
              <a:cs typeface="Calibri"/>
              <a:sym typeface="Calibri"/>
            </a:endParaRPr>
          </a:p>
          <a:p>
            <a:pPr marL="0" lvl="0" indent="0" algn="l" rtl="0">
              <a:spcBef>
                <a:spcPts val="1200"/>
              </a:spcBef>
              <a:spcAft>
                <a:spcPts val="0"/>
              </a:spcAft>
              <a:buNone/>
            </a:pPr>
            <a:endParaRPr sz="1500">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12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ABSTRACTION</a:t>
            </a:r>
            <a:endParaRPr/>
          </a:p>
        </p:txBody>
      </p:sp>
      <p:sp>
        <p:nvSpPr>
          <p:cNvPr id="760" name="Google Shape;760;p12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Font typeface="Calibri"/>
              <a:buChar char="•"/>
            </a:pPr>
            <a:r>
              <a:rPr lang="en" sz="1400" b="1">
                <a:latin typeface="Calibri"/>
                <a:ea typeface="Calibri"/>
                <a:cs typeface="Calibri"/>
                <a:sym typeface="Calibri"/>
              </a:rPr>
              <a:t>Data Abstraction </a:t>
            </a:r>
            <a:r>
              <a:rPr lang="en" sz="1400">
                <a:latin typeface="Calibri"/>
                <a:ea typeface="Calibri"/>
                <a:cs typeface="Calibri"/>
                <a:sym typeface="Calibri"/>
              </a:rPr>
              <a:t>is the property by which only the essential details are shown to the user and non-essential details or implementations are hidden from the user. </a:t>
            </a:r>
            <a:endParaRPr sz="140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 sz="1400">
                <a:latin typeface="Calibri"/>
                <a:ea typeface="Calibri"/>
                <a:cs typeface="Calibri"/>
                <a:sym typeface="Calibri"/>
              </a:rPr>
              <a:t>In other words, Data Abstraction may also be defined as the process of identifying only the required characteristics of an object ignoring the irrelevant details. </a:t>
            </a:r>
            <a:endParaRPr sz="140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 sz="1400">
                <a:latin typeface="Calibri"/>
                <a:ea typeface="Calibri"/>
                <a:cs typeface="Calibri"/>
                <a:sym typeface="Calibri"/>
              </a:rPr>
              <a:t>The properties and behaviours of an object differentiate it from other objects of similar type and also help in classifying/grouping the objects.</a:t>
            </a:r>
            <a:endParaRPr sz="1400">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12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lnSpc>
                <a:spcPct val="115000"/>
              </a:lnSpc>
              <a:spcBef>
                <a:spcPts val="1500"/>
              </a:spcBef>
              <a:spcAft>
                <a:spcPts val="800"/>
              </a:spcAft>
              <a:buClr>
                <a:schemeClr val="dk1"/>
              </a:buClr>
              <a:buSzPts val="1100"/>
              <a:buFont typeface="Arial"/>
              <a:buNone/>
            </a:pPr>
            <a:r>
              <a:rPr lang="en" sz="2300" b="1">
                <a:latin typeface="Calibri"/>
                <a:ea typeface="Calibri"/>
                <a:cs typeface="Calibri"/>
                <a:sym typeface="Calibri"/>
              </a:rPr>
              <a:t>Key aspects of abstraction in C#</a:t>
            </a:r>
            <a:endParaRPr sz="3600"/>
          </a:p>
        </p:txBody>
      </p:sp>
      <p:sp>
        <p:nvSpPr>
          <p:cNvPr id="766" name="Google Shape;766;p12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ctr" rtl="0">
              <a:lnSpc>
                <a:spcPct val="115000"/>
              </a:lnSpc>
              <a:spcBef>
                <a:spcPts val="1500"/>
              </a:spcBef>
              <a:spcAft>
                <a:spcPts val="0"/>
              </a:spcAft>
              <a:buClr>
                <a:schemeClr val="dk1"/>
              </a:buClr>
              <a:buSzPts val="1100"/>
              <a:buFont typeface="Arial"/>
              <a:buNone/>
            </a:pPr>
            <a:endParaRPr b="1">
              <a:latin typeface="Calibri"/>
              <a:ea typeface="Calibri"/>
              <a:cs typeface="Calibri"/>
              <a:sym typeface="Calibri"/>
            </a:endParaRPr>
          </a:p>
          <a:p>
            <a:pPr marL="457200" lvl="0" indent="-330200" algn="l" rtl="0">
              <a:lnSpc>
                <a:spcPct val="115000"/>
              </a:lnSpc>
              <a:spcBef>
                <a:spcPts val="800"/>
              </a:spcBef>
              <a:spcAft>
                <a:spcPts val="0"/>
              </a:spcAft>
              <a:buClr>
                <a:schemeClr val="lt1"/>
              </a:buClr>
              <a:buSzPts val="1600"/>
              <a:buChar char="●"/>
            </a:pPr>
            <a:r>
              <a:rPr lang="en" sz="1600" b="1">
                <a:latin typeface="Calibri"/>
                <a:ea typeface="Calibri"/>
                <a:cs typeface="Calibri"/>
                <a:sym typeface="Calibri"/>
              </a:rPr>
              <a:t>Hiding Complexity:</a:t>
            </a:r>
            <a:r>
              <a:rPr lang="en" sz="1600">
                <a:latin typeface="Calibri"/>
                <a:ea typeface="Calibri"/>
                <a:cs typeface="Calibri"/>
                <a:sym typeface="Calibri"/>
              </a:rPr>
              <a:t> Abstraction aims to present a simplified view of an object or system, allowing users to interact with it without needing to understand the intricate inner workings. This reduces cognitive load and improves usability.</a:t>
            </a:r>
            <a:endParaRPr sz="1600">
              <a:latin typeface="Calibri"/>
              <a:ea typeface="Calibri"/>
              <a:cs typeface="Calibri"/>
              <a:sym typeface="Calibri"/>
            </a:endParaRPr>
          </a:p>
          <a:p>
            <a:pPr marL="457200" lvl="0" indent="-330200" algn="l" rtl="0">
              <a:lnSpc>
                <a:spcPct val="115000"/>
              </a:lnSpc>
              <a:spcBef>
                <a:spcPts val="0"/>
              </a:spcBef>
              <a:spcAft>
                <a:spcPts val="0"/>
              </a:spcAft>
              <a:buClr>
                <a:schemeClr val="lt1"/>
              </a:buClr>
              <a:buSzPts val="1600"/>
              <a:buChar char="●"/>
            </a:pPr>
            <a:r>
              <a:rPr lang="en" sz="1600" b="1">
                <a:latin typeface="Calibri"/>
                <a:ea typeface="Calibri"/>
                <a:cs typeface="Calibri"/>
                <a:sym typeface="Calibri"/>
              </a:rPr>
              <a:t>Focus on "What" not "How":</a:t>
            </a:r>
            <a:r>
              <a:rPr lang="en" sz="1600">
                <a:latin typeface="Calibri"/>
                <a:ea typeface="Calibri"/>
                <a:cs typeface="Calibri"/>
                <a:sym typeface="Calibri"/>
              </a:rPr>
              <a:t> Abstraction emphasizes the "what" an object does rather than the "how" it achieves it. This promotes a clear separation of concerns, where the interface defines the expected behavior, and the implementation provides the specifics.</a:t>
            </a:r>
            <a:endParaRPr sz="1600">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12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772" name="Google Shape;772;p12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 sz="1800" b="1">
                <a:latin typeface="Calibri"/>
                <a:ea typeface="Calibri"/>
                <a:cs typeface="Calibri"/>
                <a:sym typeface="Calibri"/>
              </a:rPr>
              <a:t>Advantages of Abstraction:</a:t>
            </a:r>
            <a:endParaRPr sz="1800" b="1">
              <a:latin typeface="Calibri"/>
              <a:ea typeface="Calibri"/>
              <a:cs typeface="Calibri"/>
              <a:sym typeface="Calibri"/>
            </a:endParaRPr>
          </a:p>
          <a:p>
            <a:pPr marL="457200" lvl="0" indent="-330200" algn="l" rtl="0">
              <a:lnSpc>
                <a:spcPct val="115000"/>
              </a:lnSpc>
              <a:spcBef>
                <a:spcPts val="1200"/>
              </a:spcBef>
              <a:spcAft>
                <a:spcPts val="0"/>
              </a:spcAft>
              <a:buClr>
                <a:schemeClr val="lt1"/>
              </a:buClr>
              <a:buSzPts val="1600"/>
              <a:buFont typeface="Calibri"/>
              <a:buChar char="●"/>
            </a:pPr>
            <a:r>
              <a:rPr lang="en" sz="1600">
                <a:latin typeface="Calibri"/>
                <a:ea typeface="Calibri"/>
                <a:cs typeface="Calibri"/>
                <a:sym typeface="Calibri"/>
              </a:rPr>
              <a:t>Hides complex implementation</a:t>
            </a:r>
            <a:endParaRPr sz="1600">
              <a:latin typeface="Calibri"/>
              <a:ea typeface="Calibri"/>
              <a:cs typeface="Calibri"/>
              <a:sym typeface="Calibri"/>
            </a:endParaRPr>
          </a:p>
          <a:p>
            <a:pPr marL="457200" lvl="0" indent="-330200" algn="l" rtl="0">
              <a:lnSpc>
                <a:spcPct val="115000"/>
              </a:lnSpc>
              <a:spcBef>
                <a:spcPts val="0"/>
              </a:spcBef>
              <a:spcAft>
                <a:spcPts val="0"/>
              </a:spcAft>
              <a:buClr>
                <a:schemeClr val="lt1"/>
              </a:buClr>
              <a:buSzPts val="1600"/>
              <a:buChar char="●"/>
            </a:pPr>
            <a:r>
              <a:rPr lang="en" sz="1600">
                <a:latin typeface="Calibri"/>
                <a:ea typeface="Calibri"/>
                <a:cs typeface="Calibri"/>
                <a:sym typeface="Calibri"/>
              </a:rPr>
              <a:t>Shows only </a:t>
            </a:r>
            <a:r>
              <a:rPr lang="en" sz="1600" b="1">
                <a:latin typeface="Calibri"/>
                <a:ea typeface="Calibri"/>
                <a:cs typeface="Calibri"/>
                <a:sym typeface="Calibri"/>
              </a:rPr>
              <a:t>necessary features</a:t>
            </a:r>
            <a:r>
              <a:rPr lang="en" sz="1600">
                <a:latin typeface="Calibri"/>
                <a:ea typeface="Calibri"/>
                <a:cs typeface="Calibri"/>
                <a:sym typeface="Calibri"/>
              </a:rPr>
              <a:t> to the user</a:t>
            </a:r>
            <a:endParaRPr sz="1600">
              <a:latin typeface="Calibri"/>
              <a:ea typeface="Calibri"/>
              <a:cs typeface="Calibri"/>
              <a:sym typeface="Calibri"/>
            </a:endParaRPr>
          </a:p>
          <a:p>
            <a:pPr marL="457200" lvl="0" indent="-330200" algn="l" rtl="0">
              <a:lnSpc>
                <a:spcPct val="115000"/>
              </a:lnSpc>
              <a:spcBef>
                <a:spcPts val="0"/>
              </a:spcBef>
              <a:spcAft>
                <a:spcPts val="0"/>
              </a:spcAft>
              <a:buClr>
                <a:schemeClr val="lt1"/>
              </a:buClr>
              <a:buSzPts val="1600"/>
              <a:buChar char="●"/>
            </a:pPr>
            <a:r>
              <a:rPr lang="en" sz="1600">
                <a:latin typeface="Calibri"/>
                <a:ea typeface="Calibri"/>
                <a:cs typeface="Calibri"/>
                <a:sym typeface="Calibri"/>
              </a:rPr>
              <a:t>Makes code </a:t>
            </a:r>
            <a:r>
              <a:rPr lang="en" sz="1600" b="1">
                <a:latin typeface="Calibri"/>
                <a:ea typeface="Calibri"/>
                <a:cs typeface="Calibri"/>
                <a:sym typeface="Calibri"/>
              </a:rPr>
              <a:t>easy to use and maintain</a:t>
            </a:r>
            <a:endParaRPr sz="1600" b="1">
              <a:latin typeface="Calibri"/>
              <a:ea typeface="Calibri"/>
              <a:cs typeface="Calibri"/>
              <a:sym typeface="Calibri"/>
            </a:endParaRPr>
          </a:p>
          <a:p>
            <a:pPr marL="457200" lvl="0" indent="-330200" algn="l" rtl="0">
              <a:lnSpc>
                <a:spcPct val="115000"/>
              </a:lnSpc>
              <a:spcBef>
                <a:spcPts val="0"/>
              </a:spcBef>
              <a:spcAft>
                <a:spcPts val="0"/>
              </a:spcAft>
              <a:buClr>
                <a:schemeClr val="lt1"/>
              </a:buClr>
              <a:buSzPts val="1600"/>
              <a:buChar char="●"/>
            </a:pPr>
            <a:r>
              <a:rPr lang="en" sz="1600">
                <a:latin typeface="Calibri"/>
                <a:ea typeface="Calibri"/>
                <a:cs typeface="Calibri"/>
                <a:sym typeface="Calibri"/>
              </a:rPr>
              <a:t>Supports </a:t>
            </a:r>
            <a:r>
              <a:rPr lang="en" sz="1600" b="1">
                <a:latin typeface="Calibri"/>
                <a:ea typeface="Calibri"/>
                <a:cs typeface="Calibri"/>
                <a:sym typeface="Calibri"/>
              </a:rPr>
              <a:t>modular design</a:t>
            </a:r>
            <a:endParaRPr sz="1600" b="1">
              <a:latin typeface="Calibri"/>
              <a:ea typeface="Calibri"/>
              <a:cs typeface="Calibri"/>
              <a:sym typeface="Calibri"/>
            </a:endParaRPr>
          </a:p>
          <a:p>
            <a:pPr marL="0" lvl="0" indent="0" algn="l" rtl="0">
              <a:spcBef>
                <a:spcPts val="1200"/>
              </a:spcBef>
              <a:spcAft>
                <a:spcPts val="0"/>
              </a:spcAft>
              <a:buNone/>
            </a:pPr>
            <a:endParaRPr sz="2000">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2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INHERITANCE</a:t>
            </a:r>
            <a:endParaRPr/>
          </a:p>
        </p:txBody>
      </p:sp>
      <p:sp>
        <p:nvSpPr>
          <p:cNvPr id="778" name="Google Shape;778;p12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33375" algn="l" rtl="0">
              <a:spcBef>
                <a:spcPts val="800"/>
              </a:spcBef>
              <a:spcAft>
                <a:spcPts val="0"/>
              </a:spcAft>
              <a:buSzPts val="1650"/>
              <a:buFont typeface="Calibri"/>
              <a:buChar char="•"/>
            </a:pPr>
            <a:r>
              <a:rPr lang="en" sz="1650">
                <a:latin typeface="Calibri"/>
                <a:ea typeface="Calibri"/>
                <a:cs typeface="Calibri"/>
                <a:sym typeface="Calibri"/>
              </a:rPr>
              <a:t>Inheritance in C# is an object-oriented programming (OOP) feature that allows one class to derive properties and behaviors from another class. </a:t>
            </a:r>
            <a:endParaRPr sz="1650">
              <a:latin typeface="Calibri"/>
              <a:ea typeface="Calibri"/>
              <a:cs typeface="Calibri"/>
              <a:sym typeface="Calibri"/>
            </a:endParaRPr>
          </a:p>
          <a:p>
            <a:pPr marL="457200" lvl="0" indent="-333375" algn="l" rtl="0">
              <a:spcBef>
                <a:spcPts val="0"/>
              </a:spcBef>
              <a:spcAft>
                <a:spcPts val="0"/>
              </a:spcAft>
              <a:buSzPts val="1650"/>
              <a:buFont typeface="Calibri"/>
              <a:buChar char="•"/>
            </a:pPr>
            <a:r>
              <a:rPr lang="en" sz="1650">
                <a:latin typeface="Calibri"/>
                <a:ea typeface="Calibri"/>
                <a:cs typeface="Calibri"/>
                <a:sym typeface="Calibri"/>
              </a:rPr>
              <a:t>It promotes code reusability, extensibility and establishes a natural hierarchical relationship between classes.</a:t>
            </a:r>
            <a:endParaRPr sz="2000">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12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2600">
                <a:latin typeface="Calibri"/>
                <a:ea typeface="Calibri"/>
                <a:cs typeface="Calibri"/>
                <a:sym typeface="Calibri"/>
              </a:rPr>
              <a:t>Key Concepts of Inheritance in C#</a:t>
            </a:r>
            <a:endParaRPr sz="4100">
              <a:latin typeface="Calibri"/>
              <a:ea typeface="Calibri"/>
              <a:cs typeface="Calibri"/>
              <a:sym typeface="Calibri"/>
            </a:endParaRPr>
          </a:p>
        </p:txBody>
      </p:sp>
      <p:sp>
        <p:nvSpPr>
          <p:cNvPr id="784" name="Google Shape;784;p12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lnSpc>
                <a:spcPct val="115000"/>
              </a:lnSpc>
              <a:spcBef>
                <a:spcPts val="800"/>
              </a:spcBef>
              <a:spcAft>
                <a:spcPts val="0"/>
              </a:spcAft>
              <a:buClr>
                <a:schemeClr val="lt1"/>
              </a:buClr>
              <a:buSzPts val="1500"/>
              <a:buChar char="●"/>
            </a:pPr>
            <a:r>
              <a:rPr lang="en" sz="1500" b="1">
                <a:latin typeface="Calibri"/>
                <a:ea typeface="Calibri"/>
                <a:cs typeface="Calibri"/>
                <a:sym typeface="Calibri"/>
              </a:rPr>
              <a:t>Base Class (Parent Class):</a:t>
            </a:r>
            <a:r>
              <a:rPr lang="en" sz="1500">
                <a:latin typeface="Calibri"/>
                <a:ea typeface="Calibri"/>
                <a:cs typeface="Calibri"/>
                <a:sym typeface="Calibri"/>
              </a:rPr>
              <a:t> The class whose members (properties, methods, fields) are inherited.</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Derived Class (Child Class):</a:t>
            </a:r>
            <a:r>
              <a:rPr lang="en" sz="1500">
                <a:latin typeface="Calibri"/>
                <a:ea typeface="Calibri"/>
                <a:cs typeface="Calibri"/>
                <a:sym typeface="Calibri"/>
              </a:rPr>
              <a:t> The class that inherits members from the base class. It can also add its own unique members and override inherited methods.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Code Reusability:</a:t>
            </a:r>
            <a:r>
              <a:rPr lang="en" sz="1500">
                <a:latin typeface="Calibri"/>
                <a:ea typeface="Calibri"/>
                <a:cs typeface="Calibri"/>
                <a:sym typeface="Calibri"/>
              </a:rPr>
              <a:t> Inheritance allows you to define common functionalities in a base class and reuse them in multiple derived classes, reducing code duplication.</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Extensibility:</a:t>
            </a:r>
            <a:r>
              <a:rPr lang="en" sz="1500">
                <a:latin typeface="Calibri"/>
                <a:ea typeface="Calibri"/>
                <a:cs typeface="Calibri"/>
                <a:sym typeface="Calibri"/>
              </a:rPr>
              <a:t> Derived classes can extend the functionality of the base class by adding new members or modifying existing ones.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Achieving Inheritance:</a:t>
            </a:r>
            <a:r>
              <a:rPr lang="en" sz="1500">
                <a:latin typeface="Calibri"/>
                <a:ea typeface="Calibri"/>
                <a:cs typeface="Calibri"/>
                <a:sym typeface="Calibri"/>
              </a:rPr>
              <a:t> In C#, inheritance is achieved using the colon (:) symbol in the class declaration.</a:t>
            </a:r>
            <a:endParaRPr sz="1500">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12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790" name="Google Shape;790;p12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1400"/>
              </a:spcBef>
              <a:spcAft>
                <a:spcPts val="0"/>
              </a:spcAft>
              <a:buClr>
                <a:schemeClr val="dk1"/>
              </a:buClr>
              <a:buSzPts val="1100"/>
              <a:buFont typeface="Arial"/>
              <a:buNone/>
            </a:pPr>
            <a:r>
              <a:rPr lang="en" sz="1500" b="1">
                <a:latin typeface="Calibri"/>
                <a:ea typeface="Calibri"/>
                <a:cs typeface="Calibri"/>
                <a:sym typeface="Calibri"/>
              </a:rPr>
              <a:t>Advantages of Inheritance:</a:t>
            </a:r>
            <a:endParaRPr sz="1500" b="1">
              <a:latin typeface="Calibri"/>
              <a:ea typeface="Calibri"/>
              <a:cs typeface="Calibri"/>
              <a:sym typeface="Calibri"/>
            </a:endParaRPr>
          </a:p>
          <a:p>
            <a:pPr marL="457200" lvl="0" indent="-323850" algn="l" rtl="0">
              <a:lnSpc>
                <a:spcPct val="115000"/>
              </a:lnSpc>
              <a:spcBef>
                <a:spcPts val="1200"/>
              </a:spcBef>
              <a:spcAft>
                <a:spcPts val="0"/>
              </a:spcAft>
              <a:buClr>
                <a:schemeClr val="lt1"/>
              </a:buClr>
              <a:buSzPts val="1500"/>
              <a:buChar char="●"/>
            </a:pPr>
            <a:r>
              <a:rPr lang="en" sz="1500" b="1">
                <a:latin typeface="Calibri"/>
                <a:ea typeface="Calibri"/>
                <a:cs typeface="Calibri"/>
                <a:sym typeface="Calibri"/>
              </a:rPr>
              <a:t>Code Reusability:</a:t>
            </a:r>
            <a:r>
              <a:rPr lang="en" sz="1500">
                <a:latin typeface="Calibri"/>
                <a:ea typeface="Calibri"/>
                <a:cs typeface="Calibri"/>
                <a:sym typeface="Calibri"/>
              </a:rPr>
              <a:t> Avoids rewriting common code</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Logical Hierarchy:</a:t>
            </a:r>
            <a:r>
              <a:rPr lang="en" sz="1500">
                <a:latin typeface="Calibri"/>
                <a:ea typeface="Calibri"/>
                <a:cs typeface="Calibri"/>
                <a:sym typeface="Calibri"/>
              </a:rPr>
              <a:t> Models real-world relationships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Extensibility:</a:t>
            </a:r>
            <a:r>
              <a:rPr lang="en" sz="1500">
                <a:latin typeface="Calibri"/>
                <a:ea typeface="Calibri"/>
                <a:cs typeface="Calibri"/>
                <a:sym typeface="Calibri"/>
              </a:rPr>
              <a:t> Child classes can add new features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Maintainability:</a:t>
            </a:r>
            <a:r>
              <a:rPr lang="en" sz="1500">
                <a:latin typeface="Calibri"/>
                <a:ea typeface="Calibri"/>
                <a:cs typeface="Calibri"/>
                <a:sym typeface="Calibri"/>
              </a:rPr>
              <a:t> Changes in parent class automatically reflect in child class</a:t>
            </a:r>
            <a:endParaRPr sz="1500">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13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796" name="Google Shape;796;p13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Polymorphism is a Greek word meaning "one name many forms." "Poly" means many, and "morph" means forms. </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In other words, one object has many forms or has one name with multiple functionalities. </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Polymorphism allows a class to have multiple implementations with the same name. It is one of the core principles of Object Oriented Programming after encapsulation and inheritance.</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There are two main types of polymorphism in C#: Compile-time Polymorphism (Static Polymorphism), Run-time Polymorphism (Dynamic Polymorphism).</a:t>
            </a:r>
            <a:endParaRPr sz="1500">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13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800"/>
              </a:spcBef>
              <a:spcAft>
                <a:spcPts val="0"/>
              </a:spcAft>
              <a:buClr>
                <a:schemeClr val="dk1"/>
              </a:buClr>
              <a:buSzPts val="1100"/>
              <a:buFont typeface="Arial"/>
              <a:buNone/>
            </a:pPr>
            <a:r>
              <a:rPr lang="en" sz="2000">
                <a:latin typeface="Calibri"/>
                <a:ea typeface="Calibri"/>
                <a:cs typeface="Calibri"/>
                <a:sym typeface="Calibri"/>
              </a:rPr>
              <a:t>Compile-time Polymorphism (Static Polymorphism).</a:t>
            </a:r>
            <a:endParaRPr sz="2000">
              <a:latin typeface="Calibri"/>
              <a:ea typeface="Calibri"/>
              <a:cs typeface="Calibri"/>
              <a:sym typeface="Calibri"/>
            </a:endParaRPr>
          </a:p>
          <a:p>
            <a:pPr marL="0" lvl="0" indent="0" algn="r" rtl="0">
              <a:spcBef>
                <a:spcPts val="0"/>
              </a:spcBef>
              <a:spcAft>
                <a:spcPts val="0"/>
              </a:spcAft>
              <a:buNone/>
            </a:pPr>
            <a:endParaRPr sz="2000">
              <a:latin typeface="Calibri"/>
              <a:ea typeface="Calibri"/>
              <a:cs typeface="Calibri"/>
              <a:sym typeface="Calibri"/>
            </a:endParaRPr>
          </a:p>
        </p:txBody>
      </p:sp>
      <p:sp>
        <p:nvSpPr>
          <p:cNvPr id="802" name="Google Shape;802;p13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800"/>
              </a:spcBef>
              <a:spcAft>
                <a:spcPts val="0"/>
              </a:spcAft>
              <a:buClr>
                <a:schemeClr val="dk1"/>
              </a:buClr>
              <a:buSzPts val="1100"/>
              <a:buFont typeface="Arial"/>
              <a:buNone/>
            </a:pPr>
            <a:r>
              <a:rPr lang="en" sz="1600">
                <a:latin typeface="Calibri"/>
                <a:ea typeface="Calibri"/>
                <a:cs typeface="Calibri"/>
                <a:sym typeface="Calibri"/>
              </a:rPr>
              <a:t>This type of polymorphism is resolved during the compilation phase. It is primarily achieved through:</a:t>
            </a:r>
            <a:endParaRPr sz="1600">
              <a:latin typeface="Calibri"/>
              <a:ea typeface="Calibri"/>
              <a:cs typeface="Calibri"/>
              <a:sym typeface="Calibri"/>
            </a:endParaRPr>
          </a:p>
          <a:p>
            <a:pPr marL="457200" lvl="0" indent="-304800" algn="l" rtl="0">
              <a:lnSpc>
                <a:spcPct val="115000"/>
              </a:lnSpc>
              <a:spcBef>
                <a:spcPts val="800"/>
              </a:spcBef>
              <a:spcAft>
                <a:spcPts val="0"/>
              </a:spcAft>
              <a:buClr>
                <a:schemeClr val="lt1"/>
              </a:buClr>
              <a:buSzPts val="1200"/>
              <a:buChar char="●"/>
            </a:pPr>
            <a:r>
              <a:rPr lang="en" sz="1600" b="1">
                <a:latin typeface="Calibri"/>
                <a:ea typeface="Calibri"/>
                <a:cs typeface="Calibri"/>
                <a:sym typeface="Calibri"/>
              </a:rPr>
              <a:t>Method Overloading:</a:t>
            </a:r>
            <a:r>
              <a:rPr lang="en" sz="1600">
                <a:latin typeface="Calibri"/>
                <a:ea typeface="Calibri"/>
                <a:cs typeface="Calibri"/>
                <a:sym typeface="Calibri"/>
              </a:rPr>
              <a:t> Defining multiple methods within the same class that have the same name but different parameter lists (different number of parameters, different types of parameters, or different order of parameters). The compiler determines which method to call based on the arguments provided during the method call.</a:t>
            </a:r>
            <a:endParaRPr sz="1600">
              <a:latin typeface="Calibri"/>
              <a:ea typeface="Calibri"/>
              <a:cs typeface="Calibri"/>
              <a:sym typeface="Calibri"/>
            </a:endParaRPr>
          </a:p>
          <a:p>
            <a:pPr marL="457200" lvl="0" indent="-304800" algn="l" rtl="0">
              <a:lnSpc>
                <a:spcPct val="115000"/>
              </a:lnSpc>
              <a:spcBef>
                <a:spcPts val="0"/>
              </a:spcBef>
              <a:spcAft>
                <a:spcPts val="0"/>
              </a:spcAft>
              <a:buClr>
                <a:schemeClr val="lt1"/>
              </a:buClr>
              <a:buSzPts val="1200"/>
              <a:buChar char="●"/>
            </a:pPr>
            <a:r>
              <a:rPr lang="en" sz="1600" b="1">
                <a:latin typeface="Calibri"/>
                <a:ea typeface="Calibri"/>
                <a:cs typeface="Calibri"/>
                <a:sym typeface="Calibri"/>
              </a:rPr>
              <a:t>Operator Overloading: </a:t>
            </a:r>
            <a:r>
              <a:rPr lang="en" sz="1600">
                <a:latin typeface="Calibri"/>
                <a:ea typeface="Calibri"/>
                <a:cs typeface="Calibri"/>
                <a:sym typeface="Calibri"/>
              </a:rPr>
              <a:t>Defining how operators (like +, -, *, /) behave when applied to user-defined types.</a:t>
            </a:r>
            <a:endParaRPr sz="1200">
              <a:latin typeface="Arial"/>
              <a:ea typeface="Arial"/>
              <a:cs typeface="Arial"/>
              <a:sym typeface="Arial"/>
            </a:endParaRPr>
          </a:p>
          <a:p>
            <a:pPr marL="0" lvl="0" indent="0" algn="l" rtl="0">
              <a:spcBef>
                <a:spcPts val="1500"/>
              </a:spcBef>
              <a:spcAft>
                <a:spcPts val="0"/>
              </a:spcAft>
              <a:buNone/>
            </a:pPr>
            <a:endParaRPr sz="1600">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13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2000">
                <a:latin typeface="Calibri"/>
                <a:ea typeface="Calibri"/>
                <a:cs typeface="Calibri"/>
                <a:sym typeface="Calibri"/>
              </a:rPr>
              <a:t>Run-time Polymorphism (Dynamic Polymorphism)</a:t>
            </a:r>
            <a:endParaRPr sz="3800">
              <a:latin typeface="Calibri"/>
              <a:ea typeface="Calibri"/>
              <a:cs typeface="Calibri"/>
              <a:sym typeface="Calibri"/>
            </a:endParaRPr>
          </a:p>
        </p:txBody>
      </p:sp>
      <p:sp>
        <p:nvSpPr>
          <p:cNvPr id="808" name="Google Shape;808;p13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800"/>
              </a:spcBef>
              <a:spcAft>
                <a:spcPts val="0"/>
              </a:spcAft>
              <a:buClr>
                <a:schemeClr val="dk1"/>
              </a:buClr>
              <a:buSzPts val="1100"/>
              <a:buFont typeface="Arial"/>
              <a:buNone/>
            </a:pPr>
            <a:r>
              <a:rPr lang="en" sz="1400">
                <a:latin typeface="Calibri"/>
                <a:ea typeface="Calibri"/>
                <a:cs typeface="Calibri"/>
                <a:sym typeface="Calibri"/>
              </a:rPr>
              <a:t>This type of polymorphism is resolved during the execution of the program. It is primarily achieved through:</a:t>
            </a:r>
            <a:endParaRPr sz="1400">
              <a:latin typeface="Calibri"/>
              <a:ea typeface="Calibri"/>
              <a:cs typeface="Calibri"/>
              <a:sym typeface="Calibri"/>
            </a:endParaRPr>
          </a:p>
          <a:p>
            <a:pPr marL="914400" lvl="0" indent="0" algn="l" rtl="0">
              <a:lnSpc>
                <a:spcPct val="115000"/>
              </a:lnSpc>
              <a:spcBef>
                <a:spcPts val="800"/>
              </a:spcBef>
              <a:spcAft>
                <a:spcPts val="0"/>
              </a:spcAft>
              <a:buNone/>
            </a:pPr>
            <a:r>
              <a:rPr lang="en" sz="1400" b="1">
                <a:latin typeface="Calibri"/>
                <a:ea typeface="Calibri"/>
                <a:cs typeface="Calibri"/>
                <a:sym typeface="Calibri"/>
              </a:rPr>
              <a:t>Method Overriding:</a:t>
            </a:r>
            <a:r>
              <a:rPr lang="en" sz="1400">
                <a:latin typeface="Calibri"/>
                <a:ea typeface="Calibri"/>
                <a:cs typeface="Calibri"/>
                <a:sym typeface="Calibri"/>
              </a:rPr>
              <a:t>  A derived class provides its own specific implementation of a method that is already defined in its base class. To enable overriding, the method in the base class must be declared with the virtual keyword, and the overriding method in the derived class must use the override keyword. When a base class reference points to a derived class object, calling the virtual method will execute the derived class's overridden implementation.</a:t>
            </a:r>
            <a:endParaRPr sz="1400">
              <a:latin typeface="Calibri"/>
              <a:ea typeface="Calibri"/>
              <a:cs typeface="Calibri"/>
              <a:sym typeface="Calibri"/>
            </a:endParaRPr>
          </a:p>
          <a:p>
            <a:pPr marL="0" lvl="0" indent="0" algn="l" rtl="0">
              <a:spcBef>
                <a:spcPts val="1500"/>
              </a:spcBef>
              <a:spcAft>
                <a:spcPts val="0"/>
              </a:spcAft>
              <a:buNone/>
            </a:pPr>
            <a:endParaRPr sz="1400">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13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814" name="Google Shape;814;p13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1500"/>
              </a:spcBef>
              <a:spcAft>
                <a:spcPts val="0"/>
              </a:spcAft>
              <a:buClr>
                <a:schemeClr val="dk1"/>
              </a:buClr>
              <a:buSzPts val="1100"/>
              <a:buFont typeface="Arial"/>
              <a:buNone/>
            </a:pPr>
            <a:r>
              <a:rPr lang="en" sz="1500">
                <a:latin typeface="Calibri"/>
                <a:ea typeface="Calibri"/>
                <a:cs typeface="Calibri"/>
                <a:sym typeface="Calibri"/>
              </a:rPr>
              <a:t>Advantages of Polymorphism:</a:t>
            </a:r>
            <a:endParaRPr sz="1500">
              <a:latin typeface="Calibri"/>
              <a:ea typeface="Calibri"/>
              <a:cs typeface="Calibri"/>
              <a:sym typeface="Calibri"/>
            </a:endParaRPr>
          </a:p>
          <a:p>
            <a:pPr marL="457200" lvl="0" indent="-317500" algn="l" rtl="0">
              <a:lnSpc>
                <a:spcPct val="115000"/>
              </a:lnSpc>
              <a:spcBef>
                <a:spcPts val="800"/>
              </a:spcBef>
              <a:spcAft>
                <a:spcPts val="0"/>
              </a:spcAft>
              <a:buClr>
                <a:schemeClr val="lt1"/>
              </a:buClr>
              <a:buSzPts val="1400"/>
              <a:buChar char="●"/>
            </a:pPr>
            <a:r>
              <a:rPr lang="en" sz="1400" b="1">
                <a:latin typeface="Calibri"/>
                <a:ea typeface="Calibri"/>
                <a:cs typeface="Calibri"/>
                <a:sym typeface="Calibri"/>
              </a:rPr>
              <a:t>Code Reusability:</a:t>
            </a:r>
            <a:r>
              <a:rPr lang="en" sz="1400">
                <a:latin typeface="Calibri"/>
                <a:ea typeface="Calibri"/>
                <a:cs typeface="Calibri"/>
                <a:sym typeface="Calibri"/>
              </a:rPr>
              <a:t> Allows the use of a common interface for different types of objects.</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Flexibility and Extensibility:</a:t>
            </a:r>
            <a:r>
              <a:rPr lang="en" sz="1400">
                <a:latin typeface="Calibri"/>
                <a:ea typeface="Calibri"/>
                <a:cs typeface="Calibri"/>
                <a:sym typeface="Calibri"/>
              </a:rPr>
              <a:t> Facilitates adding new derived classes without modifying existing code that uses the base class interface.</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Maintainability:</a:t>
            </a:r>
            <a:r>
              <a:rPr lang="en" sz="1400">
                <a:latin typeface="Calibri"/>
                <a:ea typeface="Calibri"/>
                <a:cs typeface="Calibri"/>
                <a:sym typeface="Calibri"/>
              </a:rPr>
              <a:t> Simplifies code by providing a consistent way to interact with different object types.</a:t>
            </a:r>
            <a:endParaRPr sz="1400">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134"/>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t>ACCESS MODIFIERS</a:t>
            </a:r>
            <a:endParaRPr/>
          </a:p>
        </p:txBody>
      </p:sp>
      <p:sp>
        <p:nvSpPr>
          <p:cNvPr id="820" name="Google Shape;820;p134"/>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3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What is Access Modifiers</a:t>
            </a:r>
            <a:endParaRPr/>
          </a:p>
        </p:txBody>
      </p:sp>
      <p:sp>
        <p:nvSpPr>
          <p:cNvPr id="826" name="Google Shape;826;p13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Font typeface="Calibri"/>
              <a:buChar char="•"/>
            </a:pPr>
            <a:r>
              <a:rPr lang="en" sz="1800">
                <a:latin typeface="Calibri"/>
                <a:ea typeface="Calibri"/>
                <a:cs typeface="Calibri"/>
                <a:sym typeface="Calibri"/>
              </a:rPr>
              <a:t>Access modifiers control </a:t>
            </a:r>
            <a:r>
              <a:rPr lang="en" sz="1800" i="1">
                <a:latin typeface="Calibri"/>
                <a:ea typeface="Calibri"/>
                <a:cs typeface="Calibri"/>
                <a:sym typeface="Calibri"/>
              </a:rPr>
              <a:t>where</a:t>
            </a:r>
            <a:r>
              <a:rPr lang="en" sz="1800">
                <a:latin typeface="Calibri"/>
                <a:ea typeface="Calibri"/>
                <a:cs typeface="Calibri"/>
                <a:sym typeface="Calibri"/>
              </a:rPr>
              <a:t> a type or member (field, method, property, nested type, etc.) can be accessed from: same class, derived classes, same assembly, or anywhere.</a:t>
            </a:r>
            <a:endParaRPr sz="1800">
              <a:latin typeface="Calibri"/>
              <a:ea typeface="Calibri"/>
              <a:cs typeface="Calibri"/>
              <a:sym typeface="Calibri"/>
            </a:endParaRPr>
          </a:p>
          <a:p>
            <a:pPr marL="457200" lvl="0" indent="-342900" algn="l" rtl="0">
              <a:spcBef>
                <a:spcPts val="0"/>
              </a:spcBef>
              <a:spcAft>
                <a:spcPts val="0"/>
              </a:spcAft>
              <a:buSzPts val="1800"/>
              <a:buFont typeface="Calibri"/>
              <a:buChar char="•"/>
            </a:pPr>
            <a:r>
              <a:rPr lang="en" sz="1800">
                <a:latin typeface="Calibri"/>
                <a:ea typeface="Calibri"/>
                <a:cs typeface="Calibri"/>
                <a:sym typeface="Calibri"/>
              </a:rPr>
              <a:t>List of Access Modifiers.</a:t>
            </a:r>
            <a:endParaRPr sz="1800">
              <a:latin typeface="Calibri"/>
              <a:ea typeface="Calibri"/>
              <a:cs typeface="Calibri"/>
              <a:sym typeface="Calibri"/>
            </a:endParaRPr>
          </a:p>
          <a:p>
            <a:pPr marL="1371600" lvl="2" indent="-342900" algn="l" rtl="0">
              <a:spcBef>
                <a:spcPts val="0"/>
              </a:spcBef>
              <a:spcAft>
                <a:spcPts val="0"/>
              </a:spcAft>
              <a:buSzPts val="1800"/>
              <a:buFont typeface="Calibri"/>
              <a:buChar char="•"/>
            </a:pPr>
            <a:r>
              <a:rPr lang="en" sz="1800">
                <a:latin typeface="Calibri"/>
                <a:ea typeface="Calibri"/>
                <a:cs typeface="Calibri"/>
                <a:sym typeface="Calibri"/>
              </a:rPr>
              <a:t>Public</a:t>
            </a:r>
            <a:endParaRPr sz="1800">
              <a:latin typeface="Calibri"/>
              <a:ea typeface="Calibri"/>
              <a:cs typeface="Calibri"/>
              <a:sym typeface="Calibri"/>
            </a:endParaRPr>
          </a:p>
          <a:p>
            <a:pPr marL="1371600" lvl="2" indent="-342900" algn="l" rtl="0">
              <a:spcBef>
                <a:spcPts val="0"/>
              </a:spcBef>
              <a:spcAft>
                <a:spcPts val="0"/>
              </a:spcAft>
              <a:buSzPts val="1800"/>
              <a:buFont typeface="Calibri"/>
              <a:buChar char="•"/>
            </a:pPr>
            <a:r>
              <a:rPr lang="en" sz="1800">
                <a:latin typeface="Calibri"/>
                <a:ea typeface="Calibri"/>
                <a:cs typeface="Calibri"/>
                <a:sym typeface="Calibri"/>
              </a:rPr>
              <a:t>Private</a:t>
            </a:r>
            <a:endParaRPr sz="1800">
              <a:latin typeface="Calibri"/>
              <a:ea typeface="Calibri"/>
              <a:cs typeface="Calibri"/>
              <a:sym typeface="Calibri"/>
            </a:endParaRPr>
          </a:p>
          <a:p>
            <a:pPr marL="1371600" lvl="2" indent="-342900" algn="l" rtl="0">
              <a:spcBef>
                <a:spcPts val="0"/>
              </a:spcBef>
              <a:spcAft>
                <a:spcPts val="0"/>
              </a:spcAft>
              <a:buSzPts val="1800"/>
              <a:buFont typeface="Calibri"/>
              <a:buChar char="•"/>
            </a:pPr>
            <a:r>
              <a:rPr lang="en" sz="1800">
                <a:latin typeface="Calibri"/>
                <a:ea typeface="Calibri"/>
                <a:cs typeface="Calibri"/>
                <a:sym typeface="Calibri"/>
              </a:rPr>
              <a:t>Protected</a:t>
            </a:r>
            <a:endParaRPr sz="1800">
              <a:latin typeface="Calibri"/>
              <a:ea typeface="Calibri"/>
              <a:cs typeface="Calibri"/>
              <a:sym typeface="Calibri"/>
            </a:endParaRPr>
          </a:p>
          <a:p>
            <a:pPr marL="1371600" lvl="2" indent="-342900" algn="l" rtl="0">
              <a:spcBef>
                <a:spcPts val="0"/>
              </a:spcBef>
              <a:spcAft>
                <a:spcPts val="0"/>
              </a:spcAft>
              <a:buSzPts val="1800"/>
              <a:buFont typeface="Calibri"/>
              <a:buChar char="•"/>
            </a:pPr>
            <a:r>
              <a:rPr lang="en" sz="1800">
                <a:latin typeface="Calibri"/>
                <a:ea typeface="Calibri"/>
                <a:cs typeface="Calibri"/>
                <a:sym typeface="Calibri"/>
              </a:rPr>
              <a:t>Internal</a:t>
            </a:r>
            <a:endParaRPr sz="1800">
              <a:latin typeface="Calibri"/>
              <a:ea typeface="Calibri"/>
              <a:cs typeface="Calibri"/>
              <a:sym typeface="Calibri"/>
            </a:endParaRPr>
          </a:p>
          <a:p>
            <a:pPr marL="1371600" lvl="2" indent="-342900" algn="l" rtl="0">
              <a:spcBef>
                <a:spcPts val="0"/>
              </a:spcBef>
              <a:spcAft>
                <a:spcPts val="0"/>
              </a:spcAft>
              <a:buSzPts val="1800"/>
              <a:buFont typeface="Calibri"/>
              <a:buChar char="•"/>
            </a:pPr>
            <a:r>
              <a:rPr lang="en" sz="1800">
                <a:latin typeface="Calibri"/>
                <a:ea typeface="Calibri"/>
                <a:cs typeface="Calibri"/>
                <a:sym typeface="Calibri"/>
              </a:rPr>
              <a:t>Private Protected</a:t>
            </a:r>
            <a:endParaRPr sz="1800">
              <a:latin typeface="Calibri"/>
              <a:ea typeface="Calibri"/>
              <a:cs typeface="Calibri"/>
              <a:sym typeface="Calibri"/>
            </a:endParaRPr>
          </a:p>
          <a:p>
            <a:pPr marL="1371600" lvl="2" indent="-342900" algn="l" rtl="0">
              <a:spcBef>
                <a:spcPts val="0"/>
              </a:spcBef>
              <a:spcAft>
                <a:spcPts val="0"/>
              </a:spcAft>
              <a:buSzPts val="1800"/>
              <a:buFont typeface="Calibri"/>
              <a:buChar char="•"/>
            </a:pPr>
            <a:r>
              <a:rPr lang="en" sz="1800">
                <a:latin typeface="Calibri"/>
                <a:ea typeface="Calibri"/>
                <a:cs typeface="Calibri"/>
                <a:sym typeface="Calibri"/>
              </a:rPr>
              <a:t>Public Internal</a:t>
            </a:r>
            <a:endParaRPr sz="1800">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3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PUBLIC MODIFIER</a:t>
            </a:r>
            <a:endParaRPr/>
          </a:p>
        </p:txBody>
      </p:sp>
      <p:sp>
        <p:nvSpPr>
          <p:cNvPr id="832" name="Google Shape;832;p13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Font typeface="Calibri"/>
              <a:buChar char="•"/>
            </a:pPr>
            <a:r>
              <a:rPr lang="en" sz="1800">
                <a:latin typeface="Calibri"/>
                <a:ea typeface="Calibri"/>
                <a:cs typeface="Calibri"/>
                <a:sym typeface="Calibri"/>
              </a:rPr>
              <a:t>Members declared public can be accessed from any part of the program, including from different assemblies (projects), provided the assembly containing the public member is referenced.</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Access is unrestricted.</a:t>
            </a:r>
            <a:endParaRPr sz="1200">
              <a:solidFill>
                <a:srgbClr val="E6E8F0"/>
              </a:solidFill>
              <a:highlight>
                <a:srgbClr val="292929"/>
              </a:highlight>
              <a:latin typeface="Arial"/>
              <a:ea typeface="Arial"/>
              <a:cs typeface="Arial"/>
              <a:sym typeface="Arial"/>
            </a:endParaRPr>
          </a:p>
          <a:p>
            <a:pPr marL="0" lvl="0" indent="0" algn="l" rtl="0">
              <a:spcBef>
                <a:spcPts val="2100"/>
              </a:spcBef>
              <a:spcAft>
                <a:spcPts val="0"/>
              </a:spcAft>
              <a:buNone/>
            </a:pPr>
            <a:endParaRPr sz="1800">
              <a:latin typeface="Calibri"/>
              <a:ea typeface="Calibri"/>
              <a:cs typeface="Calibri"/>
              <a:sym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3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PRIVATE MODIFIER</a:t>
            </a:r>
            <a:endParaRPr/>
          </a:p>
        </p:txBody>
      </p:sp>
      <p:sp>
        <p:nvSpPr>
          <p:cNvPr id="838" name="Google Shape;838;p13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42900" algn="l" rtl="0">
              <a:lnSpc>
                <a:spcPct val="115000"/>
              </a:lnSpc>
              <a:spcBef>
                <a:spcPts val="400"/>
              </a:spcBef>
              <a:spcAft>
                <a:spcPts val="0"/>
              </a:spcAft>
              <a:buSzPts val="1800"/>
              <a:buFont typeface="Calibri"/>
              <a:buChar char="•"/>
            </a:pPr>
            <a:r>
              <a:rPr lang="en" sz="1800">
                <a:latin typeface="Calibri"/>
                <a:ea typeface="Calibri"/>
                <a:cs typeface="Calibri"/>
                <a:sym typeface="Calibri"/>
              </a:rPr>
              <a:t>Access is restricted to the containing type (class or struct).</a:t>
            </a:r>
            <a:endParaRPr sz="180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Members declared private can only be accessed from within the same class or struct where they are defined.</a:t>
            </a:r>
            <a:endParaRPr sz="180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This is the default access modifier if no other modifier is specified for members within a class.</a:t>
            </a:r>
            <a:endParaRPr sz="1800">
              <a:latin typeface="Calibri"/>
              <a:ea typeface="Calibri"/>
              <a:cs typeface="Calibri"/>
              <a:sym typeface="Calibri"/>
            </a:endParaRPr>
          </a:p>
          <a:p>
            <a:pPr marL="457200" lvl="0" indent="0" algn="l" rtl="0">
              <a:spcBef>
                <a:spcPts val="2100"/>
              </a:spcBef>
              <a:spcAft>
                <a:spcPts val="0"/>
              </a:spcAft>
              <a:buNone/>
            </a:pPr>
            <a:endParaRPr sz="1800">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13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PROTECTED MODIFIER</a:t>
            </a:r>
            <a:endParaRPr/>
          </a:p>
        </p:txBody>
      </p:sp>
      <p:sp>
        <p:nvSpPr>
          <p:cNvPr id="844" name="Google Shape;844;p13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42900" algn="l" rtl="0">
              <a:lnSpc>
                <a:spcPct val="115000"/>
              </a:lnSpc>
              <a:spcBef>
                <a:spcPts val="400"/>
              </a:spcBef>
              <a:spcAft>
                <a:spcPts val="0"/>
              </a:spcAft>
              <a:buSzPts val="1800"/>
              <a:buFont typeface="Calibri"/>
              <a:buChar char="•"/>
            </a:pPr>
            <a:r>
              <a:rPr lang="en" sz="1800">
                <a:latin typeface="Calibri"/>
                <a:ea typeface="Calibri"/>
                <a:cs typeface="Calibri"/>
                <a:sym typeface="Calibri"/>
              </a:rPr>
              <a:t>Access is limited to the containing class and types derived from the containing class (subclasses). </a:t>
            </a:r>
            <a:endParaRPr sz="180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Members declared protected are accessible within the class itself and any class that inherits from it, even if the derived class is in a different assembly.</a:t>
            </a:r>
            <a:endParaRPr sz="1800">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3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INTERNAL MODIFIER</a:t>
            </a:r>
            <a:endParaRPr/>
          </a:p>
        </p:txBody>
      </p:sp>
      <p:sp>
        <p:nvSpPr>
          <p:cNvPr id="850" name="Google Shape;850;p13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42900" algn="l" rtl="0">
              <a:lnSpc>
                <a:spcPct val="115000"/>
              </a:lnSpc>
              <a:spcBef>
                <a:spcPts val="400"/>
              </a:spcBef>
              <a:spcAft>
                <a:spcPts val="0"/>
              </a:spcAft>
              <a:buSzPts val="1800"/>
              <a:buFont typeface="Calibri"/>
              <a:buChar char="•"/>
            </a:pPr>
            <a:r>
              <a:rPr lang="en" sz="1800">
                <a:latin typeface="Calibri"/>
                <a:ea typeface="Calibri"/>
                <a:cs typeface="Calibri"/>
                <a:sym typeface="Calibri"/>
              </a:rPr>
              <a:t>Access is limited to the current assembly (the project or DLL where it's defined).</a:t>
            </a:r>
            <a:endParaRPr sz="180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Members declared internal can be accessed by any code within the same assembly but not from outside that assembly.</a:t>
            </a:r>
            <a:endParaRPr sz="1800">
              <a:latin typeface="Calibri"/>
              <a:ea typeface="Calibri"/>
              <a:cs typeface="Calibri"/>
              <a:sym typeface="Calibri"/>
            </a:endParaRPr>
          </a:p>
          <a:p>
            <a:pPr marL="0" lvl="0" indent="0" algn="l" rtl="0">
              <a:spcBef>
                <a:spcPts val="2100"/>
              </a:spcBef>
              <a:spcAft>
                <a:spcPts val="0"/>
              </a:spcAft>
              <a:buNone/>
            </a:pPr>
            <a:endParaRPr sz="1800">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4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PROTECTED INTERNAL</a:t>
            </a:r>
            <a:endParaRPr/>
          </a:p>
        </p:txBody>
      </p:sp>
      <p:sp>
        <p:nvSpPr>
          <p:cNvPr id="856" name="Google Shape;856;p14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42900" algn="l" rtl="0">
              <a:lnSpc>
                <a:spcPct val="115000"/>
              </a:lnSpc>
              <a:spcBef>
                <a:spcPts val="400"/>
              </a:spcBef>
              <a:spcAft>
                <a:spcPts val="0"/>
              </a:spcAft>
              <a:buSzPts val="1800"/>
              <a:buFont typeface="Calibri"/>
              <a:buChar char="•"/>
            </a:pPr>
            <a:r>
              <a:rPr lang="en" sz="1800">
                <a:latin typeface="Calibri"/>
                <a:ea typeface="Calibri"/>
                <a:cs typeface="Calibri"/>
                <a:sym typeface="Calibri"/>
              </a:rPr>
              <a:t>This is a combination of protected and internal.</a:t>
            </a:r>
            <a:endParaRPr sz="180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Members declared protected internal are accessible within the current assembly or by types derived from the containing class, even if those derived types are in a different assembly.</a:t>
            </a:r>
            <a:endParaRPr sz="1800">
              <a:latin typeface="Calibri"/>
              <a:ea typeface="Calibri"/>
              <a:cs typeface="Calibri"/>
              <a:sym typeface="Calibri"/>
            </a:endParaRPr>
          </a:p>
          <a:p>
            <a:pPr marL="0" lvl="0" indent="0" algn="l" rtl="0">
              <a:spcBef>
                <a:spcPts val="2100"/>
              </a:spcBef>
              <a:spcAft>
                <a:spcPts val="0"/>
              </a:spcAft>
              <a:buNone/>
            </a:pPr>
            <a:endParaRPr sz="1800">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14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PRIVATE PROTECTED</a:t>
            </a:r>
            <a:endParaRPr/>
          </a:p>
        </p:txBody>
      </p:sp>
      <p:sp>
        <p:nvSpPr>
          <p:cNvPr id="862" name="Google Shape;862;p14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42900" algn="l" rtl="0">
              <a:lnSpc>
                <a:spcPct val="115000"/>
              </a:lnSpc>
              <a:spcBef>
                <a:spcPts val="400"/>
              </a:spcBef>
              <a:spcAft>
                <a:spcPts val="0"/>
              </a:spcAft>
              <a:buSzPts val="1800"/>
              <a:buFont typeface="Calibri"/>
              <a:buChar char="•"/>
            </a:pPr>
            <a:r>
              <a:rPr lang="en" sz="1800">
                <a:latin typeface="Calibri"/>
                <a:ea typeface="Calibri"/>
                <a:cs typeface="Calibri"/>
                <a:sym typeface="Calibri"/>
              </a:rPr>
              <a:t>This is a combination of private and protected.</a:t>
            </a:r>
            <a:endParaRPr sz="1800">
              <a:latin typeface="Calibri"/>
              <a:ea typeface="Calibri"/>
              <a:cs typeface="Calibri"/>
              <a:sym typeface="Calibri"/>
            </a:endParaRPr>
          </a:p>
          <a:p>
            <a:pPr marL="914400" lvl="1"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Members declared private protected are accessible only within the containing class and by types derived from the containing class within the same assembly.</a:t>
            </a:r>
            <a:endParaRPr sz="1800">
              <a:latin typeface="Calibri"/>
              <a:ea typeface="Calibri"/>
              <a:cs typeface="Calibri"/>
              <a:sym typeface="Calibri"/>
            </a:endParaRPr>
          </a:p>
          <a:p>
            <a:pPr marL="0" lvl="0" indent="0" algn="l" rtl="0">
              <a:spcBef>
                <a:spcPts val="2100"/>
              </a:spcBef>
              <a:spcAft>
                <a:spcPts val="0"/>
              </a:spcAft>
              <a:buNone/>
            </a:pPr>
            <a:endParaRPr sz="1800">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graphicFrame>
        <p:nvGraphicFramePr>
          <p:cNvPr id="867" name="Google Shape;867;p142"/>
          <p:cNvGraphicFramePr/>
          <p:nvPr/>
        </p:nvGraphicFramePr>
        <p:xfrm>
          <a:off x="962450" y="573275"/>
          <a:ext cx="3000000" cy="3000000"/>
        </p:xfrm>
        <a:graphic>
          <a:graphicData uri="http://schemas.openxmlformats.org/drawingml/2006/table">
            <a:tbl>
              <a:tblPr>
                <a:noFill/>
                <a:tableStyleId>{52AF7735-1A30-4EDB-8E02-57A44A249223}</a:tableStyleId>
              </a:tblPr>
              <a:tblGrid>
                <a:gridCol w="1039650">
                  <a:extLst>
                    <a:ext uri="{9D8B030D-6E8A-4147-A177-3AD203B41FA5}">
                      <a16:colId xmlns:a16="http://schemas.microsoft.com/office/drawing/2014/main" val="20000"/>
                    </a:ext>
                  </a:extLst>
                </a:gridCol>
                <a:gridCol w="1039650">
                  <a:extLst>
                    <a:ext uri="{9D8B030D-6E8A-4147-A177-3AD203B41FA5}">
                      <a16:colId xmlns:a16="http://schemas.microsoft.com/office/drawing/2014/main" val="20001"/>
                    </a:ext>
                  </a:extLst>
                </a:gridCol>
                <a:gridCol w="1039650">
                  <a:extLst>
                    <a:ext uri="{9D8B030D-6E8A-4147-A177-3AD203B41FA5}">
                      <a16:colId xmlns:a16="http://schemas.microsoft.com/office/drawing/2014/main" val="20002"/>
                    </a:ext>
                  </a:extLst>
                </a:gridCol>
                <a:gridCol w="1039650">
                  <a:extLst>
                    <a:ext uri="{9D8B030D-6E8A-4147-A177-3AD203B41FA5}">
                      <a16:colId xmlns:a16="http://schemas.microsoft.com/office/drawing/2014/main" val="20003"/>
                    </a:ext>
                  </a:extLst>
                </a:gridCol>
                <a:gridCol w="1039650">
                  <a:extLst>
                    <a:ext uri="{9D8B030D-6E8A-4147-A177-3AD203B41FA5}">
                      <a16:colId xmlns:a16="http://schemas.microsoft.com/office/drawing/2014/main" val="20004"/>
                    </a:ext>
                  </a:extLst>
                </a:gridCol>
                <a:gridCol w="1478225">
                  <a:extLst>
                    <a:ext uri="{9D8B030D-6E8A-4147-A177-3AD203B41FA5}">
                      <a16:colId xmlns:a16="http://schemas.microsoft.com/office/drawing/2014/main" val="20005"/>
                    </a:ext>
                  </a:extLst>
                </a:gridCol>
              </a:tblGrid>
              <a:tr h="945875">
                <a:tc>
                  <a:txBody>
                    <a:bodyPr/>
                    <a:lstStyle/>
                    <a:p>
                      <a:pPr marL="0" lvl="0" indent="0" algn="ctr" rtl="0">
                        <a:lnSpc>
                          <a:spcPct val="115000"/>
                        </a:lnSpc>
                        <a:spcBef>
                          <a:spcPts val="0"/>
                        </a:spcBef>
                        <a:spcAft>
                          <a:spcPts val="800"/>
                        </a:spcAft>
                        <a:buNone/>
                      </a:pPr>
                      <a:r>
                        <a:rPr lang="en" b="1">
                          <a:solidFill>
                            <a:schemeClr val="lt1"/>
                          </a:solidFill>
                          <a:latin typeface="Calibri"/>
                          <a:ea typeface="Calibri"/>
                          <a:cs typeface="Calibri"/>
                          <a:sym typeface="Calibri"/>
                        </a:rPr>
                        <a:t>Modifiers</a:t>
                      </a:r>
                      <a:endParaRPr b="1">
                        <a:solidFill>
                          <a:schemeClr val="lt1"/>
                        </a:solidFill>
                        <a:latin typeface="Calibri"/>
                        <a:ea typeface="Calibri"/>
                        <a:cs typeface="Calibri"/>
                        <a:sym typeface="Calibri"/>
                      </a:endParaRPr>
                    </a:p>
                  </a:txBody>
                  <a:tcPr marL="38100" marR="3810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b="1">
                          <a:solidFill>
                            <a:schemeClr val="lt1"/>
                          </a:solidFill>
                          <a:latin typeface="Calibri"/>
                          <a:ea typeface="Calibri"/>
                          <a:cs typeface="Calibri"/>
                          <a:sym typeface="Calibri"/>
                        </a:rPr>
                        <a:t>Entire program</a:t>
                      </a:r>
                      <a:endParaRPr b="1">
                        <a:solidFill>
                          <a:schemeClr val="lt1"/>
                        </a:solidFill>
                        <a:latin typeface="Calibri"/>
                        <a:ea typeface="Calibri"/>
                        <a:cs typeface="Calibri"/>
                        <a:sym typeface="Calibri"/>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b="1">
                          <a:solidFill>
                            <a:schemeClr val="lt1"/>
                          </a:solidFill>
                          <a:latin typeface="Calibri"/>
                          <a:ea typeface="Calibri"/>
                          <a:cs typeface="Calibri"/>
                          <a:sym typeface="Calibri"/>
                        </a:rPr>
                        <a:t>Containing Class</a:t>
                      </a:r>
                      <a:endParaRPr b="1">
                        <a:solidFill>
                          <a:schemeClr val="lt1"/>
                        </a:solidFill>
                        <a:latin typeface="Calibri"/>
                        <a:ea typeface="Calibri"/>
                        <a:cs typeface="Calibri"/>
                        <a:sym typeface="Calibri"/>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b="1">
                          <a:solidFill>
                            <a:schemeClr val="lt1"/>
                          </a:solidFill>
                          <a:latin typeface="Calibri"/>
                          <a:ea typeface="Calibri"/>
                          <a:cs typeface="Calibri"/>
                          <a:sym typeface="Calibri"/>
                        </a:rPr>
                        <a:t>Current assembly</a:t>
                      </a:r>
                      <a:endParaRPr b="1">
                        <a:solidFill>
                          <a:schemeClr val="lt1"/>
                        </a:solidFill>
                        <a:latin typeface="Calibri"/>
                        <a:ea typeface="Calibri"/>
                        <a:cs typeface="Calibri"/>
                        <a:sym typeface="Calibri"/>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b="1">
                          <a:solidFill>
                            <a:schemeClr val="lt1"/>
                          </a:solidFill>
                          <a:latin typeface="Calibri"/>
                          <a:ea typeface="Calibri"/>
                          <a:cs typeface="Calibri"/>
                          <a:sym typeface="Calibri"/>
                        </a:rPr>
                        <a:t>Derived Types</a:t>
                      </a:r>
                      <a:endParaRPr b="1">
                        <a:solidFill>
                          <a:schemeClr val="lt1"/>
                        </a:solidFill>
                        <a:latin typeface="Calibri"/>
                        <a:ea typeface="Calibri"/>
                        <a:cs typeface="Calibri"/>
                        <a:sym typeface="Calibri"/>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b="1">
                          <a:solidFill>
                            <a:schemeClr val="lt1"/>
                          </a:solidFill>
                          <a:latin typeface="Calibri"/>
                          <a:ea typeface="Calibri"/>
                          <a:cs typeface="Calibri"/>
                          <a:sym typeface="Calibri"/>
                        </a:rPr>
                        <a:t>Derived Types within Current Assembly</a:t>
                      </a:r>
                      <a:endParaRPr b="1">
                        <a:solidFill>
                          <a:schemeClr val="lt1"/>
                        </a:solidFill>
                        <a:latin typeface="Calibri"/>
                        <a:ea typeface="Calibri"/>
                        <a:cs typeface="Calibri"/>
                        <a:sym typeface="Calibri"/>
                      </a:endParaRPr>
                    </a:p>
                  </a:txBody>
                  <a:tcPr marL="95250" marR="95250" marT="95250" marB="952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0"/>
                  </a:ext>
                </a:extLst>
              </a:tr>
              <a:tr h="379375">
                <a:tc>
                  <a:txBody>
                    <a:bodyPr/>
                    <a:lstStyle/>
                    <a:p>
                      <a:pPr marL="0" lvl="0" indent="0" algn="ctr" rtl="0">
                        <a:lnSpc>
                          <a:spcPct val="115000"/>
                        </a:lnSpc>
                        <a:spcBef>
                          <a:spcPts val="0"/>
                        </a:spcBef>
                        <a:spcAft>
                          <a:spcPts val="800"/>
                        </a:spcAft>
                        <a:buNone/>
                      </a:pPr>
                      <a:r>
                        <a:rPr lang="en" sz="1350" b="1">
                          <a:solidFill>
                            <a:schemeClr val="lt1"/>
                          </a:solidFill>
                          <a:latin typeface="Calibri"/>
                          <a:ea typeface="Calibri"/>
                          <a:cs typeface="Calibri"/>
                          <a:sym typeface="Calibri"/>
                        </a:rPr>
                        <a:t>public</a:t>
                      </a:r>
                      <a:endParaRPr sz="1350" b="1">
                        <a:solidFill>
                          <a:schemeClr val="lt1"/>
                        </a:solidFill>
                        <a:latin typeface="Calibri"/>
                        <a:ea typeface="Calibri"/>
                        <a:cs typeface="Calibri"/>
                        <a:sym typeface="Calibri"/>
                      </a:endParaRPr>
                    </a:p>
                  </a:txBody>
                  <a:tcPr marL="38100" marR="38100" marT="84375" marB="84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1"/>
                  </a:ext>
                </a:extLst>
              </a:tr>
              <a:tr h="379375">
                <a:tc>
                  <a:txBody>
                    <a:bodyPr/>
                    <a:lstStyle/>
                    <a:p>
                      <a:pPr marL="0" lvl="0" indent="0" algn="ctr" rtl="0">
                        <a:lnSpc>
                          <a:spcPct val="115000"/>
                        </a:lnSpc>
                        <a:spcBef>
                          <a:spcPts val="0"/>
                        </a:spcBef>
                        <a:spcAft>
                          <a:spcPts val="800"/>
                        </a:spcAft>
                        <a:buNone/>
                      </a:pPr>
                      <a:r>
                        <a:rPr lang="en" sz="1350" b="1">
                          <a:solidFill>
                            <a:schemeClr val="lt1"/>
                          </a:solidFill>
                          <a:latin typeface="Calibri"/>
                          <a:ea typeface="Calibri"/>
                          <a:cs typeface="Calibri"/>
                          <a:sym typeface="Calibri"/>
                        </a:rPr>
                        <a:t>private</a:t>
                      </a:r>
                      <a:endParaRPr sz="1350" b="1">
                        <a:solidFill>
                          <a:schemeClr val="lt1"/>
                        </a:solidFill>
                        <a:latin typeface="Calibri"/>
                        <a:ea typeface="Calibri"/>
                        <a:cs typeface="Calibri"/>
                        <a:sym typeface="Calibri"/>
                      </a:endParaRPr>
                    </a:p>
                  </a:txBody>
                  <a:tcPr marL="38100" marR="38100" marT="84375" marB="84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2"/>
                  </a:ext>
                </a:extLst>
              </a:tr>
              <a:tr h="379375">
                <a:tc>
                  <a:txBody>
                    <a:bodyPr/>
                    <a:lstStyle/>
                    <a:p>
                      <a:pPr marL="0" lvl="0" indent="0" algn="ctr" rtl="0">
                        <a:lnSpc>
                          <a:spcPct val="115000"/>
                        </a:lnSpc>
                        <a:spcBef>
                          <a:spcPts val="0"/>
                        </a:spcBef>
                        <a:spcAft>
                          <a:spcPts val="800"/>
                        </a:spcAft>
                        <a:buNone/>
                      </a:pPr>
                      <a:r>
                        <a:rPr lang="en" sz="1350" b="1">
                          <a:solidFill>
                            <a:schemeClr val="lt1"/>
                          </a:solidFill>
                          <a:latin typeface="Calibri"/>
                          <a:ea typeface="Calibri"/>
                          <a:cs typeface="Calibri"/>
                          <a:sym typeface="Calibri"/>
                        </a:rPr>
                        <a:t>protected</a:t>
                      </a:r>
                      <a:endParaRPr sz="1350" b="1">
                        <a:solidFill>
                          <a:schemeClr val="lt1"/>
                        </a:solidFill>
                        <a:latin typeface="Calibri"/>
                        <a:ea typeface="Calibri"/>
                        <a:cs typeface="Calibri"/>
                        <a:sym typeface="Calibri"/>
                      </a:endParaRPr>
                    </a:p>
                  </a:txBody>
                  <a:tcPr marL="38100" marR="38100" marT="84375" marB="84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3"/>
                  </a:ext>
                </a:extLst>
              </a:tr>
              <a:tr h="379375">
                <a:tc>
                  <a:txBody>
                    <a:bodyPr/>
                    <a:lstStyle/>
                    <a:p>
                      <a:pPr marL="0" lvl="0" indent="0" algn="ctr" rtl="0">
                        <a:lnSpc>
                          <a:spcPct val="115000"/>
                        </a:lnSpc>
                        <a:spcBef>
                          <a:spcPts val="0"/>
                        </a:spcBef>
                        <a:spcAft>
                          <a:spcPts val="800"/>
                        </a:spcAft>
                        <a:buNone/>
                      </a:pPr>
                      <a:r>
                        <a:rPr lang="en" sz="1350" b="1">
                          <a:solidFill>
                            <a:schemeClr val="lt1"/>
                          </a:solidFill>
                          <a:latin typeface="Calibri"/>
                          <a:ea typeface="Calibri"/>
                          <a:cs typeface="Calibri"/>
                          <a:sym typeface="Calibri"/>
                        </a:rPr>
                        <a:t>internal</a:t>
                      </a:r>
                      <a:endParaRPr sz="1350" b="1">
                        <a:solidFill>
                          <a:schemeClr val="lt1"/>
                        </a:solidFill>
                        <a:latin typeface="Calibri"/>
                        <a:ea typeface="Calibri"/>
                        <a:cs typeface="Calibri"/>
                        <a:sym typeface="Calibri"/>
                      </a:endParaRPr>
                    </a:p>
                  </a:txBody>
                  <a:tcPr marL="38100" marR="38100" marT="84375" marB="84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4"/>
                  </a:ext>
                </a:extLst>
              </a:tr>
              <a:tr h="507050">
                <a:tc>
                  <a:txBody>
                    <a:bodyPr/>
                    <a:lstStyle/>
                    <a:p>
                      <a:pPr marL="0" lvl="0" indent="0" algn="ctr" rtl="0">
                        <a:lnSpc>
                          <a:spcPct val="115000"/>
                        </a:lnSpc>
                        <a:spcBef>
                          <a:spcPts val="0"/>
                        </a:spcBef>
                        <a:spcAft>
                          <a:spcPts val="800"/>
                        </a:spcAft>
                        <a:buNone/>
                      </a:pPr>
                      <a:r>
                        <a:rPr lang="en" sz="1350" b="1">
                          <a:solidFill>
                            <a:schemeClr val="lt1"/>
                          </a:solidFill>
                          <a:latin typeface="Calibri"/>
                          <a:ea typeface="Calibri"/>
                          <a:cs typeface="Calibri"/>
                          <a:sym typeface="Calibri"/>
                        </a:rPr>
                        <a:t>protected internal</a:t>
                      </a:r>
                      <a:endParaRPr sz="1350" b="1">
                        <a:solidFill>
                          <a:schemeClr val="lt1"/>
                        </a:solidFill>
                        <a:latin typeface="Calibri"/>
                        <a:ea typeface="Calibri"/>
                        <a:cs typeface="Calibri"/>
                        <a:sym typeface="Calibri"/>
                      </a:endParaRPr>
                    </a:p>
                  </a:txBody>
                  <a:tcPr marL="38100" marR="38100" marT="84375" marB="84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5"/>
                  </a:ext>
                </a:extLst>
              </a:tr>
              <a:tr h="507050">
                <a:tc>
                  <a:txBody>
                    <a:bodyPr/>
                    <a:lstStyle/>
                    <a:p>
                      <a:pPr marL="0" lvl="0" indent="0" algn="ctr" rtl="0">
                        <a:lnSpc>
                          <a:spcPct val="115000"/>
                        </a:lnSpc>
                        <a:spcBef>
                          <a:spcPts val="0"/>
                        </a:spcBef>
                        <a:spcAft>
                          <a:spcPts val="800"/>
                        </a:spcAft>
                        <a:buNone/>
                      </a:pPr>
                      <a:r>
                        <a:rPr lang="en" sz="1350" b="1">
                          <a:solidFill>
                            <a:schemeClr val="lt1"/>
                          </a:solidFill>
                          <a:latin typeface="Calibri"/>
                          <a:ea typeface="Calibri"/>
                          <a:cs typeface="Calibri"/>
                          <a:sym typeface="Calibri"/>
                        </a:rPr>
                        <a:t>private protected</a:t>
                      </a:r>
                      <a:endParaRPr sz="1350" b="1">
                        <a:solidFill>
                          <a:schemeClr val="lt1"/>
                        </a:solidFill>
                        <a:latin typeface="Calibri"/>
                        <a:ea typeface="Calibri"/>
                        <a:cs typeface="Calibri"/>
                        <a:sym typeface="Calibri"/>
                      </a:endParaRPr>
                    </a:p>
                  </a:txBody>
                  <a:tcPr marL="38100" marR="38100" marT="84375" marB="84375"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No</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 sz="1250">
                          <a:solidFill>
                            <a:schemeClr val="lt1"/>
                          </a:solidFill>
                          <a:latin typeface="Calibri"/>
                          <a:ea typeface="Calibri"/>
                          <a:cs typeface="Calibri"/>
                          <a:sym typeface="Calibri"/>
                        </a:rPr>
                        <a:t>Yes</a:t>
                      </a:r>
                      <a:endParaRPr sz="1250">
                        <a:solidFill>
                          <a:schemeClr val="lt1"/>
                        </a:solidFill>
                        <a:latin typeface="Calibri"/>
                        <a:ea typeface="Calibri"/>
                        <a:cs typeface="Calibri"/>
                        <a:sym typeface="Calibri"/>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43"/>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fontScale="90000"/>
          </a:bodyPr>
          <a:lstStyle/>
          <a:p>
            <a:pPr marL="0" lvl="0" indent="0" algn="l" rtl="0">
              <a:spcBef>
                <a:spcPts val="0"/>
              </a:spcBef>
              <a:spcAft>
                <a:spcPts val="0"/>
              </a:spcAft>
              <a:buNone/>
            </a:pPr>
            <a:r>
              <a:rPr lang="en"/>
              <a:t>VIRTUAL, ABSTRACT,SEALED, NEW KEYWORD</a:t>
            </a:r>
            <a:endParaRPr/>
          </a:p>
        </p:txBody>
      </p:sp>
      <p:sp>
        <p:nvSpPr>
          <p:cNvPr id="873" name="Google Shape;873;p143"/>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1800" b="1">
                <a:latin typeface="Calibri"/>
                <a:ea typeface="Calibri"/>
                <a:cs typeface="Calibri"/>
                <a:sym typeface="Calibri"/>
              </a:rPr>
              <a:t>VIRTUAL KEYWORD</a:t>
            </a:r>
            <a:endParaRPr/>
          </a:p>
        </p:txBody>
      </p:sp>
      <p:sp>
        <p:nvSpPr>
          <p:cNvPr id="879" name="Google Shape;879;p14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457200" lvl="0" indent="-323850" algn="just" rtl="0">
              <a:lnSpc>
                <a:spcPct val="156521"/>
              </a:lnSpc>
              <a:spcBef>
                <a:spcPts val="0"/>
              </a:spcBef>
              <a:spcAft>
                <a:spcPts val="0"/>
              </a:spcAft>
              <a:buSzPts val="1500"/>
              <a:buFont typeface="Calibri"/>
              <a:buChar char="•"/>
            </a:pPr>
            <a:r>
              <a:rPr lang="en" sz="1500">
                <a:latin typeface="Calibri"/>
                <a:ea typeface="Calibri"/>
                <a:cs typeface="Calibri"/>
                <a:sym typeface="Calibri"/>
              </a:rPr>
              <a:t>The virtual keyword allows a class to be overridden. For overriding a parent class method in the child class, declare the parent class method as virtual.</a:t>
            </a:r>
            <a:endParaRPr sz="1500">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Purpose</a:t>
            </a:r>
            <a:r>
              <a:rPr lang="en">
                <a:latin typeface="Calibri"/>
                <a:ea typeface="Calibri"/>
                <a:cs typeface="Calibri"/>
                <a:sym typeface="Calibri"/>
              </a:rPr>
              <a:t>: To indicate that a method or property can be optionally overridden by a derived class.</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Usage</a:t>
            </a:r>
            <a:r>
              <a:rPr lang="en">
                <a:latin typeface="Calibri"/>
                <a:ea typeface="Calibri"/>
                <a:cs typeface="Calibri"/>
                <a:sym typeface="Calibri"/>
              </a:rPr>
              <a:t>: Applied to a method or property. The base class can provide a default implementation, but derived classes have the choice to override it using the override keyword. </a:t>
            </a:r>
            <a:endParaRPr>
              <a:solidFill>
                <a:srgbClr val="E6E8F0"/>
              </a:solidFill>
              <a:highlight>
                <a:srgbClr val="292929"/>
              </a:highlight>
              <a:latin typeface="Roboto"/>
              <a:ea typeface="Roboto"/>
              <a:cs typeface="Roboto"/>
              <a:sym typeface="Roboto"/>
            </a:endParaRPr>
          </a:p>
          <a:p>
            <a:pPr marL="457200" lvl="0" indent="0" algn="just" rtl="0">
              <a:lnSpc>
                <a:spcPct val="156521"/>
              </a:lnSpc>
              <a:spcBef>
                <a:spcPts val="2400"/>
              </a:spcBef>
              <a:spcAft>
                <a:spcPts val="0"/>
              </a:spcAft>
              <a:buNone/>
            </a:pPr>
            <a:endParaRPr sz="1500">
              <a:latin typeface="Calibri"/>
              <a:ea typeface="Calibri"/>
              <a:cs typeface="Calibri"/>
              <a:sym typeface="Calibri"/>
            </a:endParaRPr>
          </a:p>
          <a:p>
            <a:pPr marL="0" lvl="0" indent="0" algn="l" rtl="0">
              <a:spcBef>
                <a:spcPts val="800"/>
              </a:spcBef>
              <a:spcAft>
                <a:spcPts val="0"/>
              </a:spcAft>
              <a:buNone/>
            </a:pPr>
            <a:endParaRPr sz="1500">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14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ABSTRACT KEYWORD</a:t>
            </a:r>
            <a:endParaRPr/>
          </a:p>
        </p:txBody>
      </p:sp>
      <p:sp>
        <p:nvSpPr>
          <p:cNvPr id="885" name="Google Shape;885;p14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just" rtl="0">
              <a:lnSpc>
                <a:spcPct val="156521"/>
              </a:lnSpc>
              <a:spcBef>
                <a:spcPts val="0"/>
              </a:spcBef>
              <a:spcAft>
                <a:spcPts val="0"/>
              </a:spcAft>
              <a:buSzPts val="1500"/>
              <a:buFont typeface="Calibri"/>
              <a:buChar char="•"/>
            </a:pPr>
            <a:r>
              <a:rPr lang="en" sz="1500">
                <a:latin typeface="Calibri"/>
                <a:ea typeface="Calibri"/>
                <a:cs typeface="Calibri"/>
                <a:sym typeface="Calibri"/>
              </a:rPr>
              <a:t>Abstract classes contain abstract methods, which are implemented by the derived class.</a:t>
            </a:r>
            <a:endParaRPr sz="1500">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Purpose</a:t>
            </a:r>
            <a:r>
              <a:rPr lang="en">
                <a:latin typeface="Calibri"/>
                <a:ea typeface="Calibri"/>
                <a:cs typeface="Calibri"/>
                <a:sym typeface="Calibri"/>
              </a:rPr>
              <a:t>: To define a contract for a base class that derived classes must adhere to.</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Usage</a:t>
            </a:r>
            <a:r>
              <a:rPr lang="en">
                <a:latin typeface="Calibri"/>
                <a:ea typeface="Calibri"/>
                <a:cs typeface="Calibri"/>
                <a:sym typeface="Calibri"/>
              </a:rPr>
              <a:t>: Applied to a class or a method. An abstract class cannot be instantiated directly. abstract methods do not have an implementation in the base class and must be implemented in the inheriting class. </a:t>
            </a:r>
            <a:endParaRPr>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14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SEALED KEYWORD</a:t>
            </a:r>
            <a:endParaRPr/>
          </a:p>
        </p:txBody>
      </p:sp>
      <p:sp>
        <p:nvSpPr>
          <p:cNvPr id="891" name="Google Shape;891;p14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457200" lvl="0" indent="-323850" algn="just" rtl="0">
              <a:lnSpc>
                <a:spcPct val="156521"/>
              </a:lnSpc>
              <a:spcBef>
                <a:spcPts val="0"/>
              </a:spcBef>
              <a:spcAft>
                <a:spcPts val="0"/>
              </a:spcAft>
              <a:buSzPts val="1500"/>
              <a:buFont typeface="Calibri"/>
              <a:buChar char="•"/>
            </a:pPr>
            <a:r>
              <a:rPr lang="en" sz="1500">
                <a:latin typeface="Calibri"/>
                <a:ea typeface="Calibri"/>
                <a:cs typeface="Calibri"/>
                <a:sym typeface="Calibri"/>
              </a:rPr>
              <a:t>When a class is declared sealed, it cannot be inherited, abstract classes cannot be declared sealed.</a:t>
            </a:r>
            <a:endParaRPr sz="1500">
              <a:latin typeface="Calibri"/>
              <a:ea typeface="Calibri"/>
              <a:cs typeface="Calibri"/>
              <a:sym typeface="Calibri"/>
            </a:endParaRPr>
          </a:p>
          <a:p>
            <a:pPr marL="457200" lvl="0" indent="-323850" algn="just" rtl="0">
              <a:lnSpc>
                <a:spcPct val="156521"/>
              </a:lnSpc>
              <a:spcBef>
                <a:spcPts val="0"/>
              </a:spcBef>
              <a:spcAft>
                <a:spcPts val="0"/>
              </a:spcAft>
              <a:buSzPts val="1500"/>
              <a:buFont typeface="Calibri"/>
              <a:buChar char="•"/>
            </a:pPr>
            <a:r>
              <a:rPr lang="en" sz="1500">
                <a:latin typeface="Calibri"/>
                <a:ea typeface="Calibri"/>
                <a:cs typeface="Calibri"/>
                <a:sym typeface="Calibri"/>
              </a:rPr>
              <a:t>To prevent being overridden, use the sealed in C#. When you use sealed modifiers in C# on a method, then the method loses its capabilities of overriding. The sealed method should be part of a derived class and the method must be an overridden method.</a:t>
            </a:r>
            <a:endParaRPr sz="1500">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Purpose</a:t>
            </a:r>
            <a:r>
              <a:rPr lang="en">
                <a:latin typeface="Calibri"/>
                <a:ea typeface="Calibri"/>
                <a:cs typeface="Calibri"/>
                <a:sym typeface="Calibri"/>
              </a:rPr>
              <a:t>: To prevent inheritance of a class or to prevent a specific method or property from being overridden.</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Usage</a:t>
            </a:r>
            <a:r>
              <a:rPr lang="en">
                <a:latin typeface="Calibri"/>
                <a:ea typeface="Calibri"/>
                <a:cs typeface="Calibri"/>
                <a:sym typeface="Calibri"/>
              </a:rPr>
              <a:t>: Applied to a class or a member. A sealed class cannot have any derived classes. A sealed member cannot be overridden. </a:t>
            </a:r>
            <a:endParaRPr>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14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NEW KEYWORD</a:t>
            </a:r>
            <a:endParaRPr/>
          </a:p>
        </p:txBody>
      </p:sp>
      <p:sp>
        <p:nvSpPr>
          <p:cNvPr id="897" name="Google Shape;897;p14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Use the new keyword to hide the base class method from the derived class. This is done by declaring the derived class function with new.</a:t>
            </a:r>
            <a:endParaRPr sz="1500">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sz="1500" b="1">
                <a:latin typeface="Calibri"/>
                <a:ea typeface="Calibri"/>
                <a:cs typeface="Calibri"/>
                <a:sym typeface="Calibri"/>
              </a:rPr>
              <a:t>Purpose</a:t>
            </a:r>
            <a:r>
              <a:rPr lang="en" sz="1500">
                <a:latin typeface="Calibri"/>
                <a:ea typeface="Calibri"/>
                <a:cs typeface="Calibri"/>
                <a:sym typeface="Calibri"/>
              </a:rPr>
              <a:t>: To hide an inherited member that has the same name as a member in the base class. This is also known as </a:t>
            </a:r>
            <a:r>
              <a:rPr lang="en" sz="1500">
                <a:uFill>
                  <a:noFill/>
                </a:uFill>
                <a:latin typeface="Calibri"/>
                <a:ea typeface="Calibri"/>
                <a:cs typeface="Calibri"/>
                <a:sym typeface="Calibri"/>
                <a:hlinkClick r:id="rId3"/>
              </a:rPr>
              <a:t>method hiding</a:t>
            </a:r>
            <a:r>
              <a:rPr lang="en" sz="1500">
                <a:latin typeface="Calibri"/>
                <a:ea typeface="Calibri"/>
                <a:cs typeface="Calibri"/>
                <a:sym typeface="Calibri"/>
              </a:rPr>
              <a:t> or shadowing.</a:t>
            </a:r>
            <a:endParaRPr sz="1500">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sz="1500" b="1">
                <a:latin typeface="Calibri"/>
                <a:ea typeface="Calibri"/>
                <a:cs typeface="Calibri"/>
                <a:sym typeface="Calibri"/>
              </a:rPr>
              <a:t>Usage</a:t>
            </a:r>
            <a:r>
              <a:rPr lang="en" sz="1500">
                <a:latin typeface="Calibri"/>
                <a:ea typeface="Calibri"/>
                <a:cs typeface="Calibri"/>
                <a:sym typeface="Calibri"/>
              </a:rPr>
              <a:t>: Applied to a member in a derived class. It creates a new, independent member in the derived class rather than overriding an existing one in the base class. It is not used for overriding, but for creating a new member with the same name. </a:t>
            </a:r>
            <a:endParaRPr sz="1500">
              <a:latin typeface="Calibri"/>
              <a:ea typeface="Calibri"/>
              <a:cs typeface="Calibri"/>
              <a:sym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4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INTERFACE</a:t>
            </a:r>
            <a:endParaRPr/>
          </a:p>
        </p:txBody>
      </p:sp>
      <p:sp>
        <p:nvSpPr>
          <p:cNvPr id="903" name="Google Shape;903;p14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Font typeface="Calibri"/>
              <a:buChar char="•"/>
            </a:pPr>
            <a:r>
              <a:rPr lang="en" sz="1400">
                <a:latin typeface="Calibri"/>
                <a:ea typeface="Calibri"/>
                <a:cs typeface="Calibri"/>
                <a:sym typeface="Calibri"/>
              </a:rPr>
              <a:t>In C#, an interface defines a contract that a class or struct must adhere to.</a:t>
            </a:r>
            <a:endParaRPr sz="140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 sz="1400">
                <a:latin typeface="Calibri"/>
                <a:ea typeface="Calibri"/>
                <a:cs typeface="Calibri"/>
                <a:sym typeface="Calibri"/>
              </a:rPr>
              <a:t>An interface looks like a class but has no implementation. The only thing it contains is declarations of events, indexers, methods, and/or properties. </a:t>
            </a:r>
            <a:endParaRPr sz="140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 sz="1400">
                <a:latin typeface="Calibri"/>
                <a:ea typeface="Calibri"/>
                <a:cs typeface="Calibri"/>
                <a:sym typeface="Calibri"/>
              </a:rPr>
              <a:t>The reason interfaces only provide declarations is that they are inherited by structs and classes, which must provide an implementation for each interface member declared.</a:t>
            </a:r>
            <a:endParaRPr sz="1400">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4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CHARACTERISTIC OF INTERFACE</a:t>
            </a:r>
            <a:endParaRPr/>
          </a:p>
        </p:txBody>
      </p:sp>
      <p:sp>
        <p:nvSpPr>
          <p:cNvPr id="909" name="Google Shape;909;p14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914400" lvl="1" indent="-323850" algn="l" rtl="0">
              <a:lnSpc>
                <a:spcPct val="115000"/>
              </a:lnSpc>
              <a:spcBef>
                <a:spcPts val="400"/>
              </a:spcBef>
              <a:spcAft>
                <a:spcPts val="0"/>
              </a:spcAft>
              <a:buSzPts val="1500"/>
              <a:buFont typeface="Calibri"/>
              <a:buChar char="•"/>
            </a:pPr>
            <a:r>
              <a:rPr lang="en" b="1">
                <a:latin typeface="Calibri"/>
                <a:ea typeface="Calibri"/>
                <a:cs typeface="Calibri"/>
                <a:sym typeface="Calibri"/>
              </a:rPr>
              <a:t>Contractual Obligation:</a:t>
            </a:r>
            <a:r>
              <a:rPr lang="en">
                <a:latin typeface="Calibri"/>
                <a:ea typeface="Calibri"/>
                <a:cs typeface="Calibri"/>
                <a:sym typeface="Calibri"/>
              </a:rPr>
              <a:t> An interface serves as a blueprint, declaring what functionalities a class or struct must possess if it implements that interface. Any class or struct implementing an interface is obligated to provide an implementation for all its declared members.</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Abstraction:</a:t>
            </a:r>
            <a:r>
              <a:rPr lang="en">
                <a:latin typeface="Calibri"/>
                <a:ea typeface="Calibri"/>
                <a:cs typeface="Calibri"/>
                <a:sym typeface="Calibri"/>
              </a:rPr>
              <a:t> Interfaces promote abstraction by separating the "what" (the contract) from the "how" (the implementation). This allows for greater flexibility and reusability of code, as different classes can implement the same interface in their own unique ways.</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Multiple Inheritance (via Interfaces):</a:t>
            </a:r>
            <a:r>
              <a:rPr lang="en">
                <a:latin typeface="Calibri"/>
                <a:ea typeface="Calibri"/>
                <a:cs typeface="Calibri"/>
                <a:sym typeface="Calibri"/>
              </a:rPr>
              <a:t> While C# does not support multiple inheritance of classes, it allows a class to implement multiple interfaces. This provides a mechanism to achieve similar benefits to multiple inheritance by combining different sets of functionalities.</a:t>
            </a:r>
            <a:endParaRPr>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15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915" name="Google Shape;915;p15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23850" algn="l" rtl="0">
              <a:lnSpc>
                <a:spcPct val="115000"/>
              </a:lnSpc>
              <a:spcBef>
                <a:spcPts val="400"/>
              </a:spcBef>
              <a:spcAft>
                <a:spcPts val="0"/>
              </a:spcAft>
              <a:buSzPts val="1500"/>
              <a:buFont typeface="Calibri"/>
              <a:buChar char="•"/>
            </a:pPr>
            <a:r>
              <a:rPr lang="en" b="1">
                <a:latin typeface="Calibri"/>
                <a:ea typeface="Calibri"/>
                <a:cs typeface="Calibri"/>
                <a:sym typeface="Calibri"/>
              </a:rPr>
              <a:t>No Instance Fields or Constructors:</a:t>
            </a:r>
            <a:r>
              <a:rPr lang="en">
                <a:latin typeface="Calibri"/>
                <a:ea typeface="Calibri"/>
                <a:cs typeface="Calibri"/>
                <a:sym typeface="Calibri"/>
              </a:rPr>
              <a:t> Interfaces cannot contain instance fields or constructors because they cannot be directly instantiated. They only define the contract for behavior, not the state of an object.</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Default Public and Abstract:</a:t>
            </a:r>
            <a:r>
              <a:rPr lang="en">
                <a:latin typeface="Calibri"/>
                <a:ea typeface="Calibri"/>
                <a:cs typeface="Calibri"/>
                <a:sym typeface="Calibri"/>
              </a:rPr>
              <a:t> All members declared within an interface are implicitly public and abstract. Explicit access modifiers are generally not used for interface members.</a:t>
            </a:r>
            <a:endParaRPr>
              <a:latin typeface="Calibri"/>
              <a:ea typeface="Calibri"/>
              <a:cs typeface="Calibri"/>
              <a:sym typeface="Calibri"/>
            </a:endParaRPr>
          </a:p>
          <a:p>
            <a:pPr marL="914400" lvl="1" indent="-323850" algn="l" rtl="0">
              <a:lnSpc>
                <a:spcPct val="115000"/>
              </a:lnSpc>
              <a:spcBef>
                <a:spcPts val="0"/>
              </a:spcBef>
              <a:spcAft>
                <a:spcPts val="0"/>
              </a:spcAft>
              <a:buSzPts val="1500"/>
              <a:buFont typeface="Calibri"/>
              <a:buChar char="•"/>
            </a:pPr>
            <a:r>
              <a:rPr lang="en" b="1">
                <a:latin typeface="Calibri"/>
                <a:ea typeface="Calibri"/>
                <a:cs typeface="Calibri"/>
                <a:sym typeface="Calibri"/>
              </a:rPr>
              <a:t>Declaration:</a:t>
            </a:r>
            <a:r>
              <a:rPr lang="en">
                <a:latin typeface="Calibri"/>
                <a:ea typeface="Calibri"/>
                <a:cs typeface="Calibri"/>
                <a:sym typeface="Calibri"/>
              </a:rPr>
              <a:t> Interfaces are declared using the interface keyword, conventionally prefixed with an "I" (e.g., IAnimal, IDisposable).</a:t>
            </a:r>
            <a:endParaRPr>
              <a:latin typeface="Calibri"/>
              <a:ea typeface="Calibri"/>
              <a:cs typeface="Calibri"/>
              <a:sym typeface="Calibri"/>
            </a:endParaRPr>
          </a:p>
          <a:p>
            <a:pPr marL="0" lvl="0" indent="0" algn="l" rtl="0">
              <a:spcBef>
                <a:spcPts val="1500"/>
              </a:spcBef>
              <a:spcAft>
                <a:spcPts val="0"/>
              </a:spcAft>
              <a:buNone/>
            </a:pPr>
            <a:endParaRPr sz="18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15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DIFFERENCE OF ABSTRACT AND INTERFACE</a:t>
            </a:r>
            <a:endParaRPr/>
          </a:p>
        </p:txBody>
      </p:sp>
      <p:graphicFrame>
        <p:nvGraphicFramePr>
          <p:cNvPr id="921" name="Google Shape;921;p151"/>
          <p:cNvGraphicFramePr/>
          <p:nvPr/>
        </p:nvGraphicFramePr>
        <p:xfrm>
          <a:off x="952500" y="1645925"/>
          <a:ext cx="3000000" cy="3000000"/>
        </p:xfrm>
        <a:graphic>
          <a:graphicData uri="http://schemas.openxmlformats.org/drawingml/2006/table">
            <a:tbl>
              <a:tblPr>
                <a:noFill/>
                <a:tableStyleId>{52AF7735-1A30-4EDB-8E02-57A44A249223}</a:tableStyleId>
              </a:tblPr>
              <a:tblGrid>
                <a:gridCol w="2123925">
                  <a:extLst>
                    <a:ext uri="{9D8B030D-6E8A-4147-A177-3AD203B41FA5}">
                      <a16:colId xmlns:a16="http://schemas.microsoft.com/office/drawing/2014/main" val="20000"/>
                    </a:ext>
                  </a:extLst>
                </a:gridCol>
                <a:gridCol w="2702075">
                  <a:extLst>
                    <a:ext uri="{9D8B030D-6E8A-4147-A177-3AD203B41FA5}">
                      <a16:colId xmlns:a16="http://schemas.microsoft.com/office/drawing/2014/main" val="20001"/>
                    </a:ext>
                  </a:extLst>
                </a:gridCol>
                <a:gridCol w="2642275">
                  <a:extLst>
                    <a:ext uri="{9D8B030D-6E8A-4147-A177-3AD203B41FA5}">
                      <a16:colId xmlns:a16="http://schemas.microsoft.com/office/drawing/2014/main" val="20002"/>
                    </a:ext>
                  </a:extLst>
                </a:gridCol>
              </a:tblGrid>
              <a:tr h="304200">
                <a:tc>
                  <a:txBody>
                    <a:bodyPr/>
                    <a:lstStyle/>
                    <a:p>
                      <a:pPr marL="0" lvl="0" indent="0" algn="ctr" rtl="0">
                        <a:lnSpc>
                          <a:spcPct val="115000"/>
                        </a:lnSpc>
                        <a:spcBef>
                          <a:spcPts val="0"/>
                        </a:spcBef>
                        <a:spcAft>
                          <a:spcPts val="0"/>
                        </a:spcAft>
                        <a:buNone/>
                      </a:pPr>
                      <a:r>
                        <a:rPr lang="en" sz="1050">
                          <a:solidFill>
                            <a:srgbClr val="E6E8F0"/>
                          </a:solidFill>
                          <a:latin typeface="Roboto"/>
                          <a:ea typeface="Roboto"/>
                          <a:cs typeface="Roboto"/>
                          <a:sym typeface="Roboto"/>
                        </a:rPr>
                        <a:t>Feature </a:t>
                      </a:r>
                      <a:endParaRPr sz="1050">
                        <a:solidFill>
                          <a:srgbClr val="E6E8F0"/>
                        </a:solidFill>
                        <a:latin typeface="Roboto"/>
                        <a:ea typeface="Roboto"/>
                        <a:cs typeface="Roboto"/>
                        <a:sym typeface="Roboto"/>
                      </a:endParaRPr>
                    </a:p>
                  </a:txBody>
                  <a:tcPr marL="91425" marR="152400" marT="76200" marB="76200"/>
                </a:tc>
                <a:tc>
                  <a:txBody>
                    <a:bodyPr/>
                    <a:lstStyle/>
                    <a:p>
                      <a:pPr marL="0" lvl="0" indent="0" algn="ctr" rtl="0">
                        <a:lnSpc>
                          <a:spcPct val="115000"/>
                        </a:lnSpc>
                        <a:spcBef>
                          <a:spcPts val="0"/>
                        </a:spcBef>
                        <a:spcAft>
                          <a:spcPts val="0"/>
                        </a:spcAft>
                        <a:buNone/>
                      </a:pPr>
                      <a:r>
                        <a:rPr lang="en" sz="1050">
                          <a:solidFill>
                            <a:srgbClr val="E6E8F0"/>
                          </a:solidFill>
                          <a:latin typeface="Roboto"/>
                          <a:ea typeface="Roboto"/>
                          <a:cs typeface="Roboto"/>
                          <a:sym typeface="Roboto"/>
                        </a:rPr>
                        <a:t>Abstract Class</a:t>
                      </a:r>
                      <a:endParaRPr sz="1050">
                        <a:solidFill>
                          <a:srgbClr val="E6E8F0"/>
                        </a:solidFill>
                        <a:latin typeface="Roboto"/>
                        <a:ea typeface="Roboto"/>
                        <a:cs typeface="Roboto"/>
                        <a:sym typeface="Roboto"/>
                      </a:endParaRPr>
                    </a:p>
                  </a:txBody>
                  <a:tcPr marL="91425" marR="152400" marT="76200" marB="76200"/>
                </a:tc>
                <a:tc>
                  <a:txBody>
                    <a:bodyPr/>
                    <a:lstStyle/>
                    <a:p>
                      <a:pPr marL="0" lvl="0" indent="0" algn="ctr" rtl="0">
                        <a:lnSpc>
                          <a:spcPct val="115000"/>
                        </a:lnSpc>
                        <a:spcBef>
                          <a:spcPts val="0"/>
                        </a:spcBef>
                        <a:spcAft>
                          <a:spcPts val="0"/>
                        </a:spcAft>
                        <a:buNone/>
                      </a:pPr>
                      <a:r>
                        <a:rPr lang="en" sz="1050">
                          <a:solidFill>
                            <a:srgbClr val="E6E8F0"/>
                          </a:solidFill>
                          <a:latin typeface="Roboto"/>
                          <a:ea typeface="Roboto"/>
                          <a:cs typeface="Roboto"/>
                          <a:sym typeface="Roboto"/>
                        </a:rPr>
                        <a:t>Interface</a:t>
                      </a:r>
                      <a:endParaRPr sz="1050">
                        <a:solidFill>
                          <a:srgbClr val="E6E8F0"/>
                        </a:solidFill>
                        <a:latin typeface="Roboto"/>
                        <a:ea typeface="Roboto"/>
                        <a:cs typeface="Roboto"/>
                        <a:sym typeface="Roboto"/>
                      </a:endParaRPr>
                    </a:p>
                  </a:txBody>
                  <a:tcPr marL="91425" marR="91425" marT="76200" marB="76200"/>
                </a:tc>
                <a:extLst>
                  <a:ext uri="{0D108BD9-81ED-4DB2-BD59-A6C34878D82A}">
                    <a16:rowId xmlns:a16="http://schemas.microsoft.com/office/drawing/2014/main" val="10000"/>
                  </a:ext>
                </a:extLst>
              </a:tr>
              <a:tr h="556500">
                <a:tc>
                  <a:txBody>
                    <a:bodyPr/>
                    <a:lstStyle/>
                    <a:p>
                      <a:pPr marL="0" lvl="0" indent="0" algn="l" rtl="0">
                        <a:lnSpc>
                          <a:spcPct val="150000"/>
                        </a:lnSpc>
                        <a:spcBef>
                          <a:spcPts val="0"/>
                        </a:spcBef>
                        <a:spcAft>
                          <a:spcPts val="0"/>
                        </a:spcAft>
                        <a:buNone/>
                      </a:pPr>
                      <a:r>
                        <a:rPr lang="en" sz="900" b="1">
                          <a:solidFill>
                            <a:srgbClr val="E6E8F0"/>
                          </a:solidFill>
                          <a:latin typeface="Roboto"/>
                          <a:ea typeface="Roboto"/>
                          <a:cs typeface="Roboto"/>
                          <a:sym typeface="Roboto"/>
                        </a:rPr>
                        <a:t>Instantiation</a:t>
                      </a:r>
                      <a:endParaRPr sz="900" b="1">
                        <a:solidFill>
                          <a:srgbClr val="E6E8F0"/>
                        </a:solidFill>
                        <a:latin typeface="Roboto"/>
                        <a:ea typeface="Roboto"/>
                        <a:cs typeface="Roboto"/>
                        <a:sym typeface="Roboto"/>
                      </a:endParaRPr>
                    </a:p>
                  </a:txBody>
                  <a:tcPr marL="91425" marR="152400" marT="114300" marB="114300"/>
                </a:tc>
                <a:tc>
                  <a:txBody>
                    <a:bodyPr/>
                    <a:lstStyle/>
                    <a:p>
                      <a:pPr marL="0" lvl="0" indent="0" algn="l" rtl="0">
                        <a:lnSpc>
                          <a:spcPct val="150000"/>
                        </a:lnSpc>
                        <a:spcBef>
                          <a:spcPts val="0"/>
                        </a:spcBef>
                        <a:spcAft>
                          <a:spcPts val="0"/>
                        </a:spcAft>
                        <a:buNone/>
                      </a:pPr>
                      <a:r>
                        <a:rPr lang="en" sz="900">
                          <a:solidFill>
                            <a:srgbClr val="E6E8F0"/>
                          </a:solidFill>
                          <a:latin typeface="Roboto"/>
                          <a:ea typeface="Roboto"/>
                          <a:cs typeface="Roboto"/>
                          <a:sym typeface="Roboto"/>
                        </a:rPr>
                        <a:t>Cannot be instantiated directly. Serves as a base class for derived classes.</a:t>
                      </a:r>
                      <a:endParaRPr sz="900">
                        <a:solidFill>
                          <a:srgbClr val="E6E8F0"/>
                        </a:solidFill>
                        <a:latin typeface="Roboto"/>
                        <a:ea typeface="Roboto"/>
                        <a:cs typeface="Roboto"/>
                        <a:sym typeface="Roboto"/>
                      </a:endParaRPr>
                    </a:p>
                  </a:txBody>
                  <a:tcPr marL="91425" marR="152400" marT="114300" marB="114300"/>
                </a:tc>
                <a:tc>
                  <a:txBody>
                    <a:bodyPr/>
                    <a:lstStyle/>
                    <a:p>
                      <a:pPr marL="0" lvl="0" indent="0" algn="l" rtl="0">
                        <a:lnSpc>
                          <a:spcPct val="150000"/>
                        </a:lnSpc>
                        <a:spcBef>
                          <a:spcPts val="0"/>
                        </a:spcBef>
                        <a:spcAft>
                          <a:spcPts val="0"/>
                        </a:spcAft>
                        <a:buNone/>
                      </a:pPr>
                      <a:r>
                        <a:rPr lang="en" sz="900">
                          <a:solidFill>
                            <a:srgbClr val="E6E8F0"/>
                          </a:solidFill>
                          <a:latin typeface="Roboto"/>
                          <a:ea typeface="Roboto"/>
                          <a:cs typeface="Roboto"/>
                          <a:sym typeface="Roboto"/>
                        </a:rPr>
                        <a:t>Cannot be instantiated directly.</a:t>
                      </a:r>
                      <a:endParaRPr sz="900">
                        <a:solidFill>
                          <a:srgbClr val="E6E8F0"/>
                        </a:solidFill>
                        <a:latin typeface="Roboto"/>
                        <a:ea typeface="Roboto"/>
                        <a:cs typeface="Roboto"/>
                        <a:sym typeface="Roboto"/>
                      </a:endParaRPr>
                    </a:p>
                  </a:txBody>
                  <a:tcPr marL="91425" marR="91425" marT="114300" marB="114300"/>
                </a:tc>
                <a:extLst>
                  <a:ext uri="{0D108BD9-81ED-4DB2-BD59-A6C34878D82A}">
                    <a16:rowId xmlns:a16="http://schemas.microsoft.com/office/drawing/2014/main" val="10001"/>
                  </a:ext>
                </a:extLst>
              </a:tr>
              <a:tr h="957200">
                <a:tc>
                  <a:txBody>
                    <a:bodyPr/>
                    <a:lstStyle/>
                    <a:p>
                      <a:pPr marL="0" lvl="0" indent="0" algn="l" rtl="0">
                        <a:lnSpc>
                          <a:spcPct val="150000"/>
                        </a:lnSpc>
                        <a:spcBef>
                          <a:spcPts val="0"/>
                        </a:spcBef>
                        <a:spcAft>
                          <a:spcPts val="0"/>
                        </a:spcAft>
                        <a:buNone/>
                      </a:pPr>
                      <a:r>
                        <a:rPr lang="en" sz="900" b="1">
                          <a:solidFill>
                            <a:srgbClr val="E6E8F0"/>
                          </a:solidFill>
                          <a:latin typeface="Roboto"/>
                          <a:ea typeface="Roboto"/>
                          <a:cs typeface="Roboto"/>
                          <a:sym typeface="Roboto"/>
                        </a:rPr>
                        <a:t>Implementation</a:t>
                      </a:r>
                      <a:endParaRPr sz="900" b="1">
                        <a:solidFill>
                          <a:srgbClr val="E6E8F0"/>
                        </a:solidFill>
                        <a:latin typeface="Roboto"/>
                        <a:ea typeface="Roboto"/>
                        <a:cs typeface="Roboto"/>
                        <a:sym typeface="Roboto"/>
                      </a:endParaRPr>
                    </a:p>
                  </a:txBody>
                  <a:tcPr marL="91425" marR="152400" marT="114300" marB="114300"/>
                </a:tc>
                <a:tc>
                  <a:txBody>
                    <a:bodyPr/>
                    <a:lstStyle/>
                    <a:p>
                      <a:pPr marL="0" lvl="0" indent="0" algn="l" rtl="0">
                        <a:lnSpc>
                          <a:spcPct val="150000"/>
                        </a:lnSpc>
                        <a:spcBef>
                          <a:spcPts val="0"/>
                        </a:spcBef>
                        <a:spcAft>
                          <a:spcPts val="0"/>
                        </a:spcAft>
                        <a:buNone/>
                      </a:pPr>
                      <a:r>
                        <a:rPr lang="en" sz="900">
                          <a:solidFill>
                            <a:srgbClr val="E6E8F0"/>
                          </a:solidFill>
                          <a:latin typeface="Roboto"/>
                          <a:ea typeface="Roboto"/>
                          <a:cs typeface="Roboto"/>
                          <a:sym typeface="Roboto"/>
                        </a:rPr>
                        <a:t>Can contain a mix of concrete methods (with implementation) and abstract methods (without implementation).</a:t>
                      </a:r>
                      <a:endParaRPr sz="900">
                        <a:solidFill>
                          <a:srgbClr val="E6E8F0"/>
                        </a:solidFill>
                        <a:latin typeface="Roboto"/>
                        <a:ea typeface="Roboto"/>
                        <a:cs typeface="Roboto"/>
                        <a:sym typeface="Roboto"/>
                      </a:endParaRPr>
                    </a:p>
                  </a:txBody>
                  <a:tcPr marL="91425" marR="152400" marT="114300" marB="114300"/>
                </a:tc>
                <a:tc>
                  <a:txBody>
                    <a:bodyPr/>
                    <a:lstStyle/>
                    <a:p>
                      <a:pPr marL="0" lvl="0" indent="0" algn="l" rtl="0">
                        <a:lnSpc>
                          <a:spcPct val="150000"/>
                        </a:lnSpc>
                        <a:spcBef>
                          <a:spcPts val="0"/>
                        </a:spcBef>
                        <a:spcAft>
                          <a:spcPts val="0"/>
                        </a:spcAft>
                        <a:buNone/>
                      </a:pPr>
                      <a:r>
                        <a:rPr lang="en" sz="900">
                          <a:solidFill>
                            <a:srgbClr val="E6E8F0"/>
                          </a:solidFill>
                          <a:latin typeface="Roboto"/>
                          <a:ea typeface="Roboto"/>
                          <a:cs typeface="Roboto"/>
                          <a:sym typeface="Roboto"/>
                        </a:rPr>
                        <a:t>Starting with C# 8.0, interfaces can define default implementations for methods. Previously, they could only contain method signatures.</a:t>
                      </a:r>
                      <a:endParaRPr sz="900">
                        <a:solidFill>
                          <a:srgbClr val="E6E8F0"/>
                        </a:solidFill>
                        <a:latin typeface="Roboto"/>
                        <a:ea typeface="Roboto"/>
                        <a:cs typeface="Roboto"/>
                        <a:sym typeface="Roboto"/>
                      </a:endParaRPr>
                    </a:p>
                  </a:txBody>
                  <a:tcPr marL="91425" marR="91425" marT="114300" marB="114300"/>
                </a:tc>
                <a:extLst>
                  <a:ext uri="{0D108BD9-81ED-4DB2-BD59-A6C34878D82A}">
                    <a16:rowId xmlns:a16="http://schemas.microsoft.com/office/drawing/2014/main" val="10002"/>
                  </a:ext>
                </a:extLst>
              </a:tr>
              <a:tr h="756850">
                <a:tc>
                  <a:txBody>
                    <a:bodyPr/>
                    <a:lstStyle/>
                    <a:p>
                      <a:pPr marL="0" lvl="0" indent="0" algn="l" rtl="0">
                        <a:lnSpc>
                          <a:spcPct val="150000"/>
                        </a:lnSpc>
                        <a:spcBef>
                          <a:spcPts val="0"/>
                        </a:spcBef>
                        <a:spcAft>
                          <a:spcPts val="0"/>
                        </a:spcAft>
                        <a:buNone/>
                      </a:pPr>
                      <a:r>
                        <a:rPr lang="en" sz="900" b="1">
                          <a:solidFill>
                            <a:srgbClr val="E6E8F0"/>
                          </a:solidFill>
                          <a:latin typeface="Roboto"/>
                          <a:ea typeface="Roboto"/>
                          <a:cs typeface="Roboto"/>
                          <a:sym typeface="Roboto"/>
                        </a:rPr>
                        <a:t>Inheritance</a:t>
                      </a:r>
                      <a:endParaRPr sz="900" b="1">
                        <a:solidFill>
                          <a:srgbClr val="E6E8F0"/>
                        </a:solidFill>
                        <a:latin typeface="Roboto"/>
                        <a:ea typeface="Roboto"/>
                        <a:cs typeface="Roboto"/>
                        <a:sym typeface="Roboto"/>
                      </a:endParaRPr>
                    </a:p>
                  </a:txBody>
                  <a:tcPr marL="91425" marR="152400" marT="114300" marB="114300"/>
                </a:tc>
                <a:tc>
                  <a:txBody>
                    <a:bodyPr/>
                    <a:lstStyle/>
                    <a:p>
                      <a:pPr marL="0" lvl="0" indent="0" algn="l" rtl="0">
                        <a:lnSpc>
                          <a:spcPct val="150000"/>
                        </a:lnSpc>
                        <a:spcBef>
                          <a:spcPts val="0"/>
                        </a:spcBef>
                        <a:spcAft>
                          <a:spcPts val="0"/>
                        </a:spcAft>
                        <a:buNone/>
                      </a:pPr>
                      <a:r>
                        <a:rPr lang="en" sz="900">
                          <a:solidFill>
                            <a:srgbClr val="E6E8F0"/>
                          </a:solidFill>
                          <a:latin typeface="Roboto"/>
                          <a:ea typeface="Roboto"/>
                          <a:cs typeface="Roboto"/>
                          <a:sym typeface="Roboto"/>
                        </a:rPr>
                        <a:t>A class can inherit from only one abstract class. This is C#'s way of enforcing single-class inheritance.</a:t>
                      </a:r>
                      <a:endParaRPr sz="900">
                        <a:solidFill>
                          <a:srgbClr val="E6E8F0"/>
                        </a:solidFill>
                        <a:latin typeface="Roboto"/>
                        <a:ea typeface="Roboto"/>
                        <a:cs typeface="Roboto"/>
                        <a:sym typeface="Roboto"/>
                      </a:endParaRPr>
                    </a:p>
                  </a:txBody>
                  <a:tcPr marL="91425" marR="152400" marT="114300" marB="114300"/>
                </a:tc>
                <a:tc>
                  <a:txBody>
                    <a:bodyPr/>
                    <a:lstStyle/>
                    <a:p>
                      <a:pPr marL="0" lvl="0" indent="0" algn="l" rtl="0">
                        <a:lnSpc>
                          <a:spcPct val="150000"/>
                        </a:lnSpc>
                        <a:spcBef>
                          <a:spcPts val="0"/>
                        </a:spcBef>
                        <a:spcAft>
                          <a:spcPts val="0"/>
                        </a:spcAft>
                        <a:buNone/>
                      </a:pPr>
                      <a:r>
                        <a:rPr lang="en" sz="900">
                          <a:solidFill>
                            <a:srgbClr val="E6E8F0"/>
                          </a:solidFill>
                          <a:latin typeface="Roboto"/>
                          <a:ea typeface="Roboto"/>
                          <a:cs typeface="Roboto"/>
                          <a:sym typeface="Roboto"/>
                        </a:rPr>
                        <a:t>A class can implement multiple interfaces, allowing it to adopt behaviors from multiple sources.</a:t>
                      </a:r>
                      <a:endParaRPr sz="900">
                        <a:solidFill>
                          <a:srgbClr val="E6E8F0"/>
                        </a:solidFill>
                        <a:latin typeface="Roboto"/>
                        <a:ea typeface="Roboto"/>
                        <a:cs typeface="Roboto"/>
                        <a:sym typeface="Roboto"/>
                      </a:endParaRPr>
                    </a:p>
                  </a:txBody>
                  <a:tcPr marL="91425" marR="91425" marT="114300" marB="114300"/>
                </a:tc>
                <a:extLst>
                  <a:ext uri="{0D108BD9-81ED-4DB2-BD59-A6C34878D82A}">
                    <a16:rowId xmlns:a16="http://schemas.microsoft.com/office/drawing/2014/main" val="10003"/>
                  </a:ext>
                </a:extLst>
              </a:tr>
              <a:tr h="756850">
                <a:tc>
                  <a:txBody>
                    <a:bodyPr/>
                    <a:lstStyle/>
                    <a:p>
                      <a:pPr marL="0" marR="0" lvl="0" indent="0" algn="l" rtl="0">
                        <a:lnSpc>
                          <a:spcPct val="150000"/>
                        </a:lnSpc>
                        <a:spcBef>
                          <a:spcPts val="0"/>
                        </a:spcBef>
                        <a:spcAft>
                          <a:spcPts val="0"/>
                        </a:spcAft>
                        <a:buNone/>
                      </a:pPr>
                      <a:r>
                        <a:rPr lang="en" sz="900">
                          <a:solidFill>
                            <a:srgbClr val="E6E8F0"/>
                          </a:solidFill>
                          <a:latin typeface="Roboto"/>
                          <a:ea typeface="Roboto"/>
                          <a:cs typeface="Roboto"/>
                          <a:sym typeface="Roboto"/>
                        </a:rPr>
                        <a:t>Members</a:t>
                      </a:r>
                      <a:endParaRPr sz="900">
                        <a:solidFill>
                          <a:srgbClr val="E6E8F0"/>
                        </a:solidFill>
                        <a:latin typeface="Roboto"/>
                        <a:ea typeface="Roboto"/>
                        <a:cs typeface="Roboto"/>
                        <a:sym typeface="Roboto"/>
                      </a:endParaRPr>
                    </a:p>
                  </a:txBody>
                  <a:tcPr marL="91425" marR="152400" marT="114300" marB="114300"/>
                </a:tc>
                <a:tc>
                  <a:txBody>
                    <a:bodyPr/>
                    <a:lstStyle/>
                    <a:p>
                      <a:pPr marL="0" marR="0" lvl="0" indent="0" algn="l" rtl="0">
                        <a:lnSpc>
                          <a:spcPct val="150000"/>
                        </a:lnSpc>
                        <a:spcBef>
                          <a:spcPts val="0"/>
                        </a:spcBef>
                        <a:spcAft>
                          <a:spcPts val="0"/>
                        </a:spcAft>
                        <a:buNone/>
                      </a:pPr>
                      <a:r>
                        <a:rPr lang="en" sz="900">
                          <a:solidFill>
                            <a:srgbClr val="E6E8F0"/>
                          </a:solidFill>
                          <a:latin typeface="Roboto"/>
                          <a:ea typeface="Roboto"/>
                          <a:cs typeface="Roboto"/>
                          <a:sym typeface="Roboto"/>
                        </a:rPr>
                        <a:t>Can include fields, properties, constructors, and events. Supports access modifiers like public, protected, and private.</a:t>
                      </a:r>
                      <a:endParaRPr sz="900">
                        <a:solidFill>
                          <a:srgbClr val="E6E8F0"/>
                        </a:solidFill>
                        <a:latin typeface="Roboto"/>
                        <a:ea typeface="Roboto"/>
                        <a:cs typeface="Roboto"/>
                        <a:sym typeface="Roboto"/>
                      </a:endParaRPr>
                    </a:p>
                  </a:txBody>
                  <a:tcPr marL="91425" marR="152400" marT="114300" marB="114300"/>
                </a:tc>
                <a:tc>
                  <a:txBody>
                    <a:bodyPr/>
                    <a:lstStyle/>
                    <a:p>
                      <a:pPr marL="0" marR="0" lvl="0" indent="0" algn="l" rtl="0">
                        <a:lnSpc>
                          <a:spcPct val="150000"/>
                        </a:lnSpc>
                        <a:spcBef>
                          <a:spcPts val="0"/>
                        </a:spcBef>
                        <a:spcAft>
                          <a:spcPts val="0"/>
                        </a:spcAft>
                        <a:buNone/>
                      </a:pPr>
                      <a:r>
                        <a:rPr lang="en" sz="900">
                          <a:solidFill>
                            <a:srgbClr val="E6E8F0"/>
                          </a:solidFill>
                          <a:latin typeface="Roboto"/>
                          <a:ea typeface="Roboto"/>
                          <a:cs typeface="Roboto"/>
                          <a:sym typeface="Roboto"/>
                        </a:rPr>
                        <a:t>Can contain properties, methods, events, and indexers. Instance fields are not allowed. Interface members are public by default.</a:t>
                      </a:r>
                      <a:endParaRPr sz="900">
                        <a:solidFill>
                          <a:srgbClr val="E6E8F0"/>
                        </a:solidFill>
                        <a:latin typeface="Roboto"/>
                        <a:ea typeface="Roboto"/>
                        <a:cs typeface="Roboto"/>
                        <a:sym typeface="Roboto"/>
                      </a:endParaRPr>
                    </a:p>
                  </a:txBody>
                  <a:tcPr marL="91425" marR="91425" marT="114300" marB="114300"/>
                </a:tc>
                <a:extLst>
                  <a:ext uri="{0D108BD9-81ED-4DB2-BD59-A6C34878D82A}">
                    <a16:rowId xmlns:a16="http://schemas.microsoft.com/office/drawing/2014/main" val="10004"/>
                  </a:ext>
                </a:extLst>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15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graphicFrame>
        <p:nvGraphicFramePr>
          <p:cNvPr id="927" name="Google Shape;927;p152"/>
          <p:cNvGraphicFramePr/>
          <p:nvPr/>
        </p:nvGraphicFramePr>
        <p:xfrm>
          <a:off x="952500" y="2000250"/>
          <a:ext cx="3000000" cy="3000000"/>
        </p:xfrm>
        <a:graphic>
          <a:graphicData uri="http://schemas.openxmlformats.org/drawingml/2006/table">
            <a:tbl>
              <a:tblPr>
                <a:noFill/>
                <a:tableStyleId>{52AF7735-1A30-4EDB-8E02-57A44A249223}</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ctr" rtl="0">
                        <a:lnSpc>
                          <a:spcPct val="115000"/>
                        </a:lnSpc>
                        <a:spcBef>
                          <a:spcPts val="0"/>
                        </a:spcBef>
                        <a:spcAft>
                          <a:spcPts val="0"/>
                        </a:spcAft>
                        <a:buNone/>
                      </a:pPr>
                      <a:r>
                        <a:rPr lang="en" sz="1050">
                          <a:solidFill>
                            <a:srgbClr val="E6E8F0"/>
                          </a:solidFill>
                          <a:latin typeface="Roboto"/>
                          <a:ea typeface="Roboto"/>
                          <a:cs typeface="Roboto"/>
                          <a:sym typeface="Roboto"/>
                        </a:rPr>
                        <a:t>Feature </a:t>
                      </a:r>
                      <a:endParaRPr sz="1050">
                        <a:solidFill>
                          <a:srgbClr val="E6E8F0"/>
                        </a:solidFill>
                        <a:latin typeface="Roboto"/>
                        <a:ea typeface="Roboto"/>
                        <a:cs typeface="Roboto"/>
                        <a:sym typeface="Roboto"/>
                      </a:endParaRPr>
                    </a:p>
                  </a:txBody>
                  <a:tcPr marL="91425" marR="152400" marT="76200" marB="762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50">
                          <a:solidFill>
                            <a:srgbClr val="E6E8F0"/>
                          </a:solidFill>
                          <a:latin typeface="Roboto"/>
                          <a:ea typeface="Roboto"/>
                          <a:cs typeface="Roboto"/>
                          <a:sym typeface="Roboto"/>
                        </a:rPr>
                        <a:t>Abstract Class</a:t>
                      </a:r>
                      <a:endParaRPr sz="1050">
                        <a:solidFill>
                          <a:srgbClr val="E6E8F0"/>
                        </a:solidFill>
                        <a:latin typeface="Roboto"/>
                        <a:ea typeface="Roboto"/>
                        <a:cs typeface="Roboto"/>
                        <a:sym typeface="Roboto"/>
                      </a:endParaRPr>
                    </a:p>
                  </a:txBody>
                  <a:tcPr marL="91425" marR="152400" marT="76200" marB="762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50">
                          <a:solidFill>
                            <a:srgbClr val="E6E8F0"/>
                          </a:solidFill>
                          <a:latin typeface="Roboto"/>
                          <a:ea typeface="Roboto"/>
                          <a:cs typeface="Roboto"/>
                          <a:sym typeface="Roboto"/>
                        </a:rPr>
                        <a:t>Interface</a:t>
                      </a:r>
                      <a:endParaRPr sz="1050">
                        <a:solidFill>
                          <a:srgbClr val="E6E8F0"/>
                        </a:solidFill>
                        <a:latin typeface="Roboto"/>
                        <a:ea typeface="Roboto"/>
                        <a:cs typeface="Roboto"/>
                        <a:sym typeface="Roboto"/>
                      </a:endParaRPr>
                    </a:p>
                  </a:txBody>
                  <a:tcPr marL="91425" marR="91425" marT="76200" marB="762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lnSpc>
                          <a:spcPct val="150000"/>
                        </a:lnSpc>
                        <a:spcBef>
                          <a:spcPts val="0"/>
                        </a:spcBef>
                        <a:spcAft>
                          <a:spcPts val="0"/>
                        </a:spcAft>
                        <a:buNone/>
                      </a:pPr>
                      <a:r>
                        <a:rPr lang="en" sz="1000" b="1">
                          <a:solidFill>
                            <a:schemeClr val="lt1"/>
                          </a:solidFill>
                          <a:latin typeface="Calibri"/>
                          <a:ea typeface="Calibri"/>
                          <a:cs typeface="Calibri"/>
                          <a:sym typeface="Calibri"/>
                        </a:rPr>
                        <a:t>Inheritance hierarchy</a:t>
                      </a:r>
                      <a:endParaRPr sz="1000" b="1">
                        <a:solidFill>
                          <a:schemeClr val="lt1"/>
                        </a:solidFill>
                        <a:latin typeface="Calibri"/>
                        <a:ea typeface="Calibri"/>
                        <a:cs typeface="Calibri"/>
                        <a:sym typeface="Calibri"/>
                      </a:endParaRPr>
                    </a:p>
                  </a:txBody>
                  <a:tcPr marL="91425" marR="152400" marT="114300" marB="114300">
                    <a:lnT w="9525" cap="flat" cmpd="sng">
                      <a:solidFill>
                        <a:srgbClr val="9E9E9E"/>
                      </a:solidFill>
                      <a:prstDash val="solid"/>
                      <a:round/>
                      <a:headEnd type="none" w="sm" len="sm"/>
                      <a:tailEnd type="none" w="sm" len="sm"/>
                    </a:lnT>
                  </a:tcPr>
                </a:tc>
                <a:tc>
                  <a:txBody>
                    <a:bodyPr/>
                    <a:lstStyle/>
                    <a:p>
                      <a:pPr marL="0" lvl="0" indent="0" algn="l" rtl="0">
                        <a:lnSpc>
                          <a:spcPct val="150000"/>
                        </a:lnSpc>
                        <a:spcBef>
                          <a:spcPts val="0"/>
                        </a:spcBef>
                        <a:spcAft>
                          <a:spcPts val="0"/>
                        </a:spcAft>
                        <a:buNone/>
                      </a:pPr>
                      <a:r>
                        <a:rPr lang="en" sz="1000">
                          <a:solidFill>
                            <a:schemeClr val="lt1"/>
                          </a:solidFill>
                          <a:latin typeface="Calibri"/>
                          <a:ea typeface="Calibri"/>
                          <a:cs typeface="Calibri"/>
                          <a:sym typeface="Calibri"/>
                        </a:rPr>
                        <a:t>Ideal for defining the core identity of a component within a closely related class hierarchy (e.g., Dog is an Animal).</a:t>
                      </a:r>
                      <a:endParaRPr sz="1000">
                        <a:solidFill>
                          <a:schemeClr val="lt1"/>
                        </a:solidFill>
                        <a:latin typeface="Calibri"/>
                        <a:ea typeface="Calibri"/>
                        <a:cs typeface="Calibri"/>
                        <a:sym typeface="Calibri"/>
                      </a:endParaRPr>
                    </a:p>
                  </a:txBody>
                  <a:tcPr marL="91425" marR="152400" marT="114300" marB="114300">
                    <a:lnT w="9525" cap="flat" cmpd="sng">
                      <a:solidFill>
                        <a:srgbClr val="9E9E9E"/>
                      </a:solidFill>
                      <a:prstDash val="solid"/>
                      <a:round/>
                      <a:headEnd type="none" w="sm" len="sm"/>
                      <a:tailEnd type="none" w="sm" len="sm"/>
                    </a:lnT>
                  </a:tcPr>
                </a:tc>
                <a:tc>
                  <a:txBody>
                    <a:bodyPr/>
                    <a:lstStyle/>
                    <a:p>
                      <a:pPr marL="0" lvl="0" indent="0" algn="l" rtl="0">
                        <a:lnSpc>
                          <a:spcPct val="150000"/>
                        </a:lnSpc>
                        <a:spcBef>
                          <a:spcPts val="0"/>
                        </a:spcBef>
                        <a:spcAft>
                          <a:spcPts val="0"/>
                        </a:spcAft>
                        <a:buNone/>
                      </a:pPr>
                      <a:r>
                        <a:rPr lang="en" sz="1000">
                          <a:solidFill>
                            <a:schemeClr val="lt1"/>
                          </a:solidFill>
                          <a:latin typeface="Calibri"/>
                          <a:ea typeface="Calibri"/>
                          <a:cs typeface="Calibri"/>
                          <a:sym typeface="Calibri"/>
                        </a:rPr>
                        <a:t>Perfect for defining peripheral capabilities that can be used by unrelated classes (e.g., a Dog can implement an IWalk or ISwim interface).</a:t>
                      </a:r>
                      <a:endParaRPr sz="1000">
                        <a:solidFill>
                          <a:schemeClr val="lt1"/>
                        </a:solidFill>
                        <a:latin typeface="Calibri"/>
                        <a:ea typeface="Calibri"/>
                        <a:cs typeface="Calibri"/>
                        <a:sym typeface="Calibri"/>
                      </a:endParaRPr>
                    </a:p>
                  </a:txBody>
                  <a:tcPr marL="91425" marR="91425" marT="114300" marB="114300">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381000">
                <a:tc>
                  <a:txBody>
                    <a:bodyPr/>
                    <a:lstStyle/>
                    <a:p>
                      <a:pPr marL="0" lvl="0" indent="0" algn="l" rtl="0">
                        <a:lnSpc>
                          <a:spcPct val="150000"/>
                        </a:lnSpc>
                        <a:spcBef>
                          <a:spcPts val="0"/>
                        </a:spcBef>
                        <a:spcAft>
                          <a:spcPts val="0"/>
                        </a:spcAft>
                        <a:buNone/>
                      </a:pPr>
                      <a:r>
                        <a:rPr lang="en" sz="1000" b="1">
                          <a:solidFill>
                            <a:schemeClr val="lt1"/>
                          </a:solidFill>
                          <a:latin typeface="Calibri"/>
                          <a:ea typeface="Calibri"/>
                          <a:cs typeface="Calibri"/>
                          <a:sym typeface="Calibri"/>
                        </a:rPr>
                        <a:t>Versioning</a:t>
                      </a:r>
                      <a:endParaRPr sz="1000" b="1">
                        <a:solidFill>
                          <a:schemeClr val="lt1"/>
                        </a:solidFill>
                        <a:latin typeface="Calibri"/>
                        <a:ea typeface="Calibri"/>
                        <a:cs typeface="Calibri"/>
                        <a:sym typeface="Calibri"/>
                      </a:endParaRPr>
                    </a:p>
                  </a:txBody>
                  <a:tcPr marL="91425" marR="152400" marT="114300" marB="114300"/>
                </a:tc>
                <a:tc>
                  <a:txBody>
                    <a:bodyPr/>
                    <a:lstStyle/>
                    <a:p>
                      <a:pPr marL="0" lvl="0" indent="0" algn="l" rtl="0">
                        <a:lnSpc>
                          <a:spcPct val="150000"/>
                        </a:lnSpc>
                        <a:spcBef>
                          <a:spcPts val="0"/>
                        </a:spcBef>
                        <a:spcAft>
                          <a:spcPts val="0"/>
                        </a:spcAft>
                        <a:buNone/>
                      </a:pPr>
                      <a:r>
                        <a:rPr lang="en" sz="1000">
                          <a:solidFill>
                            <a:schemeClr val="lt1"/>
                          </a:solidFill>
                          <a:latin typeface="Calibri"/>
                          <a:ea typeface="Calibri"/>
                          <a:cs typeface="Calibri"/>
                          <a:sym typeface="Calibri"/>
                        </a:rPr>
                        <a:t>Adding a new non-abstract method to an abstract class does not break existing derived classes, since they can inherit the default behavior.</a:t>
                      </a:r>
                      <a:endParaRPr sz="1000">
                        <a:solidFill>
                          <a:schemeClr val="lt1"/>
                        </a:solidFill>
                        <a:latin typeface="Calibri"/>
                        <a:ea typeface="Calibri"/>
                        <a:cs typeface="Calibri"/>
                        <a:sym typeface="Calibri"/>
                      </a:endParaRPr>
                    </a:p>
                  </a:txBody>
                  <a:tcPr marL="91425" marR="152400" marT="114300" marB="114300"/>
                </a:tc>
                <a:tc>
                  <a:txBody>
                    <a:bodyPr/>
                    <a:lstStyle/>
                    <a:p>
                      <a:pPr marL="0" lvl="0" indent="0" algn="l" rtl="0">
                        <a:lnSpc>
                          <a:spcPct val="150000"/>
                        </a:lnSpc>
                        <a:spcBef>
                          <a:spcPts val="0"/>
                        </a:spcBef>
                        <a:spcAft>
                          <a:spcPts val="0"/>
                        </a:spcAft>
                        <a:buNone/>
                      </a:pPr>
                      <a:r>
                        <a:rPr lang="en" sz="1000">
                          <a:solidFill>
                            <a:schemeClr val="lt1"/>
                          </a:solidFill>
                          <a:latin typeface="Calibri"/>
                          <a:ea typeface="Calibri"/>
                          <a:cs typeface="Calibri"/>
                          <a:sym typeface="Calibri"/>
                        </a:rPr>
                        <a:t>Adding a new member to an interface (before C# 8.0) would break all implementing classes. Default interface implementations mitigate this problem.</a:t>
                      </a:r>
                      <a:endParaRPr sz="1000">
                        <a:solidFill>
                          <a:schemeClr val="lt1"/>
                        </a:solidFill>
                        <a:latin typeface="Calibri"/>
                        <a:ea typeface="Calibri"/>
                        <a:cs typeface="Calibri"/>
                        <a:sym typeface="Calibri"/>
                      </a:endParaRPr>
                    </a:p>
                  </a:txBody>
                  <a:tcPr marL="91425" marR="91425" marT="114300" marB="114300"/>
                </a:tc>
                <a:extLst>
                  <a:ext uri="{0D108BD9-81ED-4DB2-BD59-A6C34878D82A}">
                    <a16:rowId xmlns:a16="http://schemas.microsoft.com/office/drawing/2014/main" val="10002"/>
                  </a:ext>
                </a:extLst>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53"/>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r" rtl="0">
              <a:spcBef>
                <a:spcPts val="0"/>
              </a:spcBef>
              <a:spcAft>
                <a:spcPts val="0"/>
              </a:spcAft>
              <a:buNone/>
            </a:pPr>
            <a:r>
              <a:rPr lang="en"/>
              <a:t>PARTIAL CLASS AND METHOD</a:t>
            </a:r>
            <a:endParaRPr/>
          </a:p>
        </p:txBody>
      </p:sp>
      <p:sp>
        <p:nvSpPr>
          <p:cNvPr id="933" name="Google Shape;933;p153"/>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15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PARTIAL CLASS</a:t>
            </a:r>
            <a:endParaRPr/>
          </a:p>
        </p:txBody>
      </p:sp>
      <p:sp>
        <p:nvSpPr>
          <p:cNvPr id="939" name="Google Shape;939;p15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Partial Class is the new feature that has been added in C# 2.0 which allows us to define a class on multiple files i.e. we can physically split the content of the class into different files but even physically they are divided but logically it is one single unit only. </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A class in which code can be written in two or more files is known as a partial class. To make any class partial we need to use the keyword partial.</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Partial classes are commonly used in scenarios such as Windows Forms, ASP.NET applications and code generators where some parts of the class are system-generated and others are written by the programmer</a:t>
            </a:r>
            <a:endParaRPr sz="1500">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5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POINTS OF PARTIAL CLASS</a:t>
            </a:r>
            <a:endParaRPr/>
          </a:p>
        </p:txBody>
      </p:sp>
      <p:sp>
        <p:nvSpPr>
          <p:cNvPr id="945" name="Google Shape;945;p15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914400" lvl="1" indent="-317500" algn="l" rtl="0">
              <a:lnSpc>
                <a:spcPct val="158000"/>
              </a:lnSpc>
              <a:spcBef>
                <a:spcPts val="0"/>
              </a:spcBef>
              <a:spcAft>
                <a:spcPts val="0"/>
              </a:spcAft>
              <a:buClr>
                <a:srgbClr val="FFFFFF"/>
              </a:buClr>
              <a:buSzPts val="1400"/>
              <a:buFont typeface="Calibri"/>
              <a:buChar char="•"/>
            </a:pPr>
            <a:r>
              <a:rPr lang="en" sz="1400">
                <a:solidFill>
                  <a:srgbClr val="FFFFFF"/>
                </a:solidFill>
                <a:highlight>
                  <a:srgbClr val="131417"/>
                </a:highlight>
                <a:latin typeface="Calibri"/>
                <a:ea typeface="Calibri"/>
                <a:cs typeface="Calibri"/>
                <a:sym typeface="Calibri"/>
              </a:rPr>
              <a:t>Declared using the partial keyword.</a:t>
            </a:r>
            <a:endParaRPr sz="1400">
              <a:solidFill>
                <a:srgbClr val="FFFFFF"/>
              </a:solidFill>
              <a:highlight>
                <a:srgbClr val="131417"/>
              </a:highlight>
              <a:latin typeface="Calibri"/>
              <a:ea typeface="Calibri"/>
              <a:cs typeface="Calibri"/>
              <a:sym typeface="Calibri"/>
            </a:endParaRPr>
          </a:p>
          <a:p>
            <a:pPr marL="914400" lvl="1" indent="-317500" algn="l" rtl="0">
              <a:lnSpc>
                <a:spcPct val="158000"/>
              </a:lnSpc>
              <a:spcBef>
                <a:spcPts val="0"/>
              </a:spcBef>
              <a:spcAft>
                <a:spcPts val="0"/>
              </a:spcAft>
              <a:buClr>
                <a:srgbClr val="FFFFFF"/>
              </a:buClr>
              <a:buSzPts val="1400"/>
              <a:buFont typeface="Calibri"/>
              <a:buChar char="•"/>
            </a:pPr>
            <a:r>
              <a:rPr lang="en" sz="1400">
                <a:solidFill>
                  <a:srgbClr val="FFFFFF"/>
                </a:solidFill>
                <a:highlight>
                  <a:srgbClr val="131417"/>
                </a:highlight>
                <a:latin typeface="Calibri"/>
                <a:ea typeface="Calibri"/>
                <a:cs typeface="Calibri"/>
                <a:sym typeface="Calibri"/>
              </a:rPr>
              <a:t>A class can be split across multiple files.</a:t>
            </a:r>
            <a:endParaRPr sz="1400">
              <a:solidFill>
                <a:srgbClr val="FFFFFF"/>
              </a:solidFill>
              <a:highlight>
                <a:srgbClr val="131417"/>
              </a:highlight>
              <a:latin typeface="Calibri"/>
              <a:ea typeface="Calibri"/>
              <a:cs typeface="Calibri"/>
              <a:sym typeface="Calibri"/>
            </a:endParaRPr>
          </a:p>
          <a:p>
            <a:pPr marL="914400" lvl="1" indent="-317500" algn="l" rtl="0">
              <a:lnSpc>
                <a:spcPct val="158000"/>
              </a:lnSpc>
              <a:spcBef>
                <a:spcPts val="0"/>
              </a:spcBef>
              <a:spcAft>
                <a:spcPts val="0"/>
              </a:spcAft>
              <a:buClr>
                <a:srgbClr val="FFFFFF"/>
              </a:buClr>
              <a:buSzPts val="1400"/>
              <a:buFont typeface="Calibri"/>
              <a:buChar char="•"/>
            </a:pPr>
            <a:r>
              <a:rPr lang="en" sz="1400">
                <a:solidFill>
                  <a:srgbClr val="FFFFFF"/>
                </a:solidFill>
                <a:highlight>
                  <a:srgbClr val="131417"/>
                </a:highlight>
                <a:latin typeface="Calibri"/>
                <a:ea typeface="Calibri"/>
                <a:cs typeface="Calibri"/>
                <a:sym typeface="Calibri"/>
              </a:rPr>
              <a:t>All parts must use the same name and namespace.</a:t>
            </a:r>
            <a:endParaRPr sz="1400">
              <a:solidFill>
                <a:srgbClr val="FFFFFF"/>
              </a:solidFill>
              <a:highlight>
                <a:srgbClr val="131417"/>
              </a:highlight>
              <a:latin typeface="Calibri"/>
              <a:ea typeface="Calibri"/>
              <a:cs typeface="Calibri"/>
              <a:sym typeface="Calibri"/>
            </a:endParaRPr>
          </a:p>
          <a:p>
            <a:pPr marL="914400" lvl="1" indent="-317500" algn="l" rtl="0">
              <a:lnSpc>
                <a:spcPct val="158000"/>
              </a:lnSpc>
              <a:spcBef>
                <a:spcPts val="0"/>
              </a:spcBef>
              <a:spcAft>
                <a:spcPts val="0"/>
              </a:spcAft>
              <a:buClr>
                <a:srgbClr val="FFFFFF"/>
              </a:buClr>
              <a:buSzPts val="1400"/>
              <a:buFont typeface="Calibri"/>
              <a:buChar char="•"/>
            </a:pPr>
            <a:r>
              <a:rPr lang="en" sz="1400">
                <a:solidFill>
                  <a:srgbClr val="FFFFFF"/>
                </a:solidFill>
                <a:highlight>
                  <a:srgbClr val="131417"/>
                </a:highlight>
                <a:latin typeface="Calibri"/>
                <a:ea typeface="Calibri"/>
                <a:cs typeface="Calibri"/>
                <a:sym typeface="Calibri"/>
              </a:rPr>
              <a:t>At compile time, the compiler merges all parts into a single class.</a:t>
            </a:r>
            <a:endParaRPr sz="1400">
              <a:solidFill>
                <a:srgbClr val="FFFFFF"/>
              </a:solidFill>
              <a:highlight>
                <a:srgbClr val="131417"/>
              </a:highlight>
              <a:latin typeface="Calibri"/>
              <a:ea typeface="Calibri"/>
              <a:cs typeface="Calibri"/>
              <a:sym typeface="Calibri"/>
            </a:endParaRPr>
          </a:p>
          <a:p>
            <a:pPr marL="914400" lvl="1" indent="-317500" algn="l" rtl="0">
              <a:lnSpc>
                <a:spcPct val="158000"/>
              </a:lnSpc>
              <a:spcBef>
                <a:spcPts val="0"/>
              </a:spcBef>
              <a:spcAft>
                <a:spcPts val="0"/>
              </a:spcAft>
              <a:buClr>
                <a:srgbClr val="FFFFFF"/>
              </a:buClr>
              <a:buSzPts val="1400"/>
              <a:buFont typeface="Calibri"/>
              <a:buChar char="•"/>
            </a:pPr>
            <a:r>
              <a:rPr lang="en" sz="1400">
                <a:solidFill>
                  <a:srgbClr val="FFFFFF"/>
                </a:solidFill>
                <a:highlight>
                  <a:srgbClr val="131417"/>
                </a:highlight>
                <a:latin typeface="Calibri"/>
                <a:ea typeface="Calibri"/>
                <a:cs typeface="Calibri"/>
                <a:sym typeface="Calibri"/>
              </a:rPr>
              <a:t>Useful for separating auto-generated and user-defined code.</a:t>
            </a:r>
            <a:endParaRPr sz="1400">
              <a:solidFill>
                <a:srgbClr val="FFFFFF"/>
              </a:solidFill>
              <a:highlight>
                <a:srgbClr val="131417"/>
              </a:highlight>
              <a:latin typeface="Calibri"/>
              <a:ea typeface="Calibri"/>
              <a:cs typeface="Calibri"/>
              <a:sym typeface="Calibri"/>
            </a:endParaRPr>
          </a:p>
          <a:p>
            <a:pPr marL="914400" lvl="1" indent="-317500" algn="l" rtl="0">
              <a:lnSpc>
                <a:spcPct val="158000"/>
              </a:lnSpc>
              <a:spcBef>
                <a:spcPts val="0"/>
              </a:spcBef>
              <a:spcAft>
                <a:spcPts val="0"/>
              </a:spcAft>
              <a:buClr>
                <a:srgbClr val="FFFFFF"/>
              </a:buClr>
              <a:buSzPts val="1400"/>
              <a:buFont typeface="Calibri"/>
              <a:buChar char="•"/>
            </a:pPr>
            <a:r>
              <a:rPr lang="en" sz="1400">
                <a:solidFill>
                  <a:srgbClr val="FFFFFF"/>
                </a:solidFill>
                <a:highlight>
                  <a:srgbClr val="131417"/>
                </a:highlight>
                <a:latin typeface="Calibri"/>
                <a:ea typeface="Calibri"/>
                <a:cs typeface="Calibri"/>
                <a:sym typeface="Calibri"/>
              </a:rPr>
              <a:t>Supports defining fields, methods, properties, events and nested classes.</a:t>
            </a:r>
            <a:endParaRPr sz="1400">
              <a:solidFill>
                <a:srgbClr val="FFFFFF"/>
              </a:solidFill>
              <a:highlight>
                <a:srgbClr val="131417"/>
              </a:highlight>
              <a:latin typeface="Calibri"/>
              <a:ea typeface="Calibri"/>
              <a:cs typeface="Calibri"/>
              <a:sym typeface="Calibri"/>
            </a:endParaRPr>
          </a:p>
          <a:p>
            <a:pPr marL="0" lvl="0" indent="0" algn="l" rtl="0">
              <a:spcBef>
                <a:spcPts val="1800"/>
              </a:spcBef>
              <a:spcAft>
                <a:spcPts val="0"/>
              </a:spcAft>
              <a:buNone/>
            </a:pPr>
            <a:endParaRPr sz="1400">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15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a:t>RULES OF PARTIAL KEYWORD</a:t>
            </a:r>
            <a:endParaRPr/>
          </a:p>
        </p:txBody>
      </p:sp>
      <p:sp>
        <p:nvSpPr>
          <p:cNvPr id="951" name="Google Shape;951;p156"/>
          <p:cNvSpPr txBox="1">
            <a:spLocks noGrp="1"/>
          </p:cNvSpPr>
          <p:nvPr>
            <p:ph type="body" idx="1"/>
          </p:nvPr>
        </p:nvSpPr>
        <p:spPr>
          <a:xfrm>
            <a:off x="514350" y="1645926"/>
            <a:ext cx="8115300" cy="3427800"/>
          </a:xfrm>
          <a:prstGeom prst="rect">
            <a:avLst/>
          </a:prstGeom>
        </p:spPr>
        <p:txBody>
          <a:bodyPr spcFirstLastPara="1" wrap="square" lIns="68575" tIns="34275" rIns="68575" bIns="34275" anchor="t" anchorCtr="0">
            <a:noAutofit/>
          </a:bodyPr>
          <a:lstStyle/>
          <a:p>
            <a:pPr marL="457200" lvl="0" indent="-317500" algn="l" rtl="0">
              <a:lnSpc>
                <a:spcPct val="115000"/>
              </a:lnSpc>
              <a:spcBef>
                <a:spcPts val="800"/>
              </a:spcBef>
              <a:spcAft>
                <a:spcPts val="0"/>
              </a:spcAft>
              <a:buSzPts val="1400"/>
              <a:buFont typeface="Calibri"/>
              <a:buChar char="•"/>
            </a:pPr>
            <a:r>
              <a:rPr lang="en" sz="1400" b="1">
                <a:latin typeface="Calibri"/>
                <a:ea typeface="Calibri"/>
                <a:cs typeface="Calibri"/>
                <a:sym typeface="Calibri"/>
              </a:rPr>
              <a:t>Partial Keyword:</a:t>
            </a:r>
            <a:r>
              <a:rPr lang="en" sz="1400">
                <a:latin typeface="Calibri"/>
                <a:ea typeface="Calibri"/>
                <a:cs typeface="Calibri"/>
                <a:sym typeface="Calibri"/>
              </a:rPr>
              <a:t> All parts of a partial class, struct, or interface definition must be explicitly marked with the partial keyword.</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b="1">
                <a:latin typeface="Calibri"/>
                <a:ea typeface="Calibri"/>
                <a:cs typeface="Calibri"/>
                <a:sym typeface="Calibri"/>
              </a:rPr>
              <a:t>Same Assembly and Module:</a:t>
            </a:r>
            <a:r>
              <a:rPr lang="en" sz="1400">
                <a:latin typeface="Calibri"/>
                <a:ea typeface="Calibri"/>
                <a:cs typeface="Calibri"/>
                <a:sym typeface="Calibri"/>
              </a:rPr>
              <a:t> All parts of a partial type must reside within the same assembly and the same module. They cannot be spread across different assemblies or DLLs. </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b="1">
                <a:latin typeface="Calibri"/>
                <a:ea typeface="Calibri"/>
                <a:cs typeface="Calibri"/>
                <a:sym typeface="Calibri"/>
              </a:rPr>
              <a:t>Same Namespace:</a:t>
            </a:r>
            <a:r>
              <a:rPr lang="en" sz="1400">
                <a:latin typeface="Calibri"/>
                <a:ea typeface="Calibri"/>
                <a:cs typeface="Calibri"/>
                <a:sym typeface="Calibri"/>
              </a:rPr>
              <a:t> All parts of a partial type must be defined within the same namespace.</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b="1">
                <a:latin typeface="Calibri"/>
                <a:ea typeface="Calibri"/>
                <a:cs typeface="Calibri"/>
                <a:sym typeface="Calibri"/>
              </a:rPr>
              <a:t>Same Accessibility:</a:t>
            </a:r>
            <a:r>
              <a:rPr lang="en" sz="1400">
                <a:latin typeface="Calibri"/>
                <a:ea typeface="Calibri"/>
                <a:cs typeface="Calibri"/>
                <a:sym typeface="Calibri"/>
              </a:rPr>
              <a:t> All parts of a partial type must have the same accessibility level (e.g., public, private, internal).</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b="1">
                <a:latin typeface="Calibri"/>
                <a:ea typeface="Calibri"/>
                <a:cs typeface="Calibri"/>
                <a:sym typeface="Calibri"/>
              </a:rPr>
              <a:t>Unified Type Characteristics:</a:t>
            </a:r>
            <a:endParaRPr sz="1400" b="1">
              <a:latin typeface="Calibri"/>
              <a:ea typeface="Calibri"/>
              <a:cs typeface="Calibri"/>
              <a:sym typeface="Calibri"/>
            </a:endParaRPr>
          </a:p>
          <a:p>
            <a:pPr marL="914400" lvl="1" indent="-317500" algn="l" rtl="0">
              <a:lnSpc>
                <a:spcPct val="115000"/>
              </a:lnSpc>
              <a:spcBef>
                <a:spcPts val="0"/>
              </a:spcBef>
              <a:spcAft>
                <a:spcPts val="0"/>
              </a:spcAft>
              <a:buSzPts val="1400"/>
              <a:buChar char="•"/>
            </a:pPr>
            <a:r>
              <a:rPr lang="en" sz="1400">
                <a:latin typeface="Calibri"/>
                <a:ea typeface="Calibri"/>
                <a:cs typeface="Calibri"/>
                <a:sym typeface="Calibri"/>
              </a:rPr>
              <a:t>If any part of a partial class is declared abstract, the entire class becomes abstract. </a:t>
            </a:r>
            <a:endParaRPr sz="1400">
              <a:latin typeface="Calibri"/>
              <a:ea typeface="Calibri"/>
              <a:cs typeface="Calibri"/>
              <a:sym typeface="Calibri"/>
            </a:endParaRPr>
          </a:p>
          <a:p>
            <a:pPr marL="914400" lvl="1" indent="-317500" algn="l" rtl="0">
              <a:lnSpc>
                <a:spcPct val="115000"/>
              </a:lnSpc>
              <a:spcBef>
                <a:spcPts val="0"/>
              </a:spcBef>
              <a:spcAft>
                <a:spcPts val="0"/>
              </a:spcAft>
              <a:buSzPts val="1400"/>
              <a:buChar char="•"/>
            </a:pPr>
            <a:r>
              <a:rPr lang="en" sz="1400">
                <a:latin typeface="Calibri"/>
                <a:ea typeface="Calibri"/>
                <a:cs typeface="Calibri"/>
                <a:sym typeface="Calibri"/>
              </a:rPr>
              <a:t>If any part is declared sealed, the entire class becomes sealed. </a:t>
            </a:r>
            <a:endParaRPr sz="1400">
              <a:latin typeface="Calibri"/>
              <a:ea typeface="Calibri"/>
              <a:cs typeface="Calibri"/>
              <a:sym typeface="Calibri"/>
            </a:endParaRPr>
          </a:p>
          <a:p>
            <a:pPr marL="914400" lvl="1"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If any part declares a base type or implements an interface, the entire type inherits that base type or implements that interface. The final class will inherit all base types and implement all interfaces declared across its parts.</a:t>
            </a:r>
            <a:endParaRPr sz="1400">
              <a:latin typeface="Calibri"/>
              <a:ea typeface="Calibri"/>
              <a:cs typeface="Calibri"/>
              <a:sym typeface="Calibri"/>
            </a:endParaRPr>
          </a:p>
          <a:p>
            <a:pPr marL="457200" lvl="0" indent="0" algn="l" rtl="0">
              <a:lnSpc>
                <a:spcPct val="115000"/>
              </a:lnSpc>
              <a:spcBef>
                <a:spcPts val="3600"/>
              </a:spcBef>
              <a:spcAft>
                <a:spcPts val="0"/>
              </a:spcAft>
              <a:buNone/>
            </a:pPr>
            <a:endParaRPr sz="1400">
              <a:latin typeface="Calibri"/>
              <a:ea typeface="Calibri"/>
              <a:cs typeface="Calibri"/>
              <a:sym typeface="Calibri"/>
            </a:endParaRPr>
          </a:p>
          <a:p>
            <a:pPr marL="0" lvl="0" indent="0" algn="l" rtl="0">
              <a:spcBef>
                <a:spcPts val="1500"/>
              </a:spcBef>
              <a:spcAft>
                <a:spcPts val="0"/>
              </a:spcAft>
              <a:buNone/>
            </a:pPr>
            <a:endParaRPr sz="1400">
              <a:latin typeface="Calibri"/>
              <a:ea typeface="Calibri"/>
              <a:cs typeface="Calibri"/>
              <a:sym typeface="Calibri"/>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15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957" name="Google Shape;957;p15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marR="0" lvl="0" indent="-317500" algn="l" rtl="0">
              <a:lnSpc>
                <a:spcPct val="115000"/>
              </a:lnSpc>
              <a:spcBef>
                <a:spcPts val="800"/>
              </a:spcBef>
              <a:spcAft>
                <a:spcPts val="0"/>
              </a:spcAft>
              <a:buSzPts val="1400"/>
              <a:buFont typeface="Calibri"/>
              <a:buChar char="•"/>
            </a:pPr>
            <a:r>
              <a:rPr lang="en" sz="1400" b="1">
                <a:latin typeface="Calibri"/>
                <a:ea typeface="Calibri"/>
                <a:cs typeface="Calibri"/>
                <a:sym typeface="Calibri"/>
              </a:rPr>
              <a:t>Constructors</a:t>
            </a:r>
            <a:r>
              <a:rPr lang="en" sz="1400">
                <a:latin typeface="Calibri"/>
                <a:ea typeface="Calibri"/>
                <a:cs typeface="Calibri"/>
                <a:sym typeface="Calibri"/>
              </a:rPr>
              <a:t>: Constructors declared in different parts of a partial class must have different signatures. You cannot have multiple constructors with the same signature, even if they are in separate partial files. </a:t>
            </a:r>
            <a:endParaRPr sz="1400">
              <a:latin typeface="Calibri"/>
              <a:ea typeface="Calibri"/>
              <a:cs typeface="Calibri"/>
              <a:sym typeface="Calibri"/>
            </a:endParaRPr>
          </a:p>
          <a:p>
            <a:pPr marL="457200" marR="0" lvl="0" indent="-317500" algn="l" rtl="0">
              <a:lnSpc>
                <a:spcPct val="115000"/>
              </a:lnSpc>
              <a:spcBef>
                <a:spcPts val="0"/>
              </a:spcBef>
              <a:spcAft>
                <a:spcPts val="0"/>
              </a:spcAft>
              <a:buSzPts val="1400"/>
              <a:buFont typeface="Calibri"/>
              <a:buChar char="•"/>
            </a:pPr>
            <a:r>
              <a:rPr lang="en" sz="1400" b="1">
                <a:latin typeface="Calibri"/>
                <a:ea typeface="Calibri"/>
                <a:cs typeface="Calibri"/>
                <a:sym typeface="Calibri"/>
              </a:rPr>
              <a:t>Members</a:t>
            </a:r>
            <a:r>
              <a:rPr lang="en" sz="1400">
                <a:latin typeface="Calibri"/>
                <a:ea typeface="Calibri"/>
                <a:cs typeface="Calibri"/>
                <a:sym typeface="Calibri"/>
              </a:rPr>
              <a:t>: Members (fields, properties, methods, events) declared in any part of a partial type are available to all other parts of that type.</a:t>
            </a:r>
            <a:endParaRPr sz="1400">
              <a:latin typeface="Calibri"/>
              <a:ea typeface="Calibri"/>
              <a:cs typeface="Calibri"/>
              <a:sym typeface="Calibri"/>
            </a:endParaRPr>
          </a:p>
          <a:p>
            <a:pPr marL="457200" marR="0" lvl="0" indent="-317500" algn="l" rtl="0">
              <a:lnSpc>
                <a:spcPct val="115000"/>
              </a:lnSpc>
              <a:spcBef>
                <a:spcPts val="0"/>
              </a:spcBef>
              <a:spcAft>
                <a:spcPts val="0"/>
              </a:spcAft>
              <a:buSzPts val="1400"/>
              <a:buFont typeface="Calibri"/>
              <a:buChar char="•"/>
            </a:pPr>
            <a:r>
              <a:rPr lang="en" sz="1400" b="1">
                <a:latin typeface="Calibri"/>
                <a:ea typeface="Calibri"/>
                <a:cs typeface="Calibri"/>
                <a:sym typeface="Calibri"/>
              </a:rPr>
              <a:t>Partial Methods</a:t>
            </a:r>
            <a:r>
              <a:rPr lang="en" sz="1400">
                <a:latin typeface="Calibri"/>
                <a:ea typeface="Calibri"/>
                <a:cs typeface="Calibri"/>
                <a:sym typeface="Calibri"/>
              </a:rPr>
              <a:t>: Partial classes can contain partial methods, which consist of a signature declaration in one part and an optional implementation in another part. Both the declaration and implementation must use the partial keyword. If no implementation is provided, the method and its calls are removed during compilation.</a:t>
            </a:r>
            <a:r>
              <a:rPr lang="en" sz="1200">
                <a:solidFill>
                  <a:srgbClr val="EEF0FF"/>
                </a:solidFill>
                <a:highlight>
                  <a:srgbClr val="292929"/>
                </a:highlight>
                <a:latin typeface="Arial"/>
                <a:ea typeface="Arial"/>
                <a:cs typeface="Arial"/>
                <a:sym typeface="Arial"/>
              </a:rPr>
              <a:t> </a:t>
            </a:r>
            <a:endParaRPr sz="1200">
              <a:solidFill>
                <a:srgbClr val="EEF0FF"/>
              </a:solidFill>
              <a:highlight>
                <a:srgbClr val="292929"/>
              </a:highlight>
              <a:latin typeface="Arial"/>
              <a:ea typeface="Arial"/>
              <a:cs typeface="Arial"/>
              <a:sym typeface="Arial"/>
            </a:endParaRPr>
          </a:p>
          <a:p>
            <a:pPr marL="457200" marR="0" lvl="0" indent="0" algn="l" rtl="0">
              <a:lnSpc>
                <a:spcPct val="115000"/>
              </a:lnSpc>
              <a:spcBef>
                <a:spcPts val="1500"/>
              </a:spcBef>
              <a:spcAft>
                <a:spcPts val="0"/>
              </a:spcAft>
              <a:buNone/>
            </a:pPr>
            <a:endParaRPr sz="1400">
              <a:latin typeface="Calibri"/>
              <a:ea typeface="Calibri"/>
              <a:cs typeface="Calibri"/>
              <a:sym typeface="Calibri"/>
            </a:endParaRPr>
          </a:p>
          <a:p>
            <a:pPr marL="0" lvl="0" indent="0" algn="l" rtl="0">
              <a:spcBef>
                <a:spcPts val="1500"/>
              </a:spcBef>
              <a:spcAft>
                <a:spcPts val="0"/>
              </a:spcAft>
              <a:buNone/>
            </a:pP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5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PARTIAL METHOD</a:t>
            </a:r>
            <a:endParaRPr/>
          </a:p>
        </p:txBody>
      </p:sp>
      <p:sp>
        <p:nvSpPr>
          <p:cNvPr id="963" name="Google Shape;963;p15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 A partial method is a special kind of method that can be declared inside a partial class or partial struct. It allows you to define a method signature in one part of the class and optionally implement it in another part.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If no implementation is provided, the compiler removes the declaration at compile time, meaning no extra overhead is added. This makes partial methods useful in scenarios where a method might or might not be required, especially in code generation.</a:t>
            </a:r>
            <a:endParaRPr sz="1400">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15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POINTS</a:t>
            </a:r>
            <a:endParaRPr/>
          </a:p>
        </p:txBody>
      </p:sp>
      <p:sp>
        <p:nvSpPr>
          <p:cNvPr id="969" name="Google Shape;969;p15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Declared with the partial keyword.</a:t>
            </a:r>
            <a:endParaRPr>
              <a:latin typeface="Calibri"/>
              <a:ea typeface="Calibri"/>
              <a:cs typeface="Calibri"/>
              <a:sym typeface="Calibri"/>
            </a:endParaRPr>
          </a:p>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Must exist inside a partial class or partial struct.</a:t>
            </a:r>
            <a:endParaRPr>
              <a:latin typeface="Calibri"/>
              <a:ea typeface="Calibri"/>
              <a:cs typeface="Calibri"/>
              <a:sym typeface="Calibri"/>
            </a:endParaRPr>
          </a:p>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Can have a declaration (signature) and an optional implementation.</a:t>
            </a:r>
            <a:endParaRPr>
              <a:latin typeface="Calibri"/>
              <a:ea typeface="Calibri"/>
              <a:cs typeface="Calibri"/>
              <a:sym typeface="Calibri"/>
            </a:endParaRPr>
          </a:p>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If no implementation is provided, the compiler removes the declaration.</a:t>
            </a:r>
            <a:endParaRPr>
              <a:latin typeface="Calibri"/>
              <a:ea typeface="Calibri"/>
              <a:cs typeface="Calibri"/>
              <a:sym typeface="Calibri"/>
            </a:endParaRPr>
          </a:p>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Must return void (cannot have a return type other than void).</a:t>
            </a:r>
            <a:endParaRPr>
              <a:latin typeface="Calibri"/>
              <a:ea typeface="Calibri"/>
              <a:cs typeface="Calibri"/>
              <a:sym typeface="Calibri"/>
            </a:endParaRPr>
          </a:p>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Cannot have access modifiers (public, private, etc.).</a:t>
            </a:r>
            <a:endParaRPr>
              <a:latin typeface="Calibri"/>
              <a:ea typeface="Calibri"/>
              <a:cs typeface="Calibri"/>
              <a:sym typeface="Calibri"/>
            </a:endParaRPr>
          </a:p>
          <a:p>
            <a:pPr marL="914400" lvl="1" indent="-323850" algn="l" rtl="0">
              <a:lnSpc>
                <a:spcPct val="158000"/>
              </a:lnSpc>
              <a:spcBef>
                <a:spcPts val="0"/>
              </a:spcBef>
              <a:spcAft>
                <a:spcPts val="0"/>
              </a:spcAft>
              <a:buSzPts val="1500"/>
              <a:buFont typeface="Calibri"/>
              <a:buChar char="•"/>
            </a:pPr>
            <a:r>
              <a:rPr lang="en">
                <a:latin typeface="Calibri"/>
                <a:ea typeface="Calibri"/>
                <a:cs typeface="Calibri"/>
                <a:sym typeface="Calibri"/>
              </a:rPr>
              <a:t>Can be static (in C# 9.0 and later) but cannot be virtual, abstract, override, extern or async.</a:t>
            </a:r>
            <a:endParaRPr>
              <a:latin typeface="Calibri"/>
              <a:ea typeface="Calibri"/>
              <a:cs typeface="Calibri"/>
              <a:sym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16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RULES OF PARTIAL METHOD</a:t>
            </a:r>
            <a:endParaRPr/>
          </a:p>
        </p:txBody>
      </p:sp>
      <p:sp>
        <p:nvSpPr>
          <p:cNvPr id="975" name="Google Shape;975;p16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lnSpcReduction="10000"/>
          </a:bodyPr>
          <a:lstStyle/>
          <a:p>
            <a:pPr marL="457200" lvl="0" indent="-323850" algn="l" rtl="0">
              <a:lnSpc>
                <a:spcPct val="115000"/>
              </a:lnSpc>
              <a:spcBef>
                <a:spcPts val="800"/>
              </a:spcBef>
              <a:spcAft>
                <a:spcPts val="0"/>
              </a:spcAft>
              <a:buClr>
                <a:schemeClr val="lt1"/>
              </a:buClr>
              <a:buSzPts val="1500"/>
              <a:buChar char="●"/>
            </a:pPr>
            <a:r>
              <a:rPr lang="en" sz="1500" b="1">
                <a:latin typeface="Calibri"/>
                <a:ea typeface="Calibri"/>
                <a:cs typeface="Calibri"/>
                <a:sym typeface="Calibri"/>
              </a:rPr>
              <a:t>Partial Type Requirement:</a:t>
            </a:r>
            <a:r>
              <a:rPr lang="en" sz="1500">
                <a:latin typeface="Calibri"/>
                <a:ea typeface="Calibri"/>
                <a:cs typeface="Calibri"/>
                <a:sym typeface="Calibri"/>
              </a:rPr>
              <a:t> Partial methods can only be declared within a partial class or partial struct.</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partial Keyword</a:t>
            </a:r>
            <a:r>
              <a:rPr lang="en" sz="1500">
                <a:latin typeface="Calibri"/>
                <a:ea typeface="Calibri"/>
                <a:cs typeface="Calibri"/>
                <a:sym typeface="Calibri"/>
              </a:rPr>
              <a:t>: The method declaration must begin with the partial keyword.</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Signature Matching:</a:t>
            </a:r>
            <a:r>
              <a:rPr lang="en" sz="1500">
                <a:latin typeface="Calibri"/>
                <a:ea typeface="Calibri"/>
                <a:cs typeface="Calibri"/>
                <a:sym typeface="Calibri"/>
              </a:rPr>
              <a:t> The signature (name, parameters, and generic type parameters) of the partial method must be identical in both the declaration and any optional implementation.</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Return Type:</a:t>
            </a:r>
            <a:r>
              <a:rPr lang="en" sz="1500">
                <a:latin typeface="Calibri"/>
                <a:ea typeface="Calibri"/>
                <a:cs typeface="Calibri"/>
                <a:sym typeface="Calibri"/>
              </a:rPr>
              <a:t> Partial methods must have a void return type. They cannot return any other value.</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Access Modifiers:</a:t>
            </a:r>
            <a:r>
              <a:rPr lang="en" sz="1500">
                <a:latin typeface="Calibri"/>
                <a:ea typeface="Calibri"/>
                <a:cs typeface="Calibri"/>
                <a:sym typeface="Calibri"/>
              </a:rPr>
              <a:t> Partial methods are implicitly private by default and cannot have explicit access modifiers (e.g., public, protected, internal).</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No Implementation Required:</a:t>
            </a:r>
            <a:r>
              <a:rPr lang="en" sz="1500">
                <a:latin typeface="Calibri"/>
                <a:ea typeface="Calibri"/>
                <a:cs typeface="Calibri"/>
                <a:sym typeface="Calibri"/>
              </a:rPr>
              <a:t> An implementation for a partial method is optional. If no implementation is provided in any part of the partial type, the compiler will remove the declaration and any calls to the method during compilation.</a:t>
            </a:r>
            <a:endParaRPr sz="1500">
              <a:latin typeface="Calibri"/>
              <a:ea typeface="Calibri"/>
              <a:cs typeface="Calibri"/>
              <a:sym typeface="Calibri"/>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161"/>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r" rtl="0">
              <a:spcBef>
                <a:spcPts val="0"/>
              </a:spcBef>
              <a:spcAft>
                <a:spcPts val="0"/>
              </a:spcAft>
              <a:buNone/>
            </a:pPr>
            <a:r>
              <a:rPr lang="en"/>
              <a:t>STATIC MEMBER</a:t>
            </a:r>
            <a:endParaRPr/>
          </a:p>
        </p:txBody>
      </p:sp>
      <p:sp>
        <p:nvSpPr>
          <p:cNvPr id="981" name="Google Shape;981;p161"/>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16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STATIC MEMBER</a:t>
            </a:r>
            <a:endParaRPr/>
          </a:p>
        </p:txBody>
      </p:sp>
      <p:sp>
        <p:nvSpPr>
          <p:cNvPr id="987" name="Google Shape;987;p16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The static keyword in C# is used to declare members that belong to the type itself rather than to a specific object. </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It means the member can be accessed without creating an instance of the class. The static keyword can be applied to variables, methods, constructors, classes and other members.</a:t>
            </a:r>
            <a:endParaRPr sz="1500">
              <a:latin typeface="Calibri"/>
              <a:ea typeface="Calibri"/>
              <a:cs typeface="Calibri"/>
              <a:sym typeface="Calibri"/>
            </a:endParaRPr>
          </a:p>
          <a:p>
            <a:pPr marL="0" lvl="0" indent="0" algn="l" rtl="0">
              <a:spcBef>
                <a:spcPts val="800"/>
              </a:spcBef>
              <a:spcAft>
                <a:spcPts val="0"/>
              </a:spcAft>
              <a:buNone/>
            </a:pPr>
            <a:endParaRPr sz="1500">
              <a:latin typeface="Calibri"/>
              <a:ea typeface="Calibri"/>
              <a:cs typeface="Calibri"/>
              <a:sym typeface="Calibri"/>
            </a:endParaRPr>
          </a:p>
          <a:p>
            <a:pPr marL="0" lvl="0" indent="0" algn="l" rtl="0">
              <a:spcBef>
                <a:spcPts val="800"/>
              </a:spcBef>
              <a:spcAft>
                <a:spcPts val="0"/>
              </a:spcAft>
              <a:buNone/>
            </a:pPr>
            <a:endParaRPr sz="1500">
              <a:latin typeface="Calibri"/>
              <a:ea typeface="Calibri"/>
              <a:cs typeface="Calibri"/>
              <a:sym typeface="Calibri"/>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16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1600">
                <a:latin typeface="Calibri"/>
                <a:ea typeface="Calibri"/>
                <a:cs typeface="Calibri"/>
                <a:sym typeface="Calibri"/>
              </a:rPr>
              <a:t>KEY CHARACTERISTICS OF STATIC MEMBERS</a:t>
            </a:r>
            <a:endParaRPr sz="1600">
              <a:latin typeface="Calibri"/>
              <a:ea typeface="Calibri"/>
              <a:cs typeface="Calibri"/>
              <a:sym typeface="Calibri"/>
            </a:endParaRPr>
          </a:p>
        </p:txBody>
      </p:sp>
      <p:sp>
        <p:nvSpPr>
          <p:cNvPr id="993" name="Google Shape;993;p16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lnSpc>
                <a:spcPct val="115000"/>
              </a:lnSpc>
              <a:spcBef>
                <a:spcPts val="800"/>
              </a:spcBef>
              <a:spcAft>
                <a:spcPts val="0"/>
              </a:spcAft>
              <a:buClr>
                <a:schemeClr val="lt1"/>
              </a:buClr>
              <a:buSzPts val="1500"/>
              <a:buChar char="●"/>
            </a:pPr>
            <a:r>
              <a:rPr lang="en" sz="1500" b="1">
                <a:latin typeface="Calibri"/>
                <a:ea typeface="Calibri"/>
                <a:cs typeface="Calibri"/>
                <a:sym typeface="Calibri"/>
              </a:rPr>
              <a:t>Shared across objects:</a:t>
            </a:r>
            <a:r>
              <a:rPr lang="en" sz="1500">
                <a:latin typeface="Calibri"/>
                <a:ea typeface="Calibri"/>
                <a:cs typeface="Calibri"/>
                <a:sym typeface="Calibri"/>
              </a:rPr>
              <a:t> All instances of a class share the same copy of a static member. For example, a static field will have only one value for all objects of that class.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Accessed without objects:</a:t>
            </a:r>
            <a:r>
              <a:rPr lang="en" sz="1500">
                <a:latin typeface="Calibri"/>
                <a:ea typeface="Calibri"/>
                <a:cs typeface="Calibri"/>
                <a:sym typeface="Calibri"/>
              </a:rPr>
              <a:t> Static members are accessed directly using the class name, without needing to create an instance of the class.</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Memory allocation:</a:t>
            </a:r>
            <a:r>
              <a:rPr lang="en" sz="1500">
                <a:latin typeface="Calibri"/>
                <a:ea typeface="Calibri"/>
                <a:cs typeface="Calibri"/>
                <a:sym typeface="Calibri"/>
              </a:rPr>
              <a:t> Memory for static members is allocated only once when the class is loaded into memory, not when objects are created.</a:t>
            </a:r>
            <a:endParaRPr sz="1500">
              <a:latin typeface="Calibri"/>
              <a:ea typeface="Calibri"/>
              <a:cs typeface="Calibri"/>
              <a:sym typeface="Calibri"/>
            </a:endParaRPr>
          </a:p>
          <a:p>
            <a:pPr marL="457200" lvl="0" indent="-323850" algn="l" rtl="0">
              <a:lnSpc>
                <a:spcPct val="115000"/>
              </a:lnSpc>
              <a:spcBef>
                <a:spcPts val="0"/>
              </a:spcBef>
              <a:spcAft>
                <a:spcPts val="0"/>
              </a:spcAft>
              <a:buClr>
                <a:schemeClr val="lt1"/>
              </a:buClr>
              <a:buSzPts val="1500"/>
              <a:buChar char="●"/>
            </a:pPr>
            <a:r>
              <a:rPr lang="en" sz="1500" b="1">
                <a:latin typeface="Calibri"/>
                <a:ea typeface="Calibri"/>
                <a:cs typeface="Calibri"/>
                <a:sym typeface="Calibri"/>
              </a:rPr>
              <a:t>Restrictions:</a:t>
            </a:r>
            <a:r>
              <a:rPr lang="en" sz="1500">
                <a:latin typeface="Calibri"/>
                <a:ea typeface="Calibri"/>
                <a:cs typeface="Calibri"/>
                <a:sym typeface="Calibri"/>
              </a:rPr>
              <a:t> Static methods can only access other static members (fields, properties, or methods) within the same class directly. They cannot access non-static (instance) members without an explicit instance of the class.</a:t>
            </a:r>
            <a:endParaRPr sz="1500">
              <a:latin typeface="Calibri"/>
              <a:ea typeface="Calibri"/>
              <a:cs typeface="Calibri"/>
              <a:sym typeface="Calibri"/>
            </a:endParaRPr>
          </a:p>
          <a:p>
            <a:pPr marL="0" lvl="0" indent="0" algn="l" rtl="0">
              <a:spcBef>
                <a:spcPts val="1500"/>
              </a:spcBef>
              <a:spcAft>
                <a:spcPts val="0"/>
              </a:spcAft>
              <a:buNone/>
            </a:pPr>
            <a:endParaRPr sz="1500">
              <a:latin typeface="Calibri"/>
              <a:ea typeface="Calibri"/>
              <a:cs typeface="Calibri"/>
              <a:sym typeface="Calibri"/>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p16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TYPES OF STATIC MEMBERS</a:t>
            </a:r>
            <a:endParaRPr/>
          </a:p>
        </p:txBody>
      </p:sp>
      <p:sp>
        <p:nvSpPr>
          <p:cNvPr id="999" name="Google Shape;999;p16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b="1">
                <a:latin typeface="Calibri"/>
                <a:ea typeface="Calibri"/>
                <a:cs typeface="Calibri"/>
                <a:sym typeface="Calibri"/>
              </a:rPr>
              <a:t>STATIC FIELD:</a:t>
            </a:r>
            <a:r>
              <a:rPr lang="en" b="1"/>
              <a:t> </a:t>
            </a:r>
            <a:endParaRPr b="1"/>
          </a:p>
          <a:p>
            <a:pPr marL="457200" lvl="0" indent="-327025" algn="l" rtl="0">
              <a:spcBef>
                <a:spcPts val="800"/>
              </a:spcBef>
              <a:spcAft>
                <a:spcPts val="0"/>
              </a:spcAft>
              <a:buSzPts val="1550"/>
              <a:buFont typeface="Calibri"/>
              <a:buChar char="•"/>
            </a:pPr>
            <a:r>
              <a:rPr lang="en" sz="1550">
                <a:latin typeface="Calibri"/>
                <a:ea typeface="Calibri"/>
                <a:cs typeface="Calibri"/>
                <a:sym typeface="Calibri"/>
              </a:rPr>
              <a:t>A static field is created only once for the class and all objects share the same copy. It is often used for counters or values that must remain consistent across instances.</a:t>
            </a:r>
            <a:endParaRPr sz="1550">
              <a:latin typeface="Calibri"/>
              <a:ea typeface="Calibri"/>
              <a:cs typeface="Calibri"/>
              <a:sym typeface="Calibri"/>
            </a:endParaRPr>
          </a:p>
          <a:p>
            <a:pPr marL="0" lvl="0" indent="0" algn="l" rtl="0">
              <a:spcBef>
                <a:spcPts val="800"/>
              </a:spcBef>
              <a:spcAft>
                <a:spcPts val="0"/>
              </a:spcAft>
              <a:buNone/>
            </a:pPr>
            <a:r>
              <a:rPr lang="en" b="1">
                <a:latin typeface="Calibri"/>
                <a:ea typeface="Calibri"/>
                <a:cs typeface="Calibri"/>
                <a:sym typeface="Calibri"/>
              </a:rPr>
              <a:t>STATIC METHODS:</a:t>
            </a:r>
            <a:endParaRPr sz="1550">
              <a:latin typeface="Calibri"/>
              <a:ea typeface="Calibri"/>
              <a:cs typeface="Calibri"/>
              <a:sym typeface="Calibri"/>
            </a:endParaRPr>
          </a:p>
          <a:p>
            <a:pPr marL="457200" lvl="0" indent="-317500" algn="l" rtl="0">
              <a:spcBef>
                <a:spcPts val="800"/>
              </a:spcBef>
              <a:spcAft>
                <a:spcPts val="0"/>
              </a:spcAft>
              <a:buSzPts val="1400"/>
              <a:buChar char="•"/>
            </a:pPr>
            <a:r>
              <a:rPr lang="en" sz="1550">
                <a:latin typeface="Calibri"/>
                <a:ea typeface="Calibri"/>
                <a:cs typeface="Calibri"/>
                <a:sym typeface="Calibri"/>
              </a:rPr>
              <a:t> They perform operations on static fields or provide utility functions that don't require an object's state. They cannot access instance members directly.</a:t>
            </a:r>
            <a:endParaRPr sz="1350">
              <a:solidFill>
                <a:srgbClr val="FFFFFF"/>
              </a:solidFill>
              <a:highlight>
                <a:srgbClr val="131417"/>
              </a:highlight>
              <a:latin typeface="Nunito"/>
              <a:ea typeface="Nunito"/>
              <a:cs typeface="Nunito"/>
              <a:sym typeface="Nunito"/>
            </a:endParaRPr>
          </a:p>
          <a:p>
            <a:pPr marL="0" marR="0" lvl="0" indent="0" algn="l" rtl="0">
              <a:lnSpc>
                <a:spcPct val="90000"/>
              </a:lnSpc>
              <a:spcBef>
                <a:spcPts val="800"/>
              </a:spcBef>
              <a:spcAft>
                <a:spcPts val="0"/>
              </a:spcAft>
              <a:buNone/>
            </a:pPr>
            <a:r>
              <a:rPr lang="en" b="1">
                <a:latin typeface="Calibri"/>
                <a:ea typeface="Calibri"/>
                <a:cs typeface="Calibri"/>
                <a:sym typeface="Calibri"/>
              </a:rPr>
              <a:t>Static Constructors:</a:t>
            </a:r>
            <a:endParaRPr sz="1550">
              <a:latin typeface="Calibri"/>
              <a:ea typeface="Calibri"/>
              <a:cs typeface="Calibri"/>
              <a:sym typeface="Calibri"/>
            </a:endParaRPr>
          </a:p>
          <a:p>
            <a:pPr marL="457200" marR="0" lvl="0" indent="-327025" algn="l" rtl="0">
              <a:lnSpc>
                <a:spcPct val="90000"/>
              </a:lnSpc>
              <a:spcBef>
                <a:spcPts val="800"/>
              </a:spcBef>
              <a:spcAft>
                <a:spcPts val="0"/>
              </a:spcAft>
              <a:buSzPts val="1550"/>
              <a:buFont typeface="Calibri"/>
              <a:buChar char="•"/>
            </a:pPr>
            <a:r>
              <a:rPr lang="en" sz="1550">
                <a:latin typeface="Calibri"/>
                <a:ea typeface="Calibri"/>
                <a:cs typeface="Calibri"/>
                <a:sym typeface="Calibri"/>
              </a:rPr>
              <a:t>Static constructors are used to initialize static fields. They execute only once, before the class is used for the first time.</a:t>
            </a:r>
            <a:endParaRPr sz="1350">
              <a:solidFill>
                <a:srgbClr val="FFFFFF"/>
              </a:solidFill>
              <a:highlight>
                <a:srgbClr val="131417"/>
              </a:highlight>
              <a:latin typeface="Nunito"/>
              <a:ea typeface="Nunito"/>
              <a:cs typeface="Nunito"/>
              <a:sym typeface="Nunito"/>
            </a:endParaRPr>
          </a:p>
          <a:p>
            <a:pPr marL="0" lvl="0" indent="0" algn="l" rtl="0">
              <a:spcBef>
                <a:spcPts val="800"/>
              </a:spcBef>
              <a:spcAft>
                <a:spcPts val="0"/>
              </a:spcAft>
              <a:buNone/>
            </a:pPr>
            <a:endParaRPr sz="1350">
              <a:solidFill>
                <a:srgbClr val="FFFFFF"/>
              </a:solidFill>
              <a:highlight>
                <a:srgbClr val="131417"/>
              </a:highlight>
              <a:latin typeface="Nunito"/>
              <a:ea typeface="Nunito"/>
              <a:cs typeface="Nunito"/>
              <a:sym typeface="Nunito"/>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16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005" name="Google Shape;1005;p16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b="1">
                <a:latin typeface="Calibri"/>
                <a:ea typeface="Calibri"/>
                <a:cs typeface="Calibri"/>
                <a:sym typeface="Calibri"/>
              </a:rPr>
              <a:t>STATIC CLASS:</a:t>
            </a:r>
            <a:endParaRPr b="1">
              <a:latin typeface="Calibri"/>
              <a:ea typeface="Calibri"/>
              <a:cs typeface="Calibri"/>
              <a:sym typeface="Calibri"/>
            </a:endParaRPr>
          </a:p>
          <a:p>
            <a:pPr marL="457200" lvl="0" indent="-330200" algn="l" rtl="0">
              <a:spcBef>
                <a:spcPts val="800"/>
              </a:spcBef>
              <a:spcAft>
                <a:spcPts val="0"/>
              </a:spcAft>
              <a:buSzPts val="1600"/>
              <a:buFont typeface="Calibri"/>
              <a:buChar char="•"/>
            </a:pPr>
            <a:r>
              <a:rPr lang="en" sz="1600">
                <a:latin typeface="Calibri"/>
                <a:ea typeface="Calibri"/>
                <a:cs typeface="Calibri"/>
                <a:sym typeface="Calibri"/>
              </a:rPr>
              <a:t>A static class is a class declared using the static keyword. It can contain only static members such as fields, methods, properties and events. A static class cannot be instantiated or inherited and all its members are accessed through the class name.</a:t>
            </a:r>
            <a:endParaRPr sz="1600">
              <a:latin typeface="Calibri"/>
              <a:ea typeface="Calibri"/>
              <a:cs typeface="Calibri"/>
              <a:sym typeface="Calibri"/>
            </a:endParaRPr>
          </a:p>
          <a:p>
            <a:pPr marL="457200" marR="0" lvl="0" indent="-330200" algn="l" rtl="0">
              <a:lnSpc>
                <a:spcPct val="90000"/>
              </a:lnSpc>
              <a:spcBef>
                <a:spcPts val="0"/>
              </a:spcBef>
              <a:spcAft>
                <a:spcPts val="0"/>
              </a:spcAft>
              <a:buSzPts val="1600"/>
              <a:buFont typeface="Calibri"/>
              <a:buChar char="•"/>
            </a:pPr>
            <a:r>
              <a:rPr lang="en" sz="1600">
                <a:latin typeface="Calibri"/>
                <a:ea typeface="Calibri"/>
                <a:cs typeface="Calibri"/>
                <a:sym typeface="Calibri"/>
              </a:rPr>
              <a:t>Static classes are commonly used to group utility or helper methods that do not depend on object state.</a:t>
            </a:r>
            <a:endParaRPr sz="1600">
              <a:latin typeface="Calibri"/>
              <a:ea typeface="Calibri"/>
              <a:cs typeface="Calibri"/>
              <a:sym typeface="Calibri"/>
            </a:endParaRPr>
          </a:p>
          <a:p>
            <a:pPr marL="457200" lvl="0" indent="0" algn="l" rtl="0">
              <a:lnSpc>
                <a:spcPct val="115000"/>
              </a:lnSpc>
              <a:spcBef>
                <a:spcPts val="0"/>
              </a:spcBef>
              <a:spcAft>
                <a:spcPts val="0"/>
              </a:spcAft>
              <a:buNone/>
            </a:pPr>
            <a:endParaRPr sz="1500">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16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011" name="Google Shape;1011;p16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95000"/>
              </a:lnSpc>
              <a:spcBef>
                <a:spcPts val="1800"/>
              </a:spcBef>
              <a:spcAft>
                <a:spcPts val="0"/>
              </a:spcAft>
              <a:buClr>
                <a:schemeClr val="dk1"/>
              </a:buClr>
              <a:buSzPts val="770"/>
              <a:buFont typeface="Arial"/>
              <a:buNone/>
            </a:pPr>
            <a:r>
              <a:rPr lang="en" sz="1609" b="1">
                <a:latin typeface="Calibri"/>
                <a:ea typeface="Calibri"/>
                <a:cs typeface="Calibri"/>
                <a:sym typeface="Calibri"/>
              </a:rPr>
              <a:t>Key Points</a:t>
            </a:r>
            <a:endParaRPr sz="1609" b="1">
              <a:latin typeface="Calibri"/>
              <a:ea typeface="Calibri"/>
              <a:cs typeface="Calibri"/>
              <a:sym typeface="Calibri"/>
            </a:endParaRPr>
          </a:p>
          <a:p>
            <a:pPr marL="685800" lvl="0" indent="-330818" algn="l" rtl="0">
              <a:lnSpc>
                <a:spcPct val="138000"/>
              </a:lnSpc>
              <a:spcBef>
                <a:spcPts val="1800"/>
              </a:spcBef>
              <a:spcAft>
                <a:spcPts val="0"/>
              </a:spcAft>
              <a:buClr>
                <a:schemeClr val="lt1"/>
              </a:buClr>
              <a:buSzPts val="1610"/>
              <a:buFont typeface="Calibri"/>
              <a:buChar char="●"/>
            </a:pPr>
            <a:r>
              <a:rPr lang="en" sz="1609">
                <a:latin typeface="Calibri"/>
                <a:ea typeface="Calibri"/>
                <a:cs typeface="Calibri"/>
                <a:sym typeface="Calibri"/>
              </a:rPr>
              <a:t>A static class is declared using the static keyword.</a:t>
            </a:r>
            <a:endParaRPr sz="1609">
              <a:latin typeface="Calibri"/>
              <a:ea typeface="Calibri"/>
              <a:cs typeface="Calibri"/>
              <a:sym typeface="Calibri"/>
            </a:endParaRPr>
          </a:p>
          <a:p>
            <a:pPr marL="685800" lvl="0" indent="-330818" algn="l" rtl="0">
              <a:lnSpc>
                <a:spcPct val="138000"/>
              </a:lnSpc>
              <a:spcBef>
                <a:spcPts val="0"/>
              </a:spcBef>
              <a:spcAft>
                <a:spcPts val="0"/>
              </a:spcAft>
              <a:buClr>
                <a:schemeClr val="lt1"/>
              </a:buClr>
              <a:buSzPts val="1610"/>
              <a:buFont typeface="Calibri"/>
              <a:buChar char="●"/>
            </a:pPr>
            <a:r>
              <a:rPr lang="en" sz="1609">
                <a:latin typeface="Calibri"/>
                <a:ea typeface="Calibri"/>
                <a:cs typeface="Calibri"/>
                <a:sym typeface="Calibri"/>
              </a:rPr>
              <a:t>All members inside a static class must be static.</a:t>
            </a:r>
            <a:endParaRPr sz="1609">
              <a:latin typeface="Calibri"/>
              <a:ea typeface="Calibri"/>
              <a:cs typeface="Calibri"/>
              <a:sym typeface="Calibri"/>
            </a:endParaRPr>
          </a:p>
          <a:p>
            <a:pPr marL="685800" lvl="0" indent="-330818" algn="l" rtl="0">
              <a:lnSpc>
                <a:spcPct val="138000"/>
              </a:lnSpc>
              <a:spcBef>
                <a:spcPts val="0"/>
              </a:spcBef>
              <a:spcAft>
                <a:spcPts val="0"/>
              </a:spcAft>
              <a:buClr>
                <a:schemeClr val="lt1"/>
              </a:buClr>
              <a:buSzPts val="1610"/>
              <a:buFont typeface="Calibri"/>
              <a:buChar char="●"/>
            </a:pPr>
            <a:r>
              <a:rPr lang="en" sz="1609">
                <a:latin typeface="Calibri"/>
                <a:ea typeface="Calibri"/>
                <a:cs typeface="Calibri"/>
                <a:sym typeface="Calibri"/>
              </a:rPr>
              <a:t>It cannot be instantiated using the new keyword.</a:t>
            </a:r>
            <a:endParaRPr sz="1609">
              <a:latin typeface="Calibri"/>
              <a:ea typeface="Calibri"/>
              <a:cs typeface="Calibri"/>
              <a:sym typeface="Calibri"/>
            </a:endParaRPr>
          </a:p>
          <a:p>
            <a:pPr marL="685800" lvl="0" indent="-330818" algn="l" rtl="0">
              <a:lnSpc>
                <a:spcPct val="138000"/>
              </a:lnSpc>
              <a:spcBef>
                <a:spcPts val="0"/>
              </a:spcBef>
              <a:spcAft>
                <a:spcPts val="0"/>
              </a:spcAft>
              <a:buClr>
                <a:schemeClr val="lt1"/>
              </a:buClr>
              <a:buSzPts val="1610"/>
              <a:buFont typeface="Calibri"/>
              <a:buChar char="●"/>
            </a:pPr>
            <a:r>
              <a:rPr lang="en" sz="1609">
                <a:latin typeface="Calibri"/>
                <a:ea typeface="Calibri"/>
                <a:cs typeface="Calibri"/>
                <a:sym typeface="Calibri"/>
              </a:rPr>
              <a:t>It is implicitly sealed, so it cannot be inherited.</a:t>
            </a:r>
            <a:endParaRPr sz="1609">
              <a:latin typeface="Calibri"/>
              <a:ea typeface="Calibri"/>
              <a:cs typeface="Calibri"/>
              <a:sym typeface="Calibri"/>
            </a:endParaRPr>
          </a:p>
          <a:p>
            <a:pPr marL="685800" lvl="0" indent="-330818" algn="l" rtl="0">
              <a:lnSpc>
                <a:spcPct val="138000"/>
              </a:lnSpc>
              <a:spcBef>
                <a:spcPts val="0"/>
              </a:spcBef>
              <a:spcAft>
                <a:spcPts val="0"/>
              </a:spcAft>
              <a:buClr>
                <a:schemeClr val="lt1"/>
              </a:buClr>
              <a:buSzPts val="1610"/>
              <a:buFont typeface="Calibri"/>
              <a:buChar char="●"/>
            </a:pPr>
            <a:r>
              <a:rPr lang="en" sz="1609">
                <a:latin typeface="Calibri"/>
                <a:ea typeface="Calibri"/>
                <a:cs typeface="Calibri"/>
                <a:sym typeface="Calibri"/>
              </a:rPr>
              <a:t>A static class can only have the public or internal access modifiers (it cannot be private, protected, etc.).</a:t>
            </a:r>
            <a:endParaRPr sz="79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67"/>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t>ARRAY &amp; STRINGS</a:t>
            </a:r>
            <a:endParaRPr/>
          </a:p>
        </p:txBody>
      </p:sp>
      <p:sp>
        <p:nvSpPr>
          <p:cNvPr id="1017" name="Google Shape;1017;p167"/>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6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ARRAY</a:t>
            </a:r>
            <a:endParaRPr/>
          </a:p>
        </p:txBody>
      </p:sp>
      <p:sp>
        <p:nvSpPr>
          <p:cNvPr id="1023" name="Google Shape;1023;p16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30200" algn="l" rtl="0">
              <a:spcBef>
                <a:spcPts val="800"/>
              </a:spcBef>
              <a:spcAft>
                <a:spcPts val="0"/>
              </a:spcAft>
              <a:buSzPts val="1600"/>
              <a:buFont typeface="Arial"/>
              <a:buChar char="•"/>
            </a:pPr>
            <a:r>
              <a:rPr lang="en" sz="1600">
                <a:latin typeface="Calibri"/>
                <a:ea typeface="Calibri"/>
                <a:cs typeface="Calibri"/>
                <a:sym typeface="Calibri"/>
              </a:rPr>
              <a:t>Arrays in C# are collections of elements stored in contiguous memory locations, ensuring quick access and efficient processing. </a:t>
            </a:r>
            <a:endParaRPr sz="1600">
              <a:latin typeface="Calibri"/>
              <a:ea typeface="Calibri"/>
              <a:cs typeface="Calibri"/>
              <a:sym typeface="Calibri"/>
            </a:endParaRPr>
          </a:p>
          <a:p>
            <a:pPr marL="457200" lvl="0" indent="-330200" algn="l" rtl="0">
              <a:spcBef>
                <a:spcPts val="0"/>
              </a:spcBef>
              <a:spcAft>
                <a:spcPts val="0"/>
              </a:spcAft>
              <a:buSzPts val="1600"/>
              <a:buFont typeface="Arial"/>
              <a:buChar char="•"/>
            </a:pPr>
            <a:r>
              <a:rPr lang="en" sz="1600">
                <a:latin typeface="Calibri"/>
                <a:ea typeface="Calibri"/>
                <a:cs typeface="Calibri"/>
                <a:sym typeface="Calibri"/>
              </a:rPr>
              <a:t>Each element shares the same data type, providing </a:t>
            </a:r>
            <a:r>
              <a:rPr lang="en" sz="1600" b="1">
                <a:latin typeface="Calibri"/>
                <a:ea typeface="Calibri"/>
                <a:cs typeface="Calibri"/>
                <a:sym typeface="Calibri"/>
              </a:rPr>
              <a:t>type safety</a:t>
            </a:r>
            <a:r>
              <a:rPr lang="en" sz="1600">
                <a:latin typeface="Calibri"/>
                <a:ea typeface="Calibri"/>
                <a:cs typeface="Calibri"/>
                <a:sym typeface="Calibri"/>
              </a:rPr>
              <a:t> and consistent behavior. </a:t>
            </a:r>
            <a:endParaRPr sz="1600">
              <a:latin typeface="Calibri"/>
              <a:ea typeface="Calibri"/>
              <a:cs typeface="Calibri"/>
              <a:sym typeface="Calibri"/>
            </a:endParaRPr>
          </a:p>
          <a:p>
            <a:pPr marL="457200" lvl="0" indent="-330200" algn="l" rtl="0">
              <a:spcBef>
                <a:spcPts val="0"/>
              </a:spcBef>
              <a:spcAft>
                <a:spcPts val="0"/>
              </a:spcAft>
              <a:buSzPts val="1600"/>
              <a:buFont typeface="Arial"/>
              <a:buChar char="•"/>
            </a:pPr>
            <a:r>
              <a:rPr lang="en" sz="1600">
                <a:latin typeface="Calibri"/>
                <a:ea typeface="Calibri"/>
                <a:cs typeface="Calibri"/>
                <a:sym typeface="Calibri"/>
              </a:rPr>
              <a:t>The size of an array is fixed when it is declared and cannot be changed dynamically, making arrays ideal for managing collections with a known, unchanging number of items. </a:t>
            </a:r>
            <a:endParaRPr sz="1600">
              <a:latin typeface="Calibri"/>
              <a:ea typeface="Calibri"/>
              <a:cs typeface="Calibri"/>
              <a:sym typeface="Calibri"/>
            </a:endParaRPr>
          </a:p>
          <a:p>
            <a:pPr marL="457200" lvl="0" indent="-330200" algn="l" rtl="0">
              <a:spcBef>
                <a:spcPts val="0"/>
              </a:spcBef>
              <a:spcAft>
                <a:spcPts val="0"/>
              </a:spcAft>
              <a:buSzPts val="1600"/>
              <a:buFont typeface="Arial"/>
              <a:buChar char="•"/>
            </a:pPr>
            <a:r>
              <a:rPr lang="en" sz="1600">
                <a:latin typeface="Calibri"/>
                <a:ea typeface="Calibri"/>
                <a:cs typeface="Calibri"/>
                <a:sym typeface="Calibri"/>
              </a:rPr>
              <a:t>Elements are accessed using </a:t>
            </a:r>
            <a:r>
              <a:rPr lang="en" sz="1600" b="1">
                <a:latin typeface="Calibri"/>
                <a:ea typeface="Calibri"/>
                <a:cs typeface="Calibri"/>
                <a:sym typeface="Calibri"/>
              </a:rPr>
              <a:t>zero-based indices</a:t>
            </a:r>
            <a:r>
              <a:rPr lang="en" sz="1600">
                <a:latin typeface="Calibri"/>
                <a:ea typeface="Calibri"/>
                <a:cs typeface="Calibri"/>
                <a:sym typeface="Calibri"/>
              </a:rPr>
              <a:t>, starting at 0, enabling straightforward and predictable data retrieval and manipulation.</a:t>
            </a:r>
            <a:endParaRPr sz="1600">
              <a:latin typeface="Calibri"/>
              <a:ea typeface="Calibri"/>
              <a:cs typeface="Calibri"/>
              <a:sym typeface="Calibri"/>
            </a:endParaRPr>
          </a:p>
          <a:p>
            <a:pPr marL="914400" lvl="0" indent="0" algn="l" rtl="0">
              <a:spcBef>
                <a:spcPts val="800"/>
              </a:spcBef>
              <a:spcAft>
                <a:spcPts val="0"/>
              </a:spcAft>
              <a:buNone/>
            </a:pPr>
            <a:endParaRPr sz="1600">
              <a:latin typeface="Calibri"/>
              <a:ea typeface="Calibri"/>
              <a:cs typeface="Calibri"/>
              <a:sym typeface="Calibri"/>
            </a:endParaRPr>
          </a:p>
        </p:txBody>
      </p:sp>
      <p:pic>
        <p:nvPicPr>
          <p:cNvPr id="1024" name="Google Shape;1024;p168"/>
          <p:cNvPicPr preferRelativeResize="0"/>
          <p:nvPr/>
        </p:nvPicPr>
        <p:blipFill>
          <a:blip r:embed="rId3">
            <a:alphaModFix/>
          </a:blip>
          <a:stretch>
            <a:fillRect/>
          </a:stretch>
        </p:blipFill>
        <p:spPr>
          <a:xfrm>
            <a:off x="3493535" y="3351042"/>
            <a:ext cx="2857500" cy="1182414"/>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16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TYPES OF ARRAY</a:t>
            </a:r>
            <a:endParaRPr/>
          </a:p>
        </p:txBody>
      </p:sp>
      <p:sp>
        <p:nvSpPr>
          <p:cNvPr id="1030" name="Google Shape;1030;p16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lnSpc>
                <a:spcPct val="115000"/>
              </a:lnSpc>
              <a:spcBef>
                <a:spcPts val="800"/>
              </a:spcBef>
              <a:spcAft>
                <a:spcPts val="0"/>
              </a:spcAft>
              <a:buSzPts val="1500"/>
              <a:buFont typeface="Calibri"/>
              <a:buChar char="•"/>
            </a:pPr>
            <a:r>
              <a:rPr lang="en" sz="1500" b="1">
                <a:latin typeface="Calibri"/>
                <a:ea typeface="Calibri"/>
                <a:cs typeface="Calibri"/>
                <a:sym typeface="Calibri"/>
              </a:rPr>
              <a:t>Single-Dimensional Arrays:</a:t>
            </a:r>
            <a:r>
              <a:rPr lang="en" sz="1500">
                <a:latin typeface="Calibri"/>
                <a:ea typeface="Calibri"/>
                <a:cs typeface="Calibri"/>
                <a:sym typeface="Calibri"/>
              </a:rPr>
              <a:t> The most common type, storing elements in a single row.</a:t>
            </a:r>
            <a:endParaRPr sz="1500">
              <a:latin typeface="Calibri"/>
              <a:ea typeface="Calibri"/>
              <a:cs typeface="Calibri"/>
              <a:sym typeface="Calibri"/>
            </a:endParaRPr>
          </a:p>
          <a:p>
            <a:pPr marL="1371600" lvl="1" indent="-323850" algn="l" rtl="0">
              <a:lnSpc>
                <a:spcPct val="115000"/>
              </a:lnSpc>
              <a:spcBef>
                <a:spcPts val="0"/>
              </a:spcBef>
              <a:spcAft>
                <a:spcPts val="0"/>
              </a:spcAft>
              <a:buSzPts val="1500"/>
              <a:buFont typeface="Calibri"/>
              <a:buChar char="•"/>
            </a:pPr>
            <a:r>
              <a:rPr lang="en">
                <a:latin typeface="Calibri"/>
                <a:ea typeface="Calibri"/>
                <a:cs typeface="Calibri"/>
                <a:sym typeface="Calibri"/>
              </a:rPr>
              <a:t>Example : Storing Name, List of Numbers,</a:t>
            </a:r>
            <a:endParaRPr sz="1500">
              <a:latin typeface="Calibri"/>
              <a:ea typeface="Calibri"/>
              <a:cs typeface="Calibri"/>
              <a:sym typeface="Calibri"/>
            </a:endParaRPr>
          </a:p>
          <a:p>
            <a:pPr marL="457200" lvl="0" indent="-323850" algn="l" rtl="0">
              <a:lnSpc>
                <a:spcPct val="115000"/>
              </a:lnSpc>
              <a:spcBef>
                <a:spcPts val="0"/>
              </a:spcBef>
              <a:spcAft>
                <a:spcPts val="0"/>
              </a:spcAft>
              <a:buSzPts val="1500"/>
              <a:buFont typeface="Calibri"/>
              <a:buChar char="•"/>
            </a:pPr>
            <a:r>
              <a:rPr lang="en" sz="1500" b="1">
                <a:latin typeface="Calibri"/>
                <a:ea typeface="Calibri"/>
                <a:cs typeface="Calibri"/>
                <a:sym typeface="Calibri"/>
              </a:rPr>
              <a:t>Multidimensional Arrays (Rectangular Arrays):</a:t>
            </a:r>
            <a:r>
              <a:rPr lang="en" sz="1500">
                <a:latin typeface="Calibri"/>
                <a:ea typeface="Calibri"/>
                <a:cs typeface="Calibri"/>
                <a:sym typeface="Calibri"/>
              </a:rPr>
              <a:t> Arrays with more than one dimension, </a:t>
            </a:r>
            <a:endParaRPr sz="1500">
              <a:latin typeface="Calibri"/>
              <a:ea typeface="Calibri"/>
              <a:cs typeface="Calibri"/>
              <a:sym typeface="Calibri"/>
            </a:endParaRPr>
          </a:p>
          <a:p>
            <a:pPr marL="1371600" lvl="1" indent="-323850" algn="l" rtl="0">
              <a:lnSpc>
                <a:spcPct val="115000"/>
              </a:lnSpc>
              <a:spcBef>
                <a:spcPts val="0"/>
              </a:spcBef>
              <a:spcAft>
                <a:spcPts val="0"/>
              </a:spcAft>
              <a:buSzPts val="1500"/>
              <a:buFont typeface="Calibri"/>
              <a:buChar char="•"/>
            </a:pPr>
            <a:r>
              <a:rPr lang="en" sz="1500">
                <a:latin typeface="Calibri"/>
                <a:ea typeface="Calibri"/>
                <a:cs typeface="Calibri"/>
                <a:sym typeface="Calibri"/>
              </a:rPr>
              <a:t>Example:  Matrices, Grid, Table</a:t>
            </a:r>
            <a:endParaRPr sz="1500">
              <a:latin typeface="Calibri"/>
              <a:ea typeface="Calibri"/>
              <a:cs typeface="Calibri"/>
              <a:sym typeface="Calibri"/>
            </a:endParaRPr>
          </a:p>
          <a:p>
            <a:pPr marL="457200" lvl="0" indent="-323850" algn="l" rtl="0">
              <a:lnSpc>
                <a:spcPct val="115000"/>
              </a:lnSpc>
              <a:spcBef>
                <a:spcPts val="0"/>
              </a:spcBef>
              <a:spcAft>
                <a:spcPts val="0"/>
              </a:spcAft>
              <a:buSzPts val="1500"/>
              <a:buFont typeface="Calibri"/>
              <a:buChar char="•"/>
            </a:pPr>
            <a:r>
              <a:rPr lang="en" sz="1500" b="1">
                <a:latin typeface="Calibri"/>
                <a:ea typeface="Calibri"/>
                <a:cs typeface="Calibri"/>
                <a:sym typeface="Calibri"/>
              </a:rPr>
              <a:t>Jagged Arrays:</a:t>
            </a:r>
            <a:r>
              <a:rPr lang="en" sz="1500">
                <a:latin typeface="Calibri"/>
                <a:ea typeface="Calibri"/>
                <a:cs typeface="Calibri"/>
                <a:sym typeface="Calibri"/>
              </a:rPr>
              <a:t> Arrays of arrays, where each inner array can have a different size.</a:t>
            </a:r>
            <a:endParaRPr sz="1500">
              <a:latin typeface="Calibri"/>
              <a:ea typeface="Calibri"/>
              <a:cs typeface="Calibri"/>
              <a:sym typeface="Calibri"/>
            </a:endParaRPr>
          </a:p>
          <a:p>
            <a:pPr marL="1371600" lvl="1" indent="-323850" algn="l" rtl="0">
              <a:lnSpc>
                <a:spcPct val="115000"/>
              </a:lnSpc>
              <a:spcBef>
                <a:spcPts val="0"/>
              </a:spcBef>
              <a:spcAft>
                <a:spcPts val="0"/>
              </a:spcAft>
              <a:buSzPts val="1500"/>
              <a:buFont typeface="Calibri"/>
              <a:buChar char="•"/>
            </a:pPr>
            <a:r>
              <a:rPr lang="en">
                <a:latin typeface="Calibri"/>
                <a:ea typeface="Calibri"/>
                <a:cs typeface="Calibri"/>
                <a:sym typeface="Calibri"/>
              </a:rPr>
              <a:t>Example: Storing rows with differing lengths</a:t>
            </a:r>
            <a:endParaRPr sz="1800">
              <a:solidFill>
                <a:srgbClr val="161723"/>
              </a:solidFill>
              <a:highlight>
                <a:srgbClr val="FFFFFF"/>
              </a:highlight>
              <a:latin typeface="Arial"/>
              <a:ea typeface="Arial"/>
              <a:cs typeface="Arial"/>
              <a:sym typeface="Arial"/>
            </a:endParaRPr>
          </a:p>
          <a:p>
            <a:pPr marL="1371600" lvl="0" indent="0" algn="l" rtl="0">
              <a:lnSpc>
                <a:spcPct val="115000"/>
              </a:lnSpc>
              <a:spcBef>
                <a:spcPts val="1500"/>
              </a:spcBef>
              <a:spcAft>
                <a:spcPts val="0"/>
              </a:spcAft>
              <a:buNone/>
            </a:pPr>
            <a:endParaRPr>
              <a:latin typeface="Calibri"/>
              <a:ea typeface="Calibri"/>
              <a:cs typeface="Calibri"/>
              <a:sym typeface="Calibri"/>
            </a:endParaRPr>
          </a:p>
          <a:p>
            <a:pPr marL="914400" lvl="0" indent="0" algn="l" rtl="0">
              <a:lnSpc>
                <a:spcPct val="115000"/>
              </a:lnSpc>
              <a:spcBef>
                <a:spcPts val="1500"/>
              </a:spcBef>
              <a:spcAft>
                <a:spcPts val="1500"/>
              </a:spcAft>
              <a:buNone/>
            </a:pPr>
            <a:endParaRPr sz="1500">
              <a:latin typeface="Calibri"/>
              <a:ea typeface="Calibri"/>
              <a:cs typeface="Calibri"/>
              <a:sym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17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MEMORY STRUCTURE AND PERFORMANCE</a:t>
            </a:r>
            <a:endParaRPr/>
          </a:p>
        </p:txBody>
      </p:sp>
      <p:sp>
        <p:nvSpPr>
          <p:cNvPr id="1036" name="Google Shape;1036;p17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alibri"/>
                <a:ea typeface="Calibri"/>
                <a:cs typeface="Calibri"/>
                <a:sym typeface="Calibri"/>
              </a:rPr>
              <a:t>Fixed Size Constraint</a:t>
            </a:r>
            <a:r>
              <a:rPr lang="en" sz="1600">
                <a:latin typeface="Calibri"/>
                <a:ea typeface="Calibri"/>
                <a:cs typeface="Calibri"/>
                <a:sym typeface="Calibri"/>
              </a:rPr>
              <a:t>:</a:t>
            </a:r>
            <a:endParaRPr sz="1600">
              <a:latin typeface="Calibri"/>
              <a:ea typeface="Calibri"/>
              <a:cs typeface="Calibri"/>
              <a:sym typeface="Calibri"/>
            </a:endParaRPr>
          </a:p>
          <a:p>
            <a:pPr marL="457200" lvl="0" indent="-323850" algn="l" rtl="0">
              <a:lnSpc>
                <a:spcPct val="142000"/>
              </a:lnSpc>
              <a:spcBef>
                <a:spcPts val="0"/>
              </a:spcBef>
              <a:spcAft>
                <a:spcPts val="0"/>
              </a:spcAft>
              <a:buClr>
                <a:schemeClr val="lt1"/>
              </a:buClr>
              <a:buSzPts val="1500"/>
              <a:buChar char="●"/>
            </a:pPr>
            <a:r>
              <a:rPr lang="en" sz="1500">
                <a:latin typeface="Calibri"/>
                <a:ea typeface="Calibri"/>
                <a:cs typeface="Calibri"/>
                <a:sym typeface="Calibri"/>
              </a:rPr>
              <a:t>Arrays have a </a:t>
            </a:r>
            <a:r>
              <a:rPr lang="en" sz="1500" b="1">
                <a:latin typeface="Calibri"/>
                <a:ea typeface="Calibri"/>
                <a:cs typeface="Calibri"/>
                <a:sym typeface="Calibri"/>
              </a:rPr>
              <a:t>fixed size set at initialization</a:t>
            </a:r>
            <a:r>
              <a:rPr lang="en" sz="1500">
                <a:latin typeface="Calibri"/>
                <a:ea typeface="Calibri"/>
                <a:cs typeface="Calibri"/>
                <a:sym typeface="Calibri"/>
              </a:rPr>
              <a:t>, restricting dynamic resizing. To resize, you must create a new array and copy existing elements.</a:t>
            </a:r>
            <a:endParaRPr sz="1500">
              <a:latin typeface="Calibri"/>
              <a:ea typeface="Calibri"/>
              <a:cs typeface="Calibri"/>
              <a:sym typeface="Calibri"/>
            </a:endParaRPr>
          </a:p>
          <a:p>
            <a:pPr marL="0" marR="0" lvl="0" indent="0" algn="l" rtl="0">
              <a:lnSpc>
                <a:spcPct val="90000"/>
              </a:lnSpc>
              <a:spcBef>
                <a:spcPts val="800"/>
              </a:spcBef>
              <a:spcAft>
                <a:spcPts val="0"/>
              </a:spcAft>
              <a:buNone/>
            </a:pPr>
            <a:r>
              <a:rPr lang="en" sz="1600" b="1">
                <a:latin typeface="Calibri"/>
                <a:ea typeface="Calibri"/>
                <a:cs typeface="Calibri"/>
                <a:sym typeface="Calibri"/>
              </a:rPr>
              <a:t>Performance Trade-Offs</a:t>
            </a:r>
            <a:r>
              <a:rPr lang="en" sz="1600">
                <a:latin typeface="Calibri"/>
                <a:ea typeface="Calibri"/>
                <a:cs typeface="Calibri"/>
                <a:sym typeface="Calibri"/>
              </a:rPr>
              <a:t>:</a:t>
            </a:r>
            <a:endParaRPr sz="1600">
              <a:latin typeface="Calibri"/>
              <a:ea typeface="Calibri"/>
              <a:cs typeface="Calibri"/>
              <a:sym typeface="Calibri"/>
            </a:endParaRPr>
          </a:p>
          <a:p>
            <a:pPr marL="457200" marR="0" lvl="0" indent="-323850" algn="l" rtl="0">
              <a:lnSpc>
                <a:spcPct val="90000"/>
              </a:lnSpc>
              <a:spcBef>
                <a:spcPts val="800"/>
              </a:spcBef>
              <a:spcAft>
                <a:spcPts val="0"/>
              </a:spcAft>
              <a:buSzPts val="1500"/>
              <a:buFont typeface="Calibri"/>
              <a:buChar char="•"/>
            </a:pPr>
            <a:r>
              <a:rPr lang="en" sz="1500">
                <a:latin typeface="Calibri"/>
                <a:ea typeface="Calibri"/>
                <a:cs typeface="Calibri"/>
                <a:sym typeface="Calibri"/>
              </a:rPr>
              <a:t>The efficient memory layout boosts performance and cache utilization but limits flexibility due to lack of dynamic growth.</a:t>
            </a:r>
            <a:endParaRPr sz="1500">
              <a:latin typeface="Calibri"/>
              <a:ea typeface="Calibri"/>
              <a:cs typeface="Calibri"/>
              <a:sym typeface="Calibri"/>
            </a:endParaRPr>
          </a:p>
          <a:p>
            <a:pPr marL="0" marR="0" lvl="0" indent="0" algn="l" rtl="0">
              <a:lnSpc>
                <a:spcPct val="90000"/>
              </a:lnSpc>
              <a:spcBef>
                <a:spcPts val="800"/>
              </a:spcBef>
              <a:spcAft>
                <a:spcPts val="0"/>
              </a:spcAft>
              <a:buNone/>
            </a:pPr>
            <a:r>
              <a:rPr lang="en" sz="1600" b="1">
                <a:latin typeface="Calibri"/>
                <a:ea typeface="Calibri"/>
                <a:cs typeface="Calibri"/>
                <a:sym typeface="Calibri"/>
              </a:rPr>
              <a:t>Contiguous Memory Allocation</a:t>
            </a:r>
            <a:r>
              <a:rPr lang="en" sz="1600">
                <a:latin typeface="Calibri"/>
                <a:ea typeface="Calibri"/>
                <a:cs typeface="Calibri"/>
                <a:sym typeface="Calibri"/>
              </a:rPr>
              <a:t>:</a:t>
            </a:r>
            <a:endParaRPr sz="1600">
              <a:latin typeface="Calibri"/>
              <a:ea typeface="Calibri"/>
              <a:cs typeface="Calibri"/>
              <a:sym typeface="Calibri"/>
            </a:endParaRPr>
          </a:p>
          <a:p>
            <a:pPr marL="457200" lvl="0" indent="-323850" algn="l" rtl="0">
              <a:lnSpc>
                <a:spcPct val="142000"/>
              </a:lnSpc>
              <a:spcBef>
                <a:spcPts val="0"/>
              </a:spcBef>
              <a:spcAft>
                <a:spcPts val="0"/>
              </a:spcAft>
              <a:buClr>
                <a:schemeClr val="lt1"/>
              </a:buClr>
              <a:buSzPts val="1500"/>
              <a:buChar char="●"/>
            </a:pPr>
            <a:r>
              <a:rPr lang="en" sz="1500">
                <a:latin typeface="Calibri"/>
                <a:ea typeface="Calibri"/>
                <a:cs typeface="Calibri"/>
                <a:sym typeface="Calibri"/>
              </a:rPr>
              <a:t>Arrays store elements sequentially in adjacent memory locations, enabling </a:t>
            </a:r>
            <a:r>
              <a:rPr lang="en" sz="1500" b="1">
                <a:latin typeface="Calibri"/>
                <a:ea typeface="Calibri"/>
                <a:cs typeface="Calibri"/>
                <a:sym typeface="Calibri"/>
              </a:rPr>
              <a:t>fast, constant-time indexed access</a:t>
            </a:r>
            <a:r>
              <a:rPr lang="en" sz="1500">
                <a:latin typeface="Calibri"/>
                <a:ea typeface="Calibri"/>
                <a:cs typeface="Calibri"/>
                <a:sym typeface="Calibri"/>
              </a:rPr>
              <a:t> and improved cache locality.</a:t>
            </a:r>
            <a:endParaRPr sz="1500">
              <a:solidFill>
                <a:srgbClr val="161723"/>
              </a:solidFill>
              <a:highlight>
                <a:srgbClr val="FFFFFF"/>
              </a:highlight>
              <a:latin typeface="Arial"/>
              <a:ea typeface="Arial"/>
              <a:cs typeface="Arial"/>
              <a:sym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7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CHARACTERISTICS OF ARRAY</a:t>
            </a:r>
            <a:endParaRPr/>
          </a:p>
        </p:txBody>
      </p:sp>
      <p:sp>
        <p:nvSpPr>
          <p:cNvPr id="1042" name="Google Shape;1042;p17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457200" lvl="0" indent="-317500" algn="l" rtl="0">
              <a:lnSpc>
                <a:spcPct val="115000"/>
              </a:lnSpc>
              <a:spcBef>
                <a:spcPts val="800"/>
              </a:spcBef>
              <a:spcAft>
                <a:spcPts val="0"/>
              </a:spcAft>
              <a:buClr>
                <a:schemeClr val="lt1"/>
              </a:buClr>
              <a:buSzPts val="1400"/>
              <a:buChar char="●"/>
            </a:pPr>
            <a:r>
              <a:rPr lang="en" sz="1400" b="1">
                <a:latin typeface="Calibri"/>
                <a:ea typeface="Calibri"/>
                <a:cs typeface="Calibri"/>
                <a:sym typeface="Calibri"/>
              </a:rPr>
              <a:t>Fixed Size:</a:t>
            </a:r>
            <a:r>
              <a:rPr lang="en" sz="1400">
                <a:latin typeface="Calibri"/>
                <a:ea typeface="Calibri"/>
                <a:cs typeface="Calibri"/>
                <a:sym typeface="Calibri"/>
              </a:rPr>
              <a:t> Once an array is declared and initialized, its size cannot be changed. This means the number of elements it can hold is determined at creation and remains constant throughout its lifetime.</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Homogeneous Elements:</a:t>
            </a:r>
            <a:r>
              <a:rPr lang="en" sz="1400">
                <a:latin typeface="Calibri"/>
                <a:ea typeface="Calibri"/>
                <a:cs typeface="Calibri"/>
                <a:sym typeface="Calibri"/>
              </a:rPr>
              <a:t> All elements within a single array must be of the same data type. For example, an int[] can only store integers, and a string[] can only store strings.</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Zero-Based Indexing:</a:t>
            </a:r>
            <a:r>
              <a:rPr lang="en" sz="1400">
                <a:latin typeface="Calibri"/>
                <a:ea typeface="Calibri"/>
                <a:cs typeface="Calibri"/>
                <a:sym typeface="Calibri"/>
              </a:rPr>
              <a:t> Array elements are accessed using an index, which starts from 0 for the first element and goes up to length - 1 for the last element.</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Reference Types:</a:t>
            </a:r>
            <a:r>
              <a:rPr lang="en" sz="1400">
                <a:latin typeface="Calibri"/>
                <a:ea typeface="Calibri"/>
                <a:cs typeface="Calibri"/>
                <a:sym typeface="Calibri"/>
              </a:rPr>
              <a:t> Arrays in C# are reference types, meaning they are objects derived from the System.Array base class. When you declare an array variable, it holds a reference to the array object in memory, not the array itself.</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Memory Efficiency:</a:t>
            </a:r>
            <a:r>
              <a:rPr lang="en" sz="1400">
                <a:latin typeface="Calibri"/>
                <a:ea typeface="Calibri"/>
                <a:cs typeface="Calibri"/>
                <a:sym typeface="Calibri"/>
              </a:rPr>
              <a:t> Arrays store elements in contiguous memory locations, which allows for efficient access to elements using their index (O(1) time complexity for random access).</a:t>
            </a:r>
            <a:endParaRPr sz="1400">
              <a:latin typeface="Calibri"/>
              <a:ea typeface="Calibri"/>
              <a:cs typeface="Calibri"/>
              <a:sym typeface="Calibri"/>
            </a:endParaRPr>
          </a:p>
          <a:p>
            <a:pPr marL="0" lvl="0" indent="0" algn="l" rtl="0">
              <a:spcBef>
                <a:spcPts val="2100"/>
              </a:spcBef>
              <a:spcAft>
                <a:spcPts val="0"/>
              </a:spcAft>
              <a:buNone/>
            </a:pPr>
            <a:endParaRPr sz="1400">
              <a:latin typeface="Calibri"/>
              <a:ea typeface="Calibri"/>
              <a:cs typeface="Calibri"/>
              <a:sym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17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048" name="Google Shape;1048;p17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Clr>
                <a:schemeClr val="lt1"/>
              </a:buClr>
              <a:buSzPts val="1400"/>
              <a:buChar char="●"/>
            </a:pPr>
            <a:r>
              <a:rPr lang="en" sz="1400" b="1">
                <a:latin typeface="Calibri"/>
                <a:ea typeface="Calibri"/>
                <a:cs typeface="Calibri"/>
                <a:sym typeface="Calibri"/>
              </a:rPr>
              <a:t>Built-in Length Property:</a:t>
            </a:r>
            <a:r>
              <a:rPr lang="en" sz="1400">
                <a:latin typeface="Calibri"/>
                <a:ea typeface="Calibri"/>
                <a:cs typeface="Calibri"/>
                <a:sym typeface="Calibri"/>
              </a:rPr>
              <a:t> Arrays have a Length property that returns the total number of elements in the array. For multidimensional arrays, GetLength(dimension) can be used to get the length of a specific dimension.</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Iteration Support:</a:t>
            </a:r>
            <a:r>
              <a:rPr lang="en" sz="1400">
                <a:latin typeface="Calibri"/>
                <a:ea typeface="Calibri"/>
                <a:cs typeface="Calibri"/>
                <a:sym typeface="Calibri"/>
              </a:rPr>
              <a:t> Arrays implement IEnumerable (and IEnumerable&lt;T&gt; for single-dimensional arrays), allowing them to be easily iterated using a foreach loop.</a:t>
            </a:r>
            <a:endParaRPr sz="1400">
              <a:latin typeface="Calibri"/>
              <a:ea typeface="Calibri"/>
              <a:cs typeface="Calibri"/>
              <a:sym typeface="Calibri"/>
            </a:endParaRPr>
          </a:p>
          <a:p>
            <a:pPr marL="0" lvl="0" indent="0" algn="l" rtl="0">
              <a:spcBef>
                <a:spcPts val="1500"/>
              </a:spcBef>
              <a:spcAft>
                <a:spcPts val="0"/>
              </a:spcAft>
              <a:buNone/>
            </a:pPr>
            <a:endParaRPr sz="1400">
              <a:latin typeface="Calibri"/>
              <a:ea typeface="Calibri"/>
              <a:cs typeface="Calibri"/>
              <a:sym typeface="Calibri"/>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17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STRING</a:t>
            </a:r>
            <a:endParaRPr/>
          </a:p>
        </p:txBody>
      </p:sp>
      <p:sp>
        <p:nvSpPr>
          <p:cNvPr id="1054" name="Google Shape;1054;p17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Font typeface="Calibri"/>
              <a:buChar char="•"/>
            </a:pPr>
            <a:r>
              <a:rPr lang="en">
                <a:latin typeface="Calibri"/>
                <a:ea typeface="Calibri"/>
                <a:cs typeface="Calibri"/>
                <a:sym typeface="Calibri"/>
              </a:rPr>
              <a:t>In C#, a string is a sequence of characters used to represent text. Strings are immutable, meaning that once created, their values cannot be changed.</a:t>
            </a:r>
            <a:endParaRPr>
              <a:latin typeface="Calibri"/>
              <a:ea typeface="Calibri"/>
              <a:cs typeface="Calibri"/>
              <a:sym typeface="Calibri"/>
            </a:endParaRPr>
          </a:p>
          <a:p>
            <a:pPr marL="457200" lvl="0" indent="-317500" algn="l" rtl="0">
              <a:spcBef>
                <a:spcPts val="0"/>
              </a:spcBef>
              <a:spcAft>
                <a:spcPts val="0"/>
              </a:spcAft>
              <a:buSzPts val="1400"/>
              <a:buFont typeface="Calibri"/>
              <a:buChar char="•"/>
            </a:pPr>
            <a:r>
              <a:rPr lang="en">
                <a:latin typeface="Calibri"/>
                <a:ea typeface="Calibri"/>
                <a:cs typeface="Calibri"/>
                <a:sym typeface="Calibri"/>
              </a:rPr>
              <a:t>A string is a sequence of Unicode characters (U+0000 to U+FFFF) used to represent text. It is an object of the System.String class.</a:t>
            </a:r>
            <a:endParaRPr>
              <a:latin typeface="Calibri"/>
              <a:ea typeface="Calibri"/>
              <a:cs typeface="Calibri"/>
              <a:sym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17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STRING PROPERTIES</a:t>
            </a:r>
            <a:endParaRPr/>
          </a:p>
        </p:txBody>
      </p:sp>
      <p:sp>
        <p:nvSpPr>
          <p:cNvPr id="1060" name="Google Shape;1060;p17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n" sz="1400" b="1">
                <a:latin typeface="Calibri"/>
                <a:ea typeface="Calibri"/>
                <a:cs typeface="Calibri"/>
                <a:sym typeface="Calibri"/>
              </a:rPr>
              <a:t>Length Property</a:t>
            </a:r>
            <a:endParaRPr sz="14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The Length property of a string returns the number of characters in the string, useful for validating input or managing string data.</a:t>
            </a:r>
            <a:endParaRPr sz="1400">
              <a:latin typeface="Calibri"/>
              <a:ea typeface="Calibri"/>
              <a:cs typeface="Calibri"/>
              <a:sym typeface="Calibri"/>
            </a:endParaRPr>
          </a:p>
          <a:p>
            <a:pPr marL="0" lvl="0" indent="0" algn="l" rtl="0">
              <a:lnSpc>
                <a:spcPct val="115000"/>
              </a:lnSpc>
              <a:spcBef>
                <a:spcPts val="1200"/>
              </a:spcBef>
              <a:spcAft>
                <a:spcPts val="0"/>
              </a:spcAft>
              <a:buNone/>
            </a:pPr>
            <a:r>
              <a:rPr lang="en" sz="1400" b="1">
                <a:latin typeface="Calibri"/>
                <a:ea typeface="Calibri"/>
                <a:cs typeface="Calibri"/>
                <a:sym typeface="Calibri"/>
              </a:rPr>
              <a:t>Indexing:</a:t>
            </a:r>
            <a:endParaRPr sz="1400">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 Strings support indexing, allowing access to individual characters using zero-based indexing, e.g., char firstChar = greeting[0]; gives 'H'.</a:t>
            </a:r>
            <a:endParaRPr sz="1400">
              <a:latin typeface="Calibri"/>
              <a:ea typeface="Calibri"/>
              <a:cs typeface="Calibri"/>
              <a:sym typeface="Calibri"/>
            </a:endParaRPr>
          </a:p>
          <a:p>
            <a:pPr marL="0" lvl="0" indent="0" algn="l" rtl="0">
              <a:lnSpc>
                <a:spcPct val="115000"/>
              </a:lnSpc>
              <a:spcBef>
                <a:spcPts val="1200"/>
              </a:spcBef>
              <a:spcAft>
                <a:spcPts val="0"/>
              </a:spcAft>
              <a:buNone/>
            </a:pPr>
            <a:r>
              <a:rPr lang="en" sz="1400" b="1">
                <a:latin typeface="Calibri"/>
                <a:ea typeface="Calibri"/>
                <a:cs typeface="Calibri"/>
                <a:sym typeface="Calibri"/>
              </a:rPr>
              <a:t>String Interpolation: </a:t>
            </a:r>
            <a:endParaRPr sz="1400">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A feature that allows embedding expressions inside string literals, improving legibility. For example, $"Value: {value}" dynamically includes variable content.</a:t>
            </a:r>
            <a:endParaRPr sz="1400">
              <a:latin typeface="Calibri"/>
              <a:ea typeface="Calibri"/>
              <a:cs typeface="Calibri"/>
              <a:sym typeface="Calibri"/>
            </a:endParaRPr>
          </a:p>
          <a:p>
            <a:pPr marL="0" lvl="0" indent="0" algn="l" rtl="0">
              <a:spcBef>
                <a:spcPts val="1200"/>
              </a:spcBef>
              <a:spcAft>
                <a:spcPts val="0"/>
              </a:spcAft>
              <a:buNone/>
            </a:pPr>
            <a:endParaRPr sz="1400">
              <a:latin typeface="Calibri"/>
              <a:ea typeface="Calibri"/>
              <a:cs typeface="Calibri"/>
              <a:sym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17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KEY CHARACTERISTICS OF STRING</a:t>
            </a:r>
            <a:endParaRPr/>
          </a:p>
        </p:txBody>
      </p:sp>
      <p:sp>
        <p:nvSpPr>
          <p:cNvPr id="1066" name="Google Shape;1066;p17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23850" algn="l" rtl="0">
              <a:lnSpc>
                <a:spcPct val="115000"/>
              </a:lnSpc>
              <a:spcBef>
                <a:spcPts val="400"/>
              </a:spcBef>
              <a:spcAft>
                <a:spcPts val="0"/>
              </a:spcAft>
              <a:buClr>
                <a:srgbClr val="EEF0FF"/>
              </a:buClr>
              <a:buSzPts val="1500"/>
              <a:buFont typeface="Calibri"/>
              <a:buChar char="•"/>
            </a:pPr>
            <a:r>
              <a:rPr lang="en" sz="1500" b="1">
                <a:solidFill>
                  <a:srgbClr val="EEF0FF"/>
                </a:solidFill>
                <a:latin typeface="Calibri"/>
                <a:ea typeface="Calibri"/>
                <a:cs typeface="Calibri"/>
                <a:sym typeface="Calibri"/>
              </a:rPr>
              <a:t>Immutability:</a:t>
            </a:r>
            <a:r>
              <a:rPr lang="en" sz="1500">
                <a:solidFill>
                  <a:srgbClr val="EEF0FF"/>
                </a:solidFill>
                <a:latin typeface="Calibri"/>
                <a:ea typeface="Calibri"/>
                <a:cs typeface="Calibri"/>
                <a:sym typeface="Calibri"/>
              </a:rPr>
              <a:t> Once a string object is created, its value cannot be changed. Any operation that appears to modify a string (like concatenation or replacement) actually creates a new string object in memory.</a:t>
            </a:r>
            <a:endParaRPr sz="1500">
              <a:solidFill>
                <a:srgbClr val="EEF0FF"/>
              </a:solidFill>
              <a:latin typeface="Calibri"/>
              <a:ea typeface="Calibri"/>
              <a:cs typeface="Calibri"/>
              <a:sym typeface="Calibri"/>
            </a:endParaRPr>
          </a:p>
          <a:p>
            <a:pPr marL="914400" lvl="1" indent="-323850" algn="l" rtl="0">
              <a:lnSpc>
                <a:spcPct val="115000"/>
              </a:lnSpc>
              <a:spcBef>
                <a:spcPts val="0"/>
              </a:spcBef>
              <a:spcAft>
                <a:spcPts val="0"/>
              </a:spcAft>
              <a:buClr>
                <a:srgbClr val="EEF0FF"/>
              </a:buClr>
              <a:buSzPts val="1500"/>
              <a:buFont typeface="Calibri"/>
              <a:buChar char="•"/>
            </a:pPr>
            <a:r>
              <a:rPr lang="en" sz="1500" b="1">
                <a:solidFill>
                  <a:srgbClr val="EEF0FF"/>
                </a:solidFill>
                <a:latin typeface="Calibri"/>
                <a:ea typeface="Calibri"/>
                <a:cs typeface="Calibri"/>
                <a:sym typeface="Calibri"/>
              </a:rPr>
              <a:t>Sequential Collection of Characters:</a:t>
            </a:r>
            <a:r>
              <a:rPr lang="en" sz="1500">
                <a:solidFill>
                  <a:srgbClr val="EEF0FF"/>
                </a:solidFill>
                <a:latin typeface="Calibri"/>
                <a:ea typeface="Calibri"/>
                <a:cs typeface="Calibri"/>
                <a:sym typeface="Calibri"/>
              </a:rPr>
              <a:t> Internally, a string stores text as a read-only collection of Char objects. </a:t>
            </a:r>
            <a:endParaRPr sz="1500">
              <a:solidFill>
                <a:srgbClr val="EEF0FF"/>
              </a:solidFill>
              <a:latin typeface="Calibri"/>
              <a:ea typeface="Calibri"/>
              <a:cs typeface="Calibri"/>
              <a:sym typeface="Calibri"/>
            </a:endParaRPr>
          </a:p>
          <a:p>
            <a:pPr marL="914400" lvl="1" indent="-323850" algn="l" rtl="0">
              <a:lnSpc>
                <a:spcPct val="115000"/>
              </a:lnSpc>
              <a:spcBef>
                <a:spcPts val="0"/>
              </a:spcBef>
              <a:spcAft>
                <a:spcPts val="0"/>
              </a:spcAft>
              <a:buClr>
                <a:srgbClr val="EEF0FF"/>
              </a:buClr>
              <a:buSzPts val="1500"/>
              <a:buFont typeface="Calibri"/>
              <a:buChar char="•"/>
            </a:pPr>
            <a:r>
              <a:rPr lang="en" sz="1500" b="1">
                <a:solidFill>
                  <a:srgbClr val="EEF0FF"/>
                </a:solidFill>
                <a:latin typeface="Calibri"/>
                <a:ea typeface="Calibri"/>
                <a:cs typeface="Calibri"/>
                <a:sym typeface="Calibri"/>
              </a:rPr>
              <a:t>Unicode Support:</a:t>
            </a:r>
            <a:r>
              <a:rPr lang="en" sz="1500">
                <a:solidFill>
                  <a:srgbClr val="EEF0FF"/>
                </a:solidFill>
                <a:latin typeface="Calibri"/>
                <a:ea typeface="Calibri"/>
                <a:cs typeface="Calibri"/>
                <a:sym typeface="Calibri"/>
              </a:rPr>
              <a:t> Strings handle Unicode characters, allowing for a wide range of international text.</a:t>
            </a:r>
            <a:endParaRPr sz="1500">
              <a:solidFill>
                <a:srgbClr val="EEF0FF"/>
              </a:solidFill>
              <a:latin typeface="Calibri"/>
              <a:ea typeface="Calibri"/>
              <a:cs typeface="Calibri"/>
              <a:sym typeface="Calibri"/>
            </a:endParaRPr>
          </a:p>
          <a:p>
            <a:pPr marL="914400" lvl="1" indent="-323850" algn="l" rtl="0">
              <a:lnSpc>
                <a:spcPct val="115000"/>
              </a:lnSpc>
              <a:spcBef>
                <a:spcPts val="0"/>
              </a:spcBef>
              <a:spcAft>
                <a:spcPts val="0"/>
              </a:spcAft>
              <a:buClr>
                <a:srgbClr val="EEF0FF"/>
              </a:buClr>
              <a:buSzPts val="1500"/>
              <a:buFont typeface="Calibri"/>
              <a:buChar char="•"/>
            </a:pPr>
            <a:r>
              <a:rPr lang="en" sz="1500" b="1">
                <a:solidFill>
                  <a:srgbClr val="EEF0FF"/>
                </a:solidFill>
                <a:latin typeface="Calibri"/>
                <a:ea typeface="Calibri"/>
                <a:cs typeface="Calibri"/>
                <a:sym typeface="Calibri"/>
              </a:rPr>
              <a:t>Rich Functionality:</a:t>
            </a:r>
            <a:r>
              <a:rPr lang="en" sz="1500">
                <a:solidFill>
                  <a:srgbClr val="EEF0FF"/>
                </a:solidFill>
                <a:latin typeface="Calibri"/>
                <a:ea typeface="Calibri"/>
                <a:cs typeface="Calibri"/>
                <a:sym typeface="Calibri"/>
              </a:rPr>
              <a:t> The String class provides numerous methods and properties for manipulating, comparing, searching, and formatting strings.</a:t>
            </a:r>
            <a:endParaRPr sz="1500">
              <a:latin typeface="Calibri"/>
              <a:ea typeface="Calibri"/>
              <a:cs typeface="Calibri"/>
              <a:sym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76"/>
          <p:cNvSpPr txBox="1">
            <a:spLocks noGrp="1"/>
          </p:cNvSpPr>
          <p:nvPr>
            <p:ph type="ctrTitle"/>
          </p:nvPr>
        </p:nvSpPr>
        <p:spPr>
          <a:xfrm>
            <a:off x="1028700" y="1352554"/>
            <a:ext cx="7086600" cy="1368900"/>
          </a:xfrm>
          <a:prstGeom prst="rect">
            <a:avLst/>
          </a:prstGeom>
        </p:spPr>
        <p:txBody>
          <a:bodyPr spcFirstLastPara="1" wrap="square" lIns="68575" tIns="34275" rIns="68575" bIns="34275" anchor="b" anchorCtr="0">
            <a:normAutofit/>
          </a:bodyPr>
          <a:lstStyle/>
          <a:p>
            <a:pPr marL="0" lvl="0" indent="0" algn="r" rtl="0">
              <a:spcBef>
                <a:spcPts val="0"/>
              </a:spcBef>
              <a:spcAft>
                <a:spcPts val="0"/>
              </a:spcAft>
              <a:buNone/>
            </a:pPr>
            <a:r>
              <a:rPr lang="en"/>
              <a:t>COLLECTION</a:t>
            </a:r>
            <a:endParaRPr/>
          </a:p>
        </p:txBody>
      </p:sp>
      <p:sp>
        <p:nvSpPr>
          <p:cNvPr id="1072" name="Google Shape;1072;p176"/>
          <p:cNvSpPr txBox="1">
            <a:spLocks noGrp="1"/>
          </p:cNvSpPr>
          <p:nvPr>
            <p:ph type="subTitle" idx="1"/>
          </p:nvPr>
        </p:nvSpPr>
        <p:spPr>
          <a:xfrm>
            <a:off x="1028700" y="2724151"/>
            <a:ext cx="7086600" cy="5145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7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WHAT IS COLLECTION</a:t>
            </a:r>
            <a:endParaRPr/>
          </a:p>
        </p:txBody>
      </p:sp>
      <p:sp>
        <p:nvSpPr>
          <p:cNvPr id="1078" name="Google Shape;1078;p17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Collections in C# are classes designed to store, retrieve, and manipulate groups of objects. They offer more flexibility than arrays, particularly concerning dynamic sizing. </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C# provides both non-generic and generic collections, with generic collections being generally preferred due to their type safety and performance benefits.</a:t>
            </a:r>
            <a:endParaRPr sz="1500">
              <a:latin typeface="Calibri"/>
              <a:ea typeface="Calibri"/>
              <a:cs typeface="Calibri"/>
              <a:sym typeface="Calibri"/>
            </a:endParaRPr>
          </a:p>
          <a:p>
            <a:pPr marL="0" lvl="0" indent="0" algn="l" rtl="0">
              <a:spcBef>
                <a:spcPts val="800"/>
              </a:spcBef>
              <a:spcAft>
                <a:spcPts val="0"/>
              </a:spcAft>
              <a:buNone/>
            </a:pPr>
            <a:endParaRPr sz="1400">
              <a:latin typeface="Calibri"/>
              <a:ea typeface="Calibri"/>
              <a:cs typeface="Calibri"/>
              <a:sym typeface="Calibri"/>
            </a:endParaRPr>
          </a:p>
          <a:p>
            <a:pPr marL="0" lvl="0" indent="0" algn="l" rtl="0">
              <a:spcBef>
                <a:spcPts val="800"/>
              </a:spcBef>
              <a:spcAft>
                <a:spcPts val="0"/>
              </a:spcAft>
              <a:buNone/>
            </a:pPr>
            <a:r>
              <a:rPr lang="en" sz="2000">
                <a:latin typeface="Calibri"/>
                <a:ea typeface="Calibri"/>
                <a:cs typeface="Calibri"/>
                <a:sym typeface="Calibri"/>
              </a:rPr>
              <a:t>Types of Collection:</a:t>
            </a:r>
            <a:endParaRPr sz="2000">
              <a:latin typeface="Calibri"/>
              <a:ea typeface="Calibri"/>
              <a:cs typeface="Calibri"/>
              <a:sym typeface="Calibri"/>
            </a:endParaRPr>
          </a:p>
          <a:p>
            <a:pPr marL="1371600" lvl="0" indent="-323850" algn="l" rtl="0">
              <a:spcBef>
                <a:spcPts val="800"/>
              </a:spcBef>
              <a:spcAft>
                <a:spcPts val="0"/>
              </a:spcAft>
              <a:buSzPts val="1500"/>
              <a:buFont typeface="Calibri"/>
              <a:buChar char="•"/>
            </a:pPr>
            <a:r>
              <a:rPr lang="en" sz="1500">
                <a:latin typeface="Calibri"/>
                <a:ea typeface="Calibri"/>
                <a:cs typeface="Calibri"/>
                <a:sym typeface="Calibri"/>
              </a:rPr>
              <a:t>Generic Collection</a:t>
            </a:r>
            <a:endParaRPr sz="1500">
              <a:latin typeface="Calibri"/>
              <a:ea typeface="Calibri"/>
              <a:cs typeface="Calibri"/>
              <a:sym typeface="Calibri"/>
            </a:endParaRPr>
          </a:p>
          <a:p>
            <a:pPr marL="1371600" lvl="0" indent="-323850" algn="l" rtl="0">
              <a:spcBef>
                <a:spcPts val="0"/>
              </a:spcBef>
              <a:spcAft>
                <a:spcPts val="0"/>
              </a:spcAft>
              <a:buSzPts val="1500"/>
              <a:buFont typeface="Calibri"/>
              <a:buChar char="•"/>
            </a:pPr>
            <a:r>
              <a:rPr lang="en" sz="1500">
                <a:latin typeface="Calibri"/>
                <a:ea typeface="Calibri"/>
                <a:cs typeface="Calibri"/>
                <a:sym typeface="Calibri"/>
              </a:rPr>
              <a:t>Non-Generic Collection</a:t>
            </a:r>
            <a:endParaRPr sz="1500">
              <a:latin typeface="Calibri"/>
              <a:ea typeface="Calibri"/>
              <a:cs typeface="Calibri"/>
              <a:sym typeface="Calibri"/>
            </a:endParaRPr>
          </a:p>
          <a:p>
            <a:pPr marL="1371600" lvl="0" indent="-323850" algn="l" rtl="0">
              <a:spcBef>
                <a:spcPts val="0"/>
              </a:spcBef>
              <a:spcAft>
                <a:spcPts val="0"/>
              </a:spcAft>
              <a:buSzPts val="1500"/>
              <a:buFont typeface="Calibri"/>
              <a:buChar char="•"/>
            </a:pPr>
            <a:r>
              <a:rPr lang="en" sz="1500">
                <a:latin typeface="Calibri"/>
                <a:ea typeface="Calibri"/>
                <a:cs typeface="Calibri"/>
                <a:sym typeface="Calibri"/>
              </a:rPr>
              <a:t>Concurrent Collection</a:t>
            </a:r>
            <a:endParaRPr sz="1500">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78"/>
          <p:cNvSpPr txBox="1">
            <a:spLocks noGrp="1"/>
          </p:cNvSpPr>
          <p:nvPr>
            <p:ph type="title"/>
          </p:nvPr>
        </p:nvSpPr>
        <p:spPr>
          <a:xfrm>
            <a:off x="2141800" y="21443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CHARACTERISTICS OF COLLECTION</a:t>
            </a:r>
            <a:endParaRPr/>
          </a:p>
        </p:txBody>
      </p:sp>
      <p:graphicFrame>
        <p:nvGraphicFramePr>
          <p:cNvPr id="1084" name="Google Shape;1084;p178"/>
          <p:cNvGraphicFramePr/>
          <p:nvPr/>
        </p:nvGraphicFramePr>
        <p:xfrm>
          <a:off x="902650" y="1351200"/>
          <a:ext cx="7239000" cy="3506130"/>
        </p:xfrm>
        <a:graphic>
          <a:graphicData uri="http://schemas.openxmlformats.org/drawingml/2006/table">
            <a:tbl>
              <a:tblPr>
                <a:noFill/>
                <a:tableStyleId>{52AF7735-1A30-4EDB-8E02-57A44A249223}</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lnSpc>
                          <a:spcPct val="115000"/>
                        </a:lnSpc>
                        <a:spcBef>
                          <a:spcPts val="0"/>
                        </a:spcBef>
                        <a:spcAft>
                          <a:spcPts val="0"/>
                        </a:spcAft>
                        <a:buNone/>
                      </a:pPr>
                      <a:r>
                        <a:rPr lang="en" sz="1300" b="1">
                          <a:solidFill>
                            <a:schemeClr val="lt1"/>
                          </a:solidFill>
                          <a:latin typeface="Calibri"/>
                          <a:ea typeface="Calibri"/>
                          <a:cs typeface="Calibri"/>
                          <a:sym typeface="Calibri"/>
                        </a:rPr>
                        <a:t>Characteristic</a:t>
                      </a:r>
                      <a:endParaRPr sz="1300" b="1">
                        <a:solidFill>
                          <a:schemeClr val="lt1"/>
                        </a:solidFill>
                        <a:latin typeface="Calibri"/>
                        <a:ea typeface="Calibri"/>
                        <a:cs typeface="Calibri"/>
                        <a:sym typeface="Calibri"/>
                      </a:endParaRPr>
                    </a:p>
                  </a:txBody>
                  <a:tcPr marL="91425" marR="91425" marT="91425" marB="91425"/>
                </a:tc>
                <a:tc>
                  <a:txBody>
                    <a:bodyPr/>
                    <a:lstStyle/>
                    <a:p>
                      <a:pPr marL="0" lvl="0" indent="0" algn="ctr" rtl="0">
                        <a:lnSpc>
                          <a:spcPct val="115000"/>
                        </a:lnSpc>
                        <a:spcBef>
                          <a:spcPts val="0"/>
                        </a:spcBef>
                        <a:spcAft>
                          <a:spcPts val="0"/>
                        </a:spcAft>
                        <a:buNone/>
                      </a:pPr>
                      <a:r>
                        <a:rPr lang="en" sz="1300" b="1">
                          <a:solidFill>
                            <a:schemeClr val="lt1"/>
                          </a:solidFill>
                          <a:latin typeface="Calibri"/>
                          <a:ea typeface="Calibri"/>
                          <a:cs typeface="Calibri"/>
                          <a:sym typeface="Calibri"/>
                        </a:rPr>
                        <a:t>Explanation</a:t>
                      </a:r>
                      <a:endParaRPr sz="1300" b="1">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 Dynamic Size</a:t>
                      </a:r>
                      <a:endParaRPr sz="1300" b="1">
                        <a:solidFill>
                          <a:schemeClr val="lt1"/>
                        </a:solidFill>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Collections can </a:t>
                      </a:r>
                      <a:r>
                        <a:rPr lang="en" sz="1300" b="1">
                          <a:solidFill>
                            <a:schemeClr val="lt1"/>
                          </a:solidFill>
                          <a:latin typeface="Calibri"/>
                          <a:ea typeface="Calibri"/>
                          <a:cs typeface="Calibri"/>
                          <a:sym typeface="Calibri"/>
                        </a:rPr>
                        <a:t>grow or shrink automatically</a:t>
                      </a:r>
                      <a:r>
                        <a:rPr lang="en" sz="1300">
                          <a:solidFill>
                            <a:schemeClr val="lt1"/>
                          </a:solidFill>
                          <a:latin typeface="Calibri"/>
                          <a:ea typeface="Calibri"/>
                          <a:cs typeface="Calibri"/>
                          <a:sym typeface="Calibri"/>
                        </a:rPr>
                        <a:t> as elements are added or removed — unlike arrays which have a fixed size.</a:t>
                      </a:r>
                      <a:endParaRPr sz="13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Type Safety (in Generic Collections)</a:t>
                      </a:r>
                      <a:endParaRPr sz="1300" b="1">
                        <a:solidFill>
                          <a:schemeClr val="lt1"/>
                        </a:solidFill>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Generic collections (like List&lt;T&gt;, Dictionary&lt;TKey, TValue&gt;) are </a:t>
                      </a:r>
                      <a:r>
                        <a:rPr lang="en" sz="1300" b="1">
                          <a:solidFill>
                            <a:schemeClr val="lt1"/>
                          </a:solidFill>
                          <a:latin typeface="Calibri"/>
                          <a:ea typeface="Calibri"/>
                          <a:cs typeface="Calibri"/>
                          <a:sym typeface="Calibri"/>
                        </a:rPr>
                        <a:t>type-safe</a:t>
                      </a:r>
                      <a:r>
                        <a:rPr lang="en" sz="1300">
                          <a:solidFill>
                            <a:schemeClr val="lt1"/>
                          </a:solidFill>
                          <a:latin typeface="Calibri"/>
                          <a:ea typeface="Calibri"/>
                          <a:cs typeface="Calibri"/>
                          <a:sym typeface="Calibri"/>
                        </a:rPr>
                        <a:t>, meaning they only store a specific data type, preventing runtime errors.</a:t>
                      </a:r>
                      <a:endParaRPr sz="13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 Data Organization</a:t>
                      </a:r>
                      <a:endParaRPr sz="1300" b="1">
                        <a:solidFill>
                          <a:schemeClr val="lt1"/>
                        </a:solidFill>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Collections provide </a:t>
                      </a:r>
                      <a:r>
                        <a:rPr lang="en" sz="1300" b="1">
                          <a:solidFill>
                            <a:schemeClr val="lt1"/>
                          </a:solidFill>
                          <a:latin typeface="Calibri"/>
                          <a:ea typeface="Calibri"/>
                          <a:cs typeface="Calibri"/>
                          <a:sym typeface="Calibri"/>
                        </a:rPr>
                        <a:t>structured ways</a:t>
                      </a:r>
                      <a:r>
                        <a:rPr lang="en" sz="1300">
                          <a:solidFill>
                            <a:schemeClr val="lt1"/>
                          </a:solidFill>
                          <a:latin typeface="Calibri"/>
                          <a:ea typeface="Calibri"/>
                          <a:cs typeface="Calibri"/>
                          <a:sym typeface="Calibri"/>
                        </a:rPr>
                        <a:t> to store data — like lists (ordered), sets (unique elements), or dictionaries (key-value pairs).</a:t>
                      </a:r>
                      <a:endParaRPr sz="13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Rich Built-in Methods</a:t>
                      </a:r>
                      <a:endParaRPr sz="1300" b="1">
                        <a:solidFill>
                          <a:schemeClr val="lt1"/>
                        </a:solidFill>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Collections have </a:t>
                      </a:r>
                      <a:r>
                        <a:rPr lang="en" sz="1300" b="1">
                          <a:solidFill>
                            <a:schemeClr val="lt1"/>
                          </a:solidFill>
                          <a:latin typeface="Calibri"/>
                          <a:ea typeface="Calibri"/>
                          <a:cs typeface="Calibri"/>
                          <a:sym typeface="Calibri"/>
                        </a:rPr>
                        <a:t>many methods</a:t>
                      </a:r>
                      <a:r>
                        <a:rPr lang="en" sz="1300">
                          <a:solidFill>
                            <a:schemeClr val="lt1"/>
                          </a:solidFill>
                          <a:latin typeface="Calibri"/>
                          <a:ea typeface="Calibri"/>
                          <a:cs typeface="Calibri"/>
                          <a:sym typeface="Calibri"/>
                        </a:rPr>
                        <a:t> such as Add(), Remove(), Contains(), Sort(), Find(), and Clear() to make data management easier.</a:t>
                      </a:r>
                      <a:endParaRPr sz="1300">
                        <a:solidFill>
                          <a:schemeClr val="lt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graphicFrame>
        <p:nvGraphicFramePr>
          <p:cNvPr id="1089" name="Google Shape;1089;p179"/>
          <p:cNvGraphicFramePr/>
          <p:nvPr/>
        </p:nvGraphicFramePr>
        <p:xfrm>
          <a:off x="952500" y="684466"/>
          <a:ext cx="7577925" cy="4284580"/>
        </p:xfrm>
        <a:graphic>
          <a:graphicData uri="http://schemas.openxmlformats.org/drawingml/2006/table">
            <a:tbl>
              <a:tblPr>
                <a:noFill/>
                <a:tableStyleId>{52AF7735-1A30-4EDB-8E02-57A44A249223}</a:tableStyleId>
              </a:tblPr>
              <a:tblGrid>
                <a:gridCol w="3048100">
                  <a:extLst>
                    <a:ext uri="{9D8B030D-6E8A-4147-A177-3AD203B41FA5}">
                      <a16:colId xmlns:a16="http://schemas.microsoft.com/office/drawing/2014/main" val="20000"/>
                    </a:ext>
                  </a:extLst>
                </a:gridCol>
                <a:gridCol w="4529825">
                  <a:extLst>
                    <a:ext uri="{9D8B030D-6E8A-4147-A177-3AD203B41FA5}">
                      <a16:colId xmlns:a16="http://schemas.microsoft.com/office/drawing/2014/main" val="20001"/>
                    </a:ext>
                  </a:extLst>
                </a:gridCol>
              </a:tblGrid>
              <a:tr h="381000">
                <a:tc>
                  <a:txBody>
                    <a:bodyPr/>
                    <a:lstStyle/>
                    <a:p>
                      <a:pPr marL="0" lvl="0" indent="0" algn="ctr" rtl="0">
                        <a:lnSpc>
                          <a:spcPct val="115000"/>
                        </a:lnSpc>
                        <a:spcBef>
                          <a:spcPts val="0"/>
                        </a:spcBef>
                        <a:spcAft>
                          <a:spcPts val="0"/>
                        </a:spcAft>
                        <a:buNone/>
                      </a:pPr>
                      <a:r>
                        <a:rPr lang="en" b="1">
                          <a:solidFill>
                            <a:schemeClr val="lt1"/>
                          </a:solidFill>
                          <a:latin typeface="Calibri"/>
                          <a:ea typeface="Calibri"/>
                          <a:cs typeface="Calibri"/>
                          <a:sym typeface="Calibri"/>
                        </a:rPr>
                        <a:t>Characteristic</a:t>
                      </a:r>
                      <a:endParaRPr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solidFill>
                            <a:schemeClr val="lt1"/>
                          </a:solidFill>
                          <a:latin typeface="Calibri"/>
                          <a:ea typeface="Calibri"/>
                          <a:cs typeface="Calibri"/>
                          <a:sym typeface="Calibri"/>
                        </a:rPr>
                        <a:t>Explanation</a:t>
                      </a:r>
                      <a:endParaRPr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Iteration Support</a:t>
                      </a:r>
                      <a:endParaRPr sz="1300"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Most collections implement the IEnumerable or IEnumerable&lt;T&gt; interface, so you can </a:t>
                      </a:r>
                      <a:r>
                        <a:rPr lang="en" sz="1300" b="1">
                          <a:solidFill>
                            <a:schemeClr val="lt1"/>
                          </a:solidFill>
                          <a:latin typeface="Calibri"/>
                          <a:ea typeface="Calibri"/>
                          <a:cs typeface="Calibri"/>
                          <a:sym typeface="Calibri"/>
                        </a:rPr>
                        <a:t>loop</a:t>
                      </a:r>
                      <a:r>
                        <a:rPr lang="en" sz="1300">
                          <a:solidFill>
                            <a:schemeClr val="lt1"/>
                          </a:solidFill>
                          <a:latin typeface="Calibri"/>
                          <a:ea typeface="Calibri"/>
                          <a:cs typeface="Calibri"/>
                          <a:sym typeface="Calibri"/>
                        </a:rPr>
                        <a:t> through them using foreach.</a:t>
                      </a:r>
                      <a:endParaRPr sz="1300">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Flexibility</a:t>
                      </a:r>
                      <a:endParaRPr sz="1300"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Collections can store </a:t>
                      </a:r>
                      <a:r>
                        <a:rPr lang="en" sz="1300" b="1">
                          <a:solidFill>
                            <a:schemeClr val="lt1"/>
                          </a:solidFill>
                          <a:latin typeface="Calibri"/>
                          <a:ea typeface="Calibri"/>
                          <a:cs typeface="Calibri"/>
                          <a:sym typeface="Calibri"/>
                        </a:rPr>
                        <a:t>primitive types</a:t>
                      </a:r>
                      <a:r>
                        <a:rPr lang="en" sz="1300">
                          <a:solidFill>
                            <a:schemeClr val="lt1"/>
                          </a:solidFill>
                          <a:latin typeface="Calibri"/>
                          <a:ea typeface="Calibri"/>
                          <a:cs typeface="Calibri"/>
                          <a:sym typeface="Calibri"/>
                        </a:rPr>
                        <a:t> (like int, string) and </a:t>
                      </a:r>
                      <a:r>
                        <a:rPr lang="en" sz="1300" b="1">
                          <a:solidFill>
                            <a:schemeClr val="lt1"/>
                          </a:solidFill>
                          <a:latin typeface="Calibri"/>
                          <a:ea typeface="Calibri"/>
                          <a:cs typeface="Calibri"/>
                          <a:sym typeface="Calibri"/>
                        </a:rPr>
                        <a:t>custom objects</a:t>
                      </a:r>
                      <a:r>
                        <a:rPr lang="en" sz="1300">
                          <a:solidFill>
                            <a:schemeClr val="lt1"/>
                          </a:solidFill>
                          <a:latin typeface="Calibri"/>
                          <a:ea typeface="Calibri"/>
                          <a:cs typeface="Calibri"/>
                          <a:sym typeface="Calibri"/>
                        </a:rPr>
                        <a:t> (like Student, Employee).</a:t>
                      </a:r>
                      <a:endParaRPr sz="1300">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Performance</a:t>
                      </a:r>
                      <a:endParaRPr sz="1300"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Different collection types are optimized for different operations — for example, List&lt;T&gt; is fast for sequential access, while Dictionary&lt;TKey, TValue&gt; is fast for lookups.</a:t>
                      </a:r>
                      <a:endParaRPr sz="1300">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Memory Management</a:t>
                      </a:r>
                      <a:endParaRPr sz="1300"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Collections handle memory automatically — when elements are added or removed, the collection manages the internal storage.</a:t>
                      </a:r>
                      <a:endParaRPr sz="1300">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Sorting and Searching</a:t>
                      </a:r>
                      <a:endParaRPr sz="1300"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Many collections provide </a:t>
                      </a:r>
                      <a:r>
                        <a:rPr lang="en" sz="1300" b="1">
                          <a:solidFill>
                            <a:schemeClr val="lt1"/>
                          </a:solidFill>
                          <a:latin typeface="Calibri"/>
                          <a:ea typeface="Calibri"/>
                          <a:cs typeface="Calibri"/>
                          <a:sym typeface="Calibri"/>
                        </a:rPr>
                        <a:t>built-in sorting</a:t>
                      </a:r>
                      <a:r>
                        <a:rPr lang="en" sz="1300">
                          <a:solidFill>
                            <a:schemeClr val="lt1"/>
                          </a:solidFill>
                          <a:latin typeface="Calibri"/>
                          <a:ea typeface="Calibri"/>
                          <a:cs typeface="Calibri"/>
                          <a:sym typeface="Calibri"/>
                        </a:rPr>
                        <a:t> and </a:t>
                      </a:r>
                      <a:r>
                        <a:rPr lang="en" sz="1300" b="1">
                          <a:solidFill>
                            <a:schemeClr val="lt1"/>
                          </a:solidFill>
                          <a:latin typeface="Calibri"/>
                          <a:ea typeface="Calibri"/>
                          <a:cs typeface="Calibri"/>
                          <a:sym typeface="Calibri"/>
                        </a:rPr>
                        <a:t>searching</a:t>
                      </a:r>
                      <a:r>
                        <a:rPr lang="en" sz="1300">
                          <a:solidFill>
                            <a:schemeClr val="lt1"/>
                          </a:solidFill>
                          <a:latin typeface="Calibri"/>
                          <a:ea typeface="Calibri"/>
                          <a:cs typeface="Calibri"/>
                          <a:sym typeface="Calibri"/>
                        </a:rPr>
                        <a:t> capabilities (e.g., SortedList, List&lt;T&gt;.Sort()).</a:t>
                      </a:r>
                      <a:endParaRPr sz="1300">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Thread Safety (Concurrent Collections)</a:t>
                      </a:r>
                      <a:endParaRPr sz="1300" b="1">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chemeClr val="lt1"/>
                          </a:solidFill>
                          <a:latin typeface="Calibri"/>
                          <a:ea typeface="Calibri"/>
                          <a:cs typeface="Calibri"/>
                          <a:sym typeface="Calibri"/>
                        </a:rPr>
                        <a:t>Collections under System.Collections.Concurrent are </a:t>
                      </a:r>
                      <a:r>
                        <a:rPr lang="en" sz="1300" b="1">
                          <a:solidFill>
                            <a:schemeClr val="lt1"/>
                          </a:solidFill>
                          <a:latin typeface="Calibri"/>
                          <a:ea typeface="Calibri"/>
                          <a:cs typeface="Calibri"/>
                          <a:sym typeface="Calibri"/>
                        </a:rPr>
                        <a:t>thread-safe</a:t>
                      </a:r>
                      <a:r>
                        <a:rPr lang="en" sz="1300">
                          <a:solidFill>
                            <a:schemeClr val="lt1"/>
                          </a:solidFill>
                          <a:latin typeface="Calibri"/>
                          <a:ea typeface="Calibri"/>
                          <a:cs typeface="Calibri"/>
                          <a:sym typeface="Calibri"/>
                        </a:rPr>
                        <a:t>, making them safe to use in multi-threaded environments.</a:t>
                      </a:r>
                      <a:endParaRPr sz="1300">
                        <a:solidFill>
                          <a:schemeClr val="lt1"/>
                        </a:solidFill>
                        <a:latin typeface="Calibri"/>
                        <a:ea typeface="Calibri"/>
                        <a:cs typeface="Calibri"/>
                        <a:sym typeface="Calibri"/>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18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NON-GENRIC COLLECTIONS</a:t>
            </a:r>
            <a:endParaRPr/>
          </a:p>
        </p:txBody>
      </p:sp>
      <p:sp>
        <p:nvSpPr>
          <p:cNvPr id="1095" name="Google Shape;1095;p18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1200"/>
              </a:spcBef>
              <a:spcAft>
                <a:spcPts val="0"/>
              </a:spcAft>
              <a:buSzPts val="1400"/>
              <a:buChar char="•"/>
            </a:pPr>
            <a:r>
              <a:rPr lang="en" sz="1400" b="1">
                <a:latin typeface="Calibri"/>
                <a:ea typeface="Calibri"/>
                <a:cs typeface="Calibri"/>
                <a:sym typeface="Calibri"/>
              </a:rPr>
              <a:t>Non-Generic Collections</a:t>
            </a:r>
            <a:r>
              <a:rPr lang="en" sz="1400">
                <a:latin typeface="Calibri"/>
                <a:ea typeface="Calibri"/>
                <a:cs typeface="Calibri"/>
                <a:sym typeface="Calibri"/>
              </a:rPr>
              <a:t> are a set of </a:t>
            </a:r>
            <a:r>
              <a:rPr lang="en" sz="1400" b="1">
                <a:latin typeface="Calibri"/>
                <a:ea typeface="Calibri"/>
                <a:cs typeface="Calibri"/>
                <a:sym typeface="Calibri"/>
              </a:rPr>
              <a:t>classes in the System.Collections namespace</a:t>
            </a:r>
            <a:r>
              <a:rPr lang="en" sz="1400">
                <a:latin typeface="Calibri"/>
                <a:ea typeface="Calibri"/>
                <a:cs typeface="Calibri"/>
                <a:sym typeface="Calibri"/>
              </a:rPr>
              <a:t> that were introduced before generics were added to .NET (in .NET Framework 1.0).</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Char char="•"/>
            </a:pPr>
            <a:r>
              <a:rPr lang="en" sz="1400">
                <a:latin typeface="Calibri"/>
                <a:ea typeface="Calibri"/>
                <a:cs typeface="Calibri"/>
                <a:sym typeface="Calibri"/>
              </a:rPr>
              <a:t>These collections use boxing and unboxing to convert value types into objects when storing them, and back to their original types when retrieving them. This process can lead to performance overhead.</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Non-generic collections provide the same core functionalities as generic collections — such as adding, removing, and retrieving items — but they lack type safety. Because they store data as object, there’s a risk of runtime errors if an incorrect data type is used during casting.</a:t>
            </a:r>
            <a:endParaRPr sz="1400">
              <a:latin typeface="Calibri"/>
              <a:ea typeface="Calibri"/>
              <a:cs typeface="Calibri"/>
              <a:sym typeface="Calibri"/>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18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101" name="Google Shape;1101;p18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400" b="1">
                <a:latin typeface="Calibri"/>
                <a:ea typeface="Calibri"/>
                <a:cs typeface="Calibri"/>
                <a:sym typeface="Calibri"/>
              </a:rPr>
              <a:t>1. Type Safety</a:t>
            </a:r>
            <a:endParaRPr sz="14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Non-Generic Collections are </a:t>
            </a:r>
            <a:r>
              <a:rPr lang="en" sz="1400" b="1">
                <a:latin typeface="Calibri"/>
                <a:ea typeface="Calibri"/>
                <a:cs typeface="Calibri"/>
                <a:sym typeface="Calibri"/>
              </a:rPr>
              <a:t>not type-safe</a:t>
            </a:r>
            <a:r>
              <a:rPr lang="en" sz="1400">
                <a:latin typeface="Calibri"/>
                <a:ea typeface="Calibri"/>
                <a:cs typeface="Calibri"/>
                <a:sym typeface="Calibri"/>
              </a:rPr>
              <a:t> because they store all elements as object.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Any type of data (int, string, etc.) can be added to the same collection.</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This flexibility can lead to </a:t>
            </a:r>
            <a:r>
              <a:rPr lang="en" sz="1400" b="1">
                <a:latin typeface="Calibri"/>
                <a:ea typeface="Calibri"/>
                <a:cs typeface="Calibri"/>
                <a:sym typeface="Calibri"/>
              </a:rPr>
              <a:t>runtime errors</a:t>
            </a:r>
            <a:r>
              <a:rPr lang="en" sz="1400">
                <a:latin typeface="Calibri"/>
                <a:ea typeface="Calibri"/>
                <a:cs typeface="Calibri"/>
                <a:sym typeface="Calibri"/>
              </a:rPr>
              <a:t> if data types are mismatched.</a:t>
            </a:r>
            <a:endParaRPr sz="1400">
              <a:latin typeface="Calibri"/>
              <a:ea typeface="Calibri"/>
              <a:cs typeface="Calibri"/>
              <a:sym typeface="Calibri"/>
            </a:endParaRPr>
          </a:p>
          <a:p>
            <a:pPr marL="0" lvl="0" indent="0" algn="l" rtl="0">
              <a:lnSpc>
                <a:spcPct val="115000"/>
              </a:lnSpc>
              <a:spcBef>
                <a:spcPts val="1200"/>
              </a:spcBef>
              <a:spcAft>
                <a:spcPts val="0"/>
              </a:spcAft>
              <a:buNone/>
            </a:pPr>
            <a:r>
              <a:rPr lang="en" sz="1400" b="1">
                <a:latin typeface="Calibri"/>
                <a:ea typeface="Calibri"/>
                <a:cs typeface="Calibri"/>
                <a:sym typeface="Calibri"/>
              </a:rPr>
              <a:t> 2. Boxing and Unboxing</a:t>
            </a:r>
            <a:endParaRPr sz="14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When storing </a:t>
            </a:r>
            <a:r>
              <a:rPr lang="en" sz="1400" b="1">
                <a:latin typeface="Calibri"/>
                <a:ea typeface="Calibri"/>
                <a:cs typeface="Calibri"/>
                <a:sym typeface="Calibri"/>
              </a:rPr>
              <a:t>value types</a:t>
            </a:r>
            <a:r>
              <a:rPr lang="en" sz="1400">
                <a:latin typeface="Calibri"/>
                <a:ea typeface="Calibri"/>
                <a:cs typeface="Calibri"/>
                <a:sym typeface="Calibri"/>
              </a:rPr>
              <a:t> (e.g., int, double, struct), the data is </a:t>
            </a:r>
            <a:r>
              <a:rPr lang="en" sz="1400" b="1">
                <a:latin typeface="Calibri"/>
                <a:ea typeface="Calibri"/>
                <a:cs typeface="Calibri"/>
                <a:sym typeface="Calibri"/>
              </a:rPr>
              <a:t>boxed</a:t>
            </a:r>
            <a:r>
              <a:rPr lang="en" sz="1400">
                <a:latin typeface="Calibri"/>
                <a:ea typeface="Calibri"/>
                <a:cs typeface="Calibri"/>
                <a:sym typeface="Calibri"/>
              </a:rPr>
              <a:t> — converted to an object.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When retrieving, it must be </a:t>
            </a:r>
            <a:r>
              <a:rPr lang="en" sz="1400" b="1">
                <a:latin typeface="Calibri"/>
                <a:ea typeface="Calibri"/>
                <a:cs typeface="Calibri"/>
                <a:sym typeface="Calibri"/>
              </a:rPr>
              <a:t>unboxed</a:t>
            </a:r>
            <a:r>
              <a:rPr lang="en" sz="1400">
                <a:latin typeface="Calibri"/>
                <a:ea typeface="Calibri"/>
                <a:cs typeface="Calibri"/>
                <a:sym typeface="Calibri"/>
              </a:rPr>
              <a:t> — converted back to its original type.</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This </a:t>
            </a:r>
            <a:r>
              <a:rPr lang="en" sz="1400" b="1">
                <a:latin typeface="Calibri"/>
                <a:ea typeface="Calibri"/>
                <a:cs typeface="Calibri"/>
                <a:sym typeface="Calibri"/>
              </a:rPr>
              <a:t>boxing/unboxing process</a:t>
            </a:r>
            <a:r>
              <a:rPr lang="en" sz="1400">
                <a:latin typeface="Calibri"/>
                <a:ea typeface="Calibri"/>
                <a:cs typeface="Calibri"/>
                <a:sym typeface="Calibri"/>
              </a:rPr>
              <a:t> causes </a:t>
            </a:r>
            <a:r>
              <a:rPr lang="en" sz="1400" b="1">
                <a:latin typeface="Calibri"/>
                <a:ea typeface="Calibri"/>
                <a:cs typeface="Calibri"/>
                <a:sym typeface="Calibri"/>
              </a:rPr>
              <a:t>performance overhead</a:t>
            </a:r>
            <a:r>
              <a:rPr lang="en" sz="1400">
                <a:latin typeface="Calibri"/>
                <a:ea typeface="Calibri"/>
                <a:cs typeface="Calibri"/>
                <a:sym typeface="Calibri"/>
              </a:rPr>
              <a:t>.</a:t>
            </a:r>
            <a:br>
              <a:rPr lang="en" sz="1400">
                <a:latin typeface="Calibri"/>
                <a:ea typeface="Calibri"/>
                <a:cs typeface="Calibri"/>
                <a:sym typeface="Calibri"/>
              </a:rPr>
            </a:br>
            <a:r>
              <a:rPr lang="en" sz="1400" b="1">
                <a:latin typeface="Calibri"/>
                <a:ea typeface="Calibri"/>
                <a:cs typeface="Calibri"/>
                <a:sym typeface="Calibri"/>
              </a:rPr>
              <a:t> </a:t>
            </a:r>
            <a:endParaRPr sz="1400">
              <a:latin typeface="Calibri"/>
              <a:ea typeface="Calibri"/>
              <a:cs typeface="Calibri"/>
              <a:sym typeface="Calibri"/>
            </a:endParaRPr>
          </a:p>
          <a:p>
            <a:pPr marL="0" lvl="0" indent="0" algn="l" rtl="0">
              <a:spcBef>
                <a:spcPts val="1200"/>
              </a:spcBef>
              <a:spcAft>
                <a:spcPts val="0"/>
              </a:spcAft>
              <a:buNone/>
            </a:pPr>
            <a:endParaRPr sz="1400">
              <a:latin typeface="Calibri"/>
              <a:ea typeface="Calibri"/>
              <a:cs typeface="Calibri"/>
              <a:sym typeface="Calibri"/>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18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107" name="Google Shape;1107;p18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 sz="1400" b="1">
                <a:latin typeface="Calibri"/>
                <a:ea typeface="Calibri"/>
                <a:cs typeface="Calibri"/>
                <a:sym typeface="Calibri"/>
              </a:rPr>
              <a:t>3. Explicit Casting</a:t>
            </a:r>
            <a:endParaRPr sz="14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When you retrieve elements from a </a:t>
            </a:r>
            <a:r>
              <a:rPr lang="en" sz="1400" b="1">
                <a:latin typeface="Calibri"/>
                <a:ea typeface="Calibri"/>
                <a:cs typeface="Calibri"/>
                <a:sym typeface="Calibri"/>
              </a:rPr>
              <a:t>non-generic collection</a:t>
            </a:r>
            <a:r>
              <a:rPr lang="en" sz="1400">
                <a:latin typeface="Calibri"/>
                <a:ea typeface="Calibri"/>
                <a:cs typeface="Calibri"/>
                <a:sym typeface="Calibri"/>
              </a:rPr>
              <a:t>, they are returned as </a:t>
            </a:r>
            <a:r>
              <a:rPr lang="en" sz="1400" b="1">
                <a:latin typeface="Calibri"/>
                <a:ea typeface="Calibri"/>
                <a:cs typeface="Calibri"/>
                <a:sym typeface="Calibri"/>
              </a:rPr>
              <a:t>objects</a:t>
            </a:r>
            <a:r>
              <a:rPr lang="en" sz="1400">
                <a:latin typeface="Calibri"/>
                <a:ea typeface="Calibri"/>
                <a:cs typeface="Calibri"/>
                <a:sym typeface="Calibri"/>
              </a:rPr>
              <a:t>, not as their original data types.</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So, you must </a:t>
            </a:r>
            <a:r>
              <a:rPr lang="en" sz="1400" b="1">
                <a:latin typeface="Calibri"/>
                <a:ea typeface="Calibri"/>
                <a:cs typeface="Calibri"/>
                <a:sym typeface="Calibri"/>
              </a:rPr>
              <a:t>explicitly cast</a:t>
            </a:r>
            <a:r>
              <a:rPr lang="en" sz="1400">
                <a:latin typeface="Calibri"/>
                <a:ea typeface="Calibri"/>
                <a:cs typeface="Calibri"/>
                <a:sym typeface="Calibri"/>
              </a:rPr>
              <a:t> each element back to its actual type (for example, converting an object back to an int or string).</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This process is called </a:t>
            </a:r>
            <a:r>
              <a:rPr lang="en" sz="1400" b="1">
                <a:latin typeface="Calibri"/>
                <a:ea typeface="Calibri"/>
                <a:cs typeface="Calibri"/>
                <a:sym typeface="Calibri"/>
              </a:rPr>
              <a:t>explicit casting</a:t>
            </a:r>
            <a:r>
              <a:rPr lang="en" sz="1400">
                <a:latin typeface="Calibri"/>
                <a:ea typeface="Calibri"/>
                <a:cs typeface="Calibri"/>
                <a:sym typeface="Calibri"/>
              </a:rPr>
              <a:t>, and it can be </a:t>
            </a:r>
            <a:r>
              <a:rPr lang="en" sz="1400" b="1">
                <a:latin typeface="Calibri"/>
                <a:ea typeface="Calibri"/>
                <a:cs typeface="Calibri"/>
                <a:sym typeface="Calibri"/>
              </a:rPr>
              <a:t>time-consuming</a:t>
            </a:r>
            <a:r>
              <a:rPr lang="en" sz="1400">
                <a:latin typeface="Calibri"/>
                <a:ea typeface="Calibri"/>
                <a:cs typeface="Calibri"/>
                <a:sym typeface="Calibri"/>
              </a:rPr>
              <a:t> and </a:t>
            </a:r>
            <a:r>
              <a:rPr lang="en" sz="1400" b="1">
                <a:latin typeface="Calibri"/>
                <a:ea typeface="Calibri"/>
                <a:cs typeface="Calibri"/>
                <a:sym typeface="Calibri"/>
              </a:rPr>
              <a:t>error-prone</a:t>
            </a:r>
            <a:r>
              <a:rPr lang="en" sz="1400">
                <a:latin typeface="Calibri"/>
                <a:ea typeface="Calibri"/>
                <a:cs typeface="Calibri"/>
                <a:sym typeface="Calibri"/>
              </a:rPr>
              <a:t>, especially if the wrong data type is used during casting — it can cause a </a:t>
            </a:r>
            <a:r>
              <a:rPr lang="en" sz="1400" b="1">
                <a:latin typeface="Calibri"/>
                <a:ea typeface="Calibri"/>
                <a:cs typeface="Calibri"/>
                <a:sym typeface="Calibri"/>
              </a:rPr>
              <a:t>runtime error</a:t>
            </a:r>
            <a:r>
              <a:rPr lang="en" sz="1400">
                <a:latin typeface="Calibri"/>
                <a:ea typeface="Calibri"/>
                <a:cs typeface="Calibri"/>
                <a:sym typeface="Calibri"/>
              </a:rPr>
              <a:t>.</a:t>
            </a:r>
            <a:endParaRPr sz="1400">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endParaRPr sz="1400">
              <a:latin typeface="Calibri"/>
              <a:ea typeface="Calibri"/>
              <a:cs typeface="Calibri"/>
              <a:sym typeface="Calibri"/>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8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113" name="Google Shape;1113;p18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500" b="1">
                <a:latin typeface="Calibri"/>
                <a:ea typeface="Calibri"/>
                <a:cs typeface="Calibri"/>
                <a:sym typeface="Calibri"/>
              </a:rPr>
              <a:t>ArrayList</a:t>
            </a:r>
            <a:endParaRPr sz="1500" b="1">
              <a:latin typeface="Calibri"/>
              <a:ea typeface="Calibri"/>
              <a:cs typeface="Calibri"/>
              <a:sym typeface="Calibri"/>
            </a:endParaRPr>
          </a:p>
          <a:p>
            <a:pPr marL="457200" lvl="0" indent="-311150" algn="l" rtl="0">
              <a:lnSpc>
                <a:spcPct val="115000"/>
              </a:lnSpc>
              <a:spcBef>
                <a:spcPts val="1200"/>
              </a:spcBef>
              <a:spcAft>
                <a:spcPts val="0"/>
              </a:spcAft>
              <a:buSzPts val="1300"/>
              <a:buFont typeface="Calibri"/>
              <a:buChar char="•"/>
            </a:pPr>
            <a:r>
              <a:rPr lang="en" sz="1300">
                <a:latin typeface="Calibri"/>
                <a:ea typeface="Calibri"/>
                <a:cs typeface="Calibri"/>
                <a:sym typeface="Calibri"/>
              </a:rPr>
              <a:t>Stores </a:t>
            </a:r>
            <a:r>
              <a:rPr lang="en" sz="1300" b="1">
                <a:latin typeface="Calibri"/>
                <a:ea typeface="Calibri"/>
                <a:cs typeface="Calibri"/>
                <a:sym typeface="Calibri"/>
              </a:rPr>
              <a:t>any type of data</a:t>
            </a:r>
            <a:r>
              <a:rPr lang="en" sz="1300">
                <a:latin typeface="Calibri"/>
                <a:ea typeface="Calibri"/>
                <a:cs typeface="Calibri"/>
                <a:sym typeface="Calibri"/>
              </a:rPr>
              <a:t> (int, string, double, etc.)</a:t>
            </a:r>
            <a:endParaRPr sz="1300">
              <a:latin typeface="Calibri"/>
              <a:ea typeface="Calibri"/>
              <a:cs typeface="Calibri"/>
              <a:sym typeface="Calibri"/>
            </a:endParaRPr>
          </a:p>
          <a:p>
            <a:pPr marL="457200" lvl="0" indent="-311150" algn="l" rtl="0">
              <a:lnSpc>
                <a:spcPct val="115000"/>
              </a:lnSpc>
              <a:spcBef>
                <a:spcPts val="0"/>
              </a:spcBef>
              <a:spcAft>
                <a:spcPts val="0"/>
              </a:spcAft>
              <a:buSzPts val="1300"/>
              <a:buFont typeface="Calibri"/>
              <a:buChar char="•"/>
            </a:pPr>
            <a:r>
              <a:rPr lang="en" sz="1300" b="1">
                <a:latin typeface="Calibri"/>
                <a:ea typeface="Calibri"/>
                <a:cs typeface="Calibri"/>
                <a:sym typeface="Calibri"/>
              </a:rPr>
              <a:t>Size increases automatically</a:t>
            </a:r>
            <a:r>
              <a:rPr lang="en" sz="1300">
                <a:latin typeface="Calibri"/>
                <a:ea typeface="Calibri"/>
                <a:cs typeface="Calibri"/>
                <a:sym typeface="Calibri"/>
              </a:rPr>
              <a:t> when new elements are added.</a:t>
            </a:r>
            <a:endParaRPr sz="1300">
              <a:latin typeface="Calibri"/>
              <a:ea typeface="Calibri"/>
              <a:cs typeface="Calibri"/>
              <a:sym typeface="Calibri"/>
            </a:endParaRPr>
          </a:p>
          <a:p>
            <a:pPr marL="457200" lvl="0" indent="-311150" algn="l" rtl="0">
              <a:lnSpc>
                <a:spcPct val="115000"/>
              </a:lnSpc>
              <a:spcBef>
                <a:spcPts val="0"/>
              </a:spcBef>
              <a:spcAft>
                <a:spcPts val="0"/>
              </a:spcAft>
              <a:buSzPts val="1300"/>
              <a:buFont typeface="Calibri"/>
              <a:buChar char="•"/>
            </a:pPr>
            <a:r>
              <a:rPr lang="en" sz="1300">
                <a:latin typeface="Calibri"/>
                <a:ea typeface="Calibri"/>
                <a:cs typeface="Calibri"/>
                <a:sym typeface="Calibri"/>
              </a:rPr>
              <a:t>Uses </a:t>
            </a:r>
            <a:r>
              <a:rPr lang="en" sz="1300" b="1">
                <a:latin typeface="Calibri"/>
                <a:ea typeface="Calibri"/>
                <a:cs typeface="Calibri"/>
                <a:sym typeface="Calibri"/>
              </a:rPr>
              <a:t>index numbers</a:t>
            </a:r>
            <a:r>
              <a:rPr lang="en" sz="1300">
                <a:latin typeface="Calibri"/>
                <a:ea typeface="Calibri"/>
                <a:cs typeface="Calibri"/>
                <a:sym typeface="Calibri"/>
              </a:rPr>
              <a:t> to access items.</a:t>
            </a:r>
            <a:endParaRPr sz="1300">
              <a:latin typeface="Calibri"/>
              <a:ea typeface="Calibri"/>
              <a:cs typeface="Calibri"/>
              <a:sym typeface="Calibri"/>
            </a:endParaRPr>
          </a:p>
          <a:p>
            <a:pPr marL="457200" lvl="0" indent="-311150" algn="l" rtl="0">
              <a:lnSpc>
                <a:spcPct val="115000"/>
              </a:lnSpc>
              <a:spcBef>
                <a:spcPts val="0"/>
              </a:spcBef>
              <a:spcAft>
                <a:spcPts val="0"/>
              </a:spcAft>
              <a:buSzPts val="1300"/>
              <a:buFont typeface="Calibri"/>
              <a:buChar char="•"/>
            </a:pPr>
            <a:r>
              <a:rPr lang="en" sz="1300">
                <a:latin typeface="Calibri"/>
                <a:ea typeface="Calibri"/>
                <a:cs typeface="Calibri"/>
                <a:sym typeface="Calibri"/>
              </a:rPr>
              <a:t>Internally stores all elements as </a:t>
            </a:r>
            <a:r>
              <a:rPr lang="en" sz="1300" b="1">
                <a:latin typeface="Calibri"/>
                <a:ea typeface="Calibri"/>
                <a:cs typeface="Calibri"/>
                <a:sym typeface="Calibri"/>
              </a:rPr>
              <a:t>objects</a:t>
            </a:r>
            <a:r>
              <a:rPr lang="en" sz="1300">
                <a:latin typeface="Calibri"/>
                <a:ea typeface="Calibri"/>
                <a:cs typeface="Calibri"/>
                <a:sym typeface="Calibri"/>
              </a:rPr>
              <a:t> (needs boxing/unboxing).</a:t>
            </a:r>
            <a:endParaRPr sz="1300">
              <a:latin typeface="Calibri"/>
              <a:ea typeface="Calibri"/>
              <a:cs typeface="Calibri"/>
              <a:sym typeface="Calibri"/>
            </a:endParaRPr>
          </a:p>
          <a:p>
            <a:pPr marL="0" lvl="0" indent="0" algn="l" rtl="0">
              <a:lnSpc>
                <a:spcPct val="115000"/>
              </a:lnSpc>
              <a:spcBef>
                <a:spcPts val="1400"/>
              </a:spcBef>
              <a:spcAft>
                <a:spcPts val="0"/>
              </a:spcAft>
              <a:buClr>
                <a:schemeClr val="dk1"/>
              </a:buClr>
              <a:buSzPts val="1100"/>
              <a:buFont typeface="Arial"/>
              <a:buNone/>
            </a:pPr>
            <a:r>
              <a:rPr lang="en" sz="1500" b="1">
                <a:latin typeface="Calibri"/>
                <a:ea typeface="Calibri"/>
                <a:cs typeface="Calibri"/>
                <a:sym typeface="Calibri"/>
              </a:rPr>
              <a:t>Hashtable</a:t>
            </a:r>
            <a:endParaRPr sz="1500" b="1">
              <a:latin typeface="Calibri"/>
              <a:ea typeface="Calibri"/>
              <a:cs typeface="Calibri"/>
              <a:sym typeface="Calibri"/>
            </a:endParaRPr>
          </a:p>
          <a:p>
            <a:pPr marL="457200" lvl="0" indent="-311150" algn="l" rtl="0">
              <a:lnSpc>
                <a:spcPct val="115000"/>
              </a:lnSpc>
              <a:spcBef>
                <a:spcPts val="1200"/>
              </a:spcBef>
              <a:spcAft>
                <a:spcPts val="0"/>
              </a:spcAft>
              <a:buSzPts val="1300"/>
              <a:buFont typeface="Calibri"/>
              <a:buChar char="•"/>
            </a:pPr>
            <a:r>
              <a:rPr lang="en" sz="1300">
                <a:latin typeface="Calibri"/>
                <a:ea typeface="Calibri"/>
                <a:cs typeface="Calibri"/>
                <a:sym typeface="Calibri"/>
              </a:rPr>
              <a:t>Stores </a:t>
            </a:r>
            <a:r>
              <a:rPr lang="en" sz="1300" b="1">
                <a:latin typeface="Calibri"/>
                <a:ea typeface="Calibri"/>
                <a:cs typeface="Calibri"/>
                <a:sym typeface="Calibri"/>
              </a:rPr>
              <a:t>key–value pairs</a:t>
            </a:r>
            <a:r>
              <a:rPr lang="en" sz="1300">
                <a:latin typeface="Calibri"/>
                <a:ea typeface="Calibri"/>
                <a:cs typeface="Calibri"/>
                <a:sym typeface="Calibri"/>
              </a:rPr>
              <a:t> (like a dictionary).</a:t>
            </a:r>
            <a:endParaRPr sz="1300">
              <a:latin typeface="Calibri"/>
              <a:ea typeface="Calibri"/>
              <a:cs typeface="Calibri"/>
              <a:sym typeface="Calibri"/>
            </a:endParaRPr>
          </a:p>
          <a:p>
            <a:pPr marL="457200" lvl="0" indent="-311150" algn="l" rtl="0">
              <a:lnSpc>
                <a:spcPct val="115000"/>
              </a:lnSpc>
              <a:spcBef>
                <a:spcPts val="0"/>
              </a:spcBef>
              <a:spcAft>
                <a:spcPts val="0"/>
              </a:spcAft>
              <a:buSzPts val="1300"/>
              <a:buFont typeface="Calibri"/>
              <a:buChar char="•"/>
            </a:pPr>
            <a:r>
              <a:rPr lang="en" sz="1300" b="1">
                <a:latin typeface="Calibri"/>
                <a:ea typeface="Calibri"/>
                <a:cs typeface="Calibri"/>
                <a:sym typeface="Calibri"/>
              </a:rPr>
              <a:t>Keys must be unique</a:t>
            </a:r>
            <a:r>
              <a:rPr lang="en" sz="1300">
                <a:latin typeface="Calibri"/>
                <a:ea typeface="Calibri"/>
                <a:cs typeface="Calibri"/>
                <a:sym typeface="Calibri"/>
              </a:rPr>
              <a:t>, but values can be duplicate.</a:t>
            </a:r>
            <a:endParaRPr sz="1300">
              <a:latin typeface="Calibri"/>
              <a:ea typeface="Calibri"/>
              <a:cs typeface="Calibri"/>
              <a:sym typeface="Calibri"/>
            </a:endParaRPr>
          </a:p>
          <a:p>
            <a:pPr marL="457200" lvl="0" indent="-311150" algn="l" rtl="0">
              <a:lnSpc>
                <a:spcPct val="115000"/>
              </a:lnSpc>
              <a:spcBef>
                <a:spcPts val="0"/>
              </a:spcBef>
              <a:spcAft>
                <a:spcPts val="0"/>
              </a:spcAft>
              <a:buSzPts val="1300"/>
              <a:buFont typeface="Calibri"/>
              <a:buChar char="•"/>
            </a:pPr>
            <a:r>
              <a:rPr lang="en" sz="1300">
                <a:latin typeface="Calibri"/>
                <a:ea typeface="Calibri"/>
                <a:cs typeface="Calibri"/>
                <a:sym typeface="Calibri"/>
              </a:rPr>
              <a:t>Data is retrieved using the </a:t>
            </a:r>
            <a:r>
              <a:rPr lang="en" sz="1300" b="1">
                <a:latin typeface="Calibri"/>
                <a:ea typeface="Calibri"/>
                <a:cs typeface="Calibri"/>
                <a:sym typeface="Calibri"/>
              </a:rPr>
              <a:t>key</a:t>
            </a:r>
            <a:r>
              <a:rPr lang="en" sz="1300">
                <a:latin typeface="Calibri"/>
                <a:ea typeface="Calibri"/>
                <a:cs typeface="Calibri"/>
                <a:sym typeface="Calibri"/>
              </a:rPr>
              <a:t>.</a:t>
            </a:r>
            <a:endParaRPr sz="1300">
              <a:latin typeface="Calibri"/>
              <a:ea typeface="Calibri"/>
              <a:cs typeface="Calibri"/>
              <a:sym typeface="Calibri"/>
            </a:endParaRPr>
          </a:p>
          <a:p>
            <a:pPr marL="457200" lvl="0" indent="-311150" algn="l" rtl="0">
              <a:lnSpc>
                <a:spcPct val="115000"/>
              </a:lnSpc>
              <a:spcBef>
                <a:spcPts val="0"/>
              </a:spcBef>
              <a:spcAft>
                <a:spcPts val="0"/>
              </a:spcAft>
              <a:buSzPts val="1300"/>
              <a:buFont typeface="Calibri"/>
              <a:buChar char="•"/>
            </a:pPr>
            <a:r>
              <a:rPr lang="en" sz="1300">
                <a:latin typeface="Calibri"/>
                <a:ea typeface="Calibri"/>
                <a:cs typeface="Calibri"/>
                <a:sym typeface="Calibri"/>
              </a:rPr>
              <a:t>Order of items is </a:t>
            </a:r>
            <a:r>
              <a:rPr lang="en" sz="1300" b="1">
                <a:latin typeface="Calibri"/>
                <a:ea typeface="Calibri"/>
                <a:cs typeface="Calibri"/>
                <a:sym typeface="Calibri"/>
              </a:rPr>
              <a:t>not guaranteed</a:t>
            </a:r>
            <a:r>
              <a:rPr lang="en" sz="1300">
                <a:latin typeface="Calibri"/>
                <a:ea typeface="Calibri"/>
                <a:cs typeface="Calibri"/>
                <a:sym typeface="Calibri"/>
              </a:rPr>
              <a:t>.</a:t>
            </a:r>
            <a:endParaRPr sz="1300">
              <a:latin typeface="Calibri"/>
              <a:ea typeface="Calibri"/>
              <a:cs typeface="Calibri"/>
              <a:sym typeface="Calibri"/>
            </a:endParaRPr>
          </a:p>
          <a:p>
            <a:pPr marL="0" lvl="0" indent="0" algn="l" rtl="0">
              <a:lnSpc>
                <a:spcPct val="115000"/>
              </a:lnSpc>
              <a:spcBef>
                <a:spcPts val="1200"/>
              </a:spcBef>
              <a:spcAft>
                <a:spcPts val="0"/>
              </a:spcAft>
              <a:buNone/>
            </a:pPr>
            <a:endParaRPr sz="1200">
              <a:latin typeface="Calibri"/>
              <a:ea typeface="Calibri"/>
              <a:cs typeface="Calibri"/>
              <a:sym typeface="Calibri"/>
            </a:endParaRPr>
          </a:p>
          <a:p>
            <a:pPr marL="0" lvl="0" indent="0" algn="l" rtl="0">
              <a:spcBef>
                <a:spcPts val="1200"/>
              </a:spcBef>
              <a:spcAft>
                <a:spcPts val="0"/>
              </a:spcAft>
              <a:buNone/>
            </a:pPr>
            <a:endParaRPr sz="1200">
              <a:latin typeface="Calibri"/>
              <a:ea typeface="Calibri"/>
              <a:cs typeface="Calibri"/>
              <a:sym typeface="Calibri"/>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18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119" name="Google Shape;1119;p18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500" b="1">
                <a:latin typeface="Calibri"/>
                <a:ea typeface="Calibri"/>
                <a:cs typeface="Calibri"/>
                <a:sym typeface="Calibri"/>
              </a:rPr>
              <a:t>Stack</a:t>
            </a:r>
            <a:endParaRPr sz="15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Stack stores the values in LIFO style (Last In First Out). </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It provides a Push() method to add a value and Pop() &amp; Peek() methods to retrieve values. </a:t>
            </a:r>
            <a:endParaRPr sz="1400">
              <a:latin typeface="Calibri"/>
              <a:ea typeface="Calibri"/>
              <a:cs typeface="Calibri"/>
              <a:sym typeface="Calibri"/>
            </a:endParaRPr>
          </a:p>
          <a:p>
            <a:pPr marL="0" lvl="0" indent="0" algn="l" rtl="0">
              <a:spcBef>
                <a:spcPts val="1200"/>
              </a:spcBef>
              <a:spcAft>
                <a:spcPts val="0"/>
              </a:spcAft>
              <a:buNone/>
            </a:pPr>
            <a:r>
              <a:rPr lang="en" sz="1400" b="1">
                <a:latin typeface="Calibri"/>
                <a:ea typeface="Calibri"/>
                <a:cs typeface="Calibri"/>
                <a:sym typeface="Calibri"/>
              </a:rPr>
              <a:t>Queue</a:t>
            </a:r>
            <a:endParaRPr sz="14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Queue stores the values in FIFO style (First In First Out). </a:t>
            </a:r>
            <a:endParaRPr sz="14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400">
                <a:latin typeface="Calibri"/>
                <a:ea typeface="Calibri"/>
                <a:cs typeface="Calibri"/>
                <a:sym typeface="Calibri"/>
              </a:rPr>
              <a:t>It keeps the order in which the values were added. It provides an Enqueue() method to add values and a Dequeue() method to retrieve values from the collection.</a:t>
            </a:r>
            <a:r>
              <a:rPr lang="en" sz="1200">
                <a:latin typeface="Calibri"/>
                <a:ea typeface="Calibri"/>
                <a:cs typeface="Calibri"/>
                <a:sym typeface="Calibri"/>
              </a:rPr>
              <a:t> </a:t>
            </a:r>
            <a:endParaRPr sz="1200">
              <a:latin typeface="Calibri"/>
              <a:ea typeface="Calibri"/>
              <a:cs typeface="Calibri"/>
              <a:sym typeface="Calibri"/>
            </a:endParaRPr>
          </a:p>
          <a:p>
            <a:pPr marL="0" lvl="0" indent="0" algn="l" rtl="0">
              <a:spcBef>
                <a:spcPts val="1200"/>
              </a:spcBef>
              <a:spcAft>
                <a:spcPts val="0"/>
              </a:spcAft>
              <a:buNone/>
            </a:pPr>
            <a:endParaRPr sz="1200">
              <a:latin typeface="Calibri"/>
              <a:ea typeface="Calibri"/>
              <a:cs typeface="Calibri"/>
              <a:sym typeface="Calibri"/>
            </a:endParaRPr>
          </a:p>
          <a:p>
            <a:pPr marL="0" lvl="0" indent="0" algn="l" rtl="0">
              <a:spcBef>
                <a:spcPts val="800"/>
              </a:spcBef>
              <a:spcAft>
                <a:spcPts val="0"/>
              </a:spcAft>
              <a:buNone/>
            </a:pPr>
            <a:endParaRPr sz="1200">
              <a:latin typeface="Calibri"/>
              <a:ea typeface="Calibri"/>
              <a:cs typeface="Calibri"/>
              <a:sym typeface="Calibri"/>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18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125" name="Google Shape;1125;p18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1600" b="1">
                <a:latin typeface="Calibri"/>
                <a:ea typeface="Calibri"/>
                <a:cs typeface="Calibri"/>
                <a:sym typeface="Calibri"/>
              </a:rPr>
              <a:t>BitArray</a:t>
            </a:r>
            <a:endParaRPr sz="1600" b="1">
              <a:latin typeface="Calibri"/>
              <a:ea typeface="Calibri"/>
              <a:cs typeface="Calibri"/>
              <a:sym typeface="Calibri"/>
            </a:endParaRPr>
          </a:p>
          <a:p>
            <a:pPr marL="0" lvl="0" indent="0" algn="l" rtl="0">
              <a:spcBef>
                <a:spcPts val="800"/>
              </a:spcBef>
              <a:spcAft>
                <a:spcPts val="0"/>
              </a:spcAft>
              <a:buNone/>
            </a:pPr>
            <a:endParaRPr sz="1500" b="1">
              <a:latin typeface="Calibri"/>
              <a:ea typeface="Calibri"/>
              <a:cs typeface="Calibri"/>
              <a:sym typeface="Calibri"/>
            </a:endParaRPr>
          </a:p>
          <a:p>
            <a:pPr marL="457200" lvl="0" indent="-317500" algn="l" rtl="0">
              <a:lnSpc>
                <a:spcPct val="115000"/>
              </a:lnSpc>
              <a:spcBef>
                <a:spcPts val="0"/>
              </a:spcBef>
              <a:spcAft>
                <a:spcPts val="0"/>
              </a:spcAft>
              <a:buSzPts val="1400"/>
              <a:buFont typeface="Arial"/>
              <a:buChar char="•"/>
            </a:pPr>
            <a:r>
              <a:rPr lang="en" sz="1400">
                <a:latin typeface="Calibri"/>
                <a:ea typeface="Calibri"/>
                <a:cs typeface="Calibri"/>
                <a:sym typeface="Calibri"/>
              </a:rPr>
              <a:t>Stores a </a:t>
            </a:r>
            <a:r>
              <a:rPr lang="en" sz="1400" b="1">
                <a:latin typeface="Calibri"/>
                <a:ea typeface="Calibri"/>
                <a:cs typeface="Calibri"/>
                <a:sym typeface="Calibri"/>
              </a:rPr>
              <a:t>sequence of bits (true/false)</a:t>
            </a:r>
            <a:r>
              <a:rPr lang="en" sz="1400">
                <a:latin typeface="Calibri"/>
                <a:ea typeface="Calibri"/>
                <a:cs typeface="Calibri"/>
                <a:sym typeface="Calibri"/>
              </a:rPr>
              <a: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Arial"/>
              <a:buChar char="•"/>
            </a:pPr>
            <a:r>
              <a:rPr lang="en" sz="1400">
                <a:latin typeface="Calibri"/>
                <a:ea typeface="Calibri"/>
                <a:cs typeface="Calibri"/>
                <a:sym typeface="Calibri"/>
              </a:rPr>
              <a:t>Used for </a:t>
            </a:r>
            <a:r>
              <a:rPr lang="en" sz="1400" b="1">
                <a:latin typeface="Calibri"/>
                <a:ea typeface="Calibri"/>
                <a:cs typeface="Calibri"/>
                <a:sym typeface="Calibri"/>
              </a:rPr>
              <a:t>binary operations</a:t>
            </a:r>
            <a:r>
              <a:rPr lang="en" sz="1400">
                <a:latin typeface="Calibri"/>
                <a:ea typeface="Calibri"/>
                <a:cs typeface="Calibri"/>
                <a:sym typeface="Calibri"/>
              </a:rPr>
              <a:t> or compact data storage.</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Arial"/>
              <a:buChar char="•"/>
            </a:pPr>
            <a:r>
              <a:rPr lang="en" sz="1400">
                <a:latin typeface="Calibri"/>
                <a:ea typeface="Calibri"/>
                <a:cs typeface="Calibri"/>
                <a:sym typeface="Calibri"/>
              </a:rPr>
              <a:t>Each bit represents a </a:t>
            </a:r>
            <a:r>
              <a:rPr lang="en" sz="1400" b="1">
                <a:latin typeface="Calibri"/>
                <a:ea typeface="Calibri"/>
                <a:cs typeface="Calibri"/>
                <a:sym typeface="Calibri"/>
              </a:rPr>
              <a:t>Boolean</a:t>
            </a:r>
            <a:r>
              <a:rPr lang="en" sz="1400">
                <a:latin typeface="Calibri"/>
                <a:ea typeface="Calibri"/>
                <a:cs typeface="Calibri"/>
                <a:sym typeface="Calibri"/>
              </a:rPr>
              <a:t> value.</a:t>
            </a:r>
            <a:endParaRPr sz="1400">
              <a:latin typeface="Calibri"/>
              <a:ea typeface="Calibri"/>
              <a:cs typeface="Calibri"/>
              <a:sym typeface="Calibri"/>
            </a:endParaRPr>
          </a:p>
          <a:p>
            <a:pPr marL="0" lvl="0" indent="0" algn="l" rtl="0">
              <a:lnSpc>
                <a:spcPct val="115000"/>
              </a:lnSpc>
              <a:spcBef>
                <a:spcPts val="0"/>
              </a:spcBef>
              <a:spcAft>
                <a:spcPts val="0"/>
              </a:spcAft>
              <a:buNone/>
            </a:pPr>
            <a:endParaRPr sz="1400">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500" b="1">
                <a:latin typeface="Calibri"/>
                <a:ea typeface="Calibri"/>
                <a:cs typeface="Calibri"/>
                <a:sym typeface="Calibri"/>
              </a:rPr>
              <a:t>SortedList</a:t>
            </a:r>
            <a:endParaRPr sz="15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SortedList stores key and value pairs.</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 It automatically arranges elements in ascending order of key by default.</a:t>
            </a:r>
            <a:endParaRPr sz="1400">
              <a:latin typeface="Calibri"/>
              <a:ea typeface="Calibri"/>
              <a:cs typeface="Calibri"/>
              <a:sym typeface="Calibri"/>
            </a:endParaRPr>
          </a:p>
          <a:p>
            <a:pPr marL="0" lvl="0" indent="0" algn="l" rtl="0">
              <a:lnSpc>
                <a:spcPct val="115000"/>
              </a:lnSpc>
              <a:spcBef>
                <a:spcPts val="1200"/>
              </a:spcBef>
              <a:spcAft>
                <a:spcPts val="0"/>
              </a:spcAft>
              <a:buNone/>
            </a:pPr>
            <a:endParaRPr sz="1400">
              <a:latin typeface="Calibri"/>
              <a:ea typeface="Calibri"/>
              <a:cs typeface="Calibri"/>
              <a:sym typeface="Calibri"/>
            </a:endParaRPr>
          </a:p>
          <a:p>
            <a:pPr marL="0" lvl="0" indent="0" algn="l" rtl="0">
              <a:lnSpc>
                <a:spcPct val="115000"/>
              </a:lnSpc>
              <a:spcBef>
                <a:spcPts val="0"/>
              </a:spcBef>
              <a:spcAft>
                <a:spcPts val="0"/>
              </a:spcAft>
              <a:buNone/>
            </a:pPr>
            <a:endParaRPr sz="1400">
              <a:latin typeface="Calibri"/>
              <a:ea typeface="Calibri"/>
              <a:cs typeface="Calibri"/>
              <a:sym typeface="Calibri"/>
            </a:endParaRPr>
          </a:p>
          <a:p>
            <a:pPr marL="0" lvl="0" indent="0" algn="l" rtl="0">
              <a:spcBef>
                <a:spcPts val="800"/>
              </a:spcBef>
              <a:spcAft>
                <a:spcPts val="0"/>
              </a:spcAft>
              <a:buNone/>
            </a:pPr>
            <a:endParaRPr sz="1400">
              <a:latin typeface="Calibri"/>
              <a:ea typeface="Calibri"/>
              <a:cs typeface="Calibri"/>
              <a:sym typeface="Calibri"/>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18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GENERIC COLLECTION</a:t>
            </a:r>
            <a:endParaRPr/>
          </a:p>
        </p:txBody>
      </p:sp>
      <p:sp>
        <p:nvSpPr>
          <p:cNvPr id="1131" name="Google Shape;1131;p18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Clr>
                <a:srgbClr val="EEF0FF"/>
              </a:buClr>
              <a:buSzPts val="1400"/>
              <a:buFont typeface="Calibri"/>
              <a:buChar char="•"/>
            </a:pPr>
            <a:r>
              <a:rPr lang="en" sz="1400">
                <a:solidFill>
                  <a:srgbClr val="EEF0FF"/>
                </a:solidFill>
                <a:latin typeface="Calibri"/>
                <a:ea typeface="Calibri"/>
                <a:cs typeface="Calibri"/>
                <a:sym typeface="Calibri"/>
              </a:rPr>
              <a:t>Generic collections in C# are classes located in the System.Collections.Generic namespace that provide type-safe and efficient ways to store and manage collections of objects. </a:t>
            </a:r>
            <a:endParaRPr sz="1400">
              <a:solidFill>
                <a:srgbClr val="EEF0FF"/>
              </a:solidFill>
              <a:latin typeface="Calibri"/>
              <a:ea typeface="Calibri"/>
              <a:cs typeface="Calibri"/>
              <a:sym typeface="Calibri"/>
            </a:endParaRPr>
          </a:p>
          <a:p>
            <a:pPr marL="457200" lvl="0" indent="-317500" algn="l" rtl="0">
              <a:spcBef>
                <a:spcPts val="0"/>
              </a:spcBef>
              <a:spcAft>
                <a:spcPts val="0"/>
              </a:spcAft>
              <a:buClr>
                <a:srgbClr val="EEF0FF"/>
              </a:buClr>
              <a:buSzPts val="1400"/>
              <a:buFont typeface="Calibri"/>
              <a:buChar char="•"/>
            </a:pPr>
            <a:r>
              <a:rPr lang="en" sz="1400">
                <a:solidFill>
                  <a:srgbClr val="EEF0FF"/>
                </a:solidFill>
                <a:latin typeface="Calibri"/>
                <a:ea typeface="Calibri"/>
                <a:cs typeface="Calibri"/>
                <a:sym typeface="Calibri"/>
              </a:rPr>
              <a:t>They utilize generics to specify the type of elements they will contain at the time of creation, ensuring compile-time type safety and eliminating the need for casting and the performance overhead of boxing/unboxing for value types.</a:t>
            </a:r>
            <a:endParaRPr sz="1400">
              <a:latin typeface="Calibri"/>
              <a:ea typeface="Calibri"/>
              <a:cs typeface="Calibri"/>
              <a:sym typeface="Calibri"/>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18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FEATURES OF GENERIC COLLECTION</a:t>
            </a:r>
            <a:endParaRPr/>
          </a:p>
        </p:txBody>
      </p:sp>
      <p:sp>
        <p:nvSpPr>
          <p:cNvPr id="1137" name="Google Shape;1137;p187"/>
          <p:cNvSpPr txBox="1">
            <a:spLocks noGrp="1"/>
          </p:cNvSpPr>
          <p:nvPr>
            <p:ph type="body" idx="1"/>
          </p:nvPr>
        </p:nvSpPr>
        <p:spPr>
          <a:xfrm>
            <a:off x="514350" y="1645925"/>
            <a:ext cx="8115300" cy="3298200"/>
          </a:xfrm>
          <a:prstGeom prst="rect">
            <a:avLst/>
          </a:prstGeom>
        </p:spPr>
        <p:txBody>
          <a:bodyPr spcFirstLastPara="1" wrap="square" lIns="68575" tIns="34275" rIns="68575" bIns="3427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600" b="1">
                <a:latin typeface="Calibri"/>
                <a:ea typeface="Calibri"/>
                <a:cs typeface="Calibri"/>
                <a:sym typeface="Calibri"/>
              </a:rPr>
              <a:t>1.Dynamic Sizing</a:t>
            </a:r>
            <a:endParaRPr sz="16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a:latin typeface="Calibri"/>
                <a:ea typeface="Calibri"/>
                <a:cs typeface="Calibri"/>
                <a:sym typeface="Calibri"/>
              </a:rPr>
              <a:t>Collections can </a:t>
            </a:r>
            <a:r>
              <a:rPr lang="en" sz="1400" b="1">
                <a:latin typeface="Calibri"/>
                <a:ea typeface="Calibri"/>
                <a:cs typeface="Calibri"/>
                <a:sym typeface="Calibri"/>
              </a:rPr>
              <a:t>automatically grow or shrink</a:t>
            </a:r>
            <a:r>
              <a:rPr lang="en" sz="1400">
                <a:latin typeface="Calibri"/>
                <a:ea typeface="Calibri"/>
                <a:cs typeface="Calibri"/>
                <a:sym typeface="Calibri"/>
              </a:rPr>
              <a:t> as elements are added or removed.</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No need to predefine a fixed size (unlike arrays).</a:t>
            </a:r>
            <a:endParaRPr sz="1400">
              <a:latin typeface="Calibri"/>
              <a:ea typeface="Calibri"/>
              <a:cs typeface="Calibri"/>
              <a:sym typeface="Calibri"/>
            </a:endParaRPr>
          </a:p>
          <a:p>
            <a:pPr marL="0" lvl="0" indent="0" algn="l" rtl="0">
              <a:lnSpc>
                <a:spcPct val="115000"/>
              </a:lnSpc>
              <a:spcBef>
                <a:spcPts val="1400"/>
              </a:spcBef>
              <a:spcAft>
                <a:spcPts val="0"/>
              </a:spcAft>
              <a:buNone/>
            </a:pPr>
            <a:r>
              <a:rPr lang="en" sz="1600" b="1">
                <a:latin typeface="Calibri"/>
                <a:ea typeface="Calibri"/>
                <a:cs typeface="Calibri"/>
                <a:sym typeface="Calibri"/>
              </a:rPr>
              <a:t>2.Data Manipulation Operations</a:t>
            </a:r>
            <a:endParaRPr sz="1400" b="1">
              <a:latin typeface="Calibri"/>
              <a:ea typeface="Calibri"/>
              <a:cs typeface="Calibri"/>
              <a:sym typeface="Calibri"/>
            </a:endParaRPr>
          </a:p>
          <a:p>
            <a:pPr marL="457200" lvl="0" indent="-317500" algn="l" rtl="0">
              <a:lnSpc>
                <a:spcPct val="115000"/>
              </a:lnSpc>
              <a:spcBef>
                <a:spcPts val="1400"/>
              </a:spcBef>
              <a:spcAft>
                <a:spcPts val="0"/>
              </a:spcAft>
              <a:buSzPts val="1400"/>
              <a:buFont typeface="Calibri"/>
              <a:buChar char="•"/>
            </a:pPr>
            <a:r>
              <a:rPr lang="en" sz="1400">
                <a:latin typeface="Calibri"/>
                <a:ea typeface="Calibri"/>
                <a:cs typeface="Calibri"/>
                <a:sym typeface="Calibri"/>
              </a:rPr>
              <a:t>Collections include </a:t>
            </a:r>
            <a:r>
              <a:rPr lang="en" sz="1400" b="1">
                <a:latin typeface="Calibri"/>
                <a:ea typeface="Calibri"/>
                <a:cs typeface="Calibri"/>
                <a:sym typeface="Calibri"/>
              </a:rPr>
              <a:t>built-in methods</a:t>
            </a:r>
            <a:r>
              <a:rPr lang="en" sz="1400">
                <a:latin typeface="Calibri"/>
                <a:ea typeface="Calibri"/>
                <a:cs typeface="Calibri"/>
                <a:sym typeface="Calibri"/>
              </a:rPr>
              <a:t> for:</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Adding elements (Add(), Insert())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 Removing elements (Remove(), RemoveAt())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Searching (Contains(), IndexOf())</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Sorting (Sort())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Retrieving data (Find(), indexing)</a:t>
            </a:r>
            <a:endParaRPr sz="1400">
              <a:latin typeface="Calibri"/>
              <a:ea typeface="Calibri"/>
              <a:cs typeface="Calibri"/>
              <a:sym typeface="Calibri"/>
            </a:endParaRPr>
          </a:p>
          <a:p>
            <a:pPr marL="0" lvl="0" indent="0" algn="l" rtl="0">
              <a:spcBef>
                <a:spcPts val="800"/>
              </a:spcBef>
              <a:spcAft>
                <a:spcPts val="0"/>
              </a:spcAft>
              <a:buNone/>
            </a:pPr>
            <a:endParaRPr sz="1400">
              <a:latin typeface="Calibri"/>
              <a:ea typeface="Calibri"/>
              <a:cs typeface="Calibri"/>
              <a:sym typeface="Calibri"/>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18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endParaRPr/>
          </a:p>
        </p:txBody>
      </p:sp>
      <p:sp>
        <p:nvSpPr>
          <p:cNvPr id="1143" name="Google Shape;1143;p18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fontScale="92500" lnSpcReduction="10000"/>
          </a:bodyPr>
          <a:lstStyle/>
          <a:p>
            <a:pPr marL="0" lvl="0" indent="0" algn="l" rtl="0">
              <a:lnSpc>
                <a:spcPct val="115000"/>
              </a:lnSpc>
              <a:spcBef>
                <a:spcPts val="1400"/>
              </a:spcBef>
              <a:spcAft>
                <a:spcPts val="0"/>
              </a:spcAft>
              <a:buClr>
                <a:schemeClr val="dk1"/>
              </a:buClr>
              <a:buSzPts val="1100"/>
              <a:buFont typeface="Arial"/>
              <a:buNone/>
            </a:pPr>
            <a:r>
              <a:rPr lang="en" sz="1600" b="1">
                <a:latin typeface="Calibri"/>
                <a:ea typeface="Calibri"/>
                <a:cs typeface="Calibri"/>
                <a:sym typeface="Calibri"/>
              </a:rPr>
              <a:t>Type Safety (Generic Collections)</a:t>
            </a:r>
            <a:endParaRPr sz="1600" b="1">
              <a:latin typeface="Calibri"/>
              <a:ea typeface="Calibri"/>
              <a:cs typeface="Calibri"/>
              <a:sym typeface="Calibri"/>
            </a:endParaRPr>
          </a:p>
          <a:p>
            <a:pPr marL="457200" lvl="0" indent="-317500" algn="l" rtl="0">
              <a:lnSpc>
                <a:spcPct val="115000"/>
              </a:lnSpc>
              <a:spcBef>
                <a:spcPts val="1200"/>
              </a:spcBef>
              <a:spcAft>
                <a:spcPts val="0"/>
              </a:spcAft>
              <a:buSzPts val="1400"/>
              <a:buFont typeface="Calibri"/>
              <a:buChar char="•"/>
            </a:pPr>
            <a:r>
              <a:rPr lang="en" sz="1400" b="1">
                <a:latin typeface="Calibri"/>
                <a:ea typeface="Calibri"/>
                <a:cs typeface="Calibri"/>
                <a:sym typeface="Calibri"/>
              </a:rPr>
              <a:t>Generic collections</a:t>
            </a:r>
            <a:r>
              <a:rPr lang="en" sz="1400">
                <a:latin typeface="Calibri"/>
                <a:ea typeface="Calibri"/>
                <a:cs typeface="Calibri"/>
                <a:sym typeface="Calibri"/>
              </a:rPr>
              <a:t> like List&lt;T&gt; and Dictionary&lt;TKey, TValue&gt; enforce </a:t>
            </a:r>
            <a:r>
              <a:rPr lang="en" sz="1400" b="1">
                <a:latin typeface="Calibri"/>
                <a:ea typeface="Calibri"/>
                <a:cs typeface="Calibri"/>
                <a:sym typeface="Calibri"/>
              </a:rPr>
              <a:t>type safety</a:t>
            </a:r>
            <a:r>
              <a:rPr lang="en" sz="1400">
                <a:latin typeface="Calibri"/>
                <a:ea typeface="Calibri"/>
                <a:cs typeface="Calibri"/>
                <a:sym typeface="Calibri"/>
              </a:rPr>
              <a:t>.</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Only a specific data type can be stored in them.</a:t>
            </a:r>
            <a:endParaRPr sz="1400">
              <a:latin typeface="Calibri"/>
              <a:ea typeface="Calibri"/>
              <a:cs typeface="Calibri"/>
              <a:sym typeface="Calibri"/>
            </a:endParaRPr>
          </a:p>
          <a:p>
            <a:pPr marL="457200" lvl="0" indent="-317500" algn="l" rtl="0">
              <a:lnSpc>
                <a:spcPct val="115000"/>
              </a:lnSpc>
              <a:spcBef>
                <a:spcPts val="0"/>
              </a:spcBef>
              <a:spcAft>
                <a:spcPts val="0"/>
              </a:spcAft>
              <a:buSzPts val="1400"/>
              <a:buFont typeface="Calibri"/>
              <a:buChar char="•"/>
            </a:pPr>
            <a:r>
              <a:rPr lang="en" sz="1400">
                <a:latin typeface="Calibri"/>
                <a:ea typeface="Calibri"/>
                <a:cs typeface="Calibri"/>
                <a:sym typeface="Calibri"/>
              </a:rPr>
              <a:t>Prevents runtime casting errors and improves </a:t>
            </a:r>
            <a:r>
              <a:rPr lang="en" sz="1400" b="1">
                <a:latin typeface="Calibri"/>
                <a:ea typeface="Calibri"/>
                <a:cs typeface="Calibri"/>
                <a:sym typeface="Calibri"/>
              </a:rPr>
              <a:t>code reliability</a:t>
            </a:r>
            <a:r>
              <a:rPr lang="en" sz="1400">
                <a:latin typeface="Calibri"/>
                <a:ea typeface="Calibri"/>
                <a:cs typeface="Calibri"/>
                <a:sym typeface="Calibri"/>
              </a:rPr>
              <a:t>.</a:t>
            </a:r>
            <a:endParaRPr sz="1400">
              <a:latin typeface="Calibri"/>
              <a:ea typeface="Calibri"/>
              <a:cs typeface="Calibri"/>
              <a:sym typeface="Calibri"/>
            </a:endParaRPr>
          </a:p>
          <a:p>
            <a:pPr marL="0" lvl="0" indent="0" algn="l" rtl="0">
              <a:lnSpc>
                <a:spcPct val="115000"/>
              </a:lnSpc>
              <a:spcBef>
                <a:spcPts val="1400"/>
              </a:spcBef>
              <a:spcAft>
                <a:spcPts val="0"/>
              </a:spcAft>
              <a:buNone/>
            </a:pPr>
            <a:r>
              <a:rPr lang="en" sz="1608" b="1">
                <a:latin typeface="Calibri"/>
                <a:ea typeface="Calibri"/>
                <a:cs typeface="Calibri"/>
                <a:sym typeface="Calibri"/>
              </a:rPr>
              <a:t>Interface-Based Design</a:t>
            </a:r>
            <a:endParaRPr sz="1608" b="1">
              <a:latin typeface="Calibri"/>
              <a:ea typeface="Calibri"/>
              <a:cs typeface="Calibri"/>
              <a:sym typeface="Calibri"/>
            </a:endParaRPr>
          </a:p>
          <a:p>
            <a:pPr marL="457200" lvl="0" indent="-319135" algn="l" rtl="0">
              <a:lnSpc>
                <a:spcPct val="115000"/>
              </a:lnSpc>
              <a:spcBef>
                <a:spcPts val="1200"/>
              </a:spcBef>
              <a:spcAft>
                <a:spcPts val="0"/>
              </a:spcAft>
              <a:buClr>
                <a:schemeClr val="lt1"/>
              </a:buClr>
              <a:buSzPts val="1426"/>
              <a:buFont typeface="Calibri"/>
              <a:buChar char="●"/>
            </a:pPr>
            <a:r>
              <a:rPr lang="en" sz="1425">
                <a:latin typeface="Calibri"/>
                <a:ea typeface="Calibri"/>
                <a:cs typeface="Calibri"/>
                <a:sym typeface="Calibri"/>
              </a:rPr>
              <a:t>Collections implement common interfaces such as:</a:t>
            </a:r>
            <a:endParaRPr sz="1425">
              <a:latin typeface="Calibri"/>
              <a:ea typeface="Calibri"/>
              <a:cs typeface="Calibri"/>
              <a:sym typeface="Calibri"/>
            </a:endParaRPr>
          </a:p>
          <a:p>
            <a:pPr marL="914400" lvl="1" indent="-319135" algn="l" rtl="0">
              <a:lnSpc>
                <a:spcPct val="115000"/>
              </a:lnSpc>
              <a:spcBef>
                <a:spcPts val="0"/>
              </a:spcBef>
              <a:spcAft>
                <a:spcPts val="0"/>
              </a:spcAft>
              <a:buClr>
                <a:schemeClr val="lt1"/>
              </a:buClr>
              <a:buSzPts val="1426"/>
              <a:buFont typeface="Calibri"/>
              <a:buChar char="○"/>
            </a:pPr>
            <a:r>
              <a:rPr lang="en" sz="1425" b="1">
                <a:latin typeface="Calibri"/>
                <a:ea typeface="Calibri"/>
                <a:cs typeface="Calibri"/>
                <a:sym typeface="Calibri"/>
              </a:rPr>
              <a:t>IEnumerable</a:t>
            </a:r>
            <a:r>
              <a:rPr lang="en" sz="1425">
                <a:latin typeface="Calibri"/>
                <a:ea typeface="Calibri"/>
                <a:cs typeface="Calibri"/>
                <a:sym typeface="Calibri"/>
              </a:rPr>
              <a:t> – allows iteration using foreach</a:t>
            </a:r>
            <a:endParaRPr sz="1425">
              <a:latin typeface="Calibri"/>
              <a:ea typeface="Calibri"/>
              <a:cs typeface="Calibri"/>
              <a:sym typeface="Calibri"/>
            </a:endParaRPr>
          </a:p>
          <a:p>
            <a:pPr marL="914400" lvl="1" indent="-319135" algn="l" rtl="0">
              <a:lnSpc>
                <a:spcPct val="115000"/>
              </a:lnSpc>
              <a:spcBef>
                <a:spcPts val="0"/>
              </a:spcBef>
              <a:spcAft>
                <a:spcPts val="0"/>
              </a:spcAft>
              <a:buClr>
                <a:schemeClr val="lt1"/>
              </a:buClr>
              <a:buSzPts val="1426"/>
              <a:buFont typeface="Calibri"/>
              <a:buChar char="○"/>
            </a:pPr>
            <a:r>
              <a:rPr lang="en" sz="1425" b="1">
                <a:latin typeface="Calibri"/>
                <a:ea typeface="Calibri"/>
                <a:cs typeface="Calibri"/>
                <a:sym typeface="Calibri"/>
              </a:rPr>
              <a:t>ICollection</a:t>
            </a:r>
            <a:r>
              <a:rPr lang="en" sz="1425">
                <a:latin typeface="Calibri"/>
                <a:ea typeface="Calibri"/>
                <a:cs typeface="Calibri"/>
                <a:sym typeface="Calibri"/>
              </a:rPr>
              <a:t> – provides size and synchronization info</a:t>
            </a:r>
            <a:endParaRPr sz="1425">
              <a:latin typeface="Calibri"/>
              <a:ea typeface="Calibri"/>
              <a:cs typeface="Calibri"/>
              <a:sym typeface="Calibri"/>
            </a:endParaRPr>
          </a:p>
          <a:p>
            <a:pPr marL="914400" lvl="1" indent="-319135" algn="l" rtl="0">
              <a:lnSpc>
                <a:spcPct val="115000"/>
              </a:lnSpc>
              <a:spcBef>
                <a:spcPts val="0"/>
              </a:spcBef>
              <a:spcAft>
                <a:spcPts val="0"/>
              </a:spcAft>
              <a:buClr>
                <a:schemeClr val="lt1"/>
              </a:buClr>
              <a:buSzPts val="1426"/>
              <a:buFont typeface="Calibri"/>
              <a:buChar char="○"/>
            </a:pPr>
            <a:r>
              <a:rPr lang="en" sz="1425" b="1">
                <a:latin typeface="Calibri"/>
                <a:ea typeface="Calibri"/>
                <a:cs typeface="Calibri"/>
                <a:sym typeface="Calibri"/>
              </a:rPr>
              <a:t>IList</a:t>
            </a:r>
            <a:r>
              <a:rPr lang="en" sz="1425">
                <a:latin typeface="Calibri"/>
                <a:ea typeface="Calibri"/>
                <a:cs typeface="Calibri"/>
                <a:sym typeface="Calibri"/>
              </a:rPr>
              <a:t> – enables index-based access</a:t>
            </a:r>
            <a:endParaRPr sz="1425">
              <a:latin typeface="Calibri"/>
              <a:ea typeface="Calibri"/>
              <a:cs typeface="Calibri"/>
              <a:sym typeface="Calibri"/>
            </a:endParaRPr>
          </a:p>
          <a:p>
            <a:pPr marL="914400" lvl="1" indent="-319135" algn="l" rtl="0">
              <a:lnSpc>
                <a:spcPct val="115000"/>
              </a:lnSpc>
              <a:spcBef>
                <a:spcPts val="0"/>
              </a:spcBef>
              <a:spcAft>
                <a:spcPts val="0"/>
              </a:spcAft>
              <a:buClr>
                <a:schemeClr val="dk1"/>
              </a:buClr>
              <a:buSzPts val="1426"/>
              <a:buFont typeface="Calibri"/>
              <a:buChar char="○"/>
            </a:pPr>
            <a:r>
              <a:rPr lang="en" sz="1425">
                <a:latin typeface="Calibri"/>
                <a:ea typeface="Calibri"/>
                <a:cs typeface="Calibri"/>
                <a:sym typeface="Calibri"/>
              </a:rPr>
              <a:t>Promotes </a:t>
            </a:r>
            <a:r>
              <a:rPr lang="en" sz="1425" b="1">
                <a:latin typeface="Calibri"/>
                <a:ea typeface="Calibri"/>
                <a:cs typeface="Calibri"/>
                <a:sym typeface="Calibri"/>
              </a:rPr>
              <a:t>consistency</a:t>
            </a:r>
            <a:r>
              <a:rPr lang="en" sz="1425">
                <a:latin typeface="Calibri"/>
                <a:ea typeface="Calibri"/>
                <a:cs typeface="Calibri"/>
                <a:sym typeface="Calibri"/>
              </a:rPr>
              <a:t>, </a:t>
            </a:r>
            <a:r>
              <a:rPr lang="en" sz="1425" b="1">
                <a:latin typeface="Calibri"/>
                <a:ea typeface="Calibri"/>
                <a:cs typeface="Calibri"/>
                <a:sym typeface="Calibri"/>
              </a:rPr>
              <a:t>flexibility</a:t>
            </a:r>
            <a:r>
              <a:rPr lang="en" sz="1425">
                <a:latin typeface="Calibri"/>
                <a:ea typeface="Calibri"/>
                <a:cs typeface="Calibri"/>
                <a:sym typeface="Calibri"/>
              </a:rPr>
              <a:t>, and </a:t>
            </a:r>
            <a:r>
              <a:rPr lang="en" sz="1425" b="1">
                <a:latin typeface="Calibri"/>
                <a:ea typeface="Calibri"/>
                <a:cs typeface="Calibri"/>
                <a:sym typeface="Calibri"/>
              </a:rPr>
              <a:t>polymorphism</a:t>
            </a:r>
            <a:r>
              <a:rPr lang="en" sz="1425">
                <a:latin typeface="Calibri"/>
                <a:ea typeface="Calibri"/>
                <a:cs typeface="Calibri"/>
                <a:sym typeface="Calibri"/>
              </a:rPr>
              <a:t> across all collections.</a:t>
            </a:r>
            <a:endParaRPr sz="1400">
              <a:latin typeface="Calibri"/>
              <a:ea typeface="Calibri"/>
              <a:cs typeface="Calibri"/>
              <a:sym typeface="Calibri"/>
            </a:endParaRPr>
          </a:p>
          <a:p>
            <a:pPr marL="0" lvl="0" indent="0" algn="l" rtl="0">
              <a:spcBef>
                <a:spcPts val="1200"/>
              </a:spcBef>
              <a:spcAft>
                <a:spcPts val="0"/>
              </a:spcAft>
              <a:buNone/>
            </a:pPr>
            <a:endParaRPr sz="1400">
              <a:latin typeface="Calibri"/>
              <a:ea typeface="Calibri"/>
              <a:cs typeface="Calibri"/>
              <a:sym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18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GENERIC COLLECTION DATA TYPES</a:t>
            </a:r>
            <a:endParaRPr/>
          </a:p>
        </p:txBody>
      </p:sp>
      <p:sp>
        <p:nvSpPr>
          <p:cNvPr id="1149" name="Google Shape;1149;p189"/>
          <p:cNvSpPr txBox="1">
            <a:spLocks noGrp="1"/>
          </p:cNvSpPr>
          <p:nvPr>
            <p:ph type="body" idx="1"/>
          </p:nvPr>
        </p:nvSpPr>
        <p:spPr>
          <a:xfrm>
            <a:off x="514350" y="1645925"/>
            <a:ext cx="8115300" cy="3198600"/>
          </a:xfrm>
          <a:prstGeom prst="rect">
            <a:avLst/>
          </a:prstGeom>
        </p:spPr>
        <p:txBody>
          <a:bodyPr spcFirstLastPara="1" wrap="square" lIns="68575" tIns="34275" rIns="68575" bIns="34275" anchor="t" anchorCtr="0">
            <a:normAutofit fontScale="85000" lnSpcReduction="20000"/>
          </a:bodyPr>
          <a:lstStyle/>
          <a:p>
            <a:pPr marL="0" lvl="0" indent="0" algn="l" rtl="0">
              <a:lnSpc>
                <a:spcPct val="115000"/>
              </a:lnSpc>
              <a:spcBef>
                <a:spcPts val="1400"/>
              </a:spcBef>
              <a:spcAft>
                <a:spcPts val="0"/>
              </a:spcAft>
              <a:buNone/>
            </a:pPr>
            <a:r>
              <a:rPr lang="en" sz="2033" b="1">
                <a:latin typeface="Calibri"/>
                <a:ea typeface="Calibri"/>
                <a:cs typeface="Calibri"/>
                <a:sym typeface="Calibri"/>
              </a:rPr>
              <a:t>List&lt;T&gt;</a:t>
            </a:r>
            <a:endParaRPr sz="2033" b="1">
              <a:latin typeface="Calibri"/>
              <a:ea typeface="Calibri"/>
              <a:cs typeface="Calibri"/>
              <a:sym typeface="Calibri"/>
            </a:endParaRPr>
          </a:p>
          <a:p>
            <a:pPr marL="457200" lvl="0" indent="-297497" algn="l" rtl="0">
              <a:lnSpc>
                <a:spcPct val="115000"/>
              </a:lnSpc>
              <a:spcBef>
                <a:spcPts val="1200"/>
              </a:spcBef>
              <a:spcAft>
                <a:spcPts val="0"/>
              </a:spcAft>
              <a:buClr>
                <a:schemeClr val="lt1"/>
              </a:buClr>
              <a:buSzPct val="100000"/>
              <a:buChar char="●"/>
            </a:pPr>
            <a:r>
              <a:rPr lang="en" sz="1400">
                <a:latin typeface="Calibri"/>
                <a:ea typeface="Calibri"/>
                <a:cs typeface="Calibri"/>
                <a:sym typeface="Calibri"/>
              </a:rPr>
              <a:t>A  </a:t>
            </a:r>
            <a:r>
              <a:rPr lang="en" sz="1400" b="1">
                <a:latin typeface="Calibri"/>
                <a:ea typeface="Calibri"/>
                <a:cs typeface="Calibri"/>
                <a:sym typeface="Calibri"/>
              </a:rPr>
              <a:t>List&lt;T&gt;</a:t>
            </a:r>
            <a:r>
              <a:rPr lang="en" sz="1400">
                <a:latin typeface="Calibri"/>
                <a:ea typeface="Calibri"/>
                <a:cs typeface="Calibri"/>
                <a:sym typeface="Calibri"/>
              </a:rPr>
              <a:t> is a </a:t>
            </a:r>
            <a:r>
              <a:rPr lang="en" sz="1400" b="1">
                <a:latin typeface="Calibri"/>
                <a:ea typeface="Calibri"/>
                <a:cs typeface="Calibri"/>
                <a:sym typeface="Calibri"/>
              </a:rPr>
              <a:t>strongly typed dynamic array</a:t>
            </a:r>
            <a:r>
              <a:rPr lang="en" sz="1400">
                <a:latin typeface="Calibri"/>
                <a:ea typeface="Calibri"/>
                <a:cs typeface="Calibri"/>
                <a:sym typeface="Calibri"/>
              </a:rPr>
              <a:t> that can store elements of a specific type (like int, string, or a class).</a:t>
            </a:r>
            <a:endParaRPr sz="1400">
              <a:latin typeface="Calibri"/>
              <a:ea typeface="Calibri"/>
              <a:cs typeface="Calibri"/>
              <a:sym typeface="Calibri"/>
            </a:endParaRPr>
          </a:p>
          <a:p>
            <a:pPr marL="457200" lvl="0" indent="-297497" algn="l" rtl="0">
              <a:lnSpc>
                <a:spcPct val="115000"/>
              </a:lnSpc>
              <a:spcBef>
                <a:spcPts val="0"/>
              </a:spcBef>
              <a:spcAft>
                <a:spcPts val="0"/>
              </a:spcAft>
              <a:buClr>
                <a:schemeClr val="lt1"/>
              </a:buClr>
              <a:buSzPct val="100000"/>
              <a:buChar char="●"/>
            </a:pPr>
            <a:r>
              <a:rPr lang="en" sz="1400">
                <a:latin typeface="Calibri"/>
                <a:ea typeface="Calibri"/>
                <a:cs typeface="Calibri"/>
                <a:sym typeface="Calibri"/>
              </a:rPr>
              <a:t>It </a:t>
            </a:r>
            <a:r>
              <a:rPr lang="en" sz="1400" b="1">
                <a:latin typeface="Calibri"/>
                <a:ea typeface="Calibri"/>
                <a:cs typeface="Calibri"/>
                <a:sym typeface="Calibri"/>
              </a:rPr>
              <a:t>grows </a:t>
            </a:r>
            <a:r>
              <a:rPr lang="en" sz="1400">
                <a:latin typeface="Calibri"/>
                <a:ea typeface="Calibri"/>
                <a:cs typeface="Calibri"/>
                <a:sym typeface="Calibri"/>
              </a:rPr>
              <a:t>automatically as new elements are added — no need to specify size like an array.</a:t>
            </a:r>
            <a:endParaRPr sz="1400">
              <a:latin typeface="Calibri"/>
              <a:ea typeface="Calibri"/>
              <a:cs typeface="Calibri"/>
              <a:sym typeface="Calibri"/>
            </a:endParaRPr>
          </a:p>
          <a:p>
            <a:pPr marL="457200" lvl="0" indent="-297497" algn="l" rtl="0">
              <a:lnSpc>
                <a:spcPct val="115000"/>
              </a:lnSpc>
              <a:spcBef>
                <a:spcPts val="0"/>
              </a:spcBef>
              <a:spcAft>
                <a:spcPts val="0"/>
              </a:spcAft>
              <a:buClr>
                <a:schemeClr val="lt1"/>
              </a:buClr>
              <a:buSzPct val="100000"/>
              <a:buChar char="●"/>
            </a:pPr>
            <a:r>
              <a:rPr lang="en" sz="1400">
                <a:latin typeface="Calibri"/>
                <a:ea typeface="Calibri"/>
                <a:cs typeface="Calibri"/>
                <a:sym typeface="Calibri"/>
              </a:rPr>
              <a:t>Provides index-based access to elements.</a:t>
            </a:r>
            <a:endParaRPr sz="1400">
              <a:latin typeface="Calibri"/>
              <a:ea typeface="Calibri"/>
              <a:cs typeface="Calibri"/>
              <a:sym typeface="Calibri"/>
            </a:endParaRPr>
          </a:p>
          <a:p>
            <a:pPr marL="457200" lvl="0" indent="-297497" algn="l" rtl="0">
              <a:lnSpc>
                <a:spcPct val="115000"/>
              </a:lnSpc>
              <a:spcBef>
                <a:spcPts val="0"/>
              </a:spcBef>
              <a:spcAft>
                <a:spcPts val="0"/>
              </a:spcAft>
              <a:buClr>
                <a:schemeClr val="lt1"/>
              </a:buClr>
              <a:buSzPct val="100000"/>
              <a:buChar char="●"/>
            </a:pPr>
            <a:r>
              <a:rPr lang="en" sz="1400">
                <a:latin typeface="Calibri"/>
                <a:ea typeface="Calibri"/>
                <a:cs typeface="Calibri"/>
                <a:sym typeface="Calibri"/>
              </a:rPr>
              <a:t>Allows duplicate values and maintains insertion order.</a:t>
            </a:r>
            <a:endParaRPr sz="1400">
              <a:latin typeface="Calibri"/>
              <a:ea typeface="Calibri"/>
              <a:cs typeface="Calibri"/>
              <a:sym typeface="Calibri"/>
            </a:endParaRPr>
          </a:p>
          <a:p>
            <a:pPr marL="0" lvl="0" indent="0" algn="l" rtl="0">
              <a:lnSpc>
                <a:spcPct val="115000"/>
              </a:lnSpc>
              <a:spcBef>
                <a:spcPts val="1200"/>
              </a:spcBef>
              <a:spcAft>
                <a:spcPts val="0"/>
              </a:spcAft>
              <a:buNone/>
            </a:pPr>
            <a:r>
              <a:rPr lang="en" sz="2033" b="1">
                <a:latin typeface="Calibri"/>
                <a:ea typeface="Calibri"/>
                <a:cs typeface="Calibri"/>
                <a:sym typeface="Calibri"/>
              </a:rPr>
              <a:t>Use Case:</a:t>
            </a:r>
            <a:endParaRPr sz="1581" b="1">
              <a:latin typeface="Calibri"/>
              <a:ea typeface="Calibri"/>
              <a:cs typeface="Calibri"/>
              <a:sym typeface="Calibri"/>
            </a:endParaRPr>
          </a:p>
          <a:p>
            <a:pPr marL="457200" lvl="0" indent="-306445" algn="l" rtl="0">
              <a:lnSpc>
                <a:spcPct val="115000"/>
              </a:lnSpc>
              <a:spcBef>
                <a:spcPts val="1200"/>
              </a:spcBef>
              <a:spcAft>
                <a:spcPts val="0"/>
              </a:spcAft>
              <a:buSzPct val="112987"/>
              <a:buFont typeface="Calibri"/>
              <a:buChar char="•"/>
            </a:pPr>
            <a:r>
              <a:rPr lang="en" sz="1400">
                <a:latin typeface="Calibri"/>
                <a:ea typeface="Calibri"/>
                <a:cs typeface="Calibri"/>
                <a:sym typeface="Calibri"/>
              </a:rPr>
              <a:t>Best for lists of related data (e.g., student names, product IDs).</a:t>
            </a:r>
            <a:endParaRPr sz="2033" b="1">
              <a:latin typeface="Calibri"/>
              <a:ea typeface="Calibri"/>
              <a:cs typeface="Calibri"/>
              <a:sym typeface="Calibri"/>
            </a:endParaRPr>
          </a:p>
          <a:p>
            <a:pPr marL="0" lvl="0" indent="0" algn="l" rtl="0">
              <a:lnSpc>
                <a:spcPct val="115000"/>
              </a:lnSpc>
              <a:spcBef>
                <a:spcPts val="1200"/>
              </a:spcBef>
              <a:spcAft>
                <a:spcPts val="0"/>
              </a:spcAft>
              <a:buNone/>
            </a:pPr>
            <a:r>
              <a:rPr lang="en" sz="2033" b="1">
                <a:latin typeface="Calibri"/>
                <a:ea typeface="Calibri"/>
                <a:cs typeface="Calibri"/>
                <a:sym typeface="Calibri"/>
              </a:rPr>
              <a:t>Key Features:</a:t>
            </a:r>
            <a:endParaRPr sz="1710" b="1">
              <a:latin typeface="Calibri"/>
              <a:ea typeface="Calibri"/>
              <a:cs typeface="Calibri"/>
              <a:sym typeface="Calibri"/>
            </a:endParaRPr>
          </a:p>
          <a:p>
            <a:pPr marL="457200" lvl="0" indent="-306445" algn="l" rtl="0">
              <a:lnSpc>
                <a:spcPct val="115000"/>
              </a:lnSpc>
              <a:spcBef>
                <a:spcPts val="1200"/>
              </a:spcBef>
              <a:spcAft>
                <a:spcPts val="0"/>
              </a:spcAft>
              <a:buSzPct val="100000"/>
              <a:buFont typeface="Calibri"/>
              <a:buChar char="•"/>
            </a:pPr>
            <a:r>
              <a:rPr lang="en" sz="1581">
                <a:latin typeface="Calibri"/>
                <a:ea typeface="Calibri"/>
                <a:cs typeface="Calibri"/>
                <a:sym typeface="Calibri"/>
              </a:rPr>
              <a:t>Indexed access</a:t>
            </a:r>
            <a:endParaRPr sz="1581">
              <a:latin typeface="Calibri"/>
              <a:ea typeface="Calibri"/>
              <a:cs typeface="Calibri"/>
              <a:sym typeface="Calibri"/>
            </a:endParaRPr>
          </a:p>
          <a:p>
            <a:pPr marL="457200" lvl="0" indent="-306445" algn="l" rtl="0">
              <a:lnSpc>
                <a:spcPct val="115000"/>
              </a:lnSpc>
              <a:spcBef>
                <a:spcPts val="0"/>
              </a:spcBef>
              <a:spcAft>
                <a:spcPts val="0"/>
              </a:spcAft>
              <a:buSzPct val="100000"/>
              <a:buFont typeface="Calibri"/>
              <a:buChar char="•"/>
            </a:pPr>
            <a:r>
              <a:rPr lang="en" sz="1581">
                <a:latin typeface="Calibri"/>
                <a:ea typeface="Calibri"/>
                <a:cs typeface="Calibri"/>
                <a:sym typeface="Calibri"/>
              </a:rPr>
              <a:t>Supports sorting and searching.</a:t>
            </a:r>
            <a:endParaRPr sz="1581">
              <a:latin typeface="Calibri"/>
              <a:ea typeface="Calibri"/>
              <a:cs typeface="Calibri"/>
              <a:sym typeface="Calibri"/>
            </a:endParaRPr>
          </a:p>
          <a:p>
            <a:pPr marL="457200" lvl="0" indent="-306445" algn="l" rtl="0">
              <a:lnSpc>
                <a:spcPct val="115000"/>
              </a:lnSpc>
              <a:spcBef>
                <a:spcPts val="0"/>
              </a:spcBef>
              <a:spcAft>
                <a:spcPts val="0"/>
              </a:spcAft>
              <a:buSzPct val="100000"/>
              <a:buFont typeface="Calibri"/>
              <a:buChar char="•"/>
            </a:pPr>
            <a:r>
              <a:rPr lang="en" sz="1581">
                <a:latin typeface="Calibri"/>
                <a:ea typeface="Calibri"/>
                <a:cs typeface="Calibri"/>
                <a:sym typeface="Calibri"/>
              </a:rPr>
              <a:t>Maintains insertion order.</a:t>
            </a:r>
            <a:endParaRPr sz="1581">
              <a:latin typeface="Calibri"/>
              <a:ea typeface="Calibri"/>
              <a:cs typeface="Calibri"/>
              <a:sym typeface="Calibri"/>
            </a:endParaRPr>
          </a:p>
          <a:p>
            <a:pPr marL="0" lvl="0" indent="0" algn="l" rtl="0">
              <a:lnSpc>
                <a:spcPct val="115000"/>
              </a:lnSpc>
              <a:spcBef>
                <a:spcPts val="1200"/>
              </a:spcBef>
              <a:spcAft>
                <a:spcPts val="1200"/>
              </a:spcAft>
              <a:buNone/>
            </a:pPr>
            <a:endParaRPr sz="1400">
              <a:latin typeface="Calibri"/>
              <a:ea typeface="Calibri"/>
              <a:cs typeface="Calibri"/>
              <a:sym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p190"/>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400">
                <a:latin typeface="Calibri"/>
                <a:ea typeface="Calibri"/>
                <a:cs typeface="Calibri"/>
                <a:sym typeface="Calibri"/>
              </a:rPr>
              <a:t>Dictionary&lt;TKey, TValue&gt;</a:t>
            </a:r>
            <a:endParaRPr/>
          </a:p>
        </p:txBody>
      </p:sp>
      <p:sp>
        <p:nvSpPr>
          <p:cNvPr id="1155" name="Google Shape;1155;p190"/>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l" rtl="0">
              <a:lnSpc>
                <a:spcPct val="115000"/>
              </a:lnSpc>
              <a:spcBef>
                <a:spcPts val="300"/>
              </a:spcBef>
              <a:spcAft>
                <a:spcPts val="0"/>
              </a:spcAft>
              <a:buClr>
                <a:schemeClr val="dk1"/>
              </a:buClr>
              <a:buSzPts val="1100"/>
              <a:buFont typeface="Arial"/>
              <a:buNone/>
            </a:pPr>
            <a:r>
              <a:rPr lang="en" sz="1400" b="1">
                <a:latin typeface="Calibri"/>
                <a:ea typeface="Calibri"/>
                <a:cs typeface="Calibri"/>
                <a:sym typeface="Calibri"/>
              </a:rPr>
              <a:t>Description:</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Stores key–value pairs.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Each key is unique, and each key maps to a single value.</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Provides fast lookups using keys.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endParaRPr sz="1200">
              <a:latin typeface="Calibri"/>
              <a:ea typeface="Calibri"/>
              <a:cs typeface="Calibri"/>
              <a:sym typeface="Calibri"/>
            </a:endParaRPr>
          </a:p>
          <a:p>
            <a:pPr marL="0" lvl="0" indent="0" algn="l" rtl="0">
              <a:lnSpc>
                <a:spcPct val="115000"/>
              </a:lnSpc>
              <a:spcBef>
                <a:spcPts val="300"/>
              </a:spcBef>
              <a:spcAft>
                <a:spcPts val="0"/>
              </a:spcAft>
              <a:buClr>
                <a:schemeClr val="dk1"/>
              </a:buClr>
              <a:buSzPts val="1100"/>
              <a:buFont typeface="Arial"/>
              <a:buNone/>
            </a:pPr>
            <a:r>
              <a:rPr lang="en" sz="1400" b="1">
                <a:latin typeface="Calibri"/>
                <a:ea typeface="Calibri"/>
                <a:cs typeface="Calibri"/>
                <a:sym typeface="Calibri"/>
              </a:rPr>
              <a:t>Use Case:</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Ideal for storing data like student roll numbers and names.</a:t>
            </a:r>
            <a:endParaRPr sz="1200">
              <a:latin typeface="Calibri"/>
              <a:ea typeface="Calibri"/>
              <a:cs typeface="Calibri"/>
              <a:sym typeface="Calibri"/>
            </a:endParaRPr>
          </a:p>
          <a:p>
            <a:pPr marL="0" lvl="0" indent="0" algn="l" rtl="0">
              <a:lnSpc>
                <a:spcPct val="115000"/>
              </a:lnSpc>
              <a:spcBef>
                <a:spcPts val="300"/>
              </a:spcBef>
              <a:spcAft>
                <a:spcPts val="0"/>
              </a:spcAft>
              <a:buClr>
                <a:schemeClr val="dk1"/>
              </a:buClr>
              <a:buSzPts val="1100"/>
              <a:buFont typeface="Arial"/>
              <a:buNone/>
            </a:pPr>
            <a:r>
              <a:rPr lang="en" sz="1400" b="1">
                <a:latin typeface="Calibri"/>
                <a:ea typeface="Calibri"/>
                <a:cs typeface="Calibri"/>
                <a:sym typeface="Calibri"/>
              </a:rPr>
              <a:t>Key Features:</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Unique keys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Duplicate values allowed</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Quick access using keys</a:t>
            </a:r>
            <a:endParaRPr sz="1200">
              <a:latin typeface="Calibri"/>
              <a:ea typeface="Calibri"/>
              <a:cs typeface="Calibri"/>
              <a:sym typeface="Calibri"/>
            </a:endParaRPr>
          </a:p>
          <a:p>
            <a:pPr marL="0" lvl="0" indent="0" algn="l" rtl="0">
              <a:spcBef>
                <a:spcPts val="800"/>
              </a:spcBef>
              <a:spcAft>
                <a:spcPts val="0"/>
              </a:spcAft>
              <a:buNone/>
            </a:pPr>
            <a:endParaRPr sz="1200">
              <a:latin typeface="Calibri"/>
              <a:ea typeface="Calibri"/>
              <a:cs typeface="Calibri"/>
              <a:sym typeface="Calibri"/>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159"/>
        <p:cNvGrpSpPr/>
        <p:nvPr/>
      </p:nvGrpSpPr>
      <p:grpSpPr>
        <a:xfrm>
          <a:off x="0" y="0"/>
          <a:ext cx="0" cy="0"/>
          <a:chOff x="0" y="0"/>
          <a:chExt cx="0" cy="0"/>
        </a:xfrm>
      </p:grpSpPr>
      <p:sp>
        <p:nvSpPr>
          <p:cNvPr id="1160" name="Google Shape;1160;p19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400">
                <a:latin typeface="Calibri"/>
                <a:ea typeface="Calibri"/>
                <a:cs typeface="Calibri"/>
                <a:sym typeface="Calibri"/>
              </a:rPr>
              <a:t>SortedList&lt;TKey, TValue&gt;</a:t>
            </a:r>
            <a:endParaRPr/>
          </a:p>
        </p:txBody>
      </p:sp>
      <p:sp>
        <p:nvSpPr>
          <p:cNvPr id="1161" name="Google Shape;1161;p19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0" lvl="0" indent="0" algn="l" rtl="0">
              <a:lnSpc>
                <a:spcPct val="115000"/>
              </a:lnSpc>
              <a:spcBef>
                <a:spcPts val="300"/>
              </a:spcBef>
              <a:spcAft>
                <a:spcPts val="0"/>
              </a:spcAft>
              <a:buClr>
                <a:schemeClr val="dk1"/>
              </a:buClr>
              <a:buSzPts val="1100"/>
              <a:buFont typeface="Arial"/>
              <a:buNone/>
            </a:pPr>
            <a:r>
              <a:rPr lang="en" sz="1400" b="1">
                <a:latin typeface="Calibri"/>
                <a:ea typeface="Calibri"/>
                <a:cs typeface="Calibri"/>
                <a:sym typeface="Calibri"/>
              </a:rPr>
              <a:t>Description:</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Similar to Dictionary but automatically sorts elements by their keys.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Combines the features of a list and a dictionary.</a:t>
            </a:r>
            <a:endParaRPr sz="1200">
              <a:latin typeface="Calibri"/>
              <a:ea typeface="Calibri"/>
              <a:cs typeface="Calibri"/>
              <a:sym typeface="Calibri"/>
            </a:endParaRPr>
          </a:p>
          <a:p>
            <a:pPr marL="0" lvl="0" indent="0" algn="l" rtl="0">
              <a:lnSpc>
                <a:spcPct val="115000"/>
              </a:lnSpc>
              <a:spcBef>
                <a:spcPts val="300"/>
              </a:spcBef>
              <a:spcAft>
                <a:spcPts val="0"/>
              </a:spcAft>
              <a:buClr>
                <a:schemeClr val="dk1"/>
              </a:buClr>
              <a:buSzPts val="1100"/>
              <a:buFont typeface="Arial"/>
              <a:buNone/>
            </a:pPr>
            <a:endParaRPr sz="1200">
              <a:latin typeface="Calibri"/>
              <a:ea typeface="Calibri"/>
              <a:cs typeface="Calibri"/>
              <a:sym typeface="Calibri"/>
            </a:endParaRPr>
          </a:p>
          <a:p>
            <a:pPr marL="0" lvl="0" indent="0" algn="l" rtl="0">
              <a:lnSpc>
                <a:spcPct val="115000"/>
              </a:lnSpc>
              <a:spcBef>
                <a:spcPts val="300"/>
              </a:spcBef>
              <a:spcAft>
                <a:spcPts val="0"/>
              </a:spcAft>
              <a:buClr>
                <a:schemeClr val="dk1"/>
              </a:buClr>
              <a:buSzPts val="1100"/>
              <a:buFont typeface="Arial"/>
              <a:buNone/>
            </a:pPr>
            <a:r>
              <a:rPr lang="en" sz="1400" b="1">
                <a:latin typeface="Calibri"/>
                <a:ea typeface="Calibri"/>
                <a:cs typeface="Calibri"/>
                <a:sym typeface="Calibri"/>
              </a:rPr>
              <a:t>Use Case:</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 Ideal when data needs to be retrieved in sorted order.</a:t>
            </a:r>
            <a:endParaRPr sz="1200">
              <a:latin typeface="Calibri"/>
              <a:ea typeface="Calibri"/>
              <a:cs typeface="Calibri"/>
              <a:sym typeface="Calibri"/>
            </a:endParaRPr>
          </a:p>
          <a:p>
            <a:pPr marL="0" lvl="0" indent="0" algn="l" rtl="0">
              <a:lnSpc>
                <a:spcPct val="115000"/>
              </a:lnSpc>
              <a:spcBef>
                <a:spcPts val="300"/>
              </a:spcBef>
              <a:spcAft>
                <a:spcPts val="0"/>
              </a:spcAft>
              <a:buClr>
                <a:schemeClr val="dk1"/>
              </a:buClr>
              <a:buSzPts val="1100"/>
              <a:buFont typeface="Arial"/>
              <a:buNone/>
            </a:pPr>
            <a:endParaRPr sz="1200">
              <a:latin typeface="Calibri"/>
              <a:ea typeface="Calibri"/>
              <a:cs typeface="Calibri"/>
              <a:sym typeface="Calibri"/>
            </a:endParaRPr>
          </a:p>
          <a:p>
            <a:pPr marL="0" lvl="0" indent="0" algn="l" rtl="0">
              <a:lnSpc>
                <a:spcPct val="115000"/>
              </a:lnSpc>
              <a:spcBef>
                <a:spcPts val="300"/>
              </a:spcBef>
              <a:spcAft>
                <a:spcPts val="0"/>
              </a:spcAft>
              <a:buClr>
                <a:schemeClr val="dk1"/>
              </a:buClr>
              <a:buSzPts val="1100"/>
              <a:buFont typeface="Arial"/>
              <a:buNone/>
            </a:pPr>
            <a:r>
              <a:rPr lang="en" sz="1400" b="1">
                <a:latin typeface="Calibri"/>
                <a:ea typeface="Calibri"/>
                <a:cs typeface="Calibri"/>
                <a:sym typeface="Calibri"/>
              </a:rPr>
              <a:t>Key Features:</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 Key–value pairs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Sorted automatically by key</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Fast retrieval</a:t>
            </a:r>
            <a:endParaRPr sz="1200">
              <a:latin typeface="Calibri"/>
              <a:ea typeface="Calibri"/>
              <a:cs typeface="Calibri"/>
              <a:sym typeface="Calibri"/>
            </a:endParaRPr>
          </a:p>
          <a:p>
            <a:pPr marL="0" lvl="0" indent="0" algn="l" rtl="0">
              <a:spcBef>
                <a:spcPts val="800"/>
              </a:spcBef>
              <a:spcAft>
                <a:spcPts val="0"/>
              </a:spcAft>
              <a:buNone/>
            </a:pPr>
            <a:endParaRPr sz="1200">
              <a:latin typeface="Calibri"/>
              <a:ea typeface="Calibri"/>
              <a:cs typeface="Calibri"/>
              <a:sym typeface="Calibri"/>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19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400">
                <a:latin typeface="Calibri"/>
                <a:ea typeface="Calibri"/>
                <a:cs typeface="Calibri"/>
                <a:sym typeface="Calibri"/>
              </a:rPr>
              <a:t>Queue&lt;T&gt;</a:t>
            </a:r>
            <a:endParaRPr/>
          </a:p>
        </p:txBody>
      </p:sp>
      <p:sp>
        <p:nvSpPr>
          <p:cNvPr id="1167" name="Google Shape;1167;p19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300"/>
              </a:spcBef>
              <a:spcAft>
                <a:spcPts val="0"/>
              </a:spcAft>
              <a:buNone/>
            </a:pPr>
            <a:r>
              <a:rPr lang="en" sz="1400" b="1">
                <a:latin typeface="Calibri"/>
                <a:ea typeface="Calibri"/>
                <a:cs typeface="Calibri"/>
                <a:sym typeface="Calibri"/>
              </a:rPr>
              <a:t>Description:</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Follows FIFO (First In, First Out) principle.</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The first element added is the first to be removed.</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Maintains order of insertion.</a:t>
            </a:r>
            <a:endParaRPr sz="1200">
              <a:latin typeface="Calibri"/>
              <a:ea typeface="Calibri"/>
              <a:cs typeface="Calibri"/>
              <a:sym typeface="Calibri"/>
            </a:endParaRPr>
          </a:p>
          <a:p>
            <a:pPr marL="0" lvl="0" indent="0" algn="l" rtl="0">
              <a:lnSpc>
                <a:spcPct val="115000"/>
              </a:lnSpc>
              <a:spcBef>
                <a:spcPts val="300"/>
              </a:spcBef>
              <a:spcAft>
                <a:spcPts val="0"/>
              </a:spcAft>
              <a:buNone/>
            </a:pPr>
            <a:r>
              <a:rPr lang="en" sz="1400" b="1">
                <a:latin typeface="Calibri"/>
                <a:ea typeface="Calibri"/>
                <a:cs typeface="Calibri"/>
                <a:sym typeface="Calibri"/>
              </a:rPr>
              <a:t>Use Case:</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Useful for task scheduling or message queues.</a:t>
            </a:r>
            <a:endParaRPr sz="1200">
              <a:latin typeface="Calibri"/>
              <a:ea typeface="Calibri"/>
              <a:cs typeface="Calibri"/>
              <a:sym typeface="Calibri"/>
            </a:endParaRPr>
          </a:p>
          <a:p>
            <a:pPr marL="0" lvl="0" indent="0" algn="l" rtl="0">
              <a:lnSpc>
                <a:spcPct val="115000"/>
              </a:lnSpc>
              <a:spcBef>
                <a:spcPts val="300"/>
              </a:spcBef>
              <a:spcAft>
                <a:spcPts val="0"/>
              </a:spcAft>
              <a:buNone/>
            </a:pPr>
            <a:r>
              <a:rPr lang="en" sz="1400" b="1">
                <a:latin typeface="Calibri"/>
                <a:ea typeface="Calibri"/>
                <a:cs typeface="Calibri"/>
                <a:sym typeface="Calibri"/>
              </a:rPr>
              <a:t>Key Features:</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FIFO structure</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Maintains insertion order</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deal for sequential processing</a:t>
            </a:r>
            <a:endParaRPr sz="1200">
              <a:latin typeface="Calibri"/>
              <a:ea typeface="Calibri"/>
              <a:cs typeface="Calibri"/>
              <a:sym typeface="Calibri"/>
            </a:endParaRPr>
          </a:p>
          <a:p>
            <a:pPr marL="457200" lvl="0" indent="-317500" algn="l" rtl="0">
              <a:spcBef>
                <a:spcPts val="0"/>
              </a:spcBef>
              <a:spcAft>
                <a:spcPts val="0"/>
              </a:spcAft>
              <a:buSzPts val="1400"/>
              <a:buChar char="•"/>
            </a:pPr>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19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400">
                <a:latin typeface="Calibri"/>
                <a:ea typeface="Calibri"/>
                <a:cs typeface="Calibri"/>
                <a:sym typeface="Calibri"/>
              </a:rPr>
              <a:t>Stack&lt;T&gt;</a:t>
            </a:r>
            <a:endParaRPr/>
          </a:p>
        </p:txBody>
      </p:sp>
      <p:sp>
        <p:nvSpPr>
          <p:cNvPr id="1173" name="Google Shape;1173;p19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300"/>
              </a:spcBef>
              <a:spcAft>
                <a:spcPts val="0"/>
              </a:spcAft>
              <a:buNone/>
            </a:pPr>
            <a:r>
              <a:rPr lang="en" sz="1400" b="1">
                <a:latin typeface="Calibri"/>
                <a:ea typeface="Calibri"/>
                <a:cs typeface="Calibri"/>
                <a:sym typeface="Calibri"/>
              </a:rPr>
              <a:t>Description:</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Follows LIFO (Last In, First Out) principle.</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The last element added is the first to be removed.</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Used in undo operations or backtracking.</a:t>
            </a:r>
            <a:endParaRPr sz="1200">
              <a:latin typeface="Calibri"/>
              <a:ea typeface="Calibri"/>
              <a:cs typeface="Calibri"/>
              <a:sym typeface="Calibri"/>
            </a:endParaRPr>
          </a:p>
          <a:p>
            <a:pPr marL="0" lvl="0" indent="0" algn="l" rtl="0">
              <a:lnSpc>
                <a:spcPct val="115000"/>
              </a:lnSpc>
              <a:spcBef>
                <a:spcPts val="300"/>
              </a:spcBef>
              <a:spcAft>
                <a:spcPts val="0"/>
              </a:spcAft>
              <a:buNone/>
            </a:pPr>
            <a:r>
              <a:rPr lang="en" sz="1400" b="1">
                <a:latin typeface="Calibri"/>
                <a:ea typeface="Calibri"/>
                <a:cs typeface="Calibri"/>
                <a:sym typeface="Calibri"/>
              </a:rPr>
              <a:t>Use Case:</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Web browser history, undo feature in editors.</a:t>
            </a:r>
            <a:endParaRPr sz="1200">
              <a:latin typeface="Calibri"/>
              <a:ea typeface="Calibri"/>
              <a:cs typeface="Calibri"/>
              <a:sym typeface="Calibri"/>
            </a:endParaRPr>
          </a:p>
          <a:p>
            <a:pPr marL="0" lvl="0" indent="0" algn="l" rtl="0">
              <a:lnSpc>
                <a:spcPct val="115000"/>
              </a:lnSpc>
              <a:spcBef>
                <a:spcPts val="300"/>
              </a:spcBef>
              <a:spcAft>
                <a:spcPts val="0"/>
              </a:spcAft>
              <a:buNone/>
            </a:pPr>
            <a:r>
              <a:rPr lang="en" sz="1400" b="1">
                <a:latin typeface="Calibri"/>
                <a:ea typeface="Calibri"/>
                <a:cs typeface="Calibri"/>
                <a:sym typeface="Calibri"/>
              </a:rPr>
              <a:t>Key Features:</a:t>
            </a:r>
            <a:endParaRPr sz="1400" b="1">
              <a:latin typeface="Calibri"/>
              <a:ea typeface="Calibri"/>
              <a:cs typeface="Calibri"/>
              <a:sym typeface="Calibri"/>
            </a:endParaRPr>
          </a:p>
          <a:p>
            <a:pPr marL="457200" lvl="0" indent="-304800" algn="l" rtl="0">
              <a:lnSpc>
                <a:spcPct val="115000"/>
              </a:lnSpc>
              <a:spcBef>
                <a:spcPts val="300"/>
              </a:spcBef>
              <a:spcAft>
                <a:spcPts val="0"/>
              </a:spcAft>
              <a:buSzPts val="1200"/>
              <a:buFont typeface="Calibri"/>
              <a:buChar char="•"/>
            </a:pPr>
            <a:r>
              <a:rPr lang="en" sz="1200">
                <a:latin typeface="Calibri"/>
                <a:ea typeface="Calibri"/>
                <a:cs typeface="Calibri"/>
                <a:sym typeface="Calibri"/>
              </a:rPr>
              <a:t>LIFO structure</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Access only to the top element</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Reverses order of processing</a:t>
            </a:r>
            <a:endParaRPr sz="1200">
              <a:latin typeface="Calibri"/>
              <a:ea typeface="Calibri"/>
              <a:cs typeface="Calibri"/>
              <a:sym typeface="Calibri"/>
            </a:endParaRPr>
          </a:p>
          <a:p>
            <a:pPr marL="457200" lvl="0" indent="-317500" algn="l" rtl="0">
              <a:spcBef>
                <a:spcPts val="0"/>
              </a:spcBef>
              <a:spcAft>
                <a:spcPts val="0"/>
              </a:spcAft>
              <a:buSzPts val="1400"/>
              <a:buChar char="•"/>
            </a:pPr>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19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sz="4400">
                <a:latin typeface="Calibri"/>
                <a:ea typeface="Calibri"/>
                <a:cs typeface="Calibri"/>
                <a:sym typeface="Calibri"/>
              </a:rPr>
              <a:t>HashSet&lt;T&gt;</a:t>
            </a:r>
            <a:endParaRPr/>
          </a:p>
        </p:txBody>
      </p:sp>
      <p:sp>
        <p:nvSpPr>
          <p:cNvPr id="1179" name="Google Shape;1179;p19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500"/>
              </a:spcBef>
              <a:spcAft>
                <a:spcPts val="0"/>
              </a:spcAft>
              <a:buNone/>
            </a:pPr>
            <a:r>
              <a:rPr lang="en" sz="1400" b="1">
                <a:latin typeface="Calibri"/>
                <a:ea typeface="Calibri"/>
                <a:cs typeface="Calibri"/>
                <a:sym typeface="Calibri"/>
              </a:rPr>
              <a:t>Description:</a:t>
            </a:r>
            <a:endParaRPr sz="1400" b="1">
              <a:latin typeface="Calibri"/>
              <a:ea typeface="Calibri"/>
              <a:cs typeface="Calibri"/>
              <a:sym typeface="Calibri"/>
            </a:endParaRPr>
          </a:p>
          <a:p>
            <a:pPr marL="457200" lvl="0" indent="-304800" algn="l" rtl="0">
              <a:lnSpc>
                <a:spcPct val="115000"/>
              </a:lnSpc>
              <a:spcBef>
                <a:spcPts val="500"/>
              </a:spcBef>
              <a:spcAft>
                <a:spcPts val="0"/>
              </a:spcAft>
              <a:buSzPts val="1200"/>
              <a:buFont typeface="Calibri"/>
              <a:buChar char="•"/>
            </a:pPr>
            <a:r>
              <a:rPr lang="en" sz="1200">
                <a:latin typeface="Calibri"/>
                <a:ea typeface="Calibri"/>
                <a:cs typeface="Calibri"/>
                <a:sym typeface="Calibri"/>
              </a:rPr>
              <a:t>Stores a collection of unique elements only.</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Automatically removes duplicates.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 Does not maintain any specific order.</a:t>
            </a:r>
            <a:endParaRPr sz="1200">
              <a:latin typeface="Calibri"/>
              <a:ea typeface="Calibri"/>
              <a:cs typeface="Calibri"/>
              <a:sym typeface="Calibri"/>
            </a:endParaRPr>
          </a:p>
          <a:p>
            <a:pPr marL="0" lvl="0" indent="0" algn="l" rtl="0">
              <a:lnSpc>
                <a:spcPct val="115000"/>
              </a:lnSpc>
              <a:spcBef>
                <a:spcPts val="500"/>
              </a:spcBef>
              <a:spcAft>
                <a:spcPts val="0"/>
              </a:spcAft>
              <a:buNone/>
            </a:pPr>
            <a:r>
              <a:rPr lang="en" sz="1400" b="1">
                <a:latin typeface="Calibri"/>
                <a:ea typeface="Calibri"/>
                <a:cs typeface="Calibri"/>
                <a:sym typeface="Calibri"/>
              </a:rPr>
              <a:t>Use Case:</a:t>
            </a:r>
            <a:endParaRPr sz="1400" b="1">
              <a:latin typeface="Calibri"/>
              <a:ea typeface="Calibri"/>
              <a:cs typeface="Calibri"/>
              <a:sym typeface="Calibri"/>
            </a:endParaRPr>
          </a:p>
          <a:p>
            <a:pPr marL="457200" lvl="0" indent="-304800" algn="l" rtl="0">
              <a:lnSpc>
                <a:spcPct val="115000"/>
              </a:lnSpc>
              <a:spcBef>
                <a:spcPts val="500"/>
              </a:spcBef>
              <a:spcAft>
                <a:spcPts val="0"/>
              </a:spcAft>
              <a:buSzPts val="1200"/>
              <a:buFont typeface="Calibri"/>
              <a:buChar char="•"/>
            </a:pPr>
            <a:r>
              <a:rPr lang="en" sz="1200">
                <a:latin typeface="Calibri"/>
                <a:ea typeface="Calibri"/>
                <a:cs typeface="Calibri"/>
                <a:sym typeface="Calibri"/>
              </a:rPr>
              <a:t>Useful for sets of unique items like IDs or categories.</a:t>
            </a:r>
            <a:endParaRPr sz="1200">
              <a:latin typeface="Calibri"/>
              <a:ea typeface="Calibri"/>
              <a:cs typeface="Calibri"/>
              <a:sym typeface="Calibri"/>
            </a:endParaRPr>
          </a:p>
          <a:p>
            <a:pPr marL="0" lvl="0" indent="0" algn="l" rtl="0">
              <a:lnSpc>
                <a:spcPct val="115000"/>
              </a:lnSpc>
              <a:spcBef>
                <a:spcPts val="500"/>
              </a:spcBef>
              <a:spcAft>
                <a:spcPts val="0"/>
              </a:spcAft>
              <a:buNone/>
            </a:pPr>
            <a:r>
              <a:rPr lang="en" sz="1400" b="1">
                <a:latin typeface="Calibri"/>
                <a:ea typeface="Calibri"/>
                <a:cs typeface="Calibri"/>
                <a:sym typeface="Calibri"/>
              </a:rPr>
              <a:t>Key Features:</a:t>
            </a:r>
            <a:endParaRPr sz="1400" b="1">
              <a:latin typeface="Calibri"/>
              <a:ea typeface="Calibri"/>
              <a:cs typeface="Calibri"/>
              <a:sym typeface="Calibri"/>
            </a:endParaRPr>
          </a:p>
          <a:p>
            <a:pPr marL="457200" lvl="0" indent="-304800" algn="l" rtl="0">
              <a:lnSpc>
                <a:spcPct val="115000"/>
              </a:lnSpc>
              <a:spcBef>
                <a:spcPts val="500"/>
              </a:spcBef>
              <a:spcAft>
                <a:spcPts val="0"/>
              </a:spcAft>
              <a:buSzPts val="1200"/>
              <a:buFont typeface="Calibri"/>
              <a:buChar char="•"/>
            </a:pPr>
            <a:r>
              <a:rPr lang="en" sz="1200">
                <a:latin typeface="Calibri"/>
                <a:ea typeface="Calibri"/>
                <a:cs typeface="Calibri"/>
                <a:sym typeface="Calibri"/>
              </a:rPr>
              <a:t>No duplicates</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Unordered collection</a:t>
            </a:r>
            <a:endParaRPr sz="1200">
              <a:latin typeface="Calibri"/>
              <a:ea typeface="Calibri"/>
              <a:cs typeface="Calibri"/>
              <a:sym typeface="Calibri"/>
            </a:endParaRPr>
          </a:p>
          <a:p>
            <a:pPr marL="457200" lvl="0" indent="-304800" algn="l" rtl="0">
              <a:lnSpc>
                <a:spcPct val="115000"/>
              </a:lnSpc>
              <a:spcBef>
                <a:spcPts val="0"/>
              </a:spcBef>
              <a:spcAft>
                <a:spcPts val="0"/>
              </a:spcAft>
              <a:buSzPts val="1200"/>
              <a:buFont typeface="Calibri"/>
              <a:buChar char="•"/>
            </a:pPr>
            <a:r>
              <a:rPr lang="en" sz="1200">
                <a:latin typeface="Calibri"/>
                <a:ea typeface="Calibri"/>
                <a:cs typeface="Calibri"/>
                <a:sym typeface="Calibri"/>
              </a:rPr>
              <a:t>Fast lookup operations</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endParaRPr sz="1200">
              <a:latin typeface="Calibri"/>
              <a:ea typeface="Calibri"/>
              <a:cs typeface="Calibri"/>
              <a:sym typeface="Calibri"/>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19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WHAT IS GENERIC</a:t>
            </a:r>
            <a:endParaRPr/>
          </a:p>
        </p:txBody>
      </p:sp>
      <p:sp>
        <p:nvSpPr>
          <p:cNvPr id="1185" name="Google Shape;1185;p19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Font typeface="Calibri"/>
              <a:buChar char="•"/>
            </a:pPr>
            <a:r>
              <a:rPr lang="en" sz="1800">
                <a:latin typeface="Calibri"/>
                <a:ea typeface="Calibri"/>
                <a:cs typeface="Calibri"/>
                <a:sym typeface="Calibri"/>
              </a:rPr>
              <a:t>Generics in C# allow you to create </a:t>
            </a:r>
            <a:r>
              <a:rPr lang="en" sz="1800" b="1">
                <a:latin typeface="Calibri"/>
                <a:ea typeface="Calibri"/>
                <a:cs typeface="Calibri"/>
                <a:sym typeface="Calibri"/>
              </a:rPr>
              <a:t>classes, methods, interfaces, and collections</a:t>
            </a:r>
            <a:r>
              <a:rPr lang="en" sz="1800">
                <a:latin typeface="Calibri"/>
                <a:ea typeface="Calibri"/>
                <a:cs typeface="Calibri"/>
                <a:sym typeface="Calibri"/>
              </a:rPr>
              <a:t> that can work with </a:t>
            </a:r>
            <a:r>
              <a:rPr lang="en" sz="1800" b="1">
                <a:latin typeface="Calibri"/>
                <a:ea typeface="Calibri"/>
                <a:cs typeface="Calibri"/>
                <a:sym typeface="Calibri"/>
              </a:rPr>
              <a:t>any data type</a:t>
            </a:r>
            <a:r>
              <a:rPr lang="en" sz="1800">
                <a:latin typeface="Calibri"/>
                <a:ea typeface="Calibri"/>
                <a:cs typeface="Calibri"/>
                <a:sym typeface="Calibri"/>
              </a:rPr>
              <a:t> while maintaining </a:t>
            </a:r>
            <a:r>
              <a:rPr lang="en" sz="1800" b="1">
                <a:latin typeface="Calibri"/>
                <a:ea typeface="Calibri"/>
                <a:cs typeface="Calibri"/>
                <a:sym typeface="Calibri"/>
              </a:rPr>
              <a:t>type safety</a:t>
            </a:r>
            <a:r>
              <a:rPr lang="en" sz="1800">
                <a:latin typeface="Calibri"/>
                <a:ea typeface="Calibri"/>
                <a:cs typeface="Calibri"/>
                <a:sym typeface="Calibri"/>
              </a:rPr>
              <a:t> and </a:t>
            </a:r>
            <a:r>
              <a:rPr lang="en" sz="1800" b="1">
                <a:latin typeface="Calibri"/>
                <a:ea typeface="Calibri"/>
                <a:cs typeface="Calibri"/>
                <a:sym typeface="Calibri"/>
              </a:rPr>
              <a:t>performance</a:t>
            </a:r>
            <a:r>
              <a:rPr lang="en" sz="1800">
                <a:latin typeface="Calibri"/>
                <a:ea typeface="Calibri"/>
                <a:cs typeface="Calibri"/>
                <a:sym typeface="Calibri"/>
              </a:rPr>
              <a:t>.</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Provide type safety and code reusability.</a:t>
            </a:r>
            <a:endParaRPr sz="1800">
              <a:latin typeface="Calibri"/>
              <a:ea typeface="Calibri"/>
              <a:cs typeface="Calibri"/>
              <a:sym typeface="Calibri"/>
            </a:endParaRPr>
          </a:p>
          <a:p>
            <a:pPr marL="457200" lvl="0" indent="-342900" algn="l" rtl="0">
              <a:spcBef>
                <a:spcPts val="0"/>
              </a:spcBef>
              <a:spcAft>
                <a:spcPts val="0"/>
              </a:spcAft>
              <a:buSzPts val="1800"/>
              <a:buFont typeface="Calibri"/>
              <a:buChar char="•"/>
            </a:pPr>
            <a:r>
              <a:rPr lang="en" sz="1800">
                <a:latin typeface="Calibri"/>
                <a:ea typeface="Calibri"/>
                <a:cs typeface="Calibri"/>
                <a:sym typeface="Calibri"/>
              </a:rPr>
              <a:t> Avoids runtime errors and type conversions</a:t>
            </a:r>
            <a:endParaRPr sz="1800">
              <a:latin typeface="Calibri"/>
              <a:ea typeface="Calibri"/>
              <a:cs typeface="Calibri"/>
              <a:sym typeface="Calibri"/>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p19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GENERIC CLASS</a:t>
            </a:r>
            <a:endParaRPr/>
          </a:p>
        </p:txBody>
      </p:sp>
      <p:sp>
        <p:nvSpPr>
          <p:cNvPr id="1191" name="Google Shape;1191;p19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lnSpc>
                <a:spcPct val="115000"/>
              </a:lnSpc>
              <a:spcBef>
                <a:spcPts val="800"/>
              </a:spcBef>
              <a:spcAft>
                <a:spcPts val="0"/>
              </a:spcAft>
              <a:buSzPts val="1800"/>
              <a:buFont typeface="Calibri"/>
              <a:buChar char="•"/>
            </a:pPr>
            <a:r>
              <a:rPr lang="en" sz="1800">
                <a:latin typeface="Calibri"/>
                <a:ea typeface="Calibri"/>
                <a:cs typeface="Calibri"/>
                <a:sym typeface="Calibri"/>
              </a:rPr>
              <a:t>A generic class defines a class with type parameters.</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 It allows the same class to handle data of different types without rewriting code.</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 Declared using angle brackets &lt;T&gt;.</a:t>
            </a:r>
            <a:endParaRPr sz="1800">
              <a:latin typeface="Calibri"/>
              <a:ea typeface="Calibri"/>
              <a:cs typeface="Calibri"/>
              <a:sym typeface="Calibri"/>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19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FEATURES OF GENERIC CLASS</a:t>
            </a:r>
            <a:endParaRPr/>
          </a:p>
        </p:txBody>
      </p:sp>
      <p:sp>
        <p:nvSpPr>
          <p:cNvPr id="1197" name="Google Shape;1197;p19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lnSpc>
                <a:spcPct val="115000"/>
              </a:lnSpc>
              <a:spcBef>
                <a:spcPts val="800"/>
              </a:spcBef>
              <a:spcAft>
                <a:spcPts val="0"/>
              </a:spcAft>
              <a:buSzPts val="1800"/>
              <a:buFont typeface="Calibri"/>
              <a:buChar char="•"/>
            </a:pPr>
            <a:r>
              <a:rPr lang="en" sz="1800">
                <a:latin typeface="Calibri"/>
                <a:ea typeface="Calibri"/>
                <a:cs typeface="Calibri"/>
                <a:sym typeface="Calibri"/>
              </a:rPr>
              <a:t>Type Flexibility: Works with any data type.</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 Type Safety: Type errors caught at compile-time.</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 Reusability: Write once, use for multiple types.</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Performance: No boxing/unboxing required.</a:t>
            </a:r>
            <a:endParaRPr sz="1800">
              <a:latin typeface="Calibri"/>
              <a:ea typeface="Calibri"/>
              <a:cs typeface="Calibri"/>
              <a:sym typeface="Calibri"/>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p19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GENERIC METHOD</a:t>
            </a:r>
            <a:endParaRPr/>
          </a:p>
        </p:txBody>
      </p:sp>
      <p:sp>
        <p:nvSpPr>
          <p:cNvPr id="1203" name="Google Shape;1203;p19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lnSpc>
                <a:spcPct val="115000"/>
              </a:lnSpc>
              <a:spcBef>
                <a:spcPts val="800"/>
              </a:spcBef>
              <a:spcAft>
                <a:spcPts val="0"/>
              </a:spcAft>
              <a:buSzPts val="1800"/>
              <a:buFont typeface="Calibri"/>
              <a:buChar char="•"/>
            </a:pPr>
            <a:r>
              <a:rPr lang="en" sz="1800">
                <a:latin typeface="Calibri"/>
                <a:ea typeface="Calibri"/>
                <a:cs typeface="Calibri"/>
                <a:sym typeface="Calibri"/>
              </a:rPr>
              <a:t>A generic method defines type parameters for a single method.</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Works with different data types without overloading.</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Declared using &lt;T&gt; after the method name.</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Example Concept: void Display&lt;T&gt;(T value) → Can accept any data type.</a:t>
            </a:r>
            <a:endParaRPr sz="180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199"/>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FEATURES OF GENERIC METHOD</a:t>
            </a:r>
            <a:endParaRPr/>
          </a:p>
        </p:txBody>
      </p:sp>
      <p:sp>
        <p:nvSpPr>
          <p:cNvPr id="1209" name="Google Shape;1209;p199"/>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42900" algn="l" rtl="0">
              <a:lnSpc>
                <a:spcPct val="115000"/>
              </a:lnSpc>
              <a:spcBef>
                <a:spcPts val="800"/>
              </a:spcBef>
              <a:spcAft>
                <a:spcPts val="0"/>
              </a:spcAft>
              <a:buSzPts val="1800"/>
              <a:buFont typeface="Calibri"/>
              <a:buChar char="•"/>
            </a:pPr>
            <a:r>
              <a:rPr lang="en" sz="1800">
                <a:latin typeface="Calibri"/>
                <a:ea typeface="Calibri"/>
                <a:cs typeface="Calibri"/>
                <a:sym typeface="Calibri"/>
              </a:rPr>
              <a:t>Type Independent: Can process various data types.</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No Overloading Needed: One method works for all types.</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Compile-time Checking: Detects type mismatches early.</a:t>
            </a:r>
            <a:endParaRPr sz="1800">
              <a:latin typeface="Calibri"/>
              <a:ea typeface="Calibri"/>
              <a:cs typeface="Calibri"/>
              <a:sym typeface="Calibri"/>
            </a:endParaRPr>
          </a:p>
          <a:p>
            <a:pPr marL="457200" lvl="0" indent="-342900" algn="l" rtl="0">
              <a:lnSpc>
                <a:spcPct val="115000"/>
              </a:lnSpc>
              <a:spcBef>
                <a:spcPts val="0"/>
              </a:spcBef>
              <a:spcAft>
                <a:spcPts val="0"/>
              </a:spcAft>
              <a:buSzPts val="1800"/>
              <a:buFont typeface="Calibri"/>
              <a:buChar char="•"/>
            </a:pPr>
            <a:r>
              <a:rPr lang="en" sz="1800">
                <a:latin typeface="Calibri"/>
                <a:ea typeface="Calibri"/>
                <a:cs typeface="Calibri"/>
                <a:sym typeface="Calibri"/>
              </a:rPr>
              <a:t>Reusability: Reduces redundant method code.</a:t>
            </a:r>
            <a:endParaRPr sz="1800">
              <a:latin typeface="Calibri"/>
              <a:ea typeface="Calibri"/>
              <a:cs typeface="Calibri"/>
              <a:sym typeface="Calibri"/>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00"/>
          <p:cNvSpPr txBox="1">
            <a:spLocks noGrp="1"/>
          </p:cNvSpPr>
          <p:nvPr>
            <p:ph type="ctrTitle"/>
          </p:nvPr>
        </p:nvSpPr>
        <p:spPr>
          <a:xfrm>
            <a:off x="1028700" y="1352548"/>
            <a:ext cx="7086600" cy="2196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
              <a:t>DELEGATE, ANONYMOUS METHOD, LAMBDA EXPRESSION</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201"/>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DELEGATE</a:t>
            </a:r>
            <a:endParaRPr/>
          </a:p>
        </p:txBody>
      </p:sp>
      <p:sp>
        <p:nvSpPr>
          <p:cNvPr id="1220" name="Google Shape;1220;p201"/>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800">
                <a:latin typeface="Calibri"/>
                <a:ea typeface="Calibri"/>
                <a:cs typeface="Calibri"/>
                <a:sym typeface="Calibri"/>
              </a:rPr>
              <a:t>Delegate are useful for passing method as input parameter.</a:t>
            </a:r>
            <a:endParaRPr sz="18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800">
                <a:latin typeface="Calibri"/>
                <a:ea typeface="Calibri"/>
                <a:cs typeface="Calibri"/>
                <a:sym typeface="Calibri"/>
              </a:rPr>
              <a:t>Method reference by delegate must have the same return type and parameter.</a:t>
            </a:r>
            <a:endParaRPr sz="1800">
              <a:latin typeface="Calibri"/>
              <a:ea typeface="Calibri"/>
              <a:cs typeface="Calibri"/>
              <a:sym typeface="Calibri"/>
            </a:endParaRPr>
          </a:p>
          <a:p>
            <a:pPr marL="457200" marR="0" lvl="0" indent="-323850" algn="l" rtl="0">
              <a:lnSpc>
                <a:spcPct val="90000"/>
              </a:lnSpc>
              <a:spcBef>
                <a:spcPts val="0"/>
              </a:spcBef>
              <a:spcAft>
                <a:spcPts val="0"/>
              </a:spcAft>
              <a:buSzPts val="1500"/>
              <a:buFont typeface="Calibri"/>
              <a:buChar char="•"/>
            </a:pPr>
            <a:r>
              <a:rPr lang="en" sz="1800">
                <a:latin typeface="Calibri"/>
                <a:ea typeface="Calibri"/>
                <a:cs typeface="Calibri"/>
                <a:sym typeface="Calibri"/>
              </a:rPr>
              <a:t>A delegate is type safe function pointer.</a:t>
            </a:r>
            <a:endParaRPr sz="1800">
              <a:latin typeface="Calibri"/>
              <a:ea typeface="Calibri"/>
              <a:cs typeface="Calibri"/>
              <a:sym typeface="Calibri"/>
            </a:endParaRPr>
          </a:p>
          <a:p>
            <a:pPr marL="457200" marR="0" lvl="0" indent="-323850" algn="l" rtl="0">
              <a:lnSpc>
                <a:spcPct val="90000"/>
              </a:lnSpc>
              <a:spcBef>
                <a:spcPts val="0"/>
              </a:spcBef>
              <a:spcAft>
                <a:spcPts val="0"/>
              </a:spcAft>
              <a:buSzPts val="1500"/>
              <a:buFont typeface="Calibri"/>
              <a:buChar char="•"/>
            </a:pPr>
            <a:r>
              <a:rPr lang="en" sz="1800">
                <a:latin typeface="Calibri"/>
                <a:ea typeface="Calibri"/>
                <a:cs typeface="Calibri"/>
                <a:sym typeface="Calibri"/>
              </a:rPr>
              <a:t>Delegates are used in event handling, callback methods, etc.</a:t>
            </a:r>
            <a:endParaRPr sz="1800">
              <a:latin typeface="Calibri"/>
              <a:ea typeface="Calibri"/>
              <a:cs typeface="Calibri"/>
              <a:sym typeface="Calibri"/>
            </a:endParaRPr>
          </a:p>
          <a:p>
            <a:pPr marL="0" marR="0" lvl="0" indent="0" algn="l" rtl="0">
              <a:lnSpc>
                <a:spcPct val="90000"/>
              </a:lnSpc>
              <a:spcBef>
                <a:spcPts val="800"/>
              </a:spcBef>
              <a:spcAft>
                <a:spcPts val="0"/>
              </a:spcAft>
              <a:buNone/>
            </a:pPr>
            <a:endParaRPr sz="1800">
              <a:latin typeface="Calibri"/>
              <a:ea typeface="Calibri"/>
              <a:cs typeface="Calibri"/>
              <a:sym typeface="Calibri"/>
            </a:endParaRPr>
          </a:p>
          <a:p>
            <a:pPr marL="0" marR="0" lvl="0" indent="0" algn="l" rtl="0">
              <a:lnSpc>
                <a:spcPct val="90000"/>
              </a:lnSpc>
              <a:spcBef>
                <a:spcPts val="800"/>
              </a:spcBef>
              <a:spcAft>
                <a:spcPts val="0"/>
              </a:spcAft>
              <a:buNone/>
            </a:pPr>
            <a:r>
              <a:rPr lang="en" sz="1800">
                <a:latin typeface="Calibri"/>
                <a:ea typeface="Calibri"/>
                <a:cs typeface="Calibri"/>
                <a:sym typeface="Calibri"/>
              </a:rPr>
              <a:t>Types of Delegate</a:t>
            </a:r>
            <a:endParaRPr sz="1800">
              <a:latin typeface="Calibri"/>
              <a:ea typeface="Calibri"/>
              <a:cs typeface="Calibri"/>
              <a:sym typeface="Calibri"/>
            </a:endParaRPr>
          </a:p>
          <a:p>
            <a:pPr marL="457200" marR="0" lvl="0" indent="-342900" algn="l" rtl="0">
              <a:lnSpc>
                <a:spcPct val="90000"/>
              </a:lnSpc>
              <a:spcBef>
                <a:spcPts val="800"/>
              </a:spcBef>
              <a:spcAft>
                <a:spcPts val="0"/>
              </a:spcAft>
              <a:buSzPts val="1800"/>
              <a:buFont typeface="Calibri"/>
              <a:buChar char="•"/>
            </a:pPr>
            <a:r>
              <a:rPr lang="en" sz="1800">
                <a:latin typeface="Calibri"/>
                <a:ea typeface="Calibri"/>
                <a:cs typeface="Calibri"/>
                <a:sym typeface="Calibri"/>
              </a:rPr>
              <a:t>Single Cast Delegate.</a:t>
            </a:r>
            <a:endParaRPr sz="1800">
              <a:latin typeface="Calibri"/>
              <a:ea typeface="Calibri"/>
              <a:cs typeface="Calibri"/>
              <a:sym typeface="Calibri"/>
            </a:endParaRPr>
          </a:p>
          <a:p>
            <a:pPr marL="457200" marR="0" lvl="0" indent="-342900" algn="l" rtl="0">
              <a:lnSpc>
                <a:spcPct val="90000"/>
              </a:lnSpc>
              <a:spcBef>
                <a:spcPts val="0"/>
              </a:spcBef>
              <a:spcAft>
                <a:spcPts val="0"/>
              </a:spcAft>
              <a:buSzPts val="1800"/>
              <a:buFont typeface="Calibri"/>
              <a:buChar char="•"/>
            </a:pPr>
            <a:r>
              <a:rPr lang="en" sz="1800">
                <a:latin typeface="Calibri"/>
                <a:ea typeface="Calibri"/>
                <a:cs typeface="Calibri"/>
                <a:sym typeface="Calibri"/>
              </a:rPr>
              <a:t>Multi-Cast Delegate</a:t>
            </a:r>
            <a:endParaRPr sz="1800">
              <a:latin typeface="Calibri"/>
              <a:ea typeface="Calibri"/>
              <a:cs typeface="Calibri"/>
              <a:sym typeface="Calibri"/>
            </a:endParaRPr>
          </a:p>
          <a:p>
            <a:pPr marL="457200" marR="0" lvl="0" indent="-342900" algn="l" rtl="0">
              <a:lnSpc>
                <a:spcPct val="90000"/>
              </a:lnSpc>
              <a:spcBef>
                <a:spcPts val="0"/>
              </a:spcBef>
              <a:spcAft>
                <a:spcPts val="0"/>
              </a:spcAft>
              <a:buSzPts val="1800"/>
              <a:buFont typeface="Calibri"/>
              <a:buChar char="•"/>
            </a:pPr>
            <a:r>
              <a:rPr lang="en" sz="1800">
                <a:latin typeface="Calibri"/>
                <a:ea typeface="Calibri"/>
                <a:cs typeface="Calibri"/>
                <a:sym typeface="Calibri"/>
              </a:rPr>
              <a:t>Anonymous Delegate</a:t>
            </a:r>
            <a:endParaRPr sz="1800">
              <a:latin typeface="Calibri"/>
              <a:ea typeface="Calibri"/>
              <a:cs typeface="Calibri"/>
              <a:sym typeface="Calibri"/>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202"/>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SINGLE CAST DELEGATE</a:t>
            </a:r>
            <a:endParaRPr/>
          </a:p>
        </p:txBody>
      </p:sp>
      <p:sp>
        <p:nvSpPr>
          <p:cNvPr id="1226" name="Google Shape;1226;p202"/>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0" lvl="0" indent="0" algn="l" rtl="0">
              <a:lnSpc>
                <a:spcPct val="115000"/>
              </a:lnSpc>
              <a:spcBef>
                <a:spcPts val="800"/>
              </a:spcBef>
              <a:spcAft>
                <a:spcPts val="0"/>
              </a:spcAft>
              <a:buClr>
                <a:schemeClr val="dk1"/>
              </a:buClr>
              <a:buSzPts val="1100"/>
              <a:buFont typeface="Arial"/>
              <a:buNone/>
            </a:pPr>
            <a:r>
              <a:rPr lang="en" sz="1400">
                <a:latin typeface="Calibri"/>
                <a:ea typeface="Calibri"/>
                <a:cs typeface="Calibri"/>
                <a:sym typeface="Calibri"/>
              </a:rPr>
              <a:t>A single-cast delegate is a delegate instance that points to a single method at a time. When this delegate is invoked, only that specific method is executed. </a:t>
            </a:r>
            <a:endParaRPr sz="1400">
              <a:latin typeface="Calibri"/>
              <a:ea typeface="Calibri"/>
              <a:cs typeface="Calibri"/>
              <a:sym typeface="Calibri"/>
            </a:endParaRPr>
          </a:p>
          <a:p>
            <a:pPr marL="457200" lvl="0" indent="-317500" algn="l" rtl="0">
              <a:lnSpc>
                <a:spcPct val="115000"/>
              </a:lnSpc>
              <a:spcBef>
                <a:spcPts val="1500"/>
              </a:spcBef>
              <a:spcAft>
                <a:spcPts val="0"/>
              </a:spcAft>
              <a:buClr>
                <a:schemeClr val="lt1"/>
              </a:buClr>
              <a:buSzPts val="1400"/>
              <a:buFont typeface="Calibri"/>
              <a:buChar char="●"/>
            </a:pPr>
            <a:r>
              <a:rPr lang="en" sz="1400">
                <a:latin typeface="Calibri"/>
                <a:ea typeface="Calibri"/>
                <a:cs typeface="Calibri"/>
                <a:sym typeface="Calibri"/>
              </a:rPr>
              <a:t>Characteristics:</a:t>
            </a:r>
            <a:endParaRPr sz="1400">
              <a:latin typeface="Calibri"/>
              <a:ea typeface="Calibri"/>
              <a:cs typeface="Calibri"/>
              <a:sym typeface="Calibri"/>
            </a:endParaRPr>
          </a:p>
          <a:p>
            <a:pPr marL="914400" lvl="1" indent="-317500" algn="l" rtl="0">
              <a:lnSpc>
                <a:spcPct val="115000"/>
              </a:lnSpc>
              <a:spcBef>
                <a:spcPts val="0"/>
              </a:spcBef>
              <a:spcAft>
                <a:spcPts val="0"/>
              </a:spcAft>
              <a:buClr>
                <a:schemeClr val="lt1"/>
              </a:buClr>
              <a:buSzPts val="1400"/>
              <a:buFont typeface="Calibri"/>
              <a:buChar char="○"/>
            </a:pPr>
            <a:r>
              <a:rPr lang="en" sz="1400">
                <a:latin typeface="Calibri"/>
                <a:ea typeface="Calibri"/>
                <a:cs typeface="Calibri"/>
                <a:sym typeface="Calibri"/>
              </a:rPr>
              <a:t>It holds a reference to just one function.</a:t>
            </a:r>
            <a:endParaRPr sz="1400">
              <a:latin typeface="Calibri"/>
              <a:ea typeface="Calibri"/>
              <a:cs typeface="Calibri"/>
              <a:sym typeface="Calibri"/>
            </a:endParaRPr>
          </a:p>
          <a:p>
            <a:pPr marL="914400" lvl="1" indent="-317500" algn="l" rtl="0">
              <a:lnSpc>
                <a:spcPct val="115000"/>
              </a:lnSpc>
              <a:spcBef>
                <a:spcPts val="0"/>
              </a:spcBef>
              <a:spcAft>
                <a:spcPts val="0"/>
              </a:spcAft>
              <a:buClr>
                <a:schemeClr val="lt1"/>
              </a:buClr>
              <a:buSzPts val="1400"/>
              <a:buFont typeface="Calibri"/>
              <a:buChar char="○"/>
            </a:pPr>
            <a:r>
              <a:rPr lang="en" sz="1400">
                <a:latin typeface="Calibri"/>
                <a:ea typeface="Calibri"/>
                <a:cs typeface="Calibri"/>
                <a:sym typeface="Calibri"/>
              </a:rPr>
              <a:t>This is the default type for any delegate declaration unless methods are added or removed explicitly .</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Font typeface="Calibri"/>
              <a:buChar char="●"/>
            </a:pPr>
            <a:r>
              <a:rPr lang="en" sz="1400">
                <a:latin typeface="Calibri"/>
                <a:ea typeface="Calibri"/>
                <a:cs typeface="Calibri"/>
                <a:sym typeface="Calibri"/>
              </a:rPr>
              <a:t>Use Case: Ideal for scenarios where a simple callback or a single event handler is needed, such as a function that needs to be executed after a specific operation is completed [2]. </a:t>
            </a:r>
            <a:endParaRPr sz="1400">
              <a:latin typeface="Calibri"/>
              <a:ea typeface="Calibri"/>
              <a:cs typeface="Calibri"/>
              <a:sym typeface="Calibri"/>
            </a:endParaRPr>
          </a:p>
          <a:p>
            <a:pPr marL="0" lvl="0" indent="0" algn="l" rtl="0">
              <a:spcBef>
                <a:spcPts val="2400"/>
              </a:spcBef>
              <a:spcAft>
                <a:spcPts val="0"/>
              </a:spcAft>
              <a:buNone/>
            </a:pPr>
            <a:endParaRPr sz="1400">
              <a:latin typeface="Calibri"/>
              <a:ea typeface="Calibri"/>
              <a:cs typeface="Calibri"/>
              <a:sym typeface="Calibri"/>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230"/>
        <p:cNvGrpSpPr/>
        <p:nvPr/>
      </p:nvGrpSpPr>
      <p:grpSpPr>
        <a:xfrm>
          <a:off x="0" y="0"/>
          <a:ext cx="0" cy="0"/>
          <a:chOff x="0" y="0"/>
          <a:chExt cx="0" cy="0"/>
        </a:xfrm>
      </p:grpSpPr>
      <p:sp>
        <p:nvSpPr>
          <p:cNvPr id="1231" name="Google Shape;1231;p203"/>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MULTI CAST DELEGATE</a:t>
            </a:r>
            <a:endParaRPr/>
          </a:p>
        </p:txBody>
      </p:sp>
      <p:sp>
        <p:nvSpPr>
          <p:cNvPr id="1232" name="Google Shape;1232;p203"/>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457200" lvl="0" indent="-311150" algn="l" rtl="0">
              <a:lnSpc>
                <a:spcPct val="115000"/>
              </a:lnSpc>
              <a:spcBef>
                <a:spcPts val="800"/>
              </a:spcBef>
              <a:spcAft>
                <a:spcPts val="0"/>
              </a:spcAft>
              <a:buClr>
                <a:srgbClr val="EEF0FF"/>
              </a:buClr>
              <a:buSzPts val="1300"/>
              <a:buFont typeface="Calibri"/>
              <a:buChar char="●"/>
            </a:pPr>
            <a:r>
              <a:rPr lang="en" sz="1300">
                <a:latin typeface="Calibri"/>
                <a:ea typeface="Calibri"/>
                <a:cs typeface="Calibri"/>
                <a:sym typeface="Calibri"/>
              </a:rPr>
              <a:t>A multicast delegate is a delegate instance that points to multiple methods simultaneously . When the delegate is invoked, all the methods it references are executed sequentially in the order they were added . </a:t>
            </a:r>
            <a:endParaRPr sz="1300">
              <a:latin typeface="Calibri"/>
              <a:ea typeface="Calibri"/>
              <a:cs typeface="Calibri"/>
              <a:sym typeface="Calibri"/>
            </a:endParaRPr>
          </a:p>
          <a:p>
            <a:pPr marL="457200" lvl="0"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Characteristics:</a:t>
            </a:r>
            <a:endParaRPr sz="1300">
              <a:latin typeface="Calibri"/>
              <a:ea typeface="Calibri"/>
              <a:cs typeface="Calibri"/>
              <a:sym typeface="Calibri"/>
            </a:endParaRPr>
          </a:p>
          <a:p>
            <a:pPr marL="914400" lvl="1" indent="-311150" algn="l" rtl="0">
              <a:lnSpc>
                <a:spcPct val="115000"/>
              </a:lnSpc>
              <a:spcBef>
                <a:spcPts val="0"/>
              </a:spcBef>
              <a:spcAft>
                <a:spcPts val="0"/>
              </a:spcAft>
              <a:buClr>
                <a:schemeClr val="lt1"/>
              </a:buClr>
              <a:buSzPts val="1300"/>
              <a:buFont typeface="Roboto"/>
              <a:buChar char="○"/>
            </a:pPr>
            <a:r>
              <a:rPr lang="en" sz="1300">
                <a:latin typeface="Calibri"/>
                <a:ea typeface="Calibri"/>
                <a:cs typeface="Calibri"/>
                <a:sym typeface="Calibri"/>
              </a:rPr>
              <a:t>It uses the + operator to add more methods to its invocation list and the - operator to remove them.</a:t>
            </a:r>
            <a:endParaRPr sz="1300">
              <a:latin typeface="Calibri"/>
              <a:ea typeface="Calibri"/>
              <a:cs typeface="Calibri"/>
              <a:sym typeface="Calibri"/>
            </a:endParaRPr>
          </a:p>
          <a:p>
            <a:pPr marL="914400" lvl="1"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All methods must have the same return type and parameters as the delegate definition.</a:t>
            </a:r>
            <a:endParaRPr sz="1300">
              <a:latin typeface="Calibri"/>
              <a:ea typeface="Calibri"/>
              <a:cs typeface="Calibri"/>
              <a:sym typeface="Calibri"/>
            </a:endParaRPr>
          </a:p>
          <a:p>
            <a:pPr marL="914400" lvl="1"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If any of the methods have a non-void return type, only the return value of the last method in the invocation list is received when the delegate is called; the return values of the previous methods are lost </a:t>
            </a:r>
            <a:endParaRPr sz="1300">
              <a:latin typeface="Calibri"/>
              <a:ea typeface="Calibri"/>
              <a:cs typeface="Calibri"/>
              <a:sym typeface="Calibri"/>
            </a:endParaRPr>
          </a:p>
          <a:p>
            <a:pPr marL="457200" lvl="0"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Use Case: Commonly used for implementing event handling, where multiple subscribers (methods) need to be notified when an event occurs</a:t>
            </a:r>
            <a:endParaRPr sz="1300">
              <a:latin typeface="Calibri"/>
              <a:ea typeface="Calibri"/>
              <a:cs typeface="Calibri"/>
              <a:sym typeface="Calibri"/>
            </a:endParaRPr>
          </a:p>
          <a:p>
            <a:pPr marL="0" lvl="0" indent="0" algn="l" rtl="0">
              <a:spcBef>
                <a:spcPts val="2400"/>
              </a:spcBef>
              <a:spcAft>
                <a:spcPts val="0"/>
              </a:spcAft>
              <a:buNone/>
            </a:pPr>
            <a:endParaRPr sz="1300">
              <a:latin typeface="Calibri"/>
              <a:ea typeface="Calibri"/>
              <a:cs typeface="Calibri"/>
              <a:sym typeface="Calibri"/>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p204"/>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ANONYMOUS DELEGATE</a:t>
            </a:r>
            <a:endParaRPr/>
          </a:p>
        </p:txBody>
      </p:sp>
      <p:sp>
        <p:nvSpPr>
          <p:cNvPr id="1238" name="Google Shape;1238;p204"/>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Autofit/>
          </a:bodyPr>
          <a:lstStyle/>
          <a:p>
            <a:pPr marL="457200" lvl="0" indent="-311150" algn="l" rtl="0">
              <a:lnSpc>
                <a:spcPct val="115000"/>
              </a:lnSpc>
              <a:spcBef>
                <a:spcPts val="800"/>
              </a:spcBef>
              <a:spcAft>
                <a:spcPts val="0"/>
              </a:spcAft>
              <a:buClr>
                <a:srgbClr val="EEF0FF"/>
              </a:buClr>
              <a:buSzPts val="1300"/>
              <a:buFont typeface="Calibri"/>
              <a:buChar char="●"/>
            </a:pPr>
            <a:r>
              <a:rPr lang="en" sz="1300">
                <a:latin typeface="Calibri"/>
                <a:ea typeface="Calibri"/>
                <a:cs typeface="Calibri"/>
                <a:sym typeface="Calibri"/>
              </a:rPr>
              <a:t>An anonymous delegate is a way to define a method inline where the delegate is expected, without needing to write a separate, named method . It avoids the overhead of creating a dedicated method for a small piece of functionality. </a:t>
            </a:r>
            <a:endParaRPr sz="1300">
              <a:latin typeface="Calibri"/>
              <a:ea typeface="Calibri"/>
              <a:cs typeface="Calibri"/>
              <a:sym typeface="Calibri"/>
            </a:endParaRPr>
          </a:p>
          <a:p>
            <a:pPr marL="457200" lvl="0"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Characteristics:</a:t>
            </a:r>
            <a:endParaRPr sz="1300">
              <a:latin typeface="Calibri"/>
              <a:ea typeface="Calibri"/>
              <a:cs typeface="Calibri"/>
              <a:sym typeface="Calibri"/>
            </a:endParaRPr>
          </a:p>
          <a:p>
            <a:pPr marL="914400" lvl="1"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It is a code block passed directly as a parameter to a method or assigned to a delegate instance.</a:t>
            </a:r>
            <a:endParaRPr sz="1300">
              <a:latin typeface="Calibri"/>
              <a:ea typeface="Calibri"/>
              <a:cs typeface="Calibri"/>
              <a:sym typeface="Calibri"/>
            </a:endParaRPr>
          </a:p>
          <a:p>
            <a:pPr marL="914400" lvl="1"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It can access local variables and parameters of the enclosing method (a feature known as "capturing" variables).</a:t>
            </a:r>
            <a:endParaRPr sz="1300">
              <a:latin typeface="Calibri"/>
              <a:ea typeface="Calibri"/>
              <a:cs typeface="Calibri"/>
              <a:sym typeface="Calibri"/>
            </a:endParaRPr>
          </a:p>
          <a:p>
            <a:pPr marL="914400" lvl="1"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In modern C# (from C# 3.0 onwards), anonymous delegates have largely been superseded by a more concise and powerful feature called lambda expressions.</a:t>
            </a:r>
            <a:endParaRPr sz="1300">
              <a:latin typeface="Calibri"/>
              <a:ea typeface="Calibri"/>
              <a:cs typeface="Calibri"/>
              <a:sym typeface="Calibri"/>
            </a:endParaRPr>
          </a:p>
          <a:p>
            <a:pPr marL="457200" lvl="0" indent="-311150" algn="l" rtl="0">
              <a:lnSpc>
                <a:spcPct val="115000"/>
              </a:lnSpc>
              <a:spcBef>
                <a:spcPts val="0"/>
              </a:spcBef>
              <a:spcAft>
                <a:spcPts val="0"/>
              </a:spcAft>
              <a:buClr>
                <a:schemeClr val="lt1"/>
              </a:buClr>
              <a:buSzPts val="1300"/>
              <a:buFont typeface="Calibri"/>
              <a:buChar char="●"/>
            </a:pPr>
            <a:r>
              <a:rPr lang="en" sz="1300">
                <a:latin typeface="Calibri"/>
                <a:ea typeface="Calibri"/>
                <a:cs typeface="Calibri"/>
                <a:sym typeface="Calibri"/>
              </a:rPr>
              <a:t>Use Case: Useful for short, one-off methods, such as defining specific criteria for sorting a list or a simple action in an event handler, where creating a full named method would be cumbersome</a:t>
            </a:r>
            <a:endParaRPr sz="1300">
              <a:latin typeface="Calibri"/>
              <a:ea typeface="Calibri"/>
              <a:cs typeface="Calibri"/>
              <a:sym typeface="Calibri"/>
            </a:endParaRPr>
          </a:p>
          <a:p>
            <a:pPr marL="0" lvl="0" indent="0" algn="l" rtl="0">
              <a:spcBef>
                <a:spcPts val="2400"/>
              </a:spcBef>
              <a:spcAft>
                <a:spcPts val="0"/>
              </a:spcAft>
              <a:buNone/>
            </a:pPr>
            <a:endParaRPr sz="1300">
              <a:latin typeface="Calibri"/>
              <a:ea typeface="Calibri"/>
              <a:cs typeface="Calibri"/>
              <a:sym typeface="Calibri"/>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205"/>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ANONYMOUS METHOD</a:t>
            </a:r>
            <a:endParaRPr/>
          </a:p>
        </p:txBody>
      </p:sp>
      <p:sp>
        <p:nvSpPr>
          <p:cNvPr id="1244" name="Google Shape;1244;p205"/>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23850" algn="l" rtl="0">
              <a:spcBef>
                <a:spcPts val="800"/>
              </a:spcBef>
              <a:spcAft>
                <a:spcPts val="0"/>
              </a:spcAft>
              <a:buSzPts val="1500"/>
              <a:buFont typeface="Calibri"/>
              <a:buChar char="•"/>
            </a:pPr>
            <a:r>
              <a:rPr lang="en" sz="1500">
                <a:latin typeface="Calibri"/>
                <a:ea typeface="Calibri"/>
                <a:cs typeface="Calibri"/>
                <a:sym typeface="Calibri"/>
              </a:rPr>
              <a:t>An anonymous method in C# is a method without a name, allowing for the definition of inline code blocks that can be assigned to delegate types. </a:t>
            </a:r>
            <a:endParaRPr sz="1500">
              <a:latin typeface="Calibri"/>
              <a:ea typeface="Calibri"/>
              <a:cs typeface="Calibri"/>
              <a:sym typeface="Calibri"/>
            </a:endParaRPr>
          </a:p>
          <a:p>
            <a:pPr marL="457200" lvl="0" indent="-323850" algn="l" rtl="0">
              <a:spcBef>
                <a:spcPts val="0"/>
              </a:spcBef>
              <a:spcAft>
                <a:spcPts val="0"/>
              </a:spcAft>
              <a:buSzPts val="1500"/>
              <a:buFont typeface="Calibri"/>
              <a:buChar char="•"/>
            </a:pPr>
            <a:r>
              <a:rPr lang="en" sz="1500">
                <a:latin typeface="Calibri"/>
                <a:ea typeface="Calibri"/>
                <a:cs typeface="Calibri"/>
                <a:sym typeface="Calibri"/>
              </a:rPr>
              <a:t>It provides a concise way to create delegate instances directly where they are needed, particularly useful for short, single-use functions.</a:t>
            </a:r>
            <a:endParaRPr sz="1500">
              <a:latin typeface="Calibri"/>
              <a:ea typeface="Calibri"/>
              <a:cs typeface="Calibri"/>
              <a:sym typeface="Calibri"/>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sp>
        <p:nvSpPr>
          <p:cNvPr id="1249" name="Google Shape;1249;p206"/>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CHARACTERISTICS OF ANONYMOUS</a:t>
            </a:r>
            <a:endParaRPr/>
          </a:p>
        </p:txBody>
      </p:sp>
      <p:sp>
        <p:nvSpPr>
          <p:cNvPr id="1250" name="Google Shape;1250;p206"/>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914400" lvl="1" indent="-304800" algn="l" rtl="0">
              <a:lnSpc>
                <a:spcPct val="115000"/>
              </a:lnSpc>
              <a:spcBef>
                <a:spcPts val="400"/>
              </a:spcBef>
              <a:spcAft>
                <a:spcPts val="0"/>
              </a:spcAft>
              <a:buSzPts val="1200"/>
              <a:buChar char="•"/>
            </a:pPr>
            <a:r>
              <a:rPr lang="en" sz="1200" b="1">
                <a:latin typeface="Arial"/>
                <a:ea typeface="Arial"/>
                <a:cs typeface="Arial"/>
                <a:sym typeface="Arial"/>
              </a:rPr>
              <a:t>No Name:</a:t>
            </a:r>
            <a:r>
              <a:rPr lang="en" sz="1200">
                <a:latin typeface="Arial"/>
                <a:ea typeface="Arial"/>
                <a:cs typeface="Arial"/>
                <a:sym typeface="Arial"/>
              </a:rPr>
              <a:t> Anonymous methods lack a formal name, meaning they cannot be called by name like regular methods.</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 sz="1200" b="1">
                <a:latin typeface="Arial"/>
                <a:ea typeface="Arial"/>
                <a:cs typeface="Arial"/>
                <a:sym typeface="Arial"/>
              </a:rPr>
              <a:t>Defined with </a:t>
            </a:r>
            <a:r>
              <a:rPr lang="en" sz="1200" b="1">
                <a:latin typeface="Roboto Mono"/>
                <a:ea typeface="Roboto Mono"/>
                <a:cs typeface="Roboto Mono"/>
                <a:sym typeface="Roboto Mono"/>
              </a:rPr>
              <a:t>delegate</a:t>
            </a:r>
            <a:r>
              <a:rPr lang="en" sz="1200" b="1">
                <a:latin typeface="Arial"/>
                <a:ea typeface="Arial"/>
                <a:cs typeface="Arial"/>
                <a:sym typeface="Arial"/>
              </a:rPr>
              <a:t> keyword:</a:t>
            </a:r>
            <a:r>
              <a:rPr lang="en" sz="1200">
                <a:latin typeface="Arial"/>
                <a:ea typeface="Arial"/>
                <a:cs typeface="Arial"/>
                <a:sym typeface="Arial"/>
              </a:rPr>
              <a:t> They are defined using the </a:t>
            </a:r>
            <a:r>
              <a:rPr lang="en" sz="1200">
                <a:latin typeface="Roboto Mono"/>
                <a:ea typeface="Roboto Mono"/>
                <a:cs typeface="Roboto Mono"/>
                <a:sym typeface="Roboto Mono"/>
              </a:rPr>
              <a:t>delegate</a:t>
            </a:r>
            <a:r>
              <a:rPr lang="en" sz="1200">
                <a:latin typeface="Arial"/>
                <a:ea typeface="Arial"/>
                <a:cs typeface="Arial"/>
                <a:sym typeface="Arial"/>
              </a:rPr>
              <a:t> keyword, followed by optional parameters and a method body.</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 sz="1200" b="1">
                <a:latin typeface="Arial"/>
                <a:ea typeface="Arial"/>
                <a:cs typeface="Arial"/>
                <a:sym typeface="Arial"/>
              </a:rPr>
              <a:t>Assigned to Delegates:</a:t>
            </a:r>
            <a:r>
              <a:rPr lang="en" sz="1200">
                <a:latin typeface="Arial"/>
                <a:ea typeface="Arial"/>
                <a:cs typeface="Arial"/>
                <a:sym typeface="Arial"/>
              </a:rPr>
              <a:t> Anonymous methods are always assigned to a variable of a delegate type. The return type and parameter types of the anonymous method must match the delegate's signature.</a:t>
            </a:r>
            <a:endParaRPr sz="1200">
              <a:latin typeface="Arial"/>
              <a:ea typeface="Arial"/>
              <a:cs typeface="Arial"/>
              <a:sym typeface="Arial"/>
            </a:endParaRPr>
          </a:p>
          <a:p>
            <a:pPr marL="914400" lvl="1" indent="-304800" algn="l" rtl="0">
              <a:lnSpc>
                <a:spcPct val="115000"/>
              </a:lnSpc>
              <a:spcBef>
                <a:spcPts val="0"/>
              </a:spcBef>
              <a:spcAft>
                <a:spcPts val="0"/>
              </a:spcAft>
              <a:buSzPts val="1200"/>
              <a:buFont typeface="Arial"/>
              <a:buChar char="•"/>
            </a:pPr>
            <a:r>
              <a:rPr lang="en" sz="1200" b="1">
                <a:latin typeface="Arial"/>
                <a:ea typeface="Arial"/>
                <a:cs typeface="Arial"/>
                <a:sym typeface="Arial"/>
              </a:rPr>
              <a:t>Inline Definition:</a:t>
            </a:r>
            <a:r>
              <a:rPr lang="en" sz="1200">
                <a:latin typeface="Arial"/>
                <a:ea typeface="Arial"/>
                <a:cs typeface="Arial"/>
                <a:sym typeface="Arial"/>
              </a:rPr>
              <a:t> The code logic is written directly at the point of assignment to the delegate, making it convenient for small, localized tasks.</a:t>
            </a:r>
            <a:endParaRPr sz="1200">
              <a:latin typeface="Arial"/>
              <a:ea typeface="Arial"/>
              <a:cs typeface="Arial"/>
              <a:sym typeface="Arial"/>
            </a:endParaRPr>
          </a:p>
          <a:p>
            <a:pPr marL="914400" lvl="1" indent="-304800" algn="l" rtl="0">
              <a:lnSpc>
                <a:spcPct val="115000"/>
              </a:lnSpc>
              <a:spcBef>
                <a:spcPts val="0"/>
              </a:spcBef>
              <a:spcAft>
                <a:spcPts val="0"/>
              </a:spcAft>
              <a:buSzPts val="1200"/>
              <a:buFont typeface="Arial"/>
              <a:buChar char="•"/>
            </a:pPr>
            <a:r>
              <a:rPr lang="en" sz="1200" b="1">
                <a:latin typeface="Arial"/>
                <a:ea typeface="Arial"/>
                <a:cs typeface="Arial"/>
                <a:sym typeface="Arial"/>
              </a:rPr>
              <a:t>Scope:</a:t>
            </a:r>
            <a:r>
              <a:rPr lang="en" sz="1200">
                <a:latin typeface="Arial"/>
                <a:ea typeface="Arial"/>
                <a:cs typeface="Arial"/>
                <a:sym typeface="Arial"/>
              </a:rPr>
              <a:t> The scope of parameters within an anonymous method is limited to its own block.</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 sz="1200">
                <a:latin typeface="Arial"/>
                <a:ea typeface="Arial"/>
                <a:cs typeface="Arial"/>
                <a:sym typeface="Arial"/>
              </a:rPr>
              <a:t>Cannot access </a:t>
            </a:r>
            <a:r>
              <a:rPr lang="en" sz="1200">
                <a:latin typeface="Roboto Mono"/>
                <a:ea typeface="Roboto Mono"/>
                <a:cs typeface="Roboto Mono"/>
                <a:sym typeface="Roboto Mono"/>
              </a:rPr>
              <a:t>ref</a:t>
            </a:r>
            <a:r>
              <a:rPr lang="en" sz="1200">
                <a:latin typeface="Arial"/>
                <a:ea typeface="Arial"/>
                <a:cs typeface="Arial"/>
                <a:sym typeface="Arial"/>
              </a:rPr>
              <a:t> or </a:t>
            </a:r>
            <a:r>
              <a:rPr lang="en" sz="1200">
                <a:latin typeface="Roboto Mono"/>
                <a:ea typeface="Roboto Mono"/>
                <a:cs typeface="Roboto Mono"/>
                <a:sym typeface="Roboto Mono"/>
              </a:rPr>
              <a:t>out</a:t>
            </a:r>
            <a:r>
              <a:rPr lang="en" sz="1200">
                <a:latin typeface="Arial"/>
                <a:ea typeface="Arial"/>
                <a:cs typeface="Arial"/>
                <a:sym typeface="Arial"/>
              </a:rPr>
              <a:t> parameters: Anonymous methods cannot directly access </a:t>
            </a:r>
            <a:r>
              <a:rPr lang="en" sz="1200">
                <a:latin typeface="Roboto Mono"/>
                <a:ea typeface="Roboto Mono"/>
                <a:cs typeface="Roboto Mono"/>
                <a:sym typeface="Roboto Mono"/>
              </a:rPr>
              <a:t>ref</a:t>
            </a:r>
            <a:r>
              <a:rPr lang="en" sz="1200">
                <a:latin typeface="Arial"/>
                <a:ea typeface="Arial"/>
                <a:cs typeface="Arial"/>
                <a:sym typeface="Arial"/>
              </a:rPr>
              <a:t> or </a:t>
            </a:r>
            <a:r>
              <a:rPr lang="en" sz="1200">
                <a:latin typeface="Roboto Mono"/>
                <a:ea typeface="Roboto Mono"/>
                <a:cs typeface="Roboto Mono"/>
                <a:sym typeface="Roboto Mono"/>
              </a:rPr>
              <a:t>out</a:t>
            </a:r>
            <a:r>
              <a:rPr lang="en" sz="1200">
                <a:latin typeface="Arial"/>
                <a:ea typeface="Arial"/>
                <a:cs typeface="Arial"/>
                <a:sym typeface="Arial"/>
              </a:rPr>
              <a:t> parameters from the enclosing scope.</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 sz="1200" b="1">
                <a:latin typeface="Arial"/>
                <a:ea typeface="Arial"/>
                <a:cs typeface="Arial"/>
                <a:sym typeface="Arial"/>
              </a:rPr>
              <a:t>Limited use of jumping statements:</a:t>
            </a:r>
            <a:r>
              <a:rPr lang="en" sz="1200">
                <a:latin typeface="Arial"/>
                <a:ea typeface="Arial"/>
                <a:cs typeface="Arial"/>
                <a:sym typeface="Arial"/>
              </a:rPr>
              <a:t> They cannot use </a:t>
            </a:r>
            <a:r>
              <a:rPr lang="en" sz="1200">
                <a:latin typeface="Roboto Mono"/>
                <a:ea typeface="Roboto Mono"/>
                <a:cs typeface="Roboto Mono"/>
                <a:sym typeface="Roboto Mono"/>
              </a:rPr>
              <a:t>goto</a:t>
            </a:r>
            <a:r>
              <a:rPr lang="en" sz="1200">
                <a:latin typeface="Arial"/>
                <a:ea typeface="Arial"/>
                <a:cs typeface="Arial"/>
                <a:sym typeface="Arial"/>
              </a:rPr>
              <a:t>, </a:t>
            </a:r>
            <a:r>
              <a:rPr lang="en" sz="1200">
                <a:latin typeface="Roboto Mono"/>
                <a:ea typeface="Roboto Mono"/>
                <a:cs typeface="Roboto Mono"/>
                <a:sym typeface="Roboto Mono"/>
              </a:rPr>
              <a:t>break</a:t>
            </a:r>
            <a:r>
              <a:rPr lang="en" sz="1200">
                <a:latin typeface="Arial"/>
                <a:ea typeface="Arial"/>
                <a:cs typeface="Arial"/>
                <a:sym typeface="Arial"/>
              </a:rPr>
              <a:t>, or </a:t>
            </a:r>
            <a:r>
              <a:rPr lang="en" sz="1200">
                <a:latin typeface="Roboto Mono"/>
                <a:ea typeface="Roboto Mono"/>
                <a:cs typeface="Roboto Mono"/>
                <a:sym typeface="Roboto Mono"/>
              </a:rPr>
              <a:t>continue</a:t>
            </a:r>
            <a:r>
              <a:rPr lang="en" sz="1200">
                <a:latin typeface="Arial"/>
                <a:ea typeface="Arial"/>
                <a:cs typeface="Arial"/>
                <a:sym typeface="Arial"/>
              </a:rPr>
              <a:t> statements to jump out of the anonymous method block.</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255" name="Google Shape;1255;p207"/>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LAMBDA EXPRESSION</a:t>
            </a:r>
            <a:endParaRPr/>
          </a:p>
        </p:txBody>
      </p:sp>
      <p:sp>
        <p:nvSpPr>
          <p:cNvPr id="1256" name="Google Shape;1256;p207"/>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Font typeface="Calibri"/>
              <a:buChar char="•"/>
            </a:pPr>
            <a:r>
              <a:rPr lang="en" sz="1400">
                <a:latin typeface="Calibri"/>
                <a:ea typeface="Calibri"/>
                <a:cs typeface="Calibri"/>
                <a:sym typeface="Calibri"/>
              </a:rPr>
              <a:t>A </a:t>
            </a:r>
            <a:r>
              <a:rPr lang="en" sz="1400" b="1">
                <a:latin typeface="Calibri"/>
                <a:ea typeface="Calibri"/>
                <a:cs typeface="Calibri"/>
                <a:sym typeface="Calibri"/>
              </a:rPr>
              <a:t>lambda expression</a:t>
            </a:r>
            <a:r>
              <a:rPr lang="en" sz="1400">
                <a:latin typeface="Calibri"/>
                <a:ea typeface="Calibri"/>
                <a:cs typeface="Calibri"/>
                <a:sym typeface="Calibri"/>
              </a:rPr>
              <a:t> in C# is a concise way to create an </a:t>
            </a:r>
            <a:r>
              <a:rPr lang="en" sz="1400" b="1">
                <a:latin typeface="Calibri"/>
                <a:ea typeface="Calibri"/>
                <a:cs typeface="Calibri"/>
                <a:sym typeface="Calibri"/>
              </a:rPr>
              <a:t>anonymous function</a:t>
            </a:r>
            <a:r>
              <a:rPr lang="en" sz="1400">
                <a:latin typeface="Calibri"/>
                <a:ea typeface="Calibri"/>
                <a:cs typeface="Calibri"/>
                <a:sym typeface="Calibri"/>
              </a:rPr>
              <a:t> (a function without a name) that can be treated as an expression or a statement block. </a:t>
            </a:r>
            <a:endParaRPr sz="140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 sz="1400">
                <a:latin typeface="Calibri"/>
                <a:ea typeface="Calibri"/>
                <a:cs typeface="Calibri"/>
                <a:sym typeface="Calibri"/>
              </a:rPr>
              <a:t>They are a core feature for writing less code and enhancing readability, especially when used with delegates and Language Integrated Query (LINQ).</a:t>
            </a:r>
            <a:endParaRPr sz="1400">
              <a:latin typeface="Calibri"/>
              <a:ea typeface="Calibri"/>
              <a:cs typeface="Calibri"/>
              <a:sym typeface="Calibri"/>
            </a:endParaRPr>
          </a:p>
          <a:p>
            <a:pPr marL="457200" lvl="0" indent="0" algn="l" rtl="0">
              <a:spcBef>
                <a:spcPts val="800"/>
              </a:spcBef>
              <a:spcAft>
                <a:spcPts val="0"/>
              </a:spcAft>
              <a:buNone/>
            </a:pPr>
            <a:endParaRPr sz="1400">
              <a:latin typeface="Calibri"/>
              <a:ea typeface="Calibri"/>
              <a:cs typeface="Calibri"/>
              <a:sym typeface="Calibri"/>
            </a:endParaRPr>
          </a:p>
          <a:p>
            <a:pPr marL="0" lvl="0" indent="0" algn="l" rtl="0">
              <a:lnSpc>
                <a:spcPct val="115000"/>
              </a:lnSpc>
              <a:spcBef>
                <a:spcPts val="1500"/>
              </a:spcBef>
              <a:spcAft>
                <a:spcPts val="0"/>
              </a:spcAft>
              <a:buClr>
                <a:schemeClr val="dk1"/>
              </a:buClr>
              <a:buSzPts val="1100"/>
              <a:buFont typeface="Arial"/>
              <a:buNone/>
            </a:pPr>
            <a:r>
              <a:rPr lang="en" sz="1500" b="1">
                <a:latin typeface="Calibri"/>
                <a:ea typeface="Calibri"/>
                <a:cs typeface="Calibri"/>
                <a:sym typeface="Calibri"/>
              </a:rPr>
              <a:t>Syntax:</a:t>
            </a:r>
            <a:endParaRPr sz="1500" b="1">
              <a:latin typeface="Calibri"/>
              <a:ea typeface="Calibri"/>
              <a:cs typeface="Calibri"/>
              <a:sym typeface="Calibri"/>
            </a:endParaRPr>
          </a:p>
          <a:p>
            <a:pPr marL="457200" lvl="0" indent="-317500" algn="l" rtl="0">
              <a:lnSpc>
                <a:spcPct val="115000"/>
              </a:lnSpc>
              <a:spcBef>
                <a:spcPts val="800"/>
              </a:spcBef>
              <a:spcAft>
                <a:spcPts val="0"/>
              </a:spcAft>
              <a:buSzPts val="1400"/>
              <a:buFont typeface="Calibri"/>
              <a:buChar char="•"/>
            </a:pPr>
            <a:r>
              <a:rPr lang="en" sz="1400">
                <a:latin typeface="Calibri"/>
                <a:ea typeface="Calibri"/>
                <a:cs typeface="Calibri"/>
                <a:sym typeface="Calibri"/>
              </a:rPr>
              <a:t>A lambda expression uses the lambda operator =&gt; which separates the input parameters from the lambda body.</a:t>
            </a:r>
            <a:endParaRPr sz="1400">
              <a:latin typeface="Calibri"/>
              <a:ea typeface="Calibri"/>
              <a:cs typeface="Calibri"/>
              <a:sym typeface="Calibri"/>
            </a:endParaRPr>
          </a:p>
          <a:p>
            <a:pPr marL="457200" lvl="0" indent="0" algn="l" rtl="0">
              <a:spcBef>
                <a:spcPts val="800"/>
              </a:spcBef>
              <a:spcAft>
                <a:spcPts val="0"/>
              </a:spcAft>
              <a:buNone/>
            </a:pPr>
            <a:endParaRPr sz="1400">
              <a:latin typeface="Calibri"/>
              <a:ea typeface="Calibri"/>
              <a:cs typeface="Calibri"/>
              <a:sym typeface="Calibri"/>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1261" name="Google Shape;1261;p208"/>
          <p:cNvSpPr txBox="1">
            <a:spLocks noGrp="1"/>
          </p:cNvSpPr>
          <p:nvPr>
            <p:ph type="title"/>
          </p:nvPr>
        </p:nvSpPr>
        <p:spPr>
          <a:xfrm>
            <a:off x="2171700" y="573280"/>
            <a:ext cx="6458100" cy="969900"/>
          </a:xfrm>
          <a:prstGeom prst="rect">
            <a:avLst/>
          </a:prstGeom>
        </p:spPr>
        <p:txBody>
          <a:bodyPr spcFirstLastPara="1" wrap="square" lIns="68575" tIns="34275" rIns="68575" bIns="34275" anchor="ctr" anchorCtr="0">
            <a:normAutofit/>
          </a:bodyPr>
          <a:lstStyle/>
          <a:p>
            <a:pPr marL="0" lvl="0" indent="0" algn="r" rtl="0">
              <a:spcBef>
                <a:spcPts val="0"/>
              </a:spcBef>
              <a:spcAft>
                <a:spcPts val="0"/>
              </a:spcAft>
              <a:buNone/>
            </a:pPr>
            <a:r>
              <a:rPr lang="en"/>
              <a:t>KEY CHARACTERISTICS OF LAMBDA</a:t>
            </a:r>
            <a:endParaRPr/>
          </a:p>
        </p:txBody>
      </p:sp>
      <p:sp>
        <p:nvSpPr>
          <p:cNvPr id="1262" name="Google Shape;1262;p208"/>
          <p:cNvSpPr txBox="1">
            <a:spLocks noGrp="1"/>
          </p:cNvSpPr>
          <p:nvPr>
            <p:ph type="body" idx="1"/>
          </p:nvPr>
        </p:nvSpPr>
        <p:spPr>
          <a:xfrm>
            <a:off x="514350" y="1645920"/>
            <a:ext cx="8115300" cy="30180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Clr>
                <a:schemeClr val="lt1"/>
              </a:buClr>
              <a:buSzPts val="1400"/>
              <a:buChar char="●"/>
            </a:pPr>
            <a:r>
              <a:rPr lang="en" sz="1400" b="1">
                <a:latin typeface="Calibri"/>
                <a:ea typeface="Calibri"/>
                <a:cs typeface="Calibri"/>
                <a:sym typeface="Calibri"/>
              </a:rPr>
              <a:t>Anonymous:</a:t>
            </a:r>
            <a:r>
              <a:rPr lang="en" sz="1400">
                <a:latin typeface="Calibri"/>
                <a:ea typeface="Calibri"/>
                <a:cs typeface="Calibri"/>
                <a:sym typeface="Calibri"/>
              </a:rPr>
              <a:t> They do not have a name like traditional methods.</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Concise:</a:t>
            </a:r>
            <a:r>
              <a:rPr lang="en" sz="1400">
                <a:latin typeface="Calibri"/>
                <a:ea typeface="Calibri"/>
                <a:cs typeface="Calibri"/>
                <a:sym typeface="Calibri"/>
              </a:rPr>
              <a:t> They offer a compact way to write simple functions.</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Type Inference:</a:t>
            </a:r>
            <a:r>
              <a:rPr lang="en" sz="1400">
                <a:latin typeface="Calibri"/>
                <a:ea typeface="Calibri"/>
                <a:cs typeface="Calibri"/>
                <a:sym typeface="Calibri"/>
              </a:rPr>
              <a:t> The compiler can often infer the types of the input parameters, making the syntax even shorter (e.g., x =&gt; x * x instead of (int x) =&gt; x * x).</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Closures:</a:t>
            </a:r>
            <a:r>
              <a:rPr lang="en" sz="1400">
                <a:latin typeface="Calibri"/>
                <a:ea typeface="Calibri"/>
                <a:cs typeface="Calibri"/>
                <a:sym typeface="Calibri"/>
              </a:rPr>
              <a:t> Lambda expressions can "capture" and use variables from their surrounding scope (known as closures).</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Used with Delegates:</a:t>
            </a:r>
            <a:r>
              <a:rPr lang="en" sz="1400">
                <a:latin typeface="Calibri"/>
                <a:ea typeface="Calibri"/>
                <a:cs typeface="Calibri"/>
                <a:sym typeface="Calibri"/>
              </a:rPr>
              <a:t> They are often assigned to delegate types like Func (for functions that return a value) and Action (for functions that return void).</a:t>
            </a:r>
            <a:endParaRPr sz="1400">
              <a:latin typeface="Calibri"/>
              <a:ea typeface="Calibri"/>
              <a:cs typeface="Calibri"/>
              <a:sym typeface="Calibri"/>
            </a:endParaRPr>
          </a:p>
          <a:p>
            <a:pPr marL="457200" lvl="0" indent="-317500" algn="l" rtl="0">
              <a:lnSpc>
                <a:spcPct val="115000"/>
              </a:lnSpc>
              <a:spcBef>
                <a:spcPts val="0"/>
              </a:spcBef>
              <a:spcAft>
                <a:spcPts val="0"/>
              </a:spcAft>
              <a:buClr>
                <a:schemeClr val="lt1"/>
              </a:buClr>
              <a:buSzPts val="1400"/>
              <a:buChar char="●"/>
            </a:pPr>
            <a:r>
              <a:rPr lang="en" sz="1400" b="1">
                <a:latin typeface="Calibri"/>
                <a:ea typeface="Calibri"/>
                <a:cs typeface="Calibri"/>
                <a:sym typeface="Calibri"/>
              </a:rPr>
              <a:t>LINQ Integration:</a:t>
            </a:r>
            <a:r>
              <a:rPr lang="en" sz="1400">
                <a:latin typeface="Calibri"/>
                <a:ea typeface="Calibri"/>
                <a:cs typeface="Calibri"/>
                <a:sym typeface="Calibri"/>
              </a:rPr>
              <a:t> They are fundamental to LINQ (Language Integrated Query) for filtering, ordering, and transforming data collections.</a:t>
            </a:r>
            <a:endParaRPr sz="1400">
              <a:latin typeface="Calibri"/>
              <a:ea typeface="Calibri"/>
              <a:cs typeface="Calibri"/>
              <a:sym typeface="Calibri"/>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7F1E-D124-F4AF-D70B-FBDCAD031988}"/>
              </a:ext>
            </a:extLst>
          </p:cNvPr>
          <p:cNvSpPr>
            <a:spLocks noGrp="1"/>
          </p:cNvSpPr>
          <p:nvPr>
            <p:ph type="ctrTitle"/>
          </p:nvPr>
        </p:nvSpPr>
        <p:spPr/>
        <p:txBody>
          <a:bodyPr/>
          <a:lstStyle/>
          <a:p>
            <a:pPr algn="r"/>
            <a:r>
              <a:rPr lang="en-US" dirty="0"/>
              <a:t>FILE HANDLING</a:t>
            </a:r>
          </a:p>
        </p:txBody>
      </p:sp>
      <p:sp>
        <p:nvSpPr>
          <p:cNvPr id="3" name="Subtitle 2">
            <a:extLst>
              <a:ext uri="{FF2B5EF4-FFF2-40B4-BE49-F238E27FC236}">
                <a16:creationId xmlns:a16="http://schemas.microsoft.com/office/drawing/2014/main" id="{A2DAF40A-CFF9-5BC9-EE85-4FE15729661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2623760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3284-5F5A-0606-BDFE-9388FAFDFD68}"/>
              </a:ext>
            </a:extLst>
          </p:cNvPr>
          <p:cNvSpPr>
            <a:spLocks noGrp="1"/>
          </p:cNvSpPr>
          <p:nvPr>
            <p:ph type="title"/>
          </p:nvPr>
        </p:nvSpPr>
        <p:spPr/>
        <p:txBody>
          <a:bodyPr/>
          <a:lstStyle/>
          <a:p>
            <a:r>
              <a:rPr lang="en-US" dirty="0"/>
              <a:t>WHY FILE HANDLING IS IMPORTANT IN C#</a:t>
            </a:r>
          </a:p>
        </p:txBody>
      </p:sp>
      <p:sp>
        <p:nvSpPr>
          <p:cNvPr id="3" name="Text Placeholder 2">
            <a:extLst>
              <a:ext uri="{FF2B5EF4-FFF2-40B4-BE49-F238E27FC236}">
                <a16:creationId xmlns:a16="http://schemas.microsoft.com/office/drawing/2014/main" id="{4682282A-F6A0-D461-13E2-119C4B9E1CA6}"/>
              </a:ext>
            </a:extLst>
          </p:cNvPr>
          <p:cNvSpPr>
            <a:spLocks noGrp="1"/>
          </p:cNvSpPr>
          <p:nvPr>
            <p:ph type="body" idx="1"/>
          </p:nvPr>
        </p:nvSpPr>
        <p:spPr/>
        <p:txBody>
          <a:bodyPr>
            <a:no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As a </a:t>
            </a:r>
            <a:r>
              <a:rPr lang="en-IN" sz="1600" b="1" dirty="0">
                <a:latin typeface="Calibri" panose="020F0502020204030204" pitchFamily="34" charset="0"/>
                <a:ea typeface="Calibri" panose="020F0502020204030204" pitchFamily="34" charset="0"/>
                <a:cs typeface="Calibri" panose="020F0502020204030204" pitchFamily="34" charset="0"/>
              </a:rPr>
              <a:t>C# programmer</a:t>
            </a:r>
            <a:r>
              <a:rPr lang="en-IN" sz="1600" dirty="0">
                <a:latin typeface="Calibri" panose="020F0502020204030204" pitchFamily="34" charset="0"/>
                <a:ea typeface="Calibri" panose="020F0502020204030204" pitchFamily="34" charset="0"/>
                <a:cs typeface="Calibri" panose="020F0502020204030204" pitchFamily="34" charset="0"/>
              </a:rPr>
              <a:t>, we often need to </a:t>
            </a:r>
            <a:r>
              <a:rPr lang="en-IN" sz="1600" b="1" dirty="0">
                <a:latin typeface="Calibri" panose="020F0502020204030204" pitchFamily="34" charset="0"/>
                <a:ea typeface="Calibri" panose="020F0502020204030204" pitchFamily="34" charset="0"/>
                <a:cs typeface="Calibri" panose="020F0502020204030204" pitchFamily="34" charset="0"/>
              </a:rPr>
              <a:t>store and retrieve information</a:t>
            </a:r>
            <a:r>
              <a:rPr lang="en-IN" sz="1600" dirty="0">
                <a:latin typeface="Calibri" panose="020F0502020204030204" pitchFamily="34" charset="0"/>
                <a:ea typeface="Calibri" panose="020F0502020204030204" pitchFamily="34" charset="0"/>
                <a:cs typeface="Calibri" panose="020F0502020204030204" pitchFamily="34" charset="0"/>
              </a:rPr>
              <a:t> from a disk. In many situations, we may not have access to a </a:t>
            </a:r>
            <a:r>
              <a:rPr lang="en-IN" sz="1600" b="1" dirty="0">
                <a:latin typeface="Calibri" panose="020F0502020204030204" pitchFamily="34" charset="0"/>
                <a:ea typeface="Calibri" panose="020F0502020204030204" pitchFamily="34" charset="0"/>
                <a:cs typeface="Calibri" panose="020F0502020204030204" pitchFamily="34" charset="0"/>
              </a:rPr>
              <a:t>database</a:t>
            </a:r>
            <a:r>
              <a:rPr lang="en-IN" sz="1600" dirty="0">
                <a:latin typeface="Calibri" panose="020F0502020204030204" pitchFamily="34" charset="0"/>
                <a:ea typeface="Calibri" panose="020F0502020204030204" pitchFamily="34" charset="0"/>
                <a:cs typeface="Calibri" panose="020F0502020204030204" pitchFamily="34" charset="0"/>
              </a:rPr>
              <a:t> to store data. </a:t>
            </a:r>
          </a:p>
          <a:p>
            <a:r>
              <a:rPr lang="en-IN" sz="1600" dirty="0">
                <a:latin typeface="Calibri" panose="020F0502020204030204" pitchFamily="34" charset="0"/>
                <a:ea typeface="Calibri" panose="020F0502020204030204" pitchFamily="34" charset="0"/>
                <a:cs typeface="Calibri" panose="020F0502020204030204" pitchFamily="34" charset="0"/>
              </a:rPr>
              <a:t>For example, small applications, local tools, or offline projects may still need to save information for later use.</a:t>
            </a:r>
          </a:p>
          <a:p>
            <a:r>
              <a:rPr lang="en-IN" sz="1600" dirty="0">
                <a:latin typeface="Calibri" panose="020F0502020204030204" pitchFamily="34" charset="0"/>
                <a:ea typeface="Calibri" panose="020F0502020204030204" pitchFamily="34" charset="0"/>
                <a:cs typeface="Calibri" panose="020F0502020204030204" pitchFamily="34" charset="0"/>
              </a:rPr>
              <a:t>In such cases, we can store data in various types of files such as:</a:t>
            </a:r>
          </a:p>
          <a:p>
            <a:pPr lvl="1"/>
            <a:r>
              <a:rPr lang="en-IN" sz="1400" b="1" dirty="0">
                <a:latin typeface="Calibri" panose="020F0502020204030204" pitchFamily="34" charset="0"/>
                <a:ea typeface="Calibri" panose="020F0502020204030204" pitchFamily="34" charset="0"/>
                <a:cs typeface="Calibri" panose="020F0502020204030204" pitchFamily="34" charset="0"/>
              </a:rPr>
              <a:t>TEXT files (.txt)</a:t>
            </a:r>
            <a:endParaRPr lang="en-IN" sz="1400" dirty="0">
              <a:latin typeface="Calibri" panose="020F0502020204030204" pitchFamily="34" charset="0"/>
              <a:ea typeface="Calibri" panose="020F0502020204030204" pitchFamily="34" charset="0"/>
              <a:cs typeface="Calibri" panose="020F0502020204030204" pitchFamily="34" charset="0"/>
            </a:endParaRPr>
          </a:p>
          <a:p>
            <a:pPr lvl="1"/>
            <a:r>
              <a:rPr lang="en-IN" sz="1400" b="1" dirty="0">
                <a:latin typeface="Calibri" panose="020F0502020204030204" pitchFamily="34" charset="0"/>
                <a:ea typeface="Calibri" panose="020F0502020204030204" pitchFamily="34" charset="0"/>
                <a:cs typeface="Calibri" panose="020F0502020204030204" pitchFamily="34" charset="0"/>
              </a:rPr>
              <a:t>Word documents (.doc / .docx)</a:t>
            </a:r>
            <a:endParaRPr lang="en-IN" sz="1400" dirty="0">
              <a:latin typeface="Calibri" panose="020F0502020204030204" pitchFamily="34" charset="0"/>
              <a:ea typeface="Calibri" panose="020F0502020204030204" pitchFamily="34" charset="0"/>
              <a:cs typeface="Calibri" panose="020F0502020204030204" pitchFamily="34" charset="0"/>
            </a:endParaRPr>
          </a:p>
          <a:p>
            <a:pPr lvl="1"/>
            <a:r>
              <a:rPr lang="en-IN" sz="1400" b="1" dirty="0">
                <a:latin typeface="Calibri" panose="020F0502020204030204" pitchFamily="34" charset="0"/>
                <a:ea typeface="Calibri" panose="020F0502020204030204" pitchFamily="34" charset="0"/>
                <a:cs typeface="Calibri" panose="020F0502020204030204" pitchFamily="34" charset="0"/>
              </a:rPr>
              <a:t>Excel sheets (.</a:t>
            </a:r>
            <a:r>
              <a:rPr lang="en-IN" sz="1400" b="1" dirty="0" err="1">
                <a:latin typeface="Calibri" panose="020F0502020204030204" pitchFamily="34" charset="0"/>
                <a:ea typeface="Calibri" panose="020F0502020204030204" pitchFamily="34" charset="0"/>
                <a:cs typeface="Calibri" panose="020F0502020204030204" pitchFamily="34" charset="0"/>
              </a:rPr>
              <a:t>xls</a:t>
            </a:r>
            <a:r>
              <a:rPr lang="en-IN" sz="1400" b="1" dirty="0">
                <a:latin typeface="Calibri" panose="020F0502020204030204" pitchFamily="34" charset="0"/>
                <a:ea typeface="Calibri" panose="020F0502020204030204" pitchFamily="34" charset="0"/>
                <a:cs typeface="Calibri" panose="020F0502020204030204" pitchFamily="34" charset="0"/>
              </a:rPr>
              <a:t> / .xlsx)</a:t>
            </a:r>
            <a:endParaRPr lang="en-IN" sz="1400" dirty="0">
              <a:latin typeface="Calibri" panose="020F0502020204030204" pitchFamily="34" charset="0"/>
              <a:ea typeface="Calibri" panose="020F0502020204030204" pitchFamily="34" charset="0"/>
              <a:cs typeface="Calibri" panose="020F0502020204030204" pitchFamily="34" charset="0"/>
            </a:endParaRPr>
          </a:p>
          <a:p>
            <a:pPr lvl="1"/>
            <a:r>
              <a:rPr lang="en-IN" sz="1400" b="1" dirty="0">
                <a:latin typeface="Calibri" panose="020F0502020204030204" pitchFamily="34" charset="0"/>
                <a:ea typeface="Calibri" panose="020F0502020204030204" pitchFamily="34" charset="0"/>
                <a:cs typeface="Calibri" panose="020F0502020204030204" pitchFamily="34" charset="0"/>
              </a:rPr>
              <a:t>PDF files (.pdf)</a:t>
            </a:r>
            <a:endParaRPr lang="en-IN" sz="1400" dirty="0">
              <a:latin typeface="Calibri" panose="020F0502020204030204" pitchFamily="34" charset="0"/>
              <a:ea typeface="Calibri" panose="020F0502020204030204" pitchFamily="34" charset="0"/>
              <a:cs typeface="Calibri" panose="020F0502020204030204" pitchFamily="34" charset="0"/>
            </a:endParaRPr>
          </a:p>
          <a:p>
            <a:pPr lvl="1"/>
            <a:r>
              <a:rPr lang="en-IN" sz="1400" dirty="0">
                <a:latin typeface="Calibri" panose="020F0502020204030204" pitchFamily="34" charset="0"/>
                <a:ea typeface="Calibri" panose="020F0502020204030204" pitchFamily="34" charset="0"/>
                <a:cs typeface="Calibri" panose="020F0502020204030204" pitchFamily="34" charset="0"/>
              </a:rPr>
              <a:t>or other file formats.</a:t>
            </a: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155973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2B564-9419-C952-F50B-370FE1C4E090}"/>
              </a:ext>
            </a:extLst>
          </p:cNvPr>
          <p:cNvSpPr>
            <a:spLocks noGrp="1"/>
          </p:cNvSpPr>
          <p:nvPr>
            <p:ph type="title"/>
          </p:nvPr>
        </p:nvSpPr>
        <p:spPr/>
        <p:txBody>
          <a:bodyPr/>
          <a:lstStyle/>
          <a:p>
            <a:r>
              <a:rPr lang="en-US" dirty="0"/>
              <a:t>WHAT IS FILE HANDLING</a:t>
            </a:r>
          </a:p>
        </p:txBody>
      </p:sp>
      <p:sp>
        <p:nvSpPr>
          <p:cNvPr id="3" name="Text Placeholder 2">
            <a:extLst>
              <a:ext uri="{FF2B5EF4-FFF2-40B4-BE49-F238E27FC236}">
                <a16:creationId xmlns:a16="http://schemas.microsoft.com/office/drawing/2014/main" id="{A50C722F-EDE4-4CFC-2355-08EEF750F4F5}"/>
              </a:ext>
            </a:extLst>
          </p:cNvPr>
          <p:cNvSpPr>
            <a:spLocks noGrp="1"/>
          </p:cNvSpPr>
          <p:nvPr>
            <p:ph type="body" idx="1"/>
          </p:nvPr>
        </p:nvSpPr>
        <p:spPr/>
        <p:txBody>
          <a:bodyPr>
            <a:normAutofit lnSpcReduction="10000"/>
          </a:bodyPr>
          <a:lstStyle/>
          <a:p>
            <a:r>
              <a:rPr lang="en-IN" dirty="0">
                <a:latin typeface="Calibri" panose="020F0502020204030204" pitchFamily="34" charset="0"/>
                <a:ea typeface="Calibri" panose="020F0502020204030204" pitchFamily="34" charset="0"/>
                <a:cs typeface="Calibri" panose="020F0502020204030204" pitchFamily="34" charset="0"/>
              </a:rPr>
              <a:t>A </a:t>
            </a:r>
            <a:r>
              <a:rPr lang="en-IN" b="1" dirty="0">
                <a:latin typeface="Calibri" panose="020F0502020204030204" pitchFamily="34" charset="0"/>
                <a:ea typeface="Calibri" panose="020F0502020204030204" pitchFamily="34" charset="0"/>
                <a:cs typeface="Calibri" panose="020F0502020204030204" pitchFamily="34" charset="0"/>
              </a:rPr>
              <a:t>file</a:t>
            </a:r>
            <a:r>
              <a:rPr lang="en-IN" dirty="0">
                <a:latin typeface="Calibri" panose="020F0502020204030204" pitchFamily="34" charset="0"/>
                <a:ea typeface="Calibri" panose="020F0502020204030204" pitchFamily="34" charset="0"/>
                <a:cs typeface="Calibri" panose="020F0502020204030204" pitchFamily="34" charset="0"/>
              </a:rPr>
              <a:t> is a collection of related data stored permanently on a disk. Each file has a </a:t>
            </a:r>
            <a:r>
              <a:rPr lang="en-IN" b="1" dirty="0">
                <a:latin typeface="Calibri" panose="020F0502020204030204" pitchFamily="34" charset="0"/>
                <a:ea typeface="Calibri" panose="020F0502020204030204" pitchFamily="34" charset="0"/>
                <a:cs typeface="Calibri" panose="020F0502020204030204" pitchFamily="34" charset="0"/>
              </a:rPr>
              <a:t>name</a:t>
            </a:r>
            <a:r>
              <a:rPr lang="en-IN" dirty="0">
                <a:latin typeface="Calibri" panose="020F0502020204030204" pitchFamily="34" charset="0"/>
                <a:ea typeface="Calibri" panose="020F0502020204030204" pitchFamily="34" charset="0"/>
                <a:cs typeface="Calibri" panose="020F0502020204030204" pitchFamily="34" charset="0"/>
              </a:rPr>
              <a:t> and a </a:t>
            </a:r>
            <a:r>
              <a:rPr lang="en-IN" b="1" dirty="0">
                <a:latin typeface="Calibri" panose="020F0502020204030204" pitchFamily="34" charset="0"/>
                <a:ea typeface="Calibri" panose="020F0502020204030204" pitchFamily="34" charset="0"/>
                <a:cs typeface="Calibri" panose="020F0502020204030204" pitchFamily="34" charset="0"/>
              </a:rPr>
              <a:t>directory path</a:t>
            </a:r>
            <a:r>
              <a:rPr lang="en-IN" dirty="0">
                <a:latin typeface="Calibri" panose="020F0502020204030204" pitchFamily="34" charset="0"/>
                <a:ea typeface="Calibri" panose="020F0502020204030204" pitchFamily="34" charset="0"/>
                <a:cs typeface="Calibri" panose="020F0502020204030204" pitchFamily="34" charset="0"/>
              </a:rPr>
              <a:t> that helps the operating system locate it.</a:t>
            </a:r>
          </a:p>
          <a:p>
            <a:r>
              <a:rPr lang="en-IN" dirty="0">
                <a:latin typeface="Calibri" panose="020F0502020204030204" pitchFamily="34" charset="0"/>
                <a:ea typeface="Calibri" panose="020F0502020204030204" pitchFamily="34" charset="0"/>
                <a:cs typeface="Calibri" panose="020F0502020204030204" pitchFamily="34" charset="0"/>
              </a:rPr>
              <a:t>When a file is opened for </a:t>
            </a:r>
            <a:r>
              <a:rPr lang="en-IN" b="1" dirty="0">
                <a:latin typeface="Calibri" panose="020F0502020204030204" pitchFamily="34" charset="0"/>
                <a:ea typeface="Calibri" panose="020F0502020204030204" pitchFamily="34" charset="0"/>
                <a:cs typeface="Calibri" panose="020F0502020204030204" pitchFamily="34" charset="0"/>
              </a:rPr>
              <a:t>reading</a:t>
            </a:r>
            <a:r>
              <a:rPr lang="en-IN" dirty="0">
                <a:latin typeface="Calibri" panose="020F0502020204030204" pitchFamily="34" charset="0"/>
                <a:ea typeface="Calibri" panose="020F0502020204030204" pitchFamily="34" charset="0"/>
                <a:cs typeface="Calibri" panose="020F0502020204030204" pitchFamily="34" charset="0"/>
              </a:rPr>
              <a:t> or </a:t>
            </a:r>
            <a:r>
              <a:rPr lang="en-IN" b="1" dirty="0">
                <a:latin typeface="Calibri" panose="020F0502020204030204" pitchFamily="34" charset="0"/>
                <a:ea typeface="Calibri" panose="020F0502020204030204" pitchFamily="34" charset="0"/>
                <a:cs typeface="Calibri" panose="020F0502020204030204" pitchFamily="34" charset="0"/>
              </a:rPr>
              <a:t>writing</a:t>
            </a:r>
            <a:r>
              <a:rPr lang="en-IN" dirty="0">
                <a:latin typeface="Calibri" panose="020F0502020204030204" pitchFamily="34" charset="0"/>
                <a:ea typeface="Calibri" panose="020F0502020204030204" pitchFamily="34" charset="0"/>
                <a:cs typeface="Calibri" panose="020F0502020204030204" pitchFamily="34" charset="0"/>
              </a:rPr>
              <a:t>, it becomes a </a:t>
            </a:r>
            <a:r>
              <a:rPr lang="en-IN" b="1" dirty="0">
                <a:latin typeface="Calibri" panose="020F0502020204030204" pitchFamily="34" charset="0"/>
                <a:ea typeface="Calibri" panose="020F0502020204030204" pitchFamily="34" charset="0"/>
                <a:cs typeface="Calibri" panose="020F0502020204030204" pitchFamily="34" charset="0"/>
              </a:rPr>
              <a:t>stream</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A </a:t>
            </a:r>
            <a:r>
              <a:rPr lang="en-IN" b="1" dirty="0">
                <a:latin typeface="Calibri" panose="020F0502020204030204" pitchFamily="34" charset="0"/>
                <a:ea typeface="Calibri" panose="020F0502020204030204" pitchFamily="34" charset="0"/>
                <a:cs typeface="Calibri" panose="020F0502020204030204" pitchFamily="34" charset="0"/>
              </a:rPr>
              <a:t>stream</a:t>
            </a:r>
            <a:r>
              <a:rPr lang="en-IN" dirty="0">
                <a:latin typeface="Calibri" panose="020F0502020204030204" pitchFamily="34" charset="0"/>
                <a:ea typeface="Calibri" panose="020F0502020204030204" pitchFamily="34" charset="0"/>
                <a:cs typeface="Calibri" panose="020F0502020204030204" pitchFamily="34" charset="0"/>
              </a:rPr>
              <a:t> is a sequence of bytes flowing between a source and a destination. It acts as a communication channel for reading or writing data.</a:t>
            </a:r>
          </a:p>
          <a:p>
            <a:r>
              <a:rPr lang="en-IN" dirty="0">
                <a:latin typeface="Calibri" panose="020F0502020204030204" pitchFamily="34" charset="0"/>
                <a:ea typeface="Calibri" panose="020F0502020204030204" pitchFamily="34" charset="0"/>
                <a:cs typeface="Calibri" panose="020F0502020204030204" pitchFamily="34" charset="0"/>
              </a:rPr>
              <a:t>There are two main streams: the </a:t>
            </a:r>
            <a:r>
              <a:rPr lang="en-IN" b="1" dirty="0">
                <a:latin typeface="Calibri" panose="020F0502020204030204" pitchFamily="34" charset="0"/>
                <a:ea typeface="Calibri" panose="020F0502020204030204" pitchFamily="34" charset="0"/>
                <a:cs typeface="Calibri" panose="020F0502020204030204" pitchFamily="34" charset="0"/>
              </a:rPr>
              <a:t>input stream</a:t>
            </a:r>
            <a:r>
              <a:rPr lang="en-IN" dirty="0">
                <a:latin typeface="Calibri" panose="020F0502020204030204" pitchFamily="34" charset="0"/>
                <a:ea typeface="Calibri" panose="020F0502020204030204" pitchFamily="34" charset="0"/>
                <a:cs typeface="Calibri" panose="020F0502020204030204" pitchFamily="34" charset="0"/>
              </a:rPr>
              <a:t> and the </a:t>
            </a:r>
            <a:r>
              <a:rPr lang="en-IN" b="1" dirty="0">
                <a:latin typeface="Calibri" panose="020F0502020204030204" pitchFamily="34" charset="0"/>
                <a:ea typeface="Calibri" panose="020F0502020204030204" pitchFamily="34" charset="0"/>
                <a:cs typeface="Calibri" panose="020F0502020204030204" pitchFamily="34" charset="0"/>
              </a:rPr>
              <a:t>output stream</a:t>
            </a:r>
            <a:r>
              <a:rPr lang="en-IN" dirty="0">
                <a:latin typeface="Calibri" panose="020F0502020204030204" pitchFamily="34" charset="0"/>
                <a:ea typeface="Calibri" panose="020F0502020204030204" pitchFamily="34" charset="0"/>
                <a:cs typeface="Calibri" panose="020F0502020204030204" pitchFamily="34" charset="0"/>
              </a:rPr>
              <a:t>. </a:t>
            </a:r>
          </a:p>
          <a:p>
            <a:r>
              <a:rPr lang="en-IN" dirty="0">
                <a:latin typeface="Calibri" panose="020F0502020204030204" pitchFamily="34" charset="0"/>
                <a:ea typeface="Calibri" panose="020F0502020204030204" pitchFamily="34" charset="0"/>
                <a:cs typeface="Calibri" panose="020F0502020204030204" pitchFamily="34" charset="0"/>
              </a:rPr>
              <a:t>The</a:t>
            </a:r>
            <a:r>
              <a:rPr lang="en-IN" b="1" dirty="0">
                <a:latin typeface="Calibri" panose="020F0502020204030204" pitchFamily="34" charset="0"/>
                <a:ea typeface="Calibri" panose="020F0502020204030204" pitchFamily="34" charset="0"/>
                <a:cs typeface="Calibri" panose="020F0502020204030204" pitchFamily="34" charset="0"/>
              </a:rPr>
              <a:t> input stream</a:t>
            </a:r>
            <a:r>
              <a:rPr lang="en-IN" dirty="0">
                <a:latin typeface="Calibri" panose="020F0502020204030204" pitchFamily="34" charset="0"/>
                <a:ea typeface="Calibri" panose="020F0502020204030204" pitchFamily="34" charset="0"/>
                <a:cs typeface="Calibri" panose="020F0502020204030204" pitchFamily="34" charset="0"/>
              </a:rPr>
              <a:t> is used for reading data from file (read operation). </a:t>
            </a:r>
          </a:p>
          <a:p>
            <a:r>
              <a:rPr lang="en-IN" dirty="0">
                <a:latin typeface="Calibri" panose="020F0502020204030204" pitchFamily="34" charset="0"/>
                <a:ea typeface="Calibri" panose="020F0502020204030204" pitchFamily="34" charset="0"/>
                <a:cs typeface="Calibri" panose="020F0502020204030204" pitchFamily="34" charset="0"/>
              </a:rPr>
              <a:t>The </a:t>
            </a:r>
            <a:r>
              <a:rPr lang="en-IN" b="1" dirty="0">
                <a:latin typeface="Calibri" panose="020F0502020204030204" pitchFamily="34" charset="0"/>
                <a:ea typeface="Calibri" panose="020F0502020204030204" pitchFamily="34" charset="0"/>
                <a:cs typeface="Calibri" panose="020F0502020204030204" pitchFamily="34" charset="0"/>
              </a:rPr>
              <a:t>output stream</a:t>
            </a:r>
            <a:r>
              <a:rPr lang="en-IN" dirty="0">
                <a:latin typeface="Calibri" panose="020F0502020204030204" pitchFamily="34" charset="0"/>
                <a:ea typeface="Calibri" panose="020F0502020204030204" pitchFamily="34" charset="0"/>
                <a:cs typeface="Calibri" panose="020F0502020204030204" pitchFamily="34" charset="0"/>
              </a:rPr>
              <a:t> is used for writing into the file (write operation).</a:t>
            </a:r>
          </a:p>
          <a:p>
            <a:r>
              <a:rPr lang="en-IN" dirty="0">
                <a:latin typeface="Calibri" panose="020F0502020204030204" pitchFamily="34" charset="0"/>
                <a:ea typeface="Calibri" panose="020F0502020204030204" pitchFamily="34" charset="0"/>
                <a:cs typeface="Calibri" panose="020F0502020204030204" pitchFamily="34" charset="0"/>
              </a:rPr>
              <a:t>The </a:t>
            </a:r>
            <a:r>
              <a:rPr lang="en-IN" b="1" dirty="0">
                <a:latin typeface="Calibri" panose="020F0502020204030204" pitchFamily="34" charset="0"/>
                <a:ea typeface="Calibri" panose="020F0502020204030204" pitchFamily="34" charset="0"/>
                <a:cs typeface="Calibri" panose="020F0502020204030204" pitchFamily="34" charset="0"/>
              </a:rPr>
              <a:t>System.IO</a:t>
            </a:r>
            <a:r>
              <a:rPr lang="en-IN" dirty="0">
                <a:latin typeface="Calibri" panose="020F0502020204030204" pitchFamily="34" charset="0"/>
                <a:ea typeface="Calibri" panose="020F0502020204030204" pitchFamily="34" charset="0"/>
                <a:cs typeface="Calibri" panose="020F0502020204030204" pitchFamily="34" charset="0"/>
              </a:rPr>
              <a:t> namespace contains classes used for creating, reading, writing, and deleting files and directories.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197198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A322B-A35F-AB93-6DB8-059AB08AA13B}"/>
              </a:ext>
            </a:extLst>
          </p:cNvPr>
          <p:cNvSpPr>
            <a:spLocks noGrp="1"/>
          </p:cNvSpPr>
          <p:nvPr>
            <p:ph type="title"/>
          </p:nvPr>
        </p:nvSpPr>
        <p:spPr/>
        <p:txBody>
          <a:bodyPr/>
          <a:lstStyle/>
          <a:p>
            <a:r>
              <a:rPr lang="en-US" dirty="0"/>
              <a:t>KEY CLASSES FOR FILE HANDLING</a:t>
            </a:r>
          </a:p>
        </p:txBody>
      </p:sp>
      <p:graphicFrame>
        <p:nvGraphicFramePr>
          <p:cNvPr id="4" name="Table 3">
            <a:extLst>
              <a:ext uri="{FF2B5EF4-FFF2-40B4-BE49-F238E27FC236}">
                <a16:creationId xmlns:a16="http://schemas.microsoft.com/office/drawing/2014/main" id="{CABC5A12-2762-4430-C808-D2EBAC75B91C}"/>
              </a:ext>
            </a:extLst>
          </p:cNvPr>
          <p:cNvGraphicFramePr>
            <a:graphicFrameLocks noGrp="1"/>
          </p:cNvGraphicFramePr>
          <p:nvPr>
            <p:extLst>
              <p:ext uri="{D42A27DB-BD31-4B8C-83A1-F6EECF244321}">
                <p14:modId xmlns:p14="http://schemas.microsoft.com/office/powerpoint/2010/main" val="3564342984"/>
              </p:ext>
            </p:extLst>
          </p:nvPr>
        </p:nvGraphicFramePr>
        <p:xfrm>
          <a:off x="906966" y="1645920"/>
          <a:ext cx="7263161" cy="3368040"/>
        </p:xfrm>
        <a:graphic>
          <a:graphicData uri="http://schemas.openxmlformats.org/drawingml/2006/table">
            <a:tbl>
              <a:tblPr firstRow="1" bandRow="1">
                <a:tableStyleId>{AE08A2B5-FEC1-4821-B64D-F3B82E1F7B7F}</a:tableStyleId>
              </a:tblPr>
              <a:tblGrid>
                <a:gridCol w="1620644">
                  <a:extLst>
                    <a:ext uri="{9D8B030D-6E8A-4147-A177-3AD203B41FA5}">
                      <a16:colId xmlns:a16="http://schemas.microsoft.com/office/drawing/2014/main" val="1923667477"/>
                    </a:ext>
                  </a:extLst>
                </a:gridCol>
                <a:gridCol w="5642517">
                  <a:extLst>
                    <a:ext uri="{9D8B030D-6E8A-4147-A177-3AD203B41FA5}">
                      <a16:colId xmlns:a16="http://schemas.microsoft.com/office/drawing/2014/main" val="3761752463"/>
                    </a:ext>
                  </a:extLst>
                </a:gridCol>
              </a:tblGrid>
              <a:tr h="370840">
                <a:tc>
                  <a:txBody>
                    <a:bodyPr/>
                    <a:lstStyle/>
                    <a:p>
                      <a:pPr algn="ctr" fontAlgn="t">
                        <a:lnSpc>
                          <a:spcPts val="1950"/>
                        </a:lnSpc>
                        <a:buNone/>
                      </a:pPr>
                      <a:r>
                        <a:rPr lang="en-US" b="0" dirty="0">
                          <a:solidFill>
                            <a:srgbClr val="34495F"/>
                          </a:solidFill>
                          <a:effectLst/>
                        </a:rPr>
                        <a:t>Classes</a:t>
                      </a:r>
                    </a:p>
                  </a:txBody>
                  <a:tcPr marL="60960" marR="60960"/>
                </a:tc>
                <a:tc>
                  <a:txBody>
                    <a:bodyPr/>
                    <a:lstStyle/>
                    <a:p>
                      <a:pPr algn="ctr" fontAlgn="t">
                        <a:lnSpc>
                          <a:spcPts val="1950"/>
                        </a:lnSpc>
                        <a:buNone/>
                      </a:pPr>
                      <a:r>
                        <a:rPr lang="en-US" b="0" dirty="0">
                          <a:solidFill>
                            <a:srgbClr val="34495F"/>
                          </a:solidFill>
                          <a:effectLst/>
                        </a:rPr>
                        <a:t>Description</a:t>
                      </a:r>
                    </a:p>
                  </a:txBody>
                  <a:tcPr marL="60960" marR="60960"/>
                </a:tc>
                <a:extLst>
                  <a:ext uri="{0D108BD9-81ED-4DB2-BD59-A6C34878D82A}">
                    <a16:rowId xmlns:a16="http://schemas.microsoft.com/office/drawing/2014/main" val="4121942502"/>
                  </a:ext>
                </a:extLst>
              </a:tr>
              <a:tr h="370840">
                <a:tc>
                  <a:txBody>
                    <a:bodyPr/>
                    <a:lstStyle/>
                    <a:p>
                      <a:pPr algn="l" fontAlgn="t">
                        <a:lnSpc>
                          <a:spcPts val="1950"/>
                        </a:lnSpc>
                        <a:buNone/>
                      </a:pPr>
                      <a:r>
                        <a:rPr lang="en-US" b="0">
                          <a:solidFill>
                            <a:srgbClr val="34495F"/>
                          </a:solidFill>
                          <a:effectLst/>
                        </a:rPr>
                        <a:t>FileStream</a:t>
                      </a:r>
                    </a:p>
                  </a:txBody>
                  <a:tcPr marL="60960" marR="60960"/>
                </a:tc>
                <a:tc>
                  <a:txBody>
                    <a:bodyPr/>
                    <a:lstStyle/>
                    <a:p>
                      <a:pPr algn="l" fontAlgn="t">
                        <a:lnSpc>
                          <a:spcPts val="1950"/>
                        </a:lnSpc>
                        <a:buNone/>
                      </a:pPr>
                      <a:r>
                        <a:rPr lang="en-IN" b="0" dirty="0">
                          <a:solidFill>
                            <a:srgbClr val="34495F"/>
                          </a:solidFill>
                          <a:effectLst/>
                        </a:rPr>
                        <a:t>This class provides a Stream for a file, supporting both synchronous and asynchronous read and write operations.</a:t>
                      </a:r>
                    </a:p>
                  </a:txBody>
                  <a:tcPr marL="60960" marR="60960"/>
                </a:tc>
                <a:extLst>
                  <a:ext uri="{0D108BD9-81ED-4DB2-BD59-A6C34878D82A}">
                    <a16:rowId xmlns:a16="http://schemas.microsoft.com/office/drawing/2014/main" val="2383323538"/>
                  </a:ext>
                </a:extLst>
              </a:tr>
              <a:tr h="370840">
                <a:tc>
                  <a:txBody>
                    <a:bodyPr/>
                    <a:lstStyle/>
                    <a:p>
                      <a:pPr algn="l" fontAlgn="t">
                        <a:lnSpc>
                          <a:spcPts val="1950"/>
                        </a:lnSpc>
                        <a:buNone/>
                      </a:pPr>
                      <a:r>
                        <a:rPr lang="en-US" b="0">
                          <a:solidFill>
                            <a:srgbClr val="34495F"/>
                          </a:solidFill>
                          <a:effectLst/>
                        </a:rPr>
                        <a:t>StreamReader</a:t>
                      </a:r>
                    </a:p>
                  </a:txBody>
                  <a:tcPr marL="60960" marR="60960"/>
                </a:tc>
                <a:tc>
                  <a:txBody>
                    <a:bodyPr/>
                    <a:lstStyle/>
                    <a:p>
                      <a:pPr algn="l" fontAlgn="t">
                        <a:lnSpc>
                          <a:spcPts val="1950"/>
                        </a:lnSpc>
                        <a:buNone/>
                      </a:pPr>
                      <a:r>
                        <a:rPr lang="en-IN" b="0">
                          <a:solidFill>
                            <a:srgbClr val="34495F"/>
                          </a:solidFill>
                          <a:effectLst/>
                        </a:rPr>
                        <a:t>This class implements a TextReader that reads characters from a byte stream in a particular encoding.</a:t>
                      </a:r>
                    </a:p>
                  </a:txBody>
                  <a:tcPr marL="60960" marR="60960"/>
                </a:tc>
                <a:extLst>
                  <a:ext uri="{0D108BD9-81ED-4DB2-BD59-A6C34878D82A}">
                    <a16:rowId xmlns:a16="http://schemas.microsoft.com/office/drawing/2014/main" val="23901575"/>
                  </a:ext>
                </a:extLst>
              </a:tr>
              <a:tr h="370840">
                <a:tc>
                  <a:txBody>
                    <a:bodyPr/>
                    <a:lstStyle/>
                    <a:p>
                      <a:pPr algn="l" fontAlgn="t">
                        <a:lnSpc>
                          <a:spcPts val="1950"/>
                        </a:lnSpc>
                        <a:buNone/>
                      </a:pPr>
                      <a:r>
                        <a:rPr lang="en-US" b="0">
                          <a:solidFill>
                            <a:srgbClr val="34495F"/>
                          </a:solidFill>
                          <a:effectLst/>
                        </a:rPr>
                        <a:t>StreamWriter</a:t>
                      </a:r>
                    </a:p>
                  </a:txBody>
                  <a:tcPr marL="60960" marR="60960"/>
                </a:tc>
                <a:tc>
                  <a:txBody>
                    <a:bodyPr/>
                    <a:lstStyle/>
                    <a:p>
                      <a:pPr algn="l" fontAlgn="t">
                        <a:lnSpc>
                          <a:spcPts val="1950"/>
                        </a:lnSpc>
                        <a:buNone/>
                      </a:pPr>
                      <a:r>
                        <a:rPr lang="en-IN" b="0">
                          <a:solidFill>
                            <a:srgbClr val="34495F"/>
                          </a:solidFill>
                          <a:effectLst/>
                        </a:rPr>
                        <a:t>This class implements a TextWriter for writing characters to a stream in a particular encoding.</a:t>
                      </a:r>
                    </a:p>
                  </a:txBody>
                  <a:tcPr marL="60960" marR="60960"/>
                </a:tc>
                <a:extLst>
                  <a:ext uri="{0D108BD9-81ED-4DB2-BD59-A6C34878D82A}">
                    <a16:rowId xmlns:a16="http://schemas.microsoft.com/office/drawing/2014/main" val="781130418"/>
                  </a:ext>
                </a:extLst>
              </a:tr>
              <a:tr h="370840">
                <a:tc>
                  <a:txBody>
                    <a:bodyPr/>
                    <a:lstStyle/>
                    <a:p>
                      <a:pPr algn="l" fontAlgn="t">
                        <a:lnSpc>
                          <a:spcPts val="1950"/>
                        </a:lnSpc>
                        <a:buNone/>
                      </a:pPr>
                      <a:r>
                        <a:rPr lang="en-US" b="0">
                          <a:solidFill>
                            <a:srgbClr val="34495F"/>
                          </a:solidFill>
                          <a:effectLst/>
                        </a:rPr>
                        <a:t>TextReader</a:t>
                      </a:r>
                    </a:p>
                  </a:txBody>
                  <a:tcPr marL="60960" marR="60960"/>
                </a:tc>
                <a:tc>
                  <a:txBody>
                    <a:bodyPr/>
                    <a:lstStyle/>
                    <a:p>
                      <a:pPr algn="l" fontAlgn="t">
                        <a:lnSpc>
                          <a:spcPts val="1950"/>
                        </a:lnSpc>
                        <a:buNone/>
                      </a:pPr>
                      <a:r>
                        <a:rPr lang="en-IN" b="0" dirty="0">
                          <a:solidFill>
                            <a:srgbClr val="34495F"/>
                          </a:solidFill>
                          <a:effectLst/>
                        </a:rPr>
                        <a:t>This class represents a reader that can read a sequential series of characters.</a:t>
                      </a:r>
                    </a:p>
                  </a:txBody>
                  <a:tcPr marL="60960" marR="60960"/>
                </a:tc>
                <a:extLst>
                  <a:ext uri="{0D108BD9-81ED-4DB2-BD59-A6C34878D82A}">
                    <a16:rowId xmlns:a16="http://schemas.microsoft.com/office/drawing/2014/main" val="872289734"/>
                  </a:ext>
                </a:extLst>
              </a:tr>
              <a:tr h="370840">
                <a:tc>
                  <a:txBody>
                    <a:bodyPr/>
                    <a:lstStyle/>
                    <a:p>
                      <a:pPr algn="l" fontAlgn="t">
                        <a:lnSpc>
                          <a:spcPts val="1950"/>
                        </a:lnSpc>
                        <a:buNone/>
                      </a:pPr>
                      <a:r>
                        <a:rPr lang="en-US" b="0" dirty="0" err="1">
                          <a:solidFill>
                            <a:srgbClr val="34495F"/>
                          </a:solidFill>
                          <a:effectLst/>
                        </a:rPr>
                        <a:t>TextWriter</a:t>
                      </a:r>
                      <a:endParaRPr lang="en-US" b="0" dirty="0">
                        <a:solidFill>
                          <a:srgbClr val="34495F"/>
                        </a:solidFill>
                        <a:effectLst/>
                      </a:endParaRPr>
                    </a:p>
                  </a:txBody>
                  <a:tcPr marL="60960" marR="60960"/>
                </a:tc>
                <a:tc>
                  <a:txBody>
                    <a:bodyPr/>
                    <a:lstStyle/>
                    <a:p>
                      <a:pPr algn="l" fontAlgn="t">
                        <a:lnSpc>
                          <a:spcPts val="1950"/>
                        </a:lnSpc>
                        <a:buNone/>
                      </a:pPr>
                      <a:r>
                        <a:rPr lang="en-IN" b="0" dirty="0">
                          <a:solidFill>
                            <a:srgbClr val="34495F"/>
                          </a:solidFill>
                          <a:effectLst/>
                        </a:rPr>
                        <a:t>This class represents a writer that can write a sequential series of characters. This class is abstract.</a:t>
                      </a:r>
                    </a:p>
                  </a:txBody>
                  <a:tcPr marL="60960" marR="60960"/>
                </a:tc>
                <a:extLst>
                  <a:ext uri="{0D108BD9-81ED-4DB2-BD59-A6C34878D82A}">
                    <a16:rowId xmlns:a16="http://schemas.microsoft.com/office/drawing/2014/main" val="3397221644"/>
                  </a:ext>
                </a:extLst>
              </a:tr>
            </a:tbl>
          </a:graphicData>
        </a:graphic>
      </p:graphicFrame>
    </p:spTree>
    <p:extLst>
      <p:ext uri="{BB962C8B-B14F-4D97-AF65-F5344CB8AC3E}">
        <p14:creationId xmlns:p14="http://schemas.microsoft.com/office/powerpoint/2010/main" val="405343806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7E0762C-9E89-A9DA-A9EA-7B43D5257F83}"/>
              </a:ext>
            </a:extLst>
          </p:cNvPr>
          <p:cNvGraphicFramePr>
            <a:graphicFrameLocks noGrp="1"/>
          </p:cNvGraphicFramePr>
          <p:nvPr>
            <p:extLst>
              <p:ext uri="{D42A27DB-BD31-4B8C-83A1-F6EECF244321}">
                <p14:modId xmlns:p14="http://schemas.microsoft.com/office/powerpoint/2010/main" val="2062237327"/>
              </p:ext>
            </p:extLst>
          </p:nvPr>
        </p:nvGraphicFramePr>
        <p:xfrm>
          <a:off x="877230" y="313085"/>
          <a:ext cx="7828155" cy="4745763"/>
        </p:xfrm>
        <a:graphic>
          <a:graphicData uri="http://schemas.openxmlformats.org/drawingml/2006/table">
            <a:tbl>
              <a:tblPr firstRow="1" bandRow="1">
                <a:tableStyleId>{AE08A2B5-FEC1-4821-B64D-F3B82E1F7B7F}</a:tableStyleId>
              </a:tblPr>
              <a:tblGrid>
                <a:gridCol w="1531434">
                  <a:extLst>
                    <a:ext uri="{9D8B030D-6E8A-4147-A177-3AD203B41FA5}">
                      <a16:colId xmlns:a16="http://schemas.microsoft.com/office/drawing/2014/main" val="1176376"/>
                    </a:ext>
                  </a:extLst>
                </a:gridCol>
                <a:gridCol w="6296721">
                  <a:extLst>
                    <a:ext uri="{9D8B030D-6E8A-4147-A177-3AD203B41FA5}">
                      <a16:colId xmlns:a16="http://schemas.microsoft.com/office/drawing/2014/main" val="684612847"/>
                    </a:ext>
                  </a:extLst>
                </a:gridCol>
              </a:tblGrid>
              <a:tr h="340088">
                <a:tc>
                  <a:txBody>
                    <a:bodyPr/>
                    <a:lstStyle/>
                    <a:p>
                      <a:pPr algn="ctr" fontAlgn="t">
                        <a:lnSpc>
                          <a:spcPts val="1950"/>
                        </a:lnSpc>
                        <a:buNone/>
                      </a:pPr>
                      <a:r>
                        <a:rPr lang="en-US" b="0" dirty="0">
                          <a:solidFill>
                            <a:srgbClr val="34495F"/>
                          </a:solidFill>
                          <a:effectLst/>
                        </a:rPr>
                        <a:t>Classes</a:t>
                      </a:r>
                    </a:p>
                  </a:txBody>
                  <a:tcPr marL="60960" marR="60960"/>
                </a:tc>
                <a:tc>
                  <a:txBody>
                    <a:bodyPr/>
                    <a:lstStyle/>
                    <a:p>
                      <a:pPr algn="ctr" fontAlgn="t">
                        <a:lnSpc>
                          <a:spcPts val="1950"/>
                        </a:lnSpc>
                        <a:buNone/>
                      </a:pPr>
                      <a:r>
                        <a:rPr lang="en-US" b="0" dirty="0">
                          <a:solidFill>
                            <a:srgbClr val="34495F"/>
                          </a:solidFill>
                          <a:effectLst/>
                        </a:rPr>
                        <a:t>Description</a:t>
                      </a:r>
                    </a:p>
                  </a:txBody>
                  <a:tcPr marL="60960" marR="60960"/>
                </a:tc>
                <a:extLst>
                  <a:ext uri="{0D108BD9-81ED-4DB2-BD59-A6C34878D82A}">
                    <a16:rowId xmlns:a16="http://schemas.microsoft.com/office/drawing/2014/main" val="2382776196"/>
                  </a:ext>
                </a:extLst>
              </a:tr>
              <a:tr h="549731">
                <a:tc>
                  <a:txBody>
                    <a:bodyPr/>
                    <a:lstStyle/>
                    <a:p>
                      <a:pPr algn="l" fontAlgn="t">
                        <a:lnSpc>
                          <a:spcPts val="1950"/>
                        </a:lnSpc>
                        <a:buNone/>
                      </a:pPr>
                      <a:r>
                        <a:rPr lang="en-US" b="0">
                          <a:solidFill>
                            <a:srgbClr val="34495F"/>
                          </a:solidFill>
                          <a:effectLst/>
                        </a:rPr>
                        <a:t>BinaryReader</a:t>
                      </a:r>
                    </a:p>
                  </a:txBody>
                  <a:tcPr marL="60960" marR="60960"/>
                </a:tc>
                <a:tc>
                  <a:txBody>
                    <a:bodyPr/>
                    <a:lstStyle/>
                    <a:p>
                      <a:pPr algn="l" fontAlgn="t">
                        <a:lnSpc>
                          <a:spcPts val="1950"/>
                        </a:lnSpc>
                        <a:buNone/>
                      </a:pPr>
                      <a:r>
                        <a:rPr lang="en-IN" b="0" dirty="0">
                          <a:solidFill>
                            <a:srgbClr val="34495F"/>
                          </a:solidFill>
                          <a:effectLst/>
                        </a:rPr>
                        <a:t>This class reads primitive data types as binary values in a specific encoding.</a:t>
                      </a:r>
                    </a:p>
                  </a:txBody>
                  <a:tcPr marL="60960" marR="60960"/>
                </a:tc>
                <a:extLst>
                  <a:ext uri="{0D108BD9-81ED-4DB2-BD59-A6C34878D82A}">
                    <a16:rowId xmlns:a16="http://schemas.microsoft.com/office/drawing/2014/main" val="3400937218"/>
                  </a:ext>
                </a:extLst>
              </a:tr>
              <a:tr h="549731">
                <a:tc>
                  <a:txBody>
                    <a:bodyPr/>
                    <a:lstStyle/>
                    <a:p>
                      <a:pPr algn="l" fontAlgn="t">
                        <a:lnSpc>
                          <a:spcPts val="1950"/>
                        </a:lnSpc>
                        <a:buNone/>
                      </a:pPr>
                      <a:r>
                        <a:rPr lang="en-US" b="0">
                          <a:solidFill>
                            <a:srgbClr val="34495F"/>
                          </a:solidFill>
                          <a:effectLst/>
                        </a:rPr>
                        <a:t>BinaryWriter</a:t>
                      </a:r>
                    </a:p>
                  </a:txBody>
                  <a:tcPr marL="60960" marR="60960"/>
                </a:tc>
                <a:tc>
                  <a:txBody>
                    <a:bodyPr/>
                    <a:lstStyle/>
                    <a:p>
                      <a:pPr algn="l" fontAlgn="t">
                        <a:lnSpc>
                          <a:spcPts val="1950"/>
                        </a:lnSpc>
                        <a:buNone/>
                      </a:pPr>
                      <a:r>
                        <a:rPr lang="en-IN" b="0" dirty="0">
                          <a:solidFill>
                            <a:srgbClr val="34495F"/>
                          </a:solidFill>
                          <a:effectLst/>
                        </a:rPr>
                        <a:t>This class writes primitive types in binary to a stream and supports writing strings in a specific encoding.</a:t>
                      </a:r>
                    </a:p>
                  </a:txBody>
                  <a:tcPr marL="60960" marR="60960"/>
                </a:tc>
                <a:extLst>
                  <a:ext uri="{0D108BD9-81ED-4DB2-BD59-A6C34878D82A}">
                    <a16:rowId xmlns:a16="http://schemas.microsoft.com/office/drawing/2014/main" val="2726680679"/>
                  </a:ext>
                </a:extLst>
              </a:tr>
              <a:tr h="549731">
                <a:tc>
                  <a:txBody>
                    <a:bodyPr/>
                    <a:lstStyle/>
                    <a:p>
                      <a:pPr algn="l" fontAlgn="t">
                        <a:lnSpc>
                          <a:spcPts val="1950"/>
                        </a:lnSpc>
                        <a:buNone/>
                      </a:pPr>
                      <a:r>
                        <a:rPr lang="en-US" b="0">
                          <a:solidFill>
                            <a:srgbClr val="34495F"/>
                          </a:solidFill>
                          <a:effectLst/>
                        </a:rPr>
                        <a:t>StringReader</a:t>
                      </a:r>
                    </a:p>
                  </a:txBody>
                  <a:tcPr marL="60960" marR="60960"/>
                </a:tc>
                <a:tc>
                  <a:txBody>
                    <a:bodyPr/>
                    <a:lstStyle/>
                    <a:p>
                      <a:pPr algn="l" fontAlgn="t">
                        <a:lnSpc>
                          <a:spcPts val="1950"/>
                        </a:lnSpc>
                        <a:buNone/>
                      </a:pPr>
                      <a:r>
                        <a:rPr lang="en-IN" b="0" dirty="0">
                          <a:solidFill>
                            <a:srgbClr val="34495F"/>
                          </a:solidFill>
                          <a:effectLst/>
                        </a:rPr>
                        <a:t>This class implements a </a:t>
                      </a:r>
                      <a:r>
                        <a:rPr lang="en-IN" b="0" dirty="0" err="1">
                          <a:solidFill>
                            <a:srgbClr val="34495F"/>
                          </a:solidFill>
                          <a:effectLst/>
                        </a:rPr>
                        <a:t>TextReader</a:t>
                      </a:r>
                      <a:r>
                        <a:rPr lang="en-IN" b="0" dirty="0">
                          <a:solidFill>
                            <a:srgbClr val="34495F"/>
                          </a:solidFill>
                          <a:effectLst/>
                        </a:rPr>
                        <a:t> that reads from a string.</a:t>
                      </a:r>
                    </a:p>
                  </a:txBody>
                  <a:tcPr marL="60960" marR="60960"/>
                </a:tc>
                <a:extLst>
                  <a:ext uri="{0D108BD9-81ED-4DB2-BD59-A6C34878D82A}">
                    <a16:rowId xmlns:a16="http://schemas.microsoft.com/office/drawing/2014/main" val="2828131544"/>
                  </a:ext>
                </a:extLst>
              </a:tr>
              <a:tr h="782668">
                <a:tc>
                  <a:txBody>
                    <a:bodyPr/>
                    <a:lstStyle/>
                    <a:p>
                      <a:pPr algn="l" fontAlgn="t">
                        <a:lnSpc>
                          <a:spcPts val="1950"/>
                        </a:lnSpc>
                        <a:buNone/>
                      </a:pPr>
                      <a:r>
                        <a:rPr lang="en-US" b="0">
                          <a:solidFill>
                            <a:srgbClr val="34495F"/>
                          </a:solidFill>
                          <a:effectLst/>
                        </a:rPr>
                        <a:t>StringWriter</a:t>
                      </a:r>
                    </a:p>
                  </a:txBody>
                  <a:tcPr marL="60960" marR="60960"/>
                </a:tc>
                <a:tc>
                  <a:txBody>
                    <a:bodyPr/>
                    <a:lstStyle/>
                    <a:p>
                      <a:pPr algn="l" fontAlgn="t">
                        <a:lnSpc>
                          <a:spcPts val="1950"/>
                        </a:lnSpc>
                        <a:buNone/>
                      </a:pPr>
                      <a:r>
                        <a:rPr lang="en-IN" b="0" dirty="0">
                          <a:solidFill>
                            <a:srgbClr val="34495F"/>
                          </a:solidFill>
                          <a:effectLst/>
                        </a:rPr>
                        <a:t>This class implements a </a:t>
                      </a:r>
                      <a:r>
                        <a:rPr lang="en-IN" b="0" dirty="0" err="1">
                          <a:solidFill>
                            <a:srgbClr val="34495F"/>
                          </a:solidFill>
                          <a:effectLst/>
                        </a:rPr>
                        <a:t>TextWriter</a:t>
                      </a:r>
                      <a:r>
                        <a:rPr lang="en-IN" b="0" dirty="0">
                          <a:solidFill>
                            <a:srgbClr val="34495F"/>
                          </a:solidFill>
                          <a:effectLst/>
                        </a:rPr>
                        <a:t> for writing information to a string. The information is stored in an underlying StringBuilder.</a:t>
                      </a:r>
                    </a:p>
                  </a:txBody>
                  <a:tcPr marL="60960" marR="60960"/>
                </a:tc>
                <a:extLst>
                  <a:ext uri="{0D108BD9-81ED-4DB2-BD59-A6C34878D82A}">
                    <a16:rowId xmlns:a16="http://schemas.microsoft.com/office/drawing/2014/main" val="117590210"/>
                  </a:ext>
                </a:extLst>
              </a:tr>
              <a:tr h="1015604">
                <a:tc>
                  <a:txBody>
                    <a:bodyPr/>
                    <a:lstStyle/>
                    <a:p>
                      <a:pPr algn="l" fontAlgn="t">
                        <a:lnSpc>
                          <a:spcPts val="1950"/>
                        </a:lnSpc>
                        <a:buNone/>
                      </a:pPr>
                      <a:r>
                        <a:rPr lang="en-US" b="0">
                          <a:solidFill>
                            <a:srgbClr val="34495F"/>
                          </a:solidFill>
                          <a:effectLst/>
                        </a:rPr>
                        <a:t>FileInfo</a:t>
                      </a:r>
                    </a:p>
                  </a:txBody>
                  <a:tcPr marL="60960" marR="60960"/>
                </a:tc>
                <a:tc>
                  <a:txBody>
                    <a:bodyPr/>
                    <a:lstStyle/>
                    <a:p>
                      <a:pPr algn="l" fontAlgn="t">
                        <a:lnSpc>
                          <a:spcPts val="1950"/>
                        </a:lnSpc>
                        <a:buNone/>
                      </a:pPr>
                      <a:r>
                        <a:rPr lang="en-IN" b="0" dirty="0">
                          <a:solidFill>
                            <a:srgbClr val="34495F"/>
                          </a:solidFill>
                          <a:effectLst/>
                        </a:rPr>
                        <a:t>This class provides properties and instance methods for the creation, copying, deletion, moving, and opening of files, and aids in the creation of </a:t>
                      </a:r>
                      <a:r>
                        <a:rPr lang="en-IN" b="0" dirty="0" err="1">
                          <a:solidFill>
                            <a:srgbClr val="34495F"/>
                          </a:solidFill>
                          <a:effectLst/>
                        </a:rPr>
                        <a:t>FileStream</a:t>
                      </a:r>
                      <a:r>
                        <a:rPr lang="en-IN" b="0" dirty="0">
                          <a:solidFill>
                            <a:srgbClr val="34495F"/>
                          </a:solidFill>
                          <a:effectLst/>
                        </a:rPr>
                        <a:t> objects. This class cannot be inherited.</a:t>
                      </a:r>
                    </a:p>
                  </a:txBody>
                  <a:tcPr marL="60960" marR="60960"/>
                </a:tc>
                <a:extLst>
                  <a:ext uri="{0D108BD9-81ED-4DB2-BD59-A6C34878D82A}">
                    <a16:rowId xmlns:a16="http://schemas.microsoft.com/office/drawing/2014/main" val="3135556581"/>
                  </a:ext>
                </a:extLst>
              </a:tr>
              <a:tr h="782668">
                <a:tc>
                  <a:txBody>
                    <a:bodyPr/>
                    <a:lstStyle/>
                    <a:p>
                      <a:pPr algn="l" fontAlgn="t">
                        <a:lnSpc>
                          <a:spcPts val="1950"/>
                        </a:lnSpc>
                        <a:buNone/>
                      </a:pPr>
                      <a:r>
                        <a:rPr lang="en-US" b="0">
                          <a:solidFill>
                            <a:srgbClr val="34495F"/>
                          </a:solidFill>
                          <a:effectLst/>
                        </a:rPr>
                        <a:t>DirectoryInfo</a:t>
                      </a:r>
                    </a:p>
                  </a:txBody>
                  <a:tcPr marL="60960" marR="60960"/>
                </a:tc>
                <a:tc>
                  <a:txBody>
                    <a:bodyPr/>
                    <a:lstStyle/>
                    <a:p>
                      <a:pPr algn="l" fontAlgn="t">
                        <a:lnSpc>
                          <a:spcPts val="1950"/>
                        </a:lnSpc>
                        <a:buNone/>
                      </a:pPr>
                      <a:r>
                        <a:rPr lang="en-IN" b="0" dirty="0">
                          <a:solidFill>
                            <a:srgbClr val="34495F"/>
                          </a:solidFill>
                          <a:effectLst/>
                        </a:rPr>
                        <a:t>This class exposes instance methods for creating, moving, and enumerating through directories and subdirectories. This class cannot be inherited.</a:t>
                      </a:r>
                    </a:p>
                  </a:txBody>
                  <a:tcPr marL="60960" marR="60960"/>
                </a:tc>
                <a:extLst>
                  <a:ext uri="{0D108BD9-81ED-4DB2-BD59-A6C34878D82A}">
                    <a16:rowId xmlns:a16="http://schemas.microsoft.com/office/drawing/2014/main" val="1079236895"/>
                  </a:ext>
                </a:extLst>
              </a:tr>
            </a:tbl>
          </a:graphicData>
        </a:graphic>
      </p:graphicFrame>
    </p:spTree>
    <p:extLst>
      <p:ext uri="{BB962C8B-B14F-4D97-AF65-F5344CB8AC3E}">
        <p14:creationId xmlns:p14="http://schemas.microsoft.com/office/powerpoint/2010/main" val="390502942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411C-02FA-A176-6B9C-DB5CFA2FAC39}"/>
              </a:ext>
            </a:extLst>
          </p:cNvPr>
          <p:cNvSpPr>
            <a:spLocks noGrp="1"/>
          </p:cNvSpPr>
          <p:nvPr>
            <p:ph type="title"/>
          </p:nvPr>
        </p:nvSpPr>
        <p:spPr/>
        <p:txBody>
          <a:bodyPr/>
          <a:lstStyle/>
          <a:p>
            <a:r>
              <a:rPr lang="en-US" dirty="0"/>
              <a:t>STEPS IN FILE HANDLING</a:t>
            </a:r>
          </a:p>
        </p:txBody>
      </p:sp>
      <p:sp>
        <p:nvSpPr>
          <p:cNvPr id="4" name="Rectangle 1">
            <a:extLst>
              <a:ext uri="{FF2B5EF4-FFF2-40B4-BE49-F238E27FC236}">
                <a16:creationId xmlns:a16="http://schemas.microsoft.com/office/drawing/2014/main" id="{8064D9C0-D746-5770-77C3-461D343430E1}"/>
              </a:ext>
            </a:extLst>
          </p:cNvPr>
          <p:cNvSpPr>
            <a:spLocks noGrp="1" noChangeArrowheads="1"/>
          </p:cNvSpPr>
          <p:nvPr>
            <p:ph type="body" idx="1"/>
          </p:nvPr>
        </p:nvSpPr>
        <p:spPr bwMode="auto">
          <a:xfrm>
            <a:off x="514350" y="1931554"/>
            <a:ext cx="7181774"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1.Open the File</a:t>
            </a:r>
            <a:endParaRPr kumimoji="0" lang="en-US" altLang="en-US"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Establishes a connection between the program and the file.</a:t>
            </a:r>
          </a:p>
          <a:p>
            <a:pPr marL="457200" lvl="1" indent="0" eaLnBrk="0" fontAlgn="base" hangingPunct="0">
              <a:lnSpc>
                <a:spcPct val="100000"/>
              </a:lnSpc>
              <a:spcBef>
                <a:spcPct val="0"/>
              </a:spcBef>
              <a:spcAft>
                <a:spcPct val="0"/>
              </a:spcAft>
              <a:buClrTx/>
              <a:buSzTx/>
              <a:buFontTx/>
              <a:buChar char="•"/>
            </a:pP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The file can be opened in different modes: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Read</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Write</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Append</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etc.</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2.Perform Operations</a:t>
            </a:r>
            <a:endParaRPr kumimoji="0" lang="en-US" altLang="en-US"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Perform the required task, such as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reading</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writing</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or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appending</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data.</a:t>
            </a:r>
          </a:p>
          <a:p>
            <a:pPr marL="457200" lvl="1" indent="0" eaLnBrk="0" fontAlgn="base" hangingPunct="0">
              <a:lnSpc>
                <a:spcPct val="100000"/>
              </a:lnSpc>
              <a:spcBef>
                <a:spcPct val="0"/>
              </a:spcBef>
              <a:spcAft>
                <a:spcPct val="0"/>
              </a:spcAft>
              <a:buClrTx/>
              <a:buSzTx/>
              <a:buFontTx/>
              <a:buChar char="•"/>
            </a:pP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Use appropriate classes like </a:t>
            </a:r>
            <a:r>
              <a:rPr kumimoji="0" lang="en-US" altLang="en-US" sz="17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StreamReader</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7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StreamWriter</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or </a:t>
            </a:r>
            <a:r>
              <a:rPr kumimoji="0" lang="en-US" altLang="en-US" sz="17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FileStream</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3.Close the File</a:t>
            </a:r>
            <a:endParaRPr kumimoji="0" lang="en-US" altLang="en-US"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After completing the operations, close the file using .Close() method.</a:t>
            </a:r>
          </a:p>
          <a:p>
            <a:pPr marL="457200" lvl="1" indent="0" eaLnBrk="0" fontAlgn="base" hangingPunct="0">
              <a:lnSpc>
                <a:spcPct val="100000"/>
              </a:lnSpc>
              <a:spcBef>
                <a:spcPct val="0"/>
              </a:spcBef>
              <a:spcAft>
                <a:spcPct val="0"/>
              </a:spcAft>
              <a:buClrTx/>
              <a:buSzTx/>
              <a:buFontTx/>
              <a:buChar char="•"/>
            </a:pP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This step </a:t>
            </a:r>
            <a:r>
              <a:rPr kumimoji="0" lang="en-US" altLang="en-US" sz="17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releases system resources</a:t>
            </a:r>
            <a:r>
              <a:rPr kumimoji="0" lang="en-US" altLang="en-US" sz="17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and ensures data integrity.</a:t>
            </a:r>
          </a:p>
        </p:txBody>
      </p:sp>
    </p:spTree>
    <p:extLst>
      <p:ext uri="{BB962C8B-B14F-4D97-AF65-F5344CB8AC3E}">
        <p14:creationId xmlns:p14="http://schemas.microsoft.com/office/powerpoint/2010/main" val="202443500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00DF58-2EA9-BB32-1FDC-940A2834FD3A}"/>
              </a:ext>
            </a:extLst>
          </p:cNvPr>
          <p:cNvSpPr>
            <a:spLocks noGrp="1"/>
          </p:cNvSpPr>
          <p:nvPr>
            <p:ph type="ctrTitle"/>
          </p:nvPr>
        </p:nvSpPr>
        <p:spPr/>
        <p:txBody>
          <a:bodyPr/>
          <a:lstStyle/>
          <a:p>
            <a:r>
              <a:rPr lang="en-US" dirty="0"/>
              <a:t>EXCEPTION HANDLING</a:t>
            </a:r>
          </a:p>
        </p:txBody>
      </p:sp>
      <p:sp>
        <p:nvSpPr>
          <p:cNvPr id="5" name="Subtitle 4">
            <a:extLst>
              <a:ext uri="{FF2B5EF4-FFF2-40B4-BE49-F238E27FC236}">
                <a16:creationId xmlns:a16="http://schemas.microsoft.com/office/drawing/2014/main" id="{EEAFBF9A-F064-9BA4-59E9-842B86D52DA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6625292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B8ACD-F616-B909-48B7-D22ABD8E7294}"/>
              </a:ext>
            </a:extLst>
          </p:cNvPr>
          <p:cNvSpPr>
            <a:spLocks noGrp="1"/>
          </p:cNvSpPr>
          <p:nvPr>
            <p:ph type="title"/>
          </p:nvPr>
        </p:nvSpPr>
        <p:spPr/>
        <p:txBody>
          <a:bodyPr/>
          <a:lstStyle/>
          <a:p>
            <a:r>
              <a:rPr lang="en-US" dirty="0"/>
              <a:t>WHAT IS EXCEPTION</a:t>
            </a:r>
          </a:p>
        </p:txBody>
      </p:sp>
      <p:sp>
        <p:nvSpPr>
          <p:cNvPr id="3" name="Text Placeholder 2">
            <a:extLst>
              <a:ext uri="{FF2B5EF4-FFF2-40B4-BE49-F238E27FC236}">
                <a16:creationId xmlns:a16="http://schemas.microsoft.com/office/drawing/2014/main" id="{F137597F-88B0-35B8-F4ED-249095CE91F4}"/>
              </a:ext>
            </a:extLst>
          </p:cNvPr>
          <p:cNvSpPr>
            <a:spLocks noGrp="1"/>
          </p:cNvSpPr>
          <p:nvPr>
            <p:ph type="body" idx="1"/>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An </a:t>
            </a:r>
            <a:r>
              <a:rPr lang="en-IN" b="1" dirty="0">
                <a:latin typeface="Calibri" panose="020F0502020204030204" pitchFamily="34" charset="0"/>
                <a:ea typeface="Calibri" panose="020F0502020204030204" pitchFamily="34" charset="0"/>
                <a:cs typeface="Calibri" panose="020F0502020204030204" pitchFamily="34" charset="0"/>
              </a:rPr>
              <a:t>exception</a:t>
            </a:r>
            <a:r>
              <a:rPr lang="en-IN" dirty="0">
                <a:latin typeface="Calibri" panose="020F0502020204030204" pitchFamily="34" charset="0"/>
                <a:ea typeface="Calibri" panose="020F0502020204030204" pitchFamily="34" charset="0"/>
                <a:cs typeface="Calibri" panose="020F0502020204030204" pitchFamily="34" charset="0"/>
              </a:rPr>
              <a:t> is an </a:t>
            </a:r>
            <a:r>
              <a:rPr lang="en-IN" b="1" dirty="0">
                <a:latin typeface="Calibri" panose="020F0502020204030204" pitchFamily="34" charset="0"/>
                <a:ea typeface="Calibri" panose="020F0502020204030204" pitchFamily="34" charset="0"/>
                <a:cs typeface="Calibri" panose="020F0502020204030204" pitchFamily="34" charset="0"/>
              </a:rPr>
              <a:t>unexpected error</a:t>
            </a:r>
            <a:r>
              <a:rPr lang="en-IN" dirty="0">
                <a:latin typeface="Calibri" panose="020F0502020204030204" pitchFamily="34" charset="0"/>
                <a:ea typeface="Calibri" panose="020F0502020204030204" pitchFamily="34" charset="0"/>
                <a:cs typeface="Calibri" panose="020F0502020204030204" pitchFamily="34" charset="0"/>
              </a:rPr>
              <a:t> that occurs during program execution and disrupts the normal flow of the program.</a:t>
            </a:r>
            <a:br>
              <a:rPr lang="en-IN"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a:p>
            <a:pPr marL="139700" indent="0">
              <a:buNone/>
            </a:pPr>
            <a:r>
              <a:rPr lang="en-IN" dirty="0">
                <a:latin typeface="Calibri" panose="020F0502020204030204" pitchFamily="34" charset="0"/>
                <a:ea typeface="Calibri" panose="020F0502020204030204" pitchFamily="34" charset="0"/>
                <a:cs typeface="Calibri" panose="020F0502020204030204" pitchFamily="34" charset="0"/>
              </a:rPr>
              <a:t>Examples:</a:t>
            </a:r>
          </a:p>
          <a:p>
            <a:r>
              <a:rPr lang="en-IN" dirty="0">
                <a:latin typeface="Calibri" panose="020F0502020204030204" pitchFamily="34" charset="0"/>
                <a:ea typeface="Calibri" panose="020F0502020204030204" pitchFamily="34" charset="0"/>
                <a:cs typeface="Calibri" panose="020F0502020204030204" pitchFamily="34" charset="0"/>
              </a:rPr>
              <a:t>File not found</a:t>
            </a:r>
          </a:p>
          <a:p>
            <a:r>
              <a:rPr lang="en-IN" dirty="0">
                <a:latin typeface="Calibri" panose="020F0502020204030204" pitchFamily="34" charset="0"/>
                <a:ea typeface="Calibri" panose="020F0502020204030204" pitchFamily="34" charset="0"/>
                <a:cs typeface="Calibri" panose="020F0502020204030204" pitchFamily="34" charset="0"/>
              </a:rPr>
              <a:t>Division by zero</a:t>
            </a:r>
          </a:p>
          <a:p>
            <a:r>
              <a:rPr lang="en-IN" dirty="0">
                <a:latin typeface="Calibri" panose="020F0502020204030204" pitchFamily="34" charset="0"/>
                <a:ea typeface="Calibri" panose="020F0502020204030204" pitchFamily="34" charset="0"/>
                <a:cs typeface="Calibri" panose="020F0502020204030204" pitchFamily="34" charset="0"/>
              </a:rPr>
              <a:t>Invalid input</a:t>
            </a:r>
          </a:p>
          <a:p>
            <a:r>
              <a:rPr lang="en-IN" dirty="0">
                <a:latin typeface="Calibri" panose="020F0502020204030204" pitchFamily="34" charset="0"/>
                <a:ea typeface="Calibri" panose="020F0502020204030204" pitchFamily="34" charset="0"/>
                <a:cs typeface="Calibri" panose="020F0502020204030204" pitchFamily="34" charset="0"/>
              </a:rPr>
              <a:t>Network disconnection</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709889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C88FA-CA28-F745-5944-B94E612CE3D9}"/>
              </a:ext>
            </a:extLst>
          </p:cNvPr>
          <p:cNvSpPr>
            <a:spLocks noGrp="1"/>
          </p:cNvSpPr>
          <p:nvPr>
            <p:ph type="title"/>
          </p:nvPr>
        </p:nvSpPr>
        <p:spPr/>
        <p:txBody>
          <a:bodyPr/>
          <a:lstStyle/>
          <a:p>
            <a:r>
              <a:rPr lang="en-US" dirty="0"/>
              <a:t>WHAT IS EXCEPTION HANDLING</a:t>
            </a:r>
          </a:p>
        </p:txBody>
      </p:sp>
      <p:sp>
        <p:nvSpPr>
          <p:cNvPr id="3" name="Text Placeholder 2">
            <a:extLst>
              <a:ext uri="{FF2B5EF4-FFF2-40B4-BE49-F238E27FC236}">
                <a16:creationId xmlns:a16="http://schemas.microsoft.com/office/drawing/2014/main" id="{CD88E47C-A17B-6C98-9288-35E870A6E6D8}"/>
              </a:ext>
            </a:extLst>
          </p:cNvPr>
          <p:cNvSpPr>
            <a:spLocks noGrp="1"/>
          </p:cNvSpPr>
          <p:nvPr>
            <p:ph type="body" idx="1"/>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Exception Handling</a:t>
            </a:r>
            <a:r>
              <a:rPr lang="en-IN" dirty="0">
                <a:latin typeface="Calibri" panose="020F0502020204030204" pitchFamily="34" charset="0"/>
                <a:ea typeface="Calibri" panose="020F0502020204030204" pitchFamily="34" charset="0"/>
                <a:cs typeface="Calibri" panose="020F0502020204030204" pitchFamily="34" charset="0"/>
              </a:rPr>
              <a:t> in C# is the process of </a:t>
            </a:r>
            <a:r>
              <a:rPr lang="en-IN" b="1" dirty="0">
                <a:latin typeface="Calibri" panose="020F0502020204030204" pitchFamily="34" charset="0"/>
                <a:ea typeface="Calibri" panose="020F0502020204030204" pitchFamily="34" charset="0"/>
                <a:cs typeface="Calibri" panose="020F0502020204030204" pitchFamily="34" charset="0"/>
              </a:rPr>
              <a:t>catching and handling runtime errors</a:t>
            </a:r>
            <a:r>
              <a:rPr lang="en-IN" dirty="0">
                <a:latin typeface="Calibri" panose="020F0502020204030204" pitchFamily="34" charset="0"/>
                <a:ea typeface="Calibri" panose="020F0502020204030204" pitchFamily="34" charset="0"/>
                <a:cs typeface="Calibri" panose="020F0502020204030204" pitchFamily="34" charset="0"/>
              </a:rPr>
              <a:t> (exceptions) to prevent the </a:t>
            </a:r>
            <a:r>
              <a:rPr lang="en-IN" b="1" dirty="0">
                <a:latin typeface="Calibri" panose="020F0502020204030204" pitchFamily="34" charset="0"/>
                <a:ea typeface="Calibri" panose="020F0502020204030204" pitchFamily="34" charset="0"/>
                <a:cs typeface="Calibri" panose="020F0502020204030204" pitchFamily="34" charset="0"/>
              </a:rPr>
              <a:t>abnormal termination</a:t>
            </a:r>
            <a:r>
              <a:rPr lang="en-IN" dirty="0">
                <a:latin typeface="Calibri" panose="020F0502020204030204" pitchFamily="34" charset="0"/>
                <a:ea typeface="Calibri" panose="020F0502020204030204" pitchFamily="34" charset="0"/>
                <a:cs typeface="Calibri" panose="020F0502020204030204" pitchFamily="34" charset="0"/>
              </a:rPr>
              <a:t> of a program.</a:t>
            </a:r>
          </a:p>
          <a:p>
            <a:r>
              <a:rPr lang="en-IN" dirty="0">
                <a:latin typeface="Calibri" panose="020F0502020204030204" pitchFamily="34" charset="0"/>
                <a:ea typeface="Calibri" panose="020F0502020204030204" pitchFamily="34" charset="0"/>
                <a:cs typeface="Calibri" panose="020F0502020204030204" pitchFamily="34" charset="0"/>
              </a:rPr>
              <a:t>When an exception occurs, the </a:t>
            </a:r>
            <a:r>
              <a:rPr lang="en-IN" b="1" dirty="0">
                <a:latin typeface="Calibri" panose="020F0502020204030204" pitchFamily="34" charset="0"/>
                <a:ea typeface="Calibri" panose="020F0502020204030204" pitchFamily="34" charset="0"/>
                <a:cs typeface="Calibri" panose="020F0502020204030204" pitchFamily="34" charset="0"/>
              </a:rPr>
              <a:t>CLR (Common Language Runtime)</a:t>
            </a:r>
            <a:r>
              <a:rPr lang="en-IN" dirty="0">
                <a:latin typeface="Calibri" panose="020F0502020204030204" pitchFamily="34" charset="0"/>
                <a:ea typeface="Calibri" panose="020F0502020204030204" pitchFamily="34" charset="0"/>
                <a:cs typeface="Calibri" panose="020F0502020204030204" pitchFamily="34" charset="0"/>
              </a:rPr>
              <a:t> generates an error message. </a:t>
            </a:r>
          </a:p>
          <a:p>
            <a:r>
              <a:rPr lang="en-IN" dirty="0">
                <a:latin typeface="Calibri" panose="020F0502020204030204" pitchFamily="34" charset="0"/>
                <a:ea typeface="Calibri" panose="020F0502020204030204" pitchFamily="34" charset="0"/>
                <a:cs typeface="Calibri" panose="020F0502020204030204" pitchFamily="34" charset="0"/>
              </a:rPr>
              <a:t>Exception handling allows programmers to </a:t>
            </a:r>
            <a:r>
              <a:rPr lang="en-IN" b="1" dirty="0">
                <a:latin typeface="Calibri" panose="020F0502020204030204" pitchFamily="34" charset="0"/>
                <a:ea typeface="Calibri" panose="020F0502020204030204" pitchFamily="34" charset="0"/>
                <a:cs typeface="Calibri" panose="020F0502020204030204" pitchFamily="34" charset="0"/>
              </a:rPr>
              <a:t>catch</a:t>
            </a:r>
            <a:r>
              <a:rPr lang="en-IN" dirty="0">
                <a:latin typeface="Calibri" panose="020F0502020204030204" pitchFamily="34" charset="0"/>
                <a:ea typeface="Calibri" panose="020F0502020204030204" pitchFamily="34" charset="0"/>
                <a:cs typeface="Calibri" panose="020F0502020204030204" pitchFamily="34" charset="0"/>
              </a:rPr>
              <a:t> these exceptions and </a:t>
            </a:r>
            <a:r>
              <a:rPr lang="en-IN" b="1" dirty="0">
                <a:latin typeface="Calibri" panose="020F0502020204030204" pitchFamily="34" charset="0"/>
                <a:ea typeface="Calibri" panose="020F0502020204030204" pitchFamily="34" charset="0"/>
                <a:cs typeface="Calibri" panose="020F0502020204030204" pitchFamily="34" charset="0"/>
              </a:rPr>
              <a:t>convert</a:t>
            </a:r>
            <a:r>
              <a:rPr lang="en-IN" dirty="0">
                <a:latin typeface="Calibri" panose="020F0502020204030204" pitchFamily="34" charset="0"/>
                <a:ea typeface="Calibri" panose="020F0502020204030204" pitchFamily="34" charset="0"/>
                <a:cs typeface="Calibri" panose="020F0502020204030204" pitchFamily="34" charset="0"/>
              </a:rPr>
              <a:t> them into </a:t>
            </a:r>
            <a:r>
              <a:rPr lang="en-IN" b="1" dirty="0">
                <a:latin typeface="Calibri" panose="020F0502020204030204" pitchFamily="34" charset="0"/>
                <a:ea typeface="Calibri" panose="020F0502020204030204" pitchFamily="34" charset="0"/>
                <a:cs typeface="Calibri" panose="020F0502020204030204" pitchFamily="34" charset="0"/>
              </a:rPr>
              <a:t>user-friendly messages</a:t>
            </a:r>
            <a:r>
              <a:rPr lang="en-IN" dirty="0">
                <a:latin typeface="Calibri" panose="020F0502020204030204" pitchFamily="34" charset="0"/>
                <a:ea typeface="Calibri" panose="020F0502020204030204" pitchFamily="34" charset="0"/>
                <a:cs typeface="Calibri" panose="020F0502020204030204" pitchFamily="34" charset="0"/>
              </a:rPr>
              <a:t>, ensuring that the application continues running smoothly.</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243305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6612D-EC74-2885-57E2-84A20DF9C602}"/>
              </a:ext>
            </a:extLst>
          </p:cNvPr>
          <p:cNvSpPr>
            <a:spLocks noGrp="1"/>
          </p:cNvSpPr>
          <p:nvPr>
            <p:ph type="title"/>
          </p:nvPr>
        </p:nvSpPr>
        <p:spPr/>
        <p:txBody>
          <a:bodyPr/>
          <a:lstStyle/>
          <a:p>
            <a:r>
              <a:rPr lang="en-US" dirty="0"/>
              <a:t>ADVANTAGES OF EXCEPTION HANDLING</a:t>
            </a:r>
          </a:p>
        </p:txBody>
      </p:sp>
      <p:sp>
        <p:nvSpPr>
          <p:cNvPr id="3" name="Text Placeholder 2">
            <a:extLst>
              <a:ext uri="{FF2B5EF4-FFF2-40B4-BE49-F238E27FC236}">
                <a16:creationId xmlns:a16="http://schemas.microsoft.com/office/drawing/2014/main" id="{5DFC5514-E368-3ABA-C0B0-78E17D963CE0}"/>
              </a:ext>
            </a:extLst>
          </p:cNvPr>
          <p:cNvSpPr>
            <a:spLocks noGrp="1"/>
          </p:cNvSpPr>
          <p:nvPr>
            <p:ph type="body" idx="1"/>
          </p:nvPr>
        </p:nvSpPr>
        <p:spPr/>
        <p:txBody>
          <a:bodyPr>
            <a:normAutofit/>
          </a:bodyPr>
          <a:lstStyle/>
          <a:p>
            <a:pPr marL="139700" indent="0">
              <a:buNone/>
            </a:pPr>
            <a:r>
              <a:rPr lang="en-IN" dirty="0">
                <a:latin typeface="Calibri" panose="020F0502020204030204" pitchFamily="34" charset="0"/>
                <a:ea typeface="Calibri" panose="020F0502020204030204" pitchFamily="34" charset="0"/>
                <a:cs typeface="Calibri" panose="020F0502020204030204" pitchFamily="34" charset="0"/>
              </a:rPr>
              <a:t>1.Prevents Abnormal Termination</a:t>
            </a:r>
          </a:p>
          <a:p>
            <a:pPr lvl="1"/>
            <a:r>
              <a:rPr lang="en-IN" dirty="0">
                <a:latin typeface="Calibri" panose="020F0502020204030204" pitchFamily="34" charset="0"/>
                <a:ea typeface="Calibri" panose="020F0502020204030204" pitchFamily="34" charset="0"/>
                <a:cs typeface="Calibri" panose="020F0502020204030204" pitchFamily="34" charset="0"/>
              </a:rPr>
              <a:t>Ensures the program does not crash unexpectedly when an error occurs.</a:t>
            </a:r>
          </a:p>
          <a:p>
            <a:pPr lvl="1"/>
            <a:r>
              <a:rPr lang="en-IN" dirty="0">
                <a:latin typeface="Calibri" panose="020F0502020204030204" pitchFamily="34" charset="0"/>
                <a:ea typeface="Calibri" panose="020F0502020204030204" pitchFamily="34" charset="0"/>
                <a:cs typeface="Calibri" panose="020F0502020204030204" pitchFamily="34" charset="0"/>
              </a:rPr>
              <a:t>Helps maintain a smooth program flow even during runtime errors.</a:t>
            </a:r>
          </a:p>
          <a:p>
            <a:pPr marL="139700" indent="0">
              <a:buNone/>
            </a:pPr>
            <a:r>
              <a:rPr lang="en-IN" dirty="0">
                <a:latin typeface="Calibri" panose="020F0502020204030204" pitchFamily="34" charset="0"/>
                <a:ea typeface="Calibri" panose="020F0502020204030204" pitchFamily="34" charset="0"/>
                <a:cs typeface="Calibri" panose="020F0502020204030204" pitchFamily="34" charset="0"/>
              </a:rPr>
              <a:t>2.Allows Corrective Actions</a:t>
            </a:r>
          </a:p>
          <a:p>
            <a:pPr lvl="1"/>
            <a:r>
              <a:rPr lang="en-IN" dirty="0">
                <a:latin typeface="Calibri" panose="020F0502020204030204" pitchFamily="34" charset="0"/>
                <a:ea typeface="Calibri" panose="020F0502020204030204" pitchFamily="34" charset="0"/>
                <a:cs typeface="Calibri" panose="020F0502020204030204" pitchFamily="34" charset="0"/>
              </a:rPr>
              <a:t>Enables the program to take alternative steps or fix the issue automatically.</a:t>
            </a:r>
          </a:p>
          <a:p>
            <a:pPr lvl="1"/>
            <a:r>
              <a:rPr lang="en-IN" dirty="0">
                <a:latin typeface="Calibri" panose="020F0502020204030204" pitchFamily="34" charset="0"/>
                <a:ea typeface="Calibri" panose="020F0502020204030204" pitchFamily="34" charset="0"/>
                <a:cs typeface="Calibri" panose="020F0502020204030204" pitchFamily="34" charset="0"/>
              </a:rPr>
              <a:t>For example, if a file is missing, the program can create a new one instead of failing.</a:t>
            </a:r>
          </a:p>
          <a:p>
            <a:pPr marL="139700" indent="0">
              <a:buNone/>
            </a:pPr>
            <a:r>
              <a:rPr lang="en-IN" dirty="0">
                <a:latin typeface="Calibri" panose="020F0502020204030204" pitchFamily="34" charset="0"/>
                <a:ea typeface="Calibri" panose="020F0502020204030204" pitchFamily="34" charset="0"/>
                <a:cs typeface="Calibri" panose="020F0502020204030204" pitchFamily="34" charset="0"/>
              </a:rPr>
              <a:t>3.Displays User-Friendly Messages</a:t>
            </a:r>
          </a:p>
          <a:p>
            <a:pPr lvl="1"/>
            <a:r>
              <a:rPr lang="en-IN" dirty="0">
                <a:latin typeface="Calibri" panose="020F0502020204030204" pitchFamily="34" charset="0"/>
                <a:ea typeface="Calibri" panose="020F0502020204030204" pitchFamily="34" charset="0"/>
                <a:cs typeface="Calibri" panose="020F0502020204030204" pitchFamily="34" charset="0"/>
              </a:rPr>
              <a:t>Converts complex CLR-generated error messages into clear, readable messages for the end user.</a:t>
            </a:r>
          </a:p>
          <a:p>
            <a:pPr lvl="1"/>
            <a:r>
              <a:rPr lang="en-IN" dirty="0">
                <a:latin typeface="Calibri" panose="020F0502020204030204" pitchFamily="34" charset="0"/>
                <a:ea typeface="Calibri" panose="020F0502020204030204" pitchFamily="34" charset="0"/>
                <a:cs typeface="Calibri" panose="020F0502020204030204" pitchFamily="34" charset="0"/>
              </a:rPr>
              <a:t>Helps the user understand what went wrong and possibly resolve the issue.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099752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41DA6-A934-4AC5-C416-98796C8DEFA9}"/>
              </a:ext>
            </a:extLst>
          </p:cNvPr>
          <p:cNvSpPr>
            <a:spLocks noGrp="1"/>
          </p:cNvSpPr>
          <p:nvPr>
            <p:ph type="title"/>
          </p:nvPr>
        </p:nvSpPr>
        <p:spPr>
          <a:xfrm>
            <a:off x="2171700" y="573281"/>
            <a:ext cx="6457950" cy="742564"/>
          </a:xfrm>
        </p:spPr>
        <p:txBody>
          <a:bodyPr>
            <a:noAutofit/>
          </a:bodyPr>
          <a:lstStyle/>
          <a:p>
            <a:r>
              <a:rPr lang="en-IN" sz="2000" b="1" dirty="0"/>
              <a:t>WHAT IS THE PROCEDURE TO HANDLE EXCEPTIONS IN C#</a:t>
            </a:r>
            <a:endParaRPr lang="en-US" sz="2000" dirty="0"/>
          </a:p>
        </p:txBody>
      </p:sp>
      <p:sp>
        <p:nvSpPr>
          <p:cNvPr id="3" name="Text Placeholder 2">
            <a:extLst>
              <a:ext uri="{FF2B5EF4-FFF2-40B4-BE49-F238E27FC236}">
                <a16:creationId xmlns:a16="http://schemas.microsoft.com/office/drawing/2014/main" id="{B9DB496B-C50F-E711-D4EF-050E438ABD26}"/>
              </a:ext>
            </a:extLst>
          </p:cNvPr>
          <p:cNvSpPr>
            <a:spLocks noGrp="1"/>
          </p:cNvSpPr>
          <p:nvPr>
            <p:ph type="body" idx="1"/>
          </p:nvPr>
        </p:nvSpPr>
        <p:spPr>
          <a:xfrm>
            <a:off x="514350" y="1315844"/>
            <a:ext cx="8115300" cy="3348170"/>
          </a:xfrm>
        </p:spPr>
        <p:txBody>
          <a:bodyPr>
            <a:noAutofit/>
          </a:bodyPr>
          <a:lstStyle/>
          <a:p>
            <a:pPr marL="139700" indent="0">
              <a:buNone/>
            </a:pPr>
            <a:r>
              <a:rPr lang="en-IN" sz="1500" dirty="0">
                <a:latin typeface="Calibri" panose="020F0502020204030204" pitchFamily="34" charset="0"/>
                <a:ea typeface="Calibri" panose="020F0502020204030204" pitchFamily="34" charset="0"/>
                <a:cs typeface="Calibri" panose="020F0502020204030204" pitchFamily="34" charset="0"/>
              </a:rPr>
              <a:t>1.Preparing the Exception Object</a:t>
            </a:r>
          </a:p>
          <a:p>
            <a:pPr lvl="1"/>
            <a:r>
              <a:rPr lang="en-IN" dirty="0">
                <a:latin typeface="Calibri" panose="020F0502020204030204" pitchFamily="34" charset="0"/>
                <a:ea typeface="Calibri" panose="020F0502020204030204" pitchFamily="34" charset="0"/>
                <a:cs typeface="Calibri" panose="020F0502020204030204" pitchFamily="34" charset="0"/>
              </a:rPr>
              <a:t>An exception object is created that represents the current logical or runtime error.</a:t>
            </a:r>
          </a:p>
          <a:p>
            <a:pPr lvl="1"/>
            <a:r>
              <a:rPr lang="en-IN" dirty="0">
                <a:latin typeface="Calibri" panose="020F0502020204030204" pitchFamily="34" charset="0"/>
                <a:ea typeface="Calibri" panose="020F0502020204030204" pitchFamily="34" charset="0"/>
                <a:cs typeface="Calibri" panose="020F0502020204030204" pitchFamily="34" charset="0"/>
              </a:rPr>
              <a:t>This object contains details such as the type of error and its message.</a:t>
            </a:r>
          </a:p>
          <a:p>
            <a:pPr marL="139700" indent="0">
              <a:buNone/>
            </a:pPr>
            <a:r>
              <a:rPr lang="en-IN" sz="1500" dirty="0">
                <a:latin typeface="Calibri" panose="020F0502020204030204" pitchFamily="34" charset="0"/>
                <a:ea typeface="Calibri" panose="020F0502020204030204" pitchFamily="34" charset="0"/>
                <a:cs typeface="Calibri" panose="020F0502020204030204" pitchFamily="34" charset="0"/>
              </a:rPr>
              <a:t>2.Throwing the Exception</a:t>
            </a:r>
          </a:p>
          <a:p>
            <a:pPr lvl="1"/>
            <a:r>
              <a:rPr lang="en-IN" dirty="0">
                <a:latin typeface="Calibri" panose="020F0502020204030204" pitchFamily="34" charset="0"/>
                <a:ea typeface="Calibri" panose="020F0502020204030204" pitchFamily="34" charset="0"/>
                <a:cs typeface="Calibri" panose="020F0502020204030204" pitchFamily="34" charset="0"/>
              </a:rPr>
              <a:t>The exception object is passed (thrown) to the runtime system.</a:t>
            </a:r>
          </a:p>
          <a:p>
            <a:pPr lvl="1"/>
            <a:r>
              <a:rPr lang="en-IN" dirty="0">
                <a:latin typeface="Calibri" panose="020F0502020204030204" pitchFamily="34" charset="0"/>
                <a:ea typeface="Calibri" panose="020F0502020204030204" pitchFamily="34" charset="0"/>
                <a:cs typeface="Calibri" panose="020F0502020204030204" pitchFamily="34" charset="0"/>
              </a:rPr>
              <a:t>This alerts the program that an error has occurred and needs handling.</a:t>
            </a:r>
          </a:p>
          <a:p>
            <a:pPr marL="139700" indent="0">
              <a:buNone/>
            </a:pPr>
            <a:r>
              <a:rPr lang="en-IN" sz="1500" dirty="0">
                <a:latin typeface="Calibri" panose="020F0502020204030204" pitchFamily="34" charset="0"/>
                <a:ea typeface="Calibri" panose="020F0502020204030204" pitchFamily="34" charset="0"/>
                <a:cs typeface="Calibri" panose="020F0502020204030204" pitchFamily="34" charset="0"/>
              </a:rPr>
              <a:t>3.Catching the Exception</a:t>
            </a:r>
          </a:p>
          <a:p>
            <a:pPr lvl="1"/>
            <a:r>
              <a:rPr lang="en-IN" dirty="0">
                <a:latin typeface="Calibri" panose="020F0502020204030204" pitchFamily="34" charset="0"/>
                <a:ea typeface="Calibri" panose="020F0502020204030204" pitchFamily="34" charset="0"/>
                <a:cs typeface="Calibri" panose="020F0502020204030204" pitchFamily="34" charset="0"/>
              </a:rPr>
              <a:t>The exception is caught by an appropriate exception handler.</a:t>
            </a:r>
          </a:p>
          <a:p>
            <a:pPr lvl="1"/>
            <a:r>
              <a:rPr lang="en-IN" dirty="0">
                <a:latin typeface="Calibri" panose="020F0502020204030204" pitchFamily="34" charset="0"/>
                <a:ea typeface="Calibri" panose="020F0502020204030204" pitchFamily="34" charset="0"/>
                <a:cs typeface="Calibri" panose="020F0502020204030204" pitchFamily="34" charset="0"/>
              </a:rPr>
              <a:t>This handler prevents the program from terminating abnormally.</a:t>
            </a:r>
          </a:p>
          <a:p>
            <a:pPr marL="139700" indent="0">
              <a:buNone/>
            </a:pPr>
            <a:r>
              <a:rPr lang="en-IN" sz="1500" dirty="0">
                <a:latin typeface="Calibri" panose="020F0502020204030204" pitchFamily="34" charset="0"/>
                <a:ea typeface="Calibri" panose="020F0502020204030204" pitchFamily="34" charset="0"/>
                <a:cs typeface="Calibri" panose="020F0502020204030204" pitchFamily="34" charset="0"/>
              </a:rPr>
              <a:t>4.Taking Necessary Actions</a:t>
            </a:r>
          </a:p>
          <a:p>
            <a:pPr lvl="1"/>
            <a:r>
              <a:rPr lang="en-IN" dirty="0">
                <a:latin typeface="Calibri" panose="020F0502020204030204" pitchFamily="34" charset="0"/>
                <a:ea typeface="Calibri" panose="020F0502020204030204" pitchFamily="34" charset="0"/>
                <a:cs typeface="Calibri" panose="020F0502020204030204" pitchFamily="34" charset="0"/>
              </a:rPr>
              <a:t>After catching the exception, suitable corrective steps are taken.</a:t>
            </a:r>
          </a:p>
          <a:p>
            <a:pPr lvl="1"/>
            <a:r>
              <a:rPr lang="en-IN" dirty="0">
                <a:latin typeface="Calibri" panose="020F0502020204030204" pitchFamily="34" charset="0"/>
                <a:ea typeface="Calibri" panose="020F0502020204030204" pitchFamily="34" charset="0"/>
                <a:cs typeface="Calibri" panose="020F0502020204030204" pitchFamily="34" charset="0"/>
              </a:rPr>
              <a:t>Actions may include displaying an error message, logging the issue, or retrying the operation.</a:t>
            </a:r>
          </a:p>
          <a:p>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869176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7665D-E117-94CE-A656-F6942D37C388}"/>
              </a:ext>
            </a:extLst>
          </p:cNvPr>
          <p:cNvSpPr>
            <a:spLocks noGrp="1"/>
          </p:cNvSpPr>
          <p:nvPr>
            <p:ph type="title"/>
          </p:nvPr>
        </p:nvSpPr>
        <p:spPr/>
        <p:txBody>
          <a:bodyPr/>
          <a:lstStyle/>
          <a:p>
            <a:r>
              <a:rPr lang="en-IN" dirty="0"/>
              <a:t>Main Components of Exception Handling in C#</a:t>
            </a:r>
            <a:endParaRPr lang="en-US" dirty="0"/>
          </a:p>
        </p:txBody>
      </p:sp>
      <p:sp>
        <p:nvSpPr>
          <p:cNvPr id="3" name="Text Placeholder 2">
            <a:extLst>
              <a:ext uri="{FF2B5EF4-FFF2-40B4-BE49-F238E27FC236}">
                <a16:creationId xmlns:a16="http://schemas.microsoft.com/office/drawing/2014/main" id="{0E539FD7-9796-0F65-16C8-8FFF73C7BB12}"/>
              </a:ext>
            </a:extLst>
          </p:cNvPr>
          <p:cNvSpPr>
            <a:spLocks noGrp="1"/>
          </p:cNvSpPr>
          <p:nvPr>
            <p:ph type="body" idx="1"/>
          </p:nvPr>
        </p:nvSpPr>
        <p:spPr/>
        <p:txBody>
          <a:bodyPr>
            <a:noAutofit/>
          </a:bodyPr>
          <a:lstStyle/>
          <a:p>
            <a:pPr marL="139700" indent="0">
              <a:buNone/>
            </a:pPr>
            <a:r>
              <a:rPr lang="en-US" sz="1500" dirty="0">
                <a:latin typeface="Calibri" panose="020F0502020204030204" pitchFamily="34" charset="0"/>
                <a:ea typeface="Calibri" panose="020F0502020204030204" pitchFamily="34" charset="0"/>
                <a:cs typeface="Calibri" panose="020F0502020204030204" pitchFamily="34" charset="0"/>
              </a:rPr>
              <a:t>1.</a:t>
            </a:r>
            <a:r>
              <a:rPr lang="en-IN" sz="1500" b="1" dirty="0">
                <a:latin typeface="Calibri" panose="020F0502020204030204" pitchFamily="34" charset="0"/>
                <a:ea typeface="Calibri" panose="020F0502020204030204" pitchFamily="34" charset="0"/>
                <a:cs typeface="Calibri" panose="020F0502020204030204" pitchFamily="34" charset="0"/>
              </a:rPr>
              <a:t> try block</a:t>
            </a:r>
          </a:p>
          <a:p>
            <a:pPr lvl="1"/>
            <a:r>
              <a:rPr lang="en-IN" dirty="0">
                <a:latin typeface="Calibri" panose="020F0502020204030204" pitchFamily="34" charset="0"/>
                <a:ea typeface="Calibri" panose="020F0502020204030204" pitchFamily="34" charset="0"/>
                <a:cs typeface="Calibri" panose="020F0502020204030204" pitchFamily="34" charset="0"/>
              </a:rPr>
              <a:t>The try block encloses the section of code that might generate an exception.</a:t>
            </a:r>
          </a:p>
          <a:p>
            <a:pPr lvl="1"/>
            <a:r>
              <a:rPr lang="en-IN" dirty="0">
                <a:latin typeface="Calibri" panose="020F0502020204030204" pitchFamily="34" charset="0"/>
                <a:ea typeface="Calibri" panose="020F0502020204030204" pitchFamily="34" charset="0"/>
                <a:cs typeface="Calibri" panose="020F0502020204030204" pitchFamily="34" charset="0"/>
              </a:rPr>
              <a:t>If an exception occurs inside this block, the control is immediately transferred to the corresponding catch block.</a:t>
            </a:r>
          </a:p>
          <a:p>
            <a:pPr marL="139700" indent="0">
              <a:buNone/>
            </a:pPr>
            <a:r>
              <a:rPr lang="en-IN" sz="1500" b="1" dirty="0">
                <a:latin typeface="Calibri" panose="020F0502020204030204" pitchFamily="34" charset="0"/>
                <a:ea typeface="Calibri" panose="020F0502020204030204" pitchFamily="34" charset="0"/>
                <a:cs typeface="Calibri" panose="020F0502020204030204" pitchFamily="34" charset="0"/>
              </a:rPr>
              <a:t>2.catch block</a:t>
            </a:r>
          </a:p>
          <a:p>
            <a:pPr lvl="1"/>
            <a:r>
              <a:rPr lang="en-IN" dirty="0">
                <a:latin typeface="Calibri" panose="020F0502020204030204" pitchFamily="34" charset="0"/>
                <a:ea typeface="Calibri" panose="020F0502020204030204" pitchFamily="34" charset="0"/>
                <a:cs typeface="Calibri" panose="020F0502020204030204" pitchFamily="34" charset="0"/>
              </a:rPr>
              <a:t>The catch block follows a try block and handles specific types of exceptions.</a:t>
            </a:r>
          </a:p>
          <a:p>
            <a:pPr lvl="1"/>
            <a:r>
              <a:rPr lang="en-IN" dirty="0">
                <a:latin typeface="Calibri" panose="020F0502020204030204" pitchFamily="34" charset="0"/>
                <a:ea typeface="Calibri" panose="020F0502020204030204" pitchFamily="34" charset="0"/>
                <a:cs typeface="Calibri" panose="020F0502020204030204" pitchFamily="34" charset="0"/>
              </a:rPr>
              <a:t>Multiple catch blocks can be used to handle different types of errors.</a:t>
            </a:r>
          </a:p>
          <a:p>
            <a:pPr lvl="1"/>
            <a:r>
              <a:rPr lang="en-IN" dirty="0">
                <a:latin typeface="Calibri" panose="020F0502020204030204" pitchFamily="34" charset="0"/>
                <a:ea typeface="Calibri" panose="020F0502020204030204" pitchFamily="34" charset="0"/>
                <a:cs typeface="Calibri" panose="020F0502020204030204" pitchFamily="34" charset="0"/>
              </a:rPr>
              <a:t>A general catch (Exception ex) block can be used to handle any unhandled exception.</a:t>
            </a:r>
          </a:p>
          <a:p>
            <a:pPr lvl="1"/>
            <a:r>
              <a:rPr lang="en-IN" dirty="0">
                <a:latin typeface="Calibri" panose="020F0502020204030204" pitchFamily="34" charset="0"/>
                <a:ea typeface="Calibri" panose="020F0502020204030204" pitchFamily="34" charset="0"/>
                <a:cs typeface="Calibri" panose="020F0502020204030204" pitchFamily="34" charset="0"/>
              </a:rPr>
              <a:t>Inside the catch block, you can:</a:t>
            </a:r>
          </a:p>
          <a:p>
            <a:pPr lvl="2"/>
            <a:r>
              <a:rPr lang="en-IN" sz="1500" dirty="0">
                <a:latin typeface="Calibri" panose="020F0502020204030204" pitchFamily="34" charset="0"/>
                <a:ea typeface="Calibri" panose="020F0502020204030204" pitchFamily="34" charset="0"/>
                <a:cs typeface="Calibri" panose="020F0502020204030204" pitchFamily="34" charset="0"/>
              </a:rPr>
              <a:t>Log the error</a:t>
            </a:r>
          </a:p>
          <a:p>
            <a:pPr lvl="2"/>
            <a:r>
              <a:rPr lang="en-IN" sz="1500" dirty="0">
                <a:latin typeface="Calibri" panose="020F0502020204030204" pitchFamily="34" charset="0"/>
                <a:ea typeface="Calibri" panose="020F0502020204030204" pitchFamily="34" charset="0"/>
                <a:cs typeface="Calibri" panose="020F0502020204030204" pitchFamily="34" charset="0"/>
              </a:rPr>
              <a:t>Display a user-friendly message</a:t>
            </a:r>
          </a:p>
          <a:p>
            <a:pPr lvl="2"/>
            <a:r>
              <a:rPr lang="en-IN" sz="1500" dirty="0">
                <a:latin typeface="Calibri" panose="020F0502020204030204" pitchFamily="34" charset="0"/>
                <a:ea typeface="Calibri" panose="020F0502020204030204" pitchFamily="34" charset="0"/>
                <a:cs typeface="Calibri" panose="020F0502020204030204" pitchFamily="34" charset="0"/>
              </a:rPr>
              <a:t>Attempt to recover or continue execution safely</a:t>
            </a:r>
          </a:p>
          <a:p>
            <a:pPr marL="139700" indent="0">
              <a:buNone/>
            </a:pP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572553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B2F88-8768-2645-EDC6-DB6A5673F856}"/>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B6396E4D-381C-9838-E413-814DE3E09897}"/>
              </a:ext>
            </a:extLst>
          </p:cNvPr>
          <p:cNvSpPr>
            <a:spLocks noGrp="1"/>
          </p:cNvSpPr>
          <p:nvPr>
            <p:ph type="body" idx="1"/>
          </p:nvPr>
        </p:nvSpPr>
        <p:spPr/>
        <p:txBody>
          <a:bodyPr>
            <a:normAutofit/>
          </a:bodyPr>
          <a:lstStyle/>
          <a:p>
            <a:pPr marL="139700" indent="0">
              <a:buNone/>
            </a:pPr>
            <a:r>
              <a:rPr lang="en-IN" sz="1500" b="1" dirty="0">
                <a:latin typeface="Calibri" panose="020F0502020204030204" pitchFamily="34" charset="0"/>
                <a:ea typeface="Calibri" panose="020F0502020204030204" pitchFamily="34" charset="0"/>
                <a:cs typeface="Calibri" panose="020F0502020204030204" pitchFamily="34" charset="0"/>
              </a:rPr>
              <a:t>3.finally block</a:t>
            </a:r>
          </a:p>
          <a:p>
            <a:pPr lvl="1"/>
            <a:r>
              <a:rPr lang="en-IN" dirty="0">
                <a:latin typeface="Calibri" panose="020F0502020204030204" pitchFamily="34" charset="0"/>
                <a:ea typeface="Calibri" panose="020F0502020204030204" pitchFamily="34" charset="0"/>
                <a:cs typeface="Calibri" panose="020F0502020204030204" pitchFamily="34" charset="0"/>
              </a:rPr>
              <a:t>The finally block is </a:t>
            </a:r>
            <a:r>
              <a:rPr lang="en-IN" b="1" dirty="0">
                <a:latin typeface="Calibri" panose="020F0502020204030204" pitchFamily="34" charset="0"/>
                <a:ea typeface="Calibri" panose="020F0502020204030204" pitchFamily="34" charset="0"/>
                <a:cs typeface="Calibri" panose="020F0502020204030204" pitchFamily="34" charset="0"/>
              </a:rPr>
              <a:t>optional</a:t>
            </a:r>
            <a:r>
              <a:rPr lang="en-IN" dirty="0">
                <a:latin typeface="Calibri" panose="020F0502020204030204" pitchFamily="34" charset="0"/>
                <a:ea typeface="Calibri" panose="020F0502020204030204" pitchFamily="34" charset="0"/>
                <a:cs typeface="Calibri" panose="020F0502020204030204" pitchFamily="34" charset="0"/>
              </a:rPr>
              <a:t> but </a:t>
            </a:r>
            <a:r>
              <a:rPr lang="en-IN" b="1" dirty="0">
                <a:latin typeface="Calibri" panose="020F0502020204030204" pitchFamily="34" charset="0"/>
                <a:ea typeface="Calibri" panose="020F0502020204030204" pitchFamily="34" charset="0"/>
                <a:cs typeface="Calibri" panose="020F0502020204030204" pitchFamily="34" charset="0"/>
              </a:rPr>
              <a:t>always executes</a:t>
            </a:r>
            <a:r>
              <a:rPr lang="en-IN" dirty="0">
                <a:latin typeface="Calibri" panose="020F0502020204030204" pitchFamily="34" charset="0"/>
                <a:ea typeface="Calibri" panose="020F0502020204030204" pitchFamily="34" charset="0"/>
                <a:cs typeface="Calibri" panose="020F0502020204030204" pitchFamily="34" charset="0"/>
              </a:rPr>
              <a:t>, whether an exception occurs or not.</a:t>
            </a:r>
          </a:p>
          <a:p>
            <a:pPr lvl="1"/>
            <a:r>
              <a:rPr lang="en-IN" dirty="0">
                <a:latin typeface="Calibri" panose="020F0502020204030204" pitchFamily="34" charset="0"/>
                <a:ea typeface="Calibri" panose="020F0502020204030204" pitchFamily="34" charset="0"/>
                <a:cs typeface="Calibri" panose="020F0502020204030204" pitchFamily="34" charset="0"/>
              </a:rPr>
              <a:t>It is mainly used for </a:t>
            </a:r>
            <a:r>
              <a:rPr lang="en-IN" b="1" dirty="0">
                <a:latin typeface="Calibri" panose="020F0502020204030204" pitchFamily="34" charset="0"/>
                <a:ea typeface="Calibri" panose="020F0502020204030204" pitchFamily="34" charset="0"/>
                <a:cs typeface="Calibri" panose="020F0502020204030204" pitchFamily="34" charset="0"/>
              </a:rPr>
              <a:t>cleanup operations</a:t>
            </a:r>
            <a:r>
              <a:rPr lang="en-IN" dirty="0">
                <a:latin typeface="Calibri" panose="020F0502020204030204" pitchFamily="34" charset="0"/>
                <a:ea typeface="Calibri" panose="020F0502020204030204" pitchFamily="34" charset="0"/>
                <a:cs typeface="Calibri" panose="020F0502020204030204" pitchFamily="34" charset="0"/>
              </a:rPr>
              <a:t>, such as:</a:t>
            </a:r>
          </a:p>
          <a:p>
            <a:pPr lvl="2"/>
            <a:r>
              <a:rPr lang="en-IN" sz="1500" dirty="0">
                <a:latin typeface="Calibri" panose="020F0502020204030204" pitchFamily="34" charset="0"/>
                <a:ea typeface="Calibri" panose="020F0502020204030204" pitchFamily="34" charset="0"/>
                <a:cs typeface="Calibri" panose="020F0502020204030204" pitchFamily="34" charset="0"/>
              </a:rPr>
              <a:t>Closing files</a:t>
            </a:r>
          </a:p>
          <a:p>
            <a:pPr lvl="2"/>
            <a:r>
              <a:rPr lang="en-IN" sz="1500" dirty="0">
                <a:latin typeface="Calibri" panose="020F0502020204030204" pitchFamily="34" charset="0"/>
                <a:ea typeface="Calibri" panose="020F0502020204030204" pitchFamily="34" charset="0"/>
                <a:cs typeface="Calibri" panose="020F0502020204030204" pitchFamily="34" charset="0"/>
              </a:rPr>
              <a:t>Releasing memory or database connections</a:t>
            </a:r>
          </a:p>
          <a:p>
            <a:pPr lvl="2"/>
            <a:r>
              <a:rPr lang="en-IN" sz="1500" dirty="0">
                <a:latin typeface="Calibri" panose="020F0502020204030204" pitchFamily="34" charset="0"/>
                <a:ea typeface="Calibri" panose="020F0502020204030204" pitchFamily="34" charset="0"/>
                <a:cs typeface="Calibri" panose="020F0502020204030204" pitchFamily="34" charset="0"/>
              </a:rPr>
              <a:t>Freeing any resources used in the try block</a:t>
            </a:r>
          </a:p>
          <a:p>
            <a:pPr marL="139700" indent="0">
              <a:buNone/>
            </a:pPr>
            <a:r>
              <a:rPr lang="en-IN" sz="1500" b="1" dirty="0">
                <a:latin typeface="Calibri" panose="020F0502020204030204" pitchFamily="34" charset="0"/>
                <a:ea typeface="Calibri" panose="020F0502020204030204" pitchFamily="34" charset="0"/>
                <a:cs typeface="Calibri" panose="020F0502020204030204" pitchFamily="34" charset="0"/>
              </a:rPr>
              <a:t>4.throw keyword</a:t>
            </a:r>
          </a:p>
          <a:p>
            <a:pPr lvl="1"/>
            <a:r>
              <a:rPr lang="en-IN" dirty="0">
                <a:latin typeface="Calibri" panose="020F0502020204030204" pitchFamily="34" charset="0"/>
                <a:ea typeface="Calibri" panose="020F0502020204030204" pitchFamily="34" charset="0"/>
                <a:cs typeface="Calibri" panose="020F0502020204030204" pitchFamily="34" charset="0"/>
              </a:rPr>
              <a:t>The throw keyword is used to </a:t>
            </a:r>
            <a:r>
              <a:rPr lang="en-IN" b="1" dirty="0">
                <a:latin typeface="Calibri" panose="020F0502020204030204" pitchFamily="34" charset="0"/>
                <a:ea typeface="Calibri" panose="020F0502020204030204" pitchFamily="34" charset="0"/>
                <a:cs typeface="Calibri" panose="020F0502020204030204" pitchFamily="34" charset="0"/>
              </a:rPr>
              <a:t>manually raise an exception</a:t>
            </a:r>
            <a:r>
              <a:rPr lang="en-IN" dirty="0">
                <a:latin typeface="Calibri" panose="020F0502020204030204" pitchFamily="34" charset="0"/>
                <a:ea typeface="Calibri" panose="020F0502020204030204" pitchFamily="34" charset="0"/>
                <a:cs typeface="Calibri" panose="020F0502020204030204" pitchFamily="34" charset="0"/>
              </a:rPr>
              <a:t>.</a:t>
            </a:r>
          </a:p>
          <a:p>
            <a:pPr lvl="1"/>
            <a:r>
              <a:rPr lang="en-IN" dirty="0">
                <a:latin typeface="Calibri" panose="020F0502020204030204" pitchFamily="34" charset="0"/>
                <a:ea typeface="Calibri" panose="020F0502020204030204" pitchFamily="34" charset="0"/>
                <a:cs typeface="Calibri" panose="020F0502020204030204" pitchFamily="34" charset="0"/>
              </a:rPr>
              <a:t>It can throw both </a:t>
            </a:r>
            <a:r>
              <a:rPr lang="en-IN" b="1" dirty="0">
                <a:latin typeface="Calibri" panose="020F0502020204030204" pitchFamily="34" charset="0"/>
                <a:ea typeface="Calibri" panose="020F0502020204030204" pitchFamily="34" charset="0"/>
                <a:cs typeface="Calibri" panose="020F0502020204030204" pitchFamily="34" charset="0"/>
              </a:rPr>
              <a:t>built-in exceptions</a:t>
            </a:r>
            <a:r>
              <a:rPr lang="en-IN" dirty="0">
                <a:latin typeface="Calibri" panose="020F0502020204030204" pitchFamily="34" charset="0"/>
                <a:ea typeface="Calibri" panose="020F0502020204030204" pitchFamily="34" charset="0"/>
                <a:cs typeface="Calibri" panose="020F0502020204030204" pitchFamily="34" charset="0"/>
              </a:rPr>
              <a:t> (like </a:t>
            </a:r>
            <a:r>
              <a:rPr lang="en-IN" dirty="0" err="1">
                <a:latin typeface="Calibri" panose="020F0502020204030204" pitchFamily="34" charset="0"/>
                <a:ea typeface="Calibri" panose="020F0502020204030204" pitchFamily="34" charset="0"/>
                <a:cs typeface="Calibri" panose="020F0502020204030204" pitchFamily="34" charset="0"/>
              </a:rPr>
              <a:t>ArgumentOutOfRangeException</a:t>
            </a:r>
            <a:r>
              <a:rPr lang="en-IN" dirty="0">
                <a:latin typeface="Calibri" panose="020F0502020204030204" pitchFamily="34" charset="0"/>
                <a:ea typeface="Calibri" panose="020F0502020204030204" pitchFamily="34" charset="0"/>
                <a:cs typeface="Calibri" panose="020F0502020204030204" pitchFamily="34" charset="0"/>
              </a:rPr>
              <a:t>) and </a:t>
            </a:r>
            <a:r>
              <a:rPr lang="en-IN" b="1" dirty="0">
                <a:latin typeface="Calibri" panose="020F0502020204030204" pitchFamily="34" charset="0"/>
                <a:ea typeface="Calibri" panose="020F0502020204030204" pitchFamily="34" charset="0"/>
                <a:cs typeface="Calibri" panose="020F0502020204030204" pitchFamily="34" charset="0"/>
              </a:rPr>
              <a:t>custom exceptions</a:t>
            </a:r>
            <a:r>
              <a:rPr lang="en-IN" dirty="0">
                <a:latin typeface="Calibri" panose="020F0502020204030204" pitchFamily="34" charset="0"/>
                <a:ea typeface="Calibri" panose="020F0502020204030204" pitchFamily="34" charset="0"/>
                <a:cs typeface="Calibri" panose="020F0502020204030204" pitchFamily="34" charset="0"/>
              </a:rPr>
              <a:t> created by the programmer.</a:t>
            </a:r>
          </a:p>
          <a:p>
            <a:pPr lvl="1"/>
            <a:r>
              <a:rPr lang="en-IN" dirty="0">
                <a:latin typeface="Calibri" panose="020F0502020204030204" pitchFamily="34" charset="0"/>
                <a:ea typeface="Calibri" panose="020F0502020204030204" pitchFamily="34" charset="0"/>
                <a:cs typeface="Calibri" panose="020F0502020204030204" pitchFamily="34" charset="0"/>
              </a:rPr>
              <a:t>It helps signal that something went wrong during execution.</a:t>
            </a:r>
          </a:p>
          <a:p>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206523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564250-2D71-01CF-7870-F43316FAE3E8}"/>
              </a:ext>
            </a:extLst>
          </p:cNvPr>
          <p:cNvSpPr>
            <a:spLocks noGrp="1"/>
          </p:cNvSpPr>
          <p:nvPr>
            <p:ph type="ctrTitle"/>
          </p:nvPr>
        </p:nvSpPr>
        <p:spPr/>
        <p:txBody>
          <a:bodyPr/>
          <a:lstStyle/>
          <a:p>
            <a:pPr algn="r"/>
            <a:r>
              <a:rPr lang="en-US" dirty="0"/>
              <a:t>THREAD &amp; MULTITHREADING</a:t>
            </a:r>
          </a:p>
        </p:txBody>
      </p:sp>
      <p:sp>
        <p:nvSpPr>
          <p:cNvPr id="5" name="Subtitle 4">
            <a:extLst>
              <a:ext uri="{FF2B5EF4-FFF2-40B4-BE49-F238E27FC236}">
                <a16:creationId xmlns:a16="http://schemas.microsoft.com/office/drawing/2014/main" id="{20A797AC-E3FE-6227-C665-1973383A33D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1349176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22C0F-A376-096E-1086-38A2DAAFEF27}"/>
              </a:ext>
            </a:extLst>
          </p:cNvPr>
          <p:cNvSpPr>
            <a:spLocks noGrp="1"/>
          </p:cNvSpPr>
          <p:nvPr>
            <p:ph type="title"/>
          </p:nvPr>
        </p:nvSpPr>
        <p:spPr/>
        <p:txBody>
          <a:bodyPr/>
          <a:lstStyle/>
          <a:p>
            <a:r>
              <a:rPr lang="en-US" dirty="0"/>
              <a:t>THREAD</a:t>
            </a:r>
          </a:p>
        </p:txBody>
      </p:sp>
      <p:sp>
        <p:nvSpPr>
          <p:cNvPr id="3" name="Text Placeholder 2">
            <a:extLst>
              <a:ext uri="{FF2B5EF4-FFF2-40B4-BE49-F238E27FC236}">
                <a16:creationId xmlns:a16="http://schemas.microsoft.com/office/drawing/2014/main" id="{B9BEB96F-5734-EB4F-2F10-CA48F7A91120}"/>
              </a:ext>
            </a:extLst>
          </p:cNvPr>
          <p:cNvSpPr>
            <a:spLocks noGrp="1"/>
          </p:cNvSpPr>
          <p:nvPr>
            <p:ph type="body" idx="1"/>
          </p:nvPr>
        </p:nvSpPr>
        <p:spPr/>
        <p:txBody>
          <a:bodyPr>
            <a:normAutofit lnSpcReduction="10000"/>
          </a:bodyPr>
          <a:lstStyle/>
          <a:p>
            <a:r>
              <a:rPr lang="en-IN" dirty="0">
                <a:latin typeface="Calibri" panose="020F0502020204030204" pitchFamily="34" charset="0"/>
                <a:ea typeface="Calibri" panose="020F0502020204030204" pitchFamily="34" charset="0"/>
                <a:cs typeface="Calibri" panose="020F0502020204030204" pitchFamily="34" charset="0"/>
              </a:rPr>
              <a:t>A </a:t>
            </a:r>
            <a:r>
              <a:rPr lang="en-IN" b="1" dirty="0">
                <a:latin typeface="Calibri" panose="020F0502020204030204" pitchFamily="34" charset="0"/>
                <a:ea typeface="Calibri" panose="020F0502020204030204" pitchFamily="34" charset="0"/>
                <a:cs typeface="Calibri" panose="020F0502020204030204" pitchFamily="34" charset="0"/>
              </a:rPr>
              <a:t>thread</a:t>
            </a:r>
            <a:r>
              <a:rPr lang="en-IN" dirty="0">
                <a:latin typeface="Calibri" panose="020F0502020204030204" pitchFamily="34" charset="0"/>
                <a:ea typeface="Calibri" panose="020F0502020204030204" pitchFamily="34" charset="0"/>
                <a:cs typeface="Calibri" panose="020F0502020204030204" pitchFamily="34" charset="0"/>
              </a:rPr>
              <a:t> represents an </a:t>
            </a:r>
            <a:r>
              <a:rPr lang="en-IN" b="1" dirty="0">
                <a:latin typeface="Calibri" panose="020F0502020204030204" pitchFamily="34" charset="0"/>
                <a:ea typeface="Calibri" panose="020F0502020204030204" pitchFamily="34" charset="0"/>
                <a:cs typeface="Calibri" panose="020F0502020204030204" pitchFamily="34" charset="0"/>
              </a:rPr>
              <a:t>independent path of execution</a:t>
            </a:r>
            <a:r>
              <a:rPr lang="en-IN" dirty="0">
                <a:latin typeface="Calibri" panose="020F0502020204030204" pitchFamily="34" charset="0"/>
                <a:ea typeface="Calibri" panose="020F0502020204030204" pitchFamily="34" charset="0"/>
                <a:cs typeface="Calibri" panose="020F0502020204030204" pitchFamily="34" charset="0"/>
              </a:rPr>
              <a:t> within a program.</a:t>
            </a:r>
          </a:p>
          <a:p>
            <a:r>
              <a:rPr lang="en-IN" dirty="0">
                <a:latin typeface="Calibri" panose="020F0502020204030204" pitchFamily="34" charset="0"/>
                <a:ea typeface="Calibri" panose="020F0502020204030204" pitchFamily="34" charset="0"/>
                <a:cs typeface="Calibri" panose="020F0502020204030204" pitchFamily="34" charset="0"/>
              </a:rPr>
              <a:t>This means that different parts of a program can execute </a:t>
            </a:r>
            <a:r>
              <a:rPr lang="en-IN" b="1" dirty="0">
                <a:latin typeface="Calibri" panose="020F0502020204030204" pitchFamily="34" charset="0"/>
                <a:ea typeface="Calibri" panose="020F0502020204030204" pitchFamily="34" charset="0"/>
                <a:cs typeface="Calibri" panose="020F0502020204030204" pitchFamily="34" charset="0"/>
              </a:rPr>
              <a:t>simultaneously</a:t>
            </a:r>
            <a:r>
              <a:rPr lang="en-IN" dirty="0">
                <a:latin typeface="Calibri" panose="020F0502020204030204" pitchFamily="34" charset="0"/>
                <a:ea typeface="Calibri" panose="020F0502020204030204" pitchFamily="34" charset="0"/>
                <a:cs typeface="Calibri" panose="020F0502020204030204" pitchFamily="34" charset="0"/>
              </a:rPr>
              <a:t> instead of waiting for one another to finish.</a:t>
            </a:r>
          </a:p>
          <a:p>
            <a:r>
              <a:rPr lang="en-IN" dirty="0">
                <a:latin typeface="Calibri" panose="020F0502020204030204" pitchFamily="34" charset="0"/>
                <a:ea typeface="Calibri" panose="020F0502020204030204" pitchFamily="34" charset="0"/>
                <a:cs typeface="Calibri" panose="020F0502020204030204" pitchFamily="34" charset="0"/>
              </a:rPr>
              <a:t>Each thread runs its own sequence of instructions and can work alongside other threads within the same process.</a:t>
            </a:r>
          </a:p>
          <a:p>
            <a:pPr marL="139700" indent="0">
              <a:buNone/>
            </a:pPr>
            <a:r>
              <a:rPr lang="en-IN" b="1" dirty="0">
                <a:latin typeface="Calibri" panose="020F0502020204030204" pitchFamily="34" charset="0"/>
                <a:ea typeface="Calibri" panose="020F0502020204030204" pitchFamily="34" charset="0"/>
                <a:cs typeface="Calibri" panose="020F0502020204030204" pitchFamily="34" charset="0"/>
              </a:rPr>
              <a:t>Allows Multiple Tasks to Run Concurrently</a:t>
            </a:r>
          </a:p>
          <a:p>
            <a:pPr lvl="1"/>
            <a:r>
              <a:rPr lang="en-IN" dirty="0">
                <a:latin typeface="Calibri" panose="020F0502020204030204" pitchFamily="34" charset="0"/>
                <a:ea typeface="Calibri" panose="020F0502020204030204" pitchFamily="34" charset="0"/>
                <a:cs typeface="Calibri" panose="020F0502020204030204" pitchFamily="34" charset="0"/>
              </a:rPr>
              <a:t>Normally, a program executes one instruction at a time in a single thread (sequentially).</a:t>
            </a:r>
          </a:p>
          <a:p>
            <a:pPr lvl="1"/>
            <a:r>
              <a:rPr lang="en-IN" dirty="0">
                <a:latin typeface="Calibri" panose="020F0502020204030204" pitchFamily="34" charset="0"/>
                <a:ea typeface="Calibri" panose="020F0502020204030204" pitchFamily="34" charset="0"/>
                <a:cs typeface="Calibri" panose="020F0502020204030204" pitchFamily="34" charset="0"/>
              </a:rPr>
              <a:t>With multiple threads, the program can perform several operations at the same time.</a:t>
            </a:r>
          </a:p>
          <a:p>
            <a:pPr lvl="1"/>
            <a:r>
              <a:rPr lang="en-IN" dirty="0">
                <a:latin typeface="Calibri" panose="020F0502020204030204" pitchFamily="34" charset="0"/>
                <a:ea typeface="Calibri" panose="020F0502020204030204" pitchFamily="34" charset="0"/>
                <a:cs typeface="Calibri" panose="020F0502020204030204" pitchFamily="34" charset="0"/>
              </a:rPr>
              <a:t>For example, one thread can handle user input while another processes data or downloads files in the background.</a:t>
            </a:r>
          </a:p>
          <a:p>
            <a:pPr lvl="1"/>
            <a:r>
              <a:rPr lang="en-IN" dirty="0">
                <a:latin typeface="Calibri" panose="020F0502020204030204" pitchFamily="34" charset="0"/>
                <a:ea typeface="Calibri" panose="020F0502020204030204" pitchFamily="34" charset="0"/>
                <a:cs typeface="Calibri" panose="020F0502020204030204" pitchFamily="34" charset="0"/>
              </a:rPr>
              <a:t>This concurrent execution makes applications more efficient and responsive.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481422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382871-EF60-6E9B-D731-B4140A86C845}"/>
              </a:ext>
            </a:extLst>
          </p:cNvPr>
          <p:cNvSpPr>
            <a:spLocks noGrp="1"/>
          </p:cNvSpPr>
          <p:nvPr>
            <p:ph type="body" idx="1"/>
          </p:nvPr>
        </p:nvSpPr>
        <p:spPr>
          <a:xfrm>
            <a:off x="514350" y="1155267"/>
            <a:ext cx="8115300" cy="3662060"/>
          </a:xfrm>
        </p:spPr>
        <p:txBody>
          <a:bodyPr>
            <a:noAutofit/>
          </a:bodyPr>
          <a:lstStyle/>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Improves Performance and Responsiveness</a:t>
            </a:r>
          </a:p>
          <a:p>
            <a:pPr lvl="1"/>
            <a:r>
              <a:rPr lang="en-IN" sz="1600" dirty="0">
                <a:latin typeface="Calibri" panose="020F0502020204030204" pitchFamily="34" charset="0"/>
                <a:ea typeface="Calibri" panose="020F0502020204030204" pitchFamily="34" charset="0"/>
                <a:cs typeface="Calibri" panose="020F0502020204030204" pitchFamily="34" charset="0"/>
              </a:rPr>
              <a:t>Threads prevent the program from </a:t>
            </a:r>
            <a:r>
              <a:rPr lang="en-IN" sz="1600" b="1" dirty="0">
                <a:latin typeface="Calibri" panose="020F0502020204030204" pitchFamily="34" charset="0"/>
                <a:ea typeface="Calibri" panose="020F0502020204030204" pitchFamily="34" charset="0"/>
                <a:cs typeface="Calibri" panose="020F0502020204030204" pitchFamily="34" charset="0"/>
              </a:rPr>
              <a:t>freezing</a:t>
            </a:r>
            <a:r>
              <a:rPr lang="en-IN" sz="1600" dirty="0">
                <a:latin typeface="Calibri" panose="020F0502020204030204" pitchFamily="34" charset="0"/>
                <a:ea typeface="Calibri" panose="020F0502020204030204" pitchFamily="34" charset="0"/>
                <a:cs typeface="Calibri" panose="020F0502020204030204" pitchFamily="34" charset="0"/>
              </a:rPr>
              <a:t> during long operations.</a:t>
            </a:r>
          </a:p>
          <a:p>
            <a:pPr lvl="1"/>
            <a:r>
              <a:rPr lang="en-IN" sz="1600" dirty="0">
                <a:latin typeface="Calibri" panose="020F0502020204030204" pitchFamily="34" charset="0"/>
                <a:ea typeface="Calibri" panose="020F0502020204030204" pitchFamily="34" charset="0"/>
                <a:cs typeface="Calibri" panose="020F0502020204030204" pitchFamily="34" charset="0"/>
              </a:rPr>
              <a:t>Heavy work (like file download or computation) can run in a </a:t>
            </a:r>
            <a:r>
              <a:rPr lang="en-IN" sz="1600" b="1" dirty="0">
                <a:latin typeface="Calibri" panose="020F0502020204030204" pitchFamily="34" charset="0"/>
                <a:ea typeface="Calibri" panose="020F0502020204030204" pitchFamily="34" charset="0"/>
                <a:cs typeface="Calibri" panose="020F0502020204030204" pitchFamily="34" charset="0"/>
              </a:rPr>
              <a:t>background thread</a:t>
            </a:r>
            <a:r>
              <a:rPr lang="en-IN" sz="1600" dirty="0">
                <a:latin typeface="Calibri" panose="020F0502020204030204" pitchFamily="34" charset="0"/>
                <a:ea typeface="Calibri" panose="020F0502020204030204" pitchFamily="34" charset="0"/>
                <a:cs typeface="Calibri" panose="020F0502020204030204" pitchFamily="34" charset="0"/>
              </a:rPr>
              <a:t> while the main thread keeps responding to users.</a:t>
            </a:r>
          </a:p>
          <a:p>
            <a:pPr lvl="1"/>
            <a:r>
              <a:rPr lang="en-IN" sz="1600" dirty="0">
                <a:latin typeface="Calibri" panose="020F0502020204030204" pitchFamily="34" charset="0"/>
                <a:ea typeface="Calibri" panose="020F0502020204030204" pitchFamily="34" charset="0"/>
                <a:cs typeface="Calibri" panose="020F0502020204030204" pitchFamily="34" charset="0"/>
              </a:rPr>
              <a:t>This keeps applications </a:t>
            </a:r>
            <a:r>
              <a:rPr lang="en-IN" sz="1600" b="1" dirty="0">
                <a:latin typeface="Calibri" panose="020F0502020204030204" pitchFamily="34" charset="0"/>
                <a:ea typeface="Calibri" panose="020F0502020204030204" pitchFamily="34" charset="0"/>
                <a:cs typeface="Calibri" panose="020F0502020204030204" pitchFamily="34" charset="0"/>
              </a:rPr>
              <a:t>smooth and user-friendly</a:t>
            </a:r>
          </a:p>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Uses Multi-Core Processors Efficiently</a:t>
            </a:r>
          </a:p>
          <a:p>
            <a:pPr lvl="1"/>
            <a:r>
              <a:rPr lang="en-IN" sz="1600" dirty="0">
                <a:latin typeface="Calibri" panose="020F0502020204030204" pitchFamily="34" charset="0"/>
                <a:ea typeface="Calibri" panose="020F0502020204030204" pitchFamily="34" charset="0"/>
                <a:cs typeface="Calibri" panose="020F0502020204030204" pitchFamily="34" charset="0"/>
              </a:rPr>
              <a:t>Modern CPUs have </a:t>
            </a:r>
            <a:r>
              <a:rPr lang="en-IN" sz="1600" b="1" dirty="0">
                <a:latin typeface="Calibri" panose="020F0502020204030204" pitchFamily="34" charset="0"/>
                <a:ea typeface="Calibri" panose="020F0502020204030204" pitchFamily="34" charset="0"/>
                <a:cs typeface="Calibri" panose="020F0502020204030204" pitchFamily="34" charset="0"/>
              </a:rPr>
              <a:t>multiple cores</a:t>
            </a:r>
            <a:r>
              <a:rPr lang="en-IN" sz="1600" dirty="0">
                <a:latin typeface="Calibri" panose="020F0502020204030204" pitchFamily="34" charset="0"/>
                <a:ea typeface="Calibri" panose="020F0502020204030204" pitchFamily="34" charset="0"/>
                <a:cs typeface="Calibri" panose="020F0502020204030204" pitchFamily="34" charset="0"/>
              </a:rPr>
              <a:t>.</a:t>
            </a:r>
          </a:p>
          <a:p>
            <a:pPr lvl="1"/>
            <a:r>
              <a:rPr lang="en-IN" sz="1600" dirty="0">
                <a:latin typeface="Calibri" panose="020F0502020204030204" pitchFamily="34" charset="0"/>
                <a:ea typeface="Calibri" panose="020F0502020204030204" pitchFamily="34" charset="0"/>
                <a:cs typeface="Calibri" panose="020F0502020204030204" pitchFamily="34" charset="0"/>
              </a:rPr>
              <a:t>A single-threaded app uses only one core, leaving others idle.</a:t>
            </a:r>
          </a:p>
          <a:p>
            <a:pPr lvl="1"/>
            <a:r>
              <a:rPr lang="en-IN" sz="1600" dirty="0">
                <a:latin typeface="Calibri" panose="020F0502020204030204" pitchFamily="34" charset="0"/>
                <a:ea typeface="Calibri" panose="020F0502020204030204" pitchFamily="34" charset="0"/>
                <a:cs typeface="Calibri" panose="020F0502020204030204" pitchFamily="34" charset="0"/>
              </a:rPr>
              <a:t>Multithreaded programs distribute work across </a:t>
            </a:r>
            <a:r>
              <a:rPr lang="en-IN" sz="1600" b="1" dirty="0">
                <a:latin typeface="Calibri" panose="020F0502020204030204" pitchFamily="34" charset="0"/>
                <a:ea typeface="Calibri" panose="020F0502020204030204" pitchFamily="34" charset="0"/>
                <a:cs typeface="Calibri" panose="020F0502020204030204" pitchFamily="34" charset="0"/>
              </a:rPr>
              <a:t>multiple cores</a:t>
            </a:r>
            <a:r>
              <a:rPr lang="en-IN" sz="1600" dirty="0">
                <a:latin typeface="Calibri" panose="020F0502020204030204" pitchFamily="34" charset="0"/>
                <a:ea typeface="Calibri" panose="020F0502020204030204" pitchFamily="34" charset="0"/>
                <a:cs typeface="Calibri" panose="020F0502020204030204" pitchFamily="34" charset="0"/>
              </a:rPr>
              <a:t>, performing tasks </a:t>
            </a:r>
            <a:r>
              <a:rPr lang="en-IN" sz="1600" b="1" dirty="0">
                <a:latin typeface="Calibri" panose="020F0502020204030204" pitchFamily="34" charset="0"/>
                <a:ea typeface="Calibri" panose="020F0502020204030204" pitchFamily="34" charset="0"/>
                <a:cs typeface="Calibri" panose="020F0502020204030204" pitchFamily="34" charset="0"/>
              </a:rPr>
              <a:t>in parallel</a:t>
            </a:r>
            <a:r>
              <a:rPr lang="en-IN" sz="1600" dirty="0">
                <a:latin typeface="Calibri" panose="020F0502020204030204" pitchFamily="34" charset="0"/>
                <a:ea typeface="Calibri" panose="020F0502020204030204" pitchFamily="34" charset="0"/>
                <a:cs typeface="Calibri" panose="020F0502020204030204" pitchFamily="34" charset="0"/>
              </a:rPr>
              <a:t>.</a:t>
            </a:r>
          </a:p>
          <a:p>
            <a:pPr lvl="1"/>
            <a:r>
              <a:rPr lang="en-IN" sz="1600" dirty="0">
                <a:latin typeface="Calibri" panose="020F0502020204030204" pitchFamily="34" charset="0"/>
                <a:ea typeface="Calibri" panose="020F0502020204030204" pitchFamily="34" charset="0"/>
                <a:cs typeface="Calibri" panose="020F0502020204030204" pitchFamily="34" charset="0"/>
              </a:rPr>
              <a:t>This greatly improves </a:t>
            </a:r>
            <a:r>
              <a:rPr lang="en-IN" sz="1600" b="1" dirty="0">
                <a:latin typeface="Calibri" panose="020F0502020204030204" pitchFamily="34" charset="0"/>
                <a:ea typeface="Calibri" panose="020F0502020204030204" pitchFamily="34" charset="0"/>
                <a:cs typeface="Calibri" panose="020F0502020204030204" pitchFamily="34" charset="0"/>
              </a:rPr>
              <a:t>speed and throughput</a:t>
            </a:r>
            <a:r>
              <a:rPr lang="en-IN" sz="1600" dirty="0">
                <a:latin typeface="Calibri" panose="020F0502020204030204" pitchFamily="34" charset="0"/>
                <a:ea typeface="Calibri" panose="020F0502020204030204" pitchFamily="34" charset="0"/>
                <a:cs typeface="Calibri" panose="020F0502020204030204" pitchFamily="34" charset="0"/>
              </a:rPr>
              <a:t> for CPU-intensive tasks.</a:t>
            </a:r>
          </a:p>
          <a:p>
            <a:pPr marL="596900" lvl="1" indent="0">
              <a:buNone/>
            </a:pPr>
            <a:endParaRPr lang="en-IN" sz="1600" dirty="0">
              <a:latin typeface="Calibri" panose="020F0502020204030204" pitchFamily="34" charset="0"/>
              <a:ea typeface="Calibri" panose="020F0502020204030204" pitchFamily="34" charset="0"/>
              <a:cs typeface="Calibri" panose="020F0502020204030204" pitchFamily="34" charset="0"/>
            </a:endParaRP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064509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1EC9-DC64-197A-BEC6-92EDF01FB7E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2CF4472-83C9-872E-BB98-F72111EB2F9C}"/>
              </a:ext>
            </a:extLst>
          </p:cNvPr>
          <p:cNvSpPr>
            <a:spLocks noGrp="1"/>
          </p:cNvSpPr>
          <p:nvPr>
            <p:ph type="body" idx="1"/>
          </p:nvPr>
        </p:nvSpPr>
        <p:spPr/>
        <p:txBody>
          <a:bodyPr>
            <a:normAutofit/>
          </a:bodyPr>
          <a:lstStyle/>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Fundamental Concept of Multithreading</a:t>
            </a:r>
          </a:p>
          <a:p>
            <a:pPr lvl="1"/>
            <a:r>
              <a:rPr lang="en-IN" sz="1600" dirty="0">
                <a:latin typeface="Calibri" panose="020F0502020204030204" pitchFamily="34" charset="0"/>
                <a:ea typeface="Calibri" panose="020F0502020204030204" pitchFamily="34" charset="0"/>
                <a:cs typeface="Calibri" panose="020F0502020204030204" pitchFamily="34" charset="0"/>
              </a:rPr>
              <a:t>Threads are the </a:t>
            </a:r>
            <a:r>
              <a:rPr lang="en-IN" sz="1600" b="1" dirty="0">
                <a:latin typeface="Calibri" panose="020F0502020204030204" pitchFamily="34" charset="0"/>
                <a:ea typeface="Calibri" panose="020F0502020204030204" pitchFamily="34" charset="0"/>
                <a:cs typeface="Calibri" panose="020F0502020204030204" pitchFamily="34" charset="0"/>
              </a:rPr>
              <a:t>building blocks</a:t>
            </a:r>
            <a:r>
              <a:rPr lang="en-IN" sz="1600" dirty="0">
                <a:latin typeface="Calibri" panose="020F0502020204030204" pitchFamily="34" charset="0"/>
                <a:ea typeface="Calibri" panose="020F0502020204030204" pitchFamily="34" charset="0"/>
                <a:cs typeface="Calibri" panose="020F0502020204030204" pitchFamily="34" charset="0"/>
              </a:rPr>
              <a:t> of multithreading.</a:t>
            </a:r>
          </a:p>
          <a:p>
            <a:pPr lvl="1"/>
            <a:r>
              <a:rPr lang="en-IN" sz="1600" b="1" dirty="0">
                <a:latin typeface="Calibri" panose="020F0502020204030204" pitchFamily="34" charset="0"/>
                <a:ea typeface="Calibri" panose="020F0502020204030204" pitchFamily="34" charset="0"/>
                <a:cs typeface="Calibri" panose="020F0502020204030204" pitchFamily="34" charset="0"/>
              </a:rPr>
              <a:t>Multithreading</a:t>
            </a:r>
            <a:r>
              <a:rPr lang="en-IN" sz="1600" dirty="0">
                <a:latin typeface="Calibri" panose="020F0502020204030204" pitchFamily="34" charset="0"/>
                <a:ea typeface="Calibri" panose="020F0502020204030204" pitchFamily="34" charset="0"/>
                <a:cs typeface="Calibri" panose="020F0502020204030204" pitchFamily="34" charset="0"/>
              </a:rPr>
              <a:t> = using multiple threads at the same time.</a:t>
            </a:r>
          </a:p>
          <a:p>
            <a:pPr lvl="1"/>
            <a:r>
              <a:rPr lang="en-IN" sz="1600" dirty="0">
                <a:latin typeface="Calibri" panose="020F0502020204030204" pitchFamily="34" charset="0"/>
                <a:ea typeface="Calibri" panose="020F0502020204030204" pitchFamily="34" charset="0"/>
                <a:cs typeface="Calibri" panose="020F0502020204030204" pitchFamily="34" charset="0"/>
              </a:rPr>
              <a:t>Understanding threads helps in learning advanced models like:</a:t>
            </a:r>
          </a:p>
          <a:p>
            <a:pPr lvl="2"/>
            <a:r>
              <a:rPr lang="en-IN" sz="1600" b="1" dirty="0">
                <a:latin typeface="Calibri" panose="020F0502020204030204" pitchFamily="34" charset="0"/>
                <a:ea typeface="Calibri" panose="020F0502020204030204" pitchFamily="34" charset="0"/>
                <a:cs typeface="Calibri" panose="020F0502020204030204" pitchFamily="34" charset="0"/>
              </a:rPr>
              <a:t>Task Parallel Library (TPL)</a:t>
            </a:r>
            <a:endParaRPr lang="en-IN" sz="1600" dirty="0">
              <a:latin typeface="Calibri" panose="020F0502020204030204" pitchFamily="34" charset="0"/>
              <a:ea typeface="Calibri" panose="020F0502020204030204" pitchFamily="34" charset="0"/>
              <a:cs typeface="Calibri" panose="020F0502020204030204" pitchFamily="34" charset="0"/>
            </a:endParaRPr>
          </a:p>
          <a:p>
            <a:pPr lvl="2"/>
            <a:r>
              <a:rPr lang="en-IN" sz="1600" b="1" dirty="0">
                <a:latin typeface="Calibri" panose="020F0502020204030204" pitchFamily="34" charset="0"/>
                <a:ea typeface="Calibri" panose="020F0502020204030204" pitchFamily="34" charset="0"/>
                <a:cs typeface="Calibri" panose="020F0502020204030204" pitchFamily="34" charset="0"/>
              </a:rPr>
              <a:t>async/await</a:t>
            </a:r>
            <a:endParaRPr lang="en-IN" sz="1600" dirty="0">
              <a:latin typeface="Calibri" panose="020F0502020204030204" pitchFamily="34" charset="0"/>
              <a:ea typeface="Calibri" panose="020F0502020204030204" pitchFamily="34" charset="0"/>
              <a:cs typeface="Calibri" panose="020F0502020204030204" pitchFamily="34" charset="0"/>
            </a:endParaRPr>
          </a:p>
          <a:p>
            <a:pPr lvl="2"/>
            <a:r>
              <a:rPr lang="en-IN" sz="1600" b="1" dirty="0" err="1">
                <a:latin typeface="Calibri" panose="020F0502020204030204" pitchFamily="34" charset="0"/>
                <a:ea typeface="Calibri" panose="020F0502020204030204" pitchFamily="34" charset="0"/>
                <a:cs typeface="Calibri" panose="020F0502020204030204" pitchFamily="34" charset="0"/>
              </a:rPr>
              <a:t>Parallel.For</a:t>
            </a:r>
            <a:r>
              <a:rPr lang="en-IN" sz="1600" b="1" dirty="0">
                <a:latin typeface="Calibri" panose="020F0502020204030204" pitchFamily="34" charset="0"/>
                <a:ea typeface="Calibri" panose="020F0502020204030204" pitchFamily="34" charset="0"/>
                <a:cs typeface="Calibri" panose="020F0502020204030204" pitchFamily="34" charset="0"/>
              </a:rPr>
              <a:t> / </a:t>
            </a:r>
            <a:r>
              <a:rPr lang="en-IN" sz="1600" b="1" dirty="0" err="1">
                <a:latin typeface="Calibri" panose="020F0502020204030204" pitchFamily="34" charset="0"/>
                <a:ea typeface="Calibri" panose="020F0502020204030204" pitchFamily="34" charset="0"/>
                <a:cs typeface="Calibri" panose="020F0502020204030204" pitchFamily="34" charset="0"/>
              </a:rPr>
              <a:t>Parallel.ForEach</a:t>
            </a:r>
            <a:endParaRPr lang="en-IN" sz="1600" dirty="0">
              <a:latin typeface="Calibri" panose="020F0502020204030204" pitchFamily="34" charset="0"/>
              <a:ea typeface="Calibri" panose="020F0502020204030204" pitchFamily="34" charset="0"/>
              <a:cs typeface="Calibri" panose="020F0502020204030204" pitchFamily="34" charset="0"/>
            </a:endParaRPr>
          </a:p>
          <a:p>
            <a:pPr lvl="1"/>
            <a:r>
              <a:rPr lang="en-IN" sz="1600" dirty="0">
                <a:latin typeface="Calibri" panose="020F0502020204030204" pitchFamily="34" charset="0"/>
                <a:ea typeface="Calibri" panose="020F0502020204030204" pitchFamily="34" charset="0"/>
                <a:cs typeface="Calibri" panose="020F0502020204030204" pitchFamily="34" charset="0"/>
              </a:rPr>
              <a:t>Threads form the </a:t>
            </a:r>
            <a:r>
              <a:rPr lang="en-IN" sz="1600" b="1" dirty="0">
                <a:latin typeface="Calibri" panose="020F0502020204030204" pitchFamily="34" charset="0"/>
                <a:ea typeface="Calibri" panose="020F0502020204030204" pitchFamily="34" charset="0"/>
                <a:cs typeface="Calibri" panose="020F0502020204030204" pitchFamily="34" charset="0"/>
              </a:rPr>
              <a:t>foundation</a:t>
            </a:r>
            <a:r>
              <a:rPr lang="en-IN" sz="1600" dirty="0">
                <a:latin typeface="Calibri" panose="020F0502020204030204" pitchFamily="34" charset="0"/>
                <a:ea typeface="Calibri" panose="020F0502020204030204" pitchFamily="34" charset="0"/>
                <a:cs typeface="Calibri" panose="020F0502020204030204" pitchFamily="34" charset="0"/>
              </a:rPr>
              <a:t> for modern concurrent programming in C#.</a:t>
            </a:r>
          </a:p>
        </p:txBody>
      </p:sp>
    </p:spTree>
    <p:extLst>
      <p:ext uri="{BB962C8B-B14F-4D97-AF65-F5344CB8AC3E}">
        <p14:creationId xmlns:p14="http://schemas.microsoft.com/office/powerpoint/2010/main" val="42990465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8312-EB4A-B556-5557-E64014AF06D6}"/>
              </a:ext>
            </a:extLst>
          </p:cNvPr>
          <p:cNvSpPr>
            <a:spLocks noGrp="1"/>
          </p:cNvSpPr>
          <p:nvPr>
            <p:ph type="title"/>
          </p:nvPr>
        </p:nvSpPr>
        <p:spPr/>
        <p:txBody>
          <a:bodyPr/>
          <a:lstStyle/>
          <a:p>
            <a:r>
              <a:rPr lang="en-IN" dirty="0"/>
              <a:t>HOW DOES A C# PROGRAM START WITH A MAIN THREAD?</a:t>
            </a:r>
            <a:endParaRPr lang="en-US" dirty="0"/>
          </a:p>
        </p:txBody>
      </p:sp>
      <p:sp>
        <p:nvSpPr>
          <p:cNvPr id="3" name="Text Placeholder 2">
            <a:extLst>
              <a:ext uri="{FF2B5EF4-FFF2-40B4-BE49-F238E27FC236}">
                <a16:creationId xmlns:a16="http://schemas.microsoft.com/office/drawing/2014/main" id="{F675B7AD-DBC7-FD61-289F-2CD6F8A9B736}"/>
              </a:ext>
            </a:extLst>
          </p:cNvPr>
          <p:cNvSpPr>
            <a:spLocks noGrp="1"/>
          </p:cNvSpPr>
          <p:nvPr>
            <p:ph type="body" idx="1"/>
          </p:nvPr>
        </p:nvSpPr>
        <p:spPr/>
        <p:txBody>
          <a:bodyPr/>
          <a:lstStyle/>
          <a:p>
            <a:pPr marL="139700" indent="0">
              <a:buNone/>
            </a:pPr>
            <a:r>
              <a:rPr lang="en-IN" dirty="0">
                <a:latin typeface="Calibri" panose="020F0502020204030204" pitchFamily="34" charset="0"/>
                <a:ea typeface="Calibri" panose="020F0502020204030204" pitchFamily="34" charset="0"/>
                <a:cs typeface="Calibri" panose="020F0502020204030204" pitchFamily="34" charset="0"/>
              </a:rPr>
              <a:t>When your program runs:</a:t>
            </a:r>
          </a:p>
          <a:p>
            <a:r>
              <a:rPr lang="en-IN" dirty="0">
                <a:latin typeface="Calibri" panose="020F0502020204030204" pitchFamily="34" charset="0"/>
                <a:ea typeface="Calibri" panose="020F0502020204030204" pitchFamily="34" charset="0"/>
                <a:cs typeface="Calibri" panose="020F0502020204030204" pitchFamily="34" charset="0"/>
              </a:rPr>
              <a:t>The </a:t>
            </a:r>
            <a:r>
              <a:rPr lang="en-IN" b="1" dirty="0">
                <a:latin typeface="Calibri" panose="020F0502020204030204" pitchFamily="34" charset="0"/>
                <a:ea typeface="Calibri" panose="020F0502020204030204" pitchFamily="34" charset="0"/>
                <a:cs typeface="Calibri" panose="020F0502020204030204" pitchFamily="34" charset="0"/>
              </a:rPr>
              <a:t>CLR (Common Language Runtime)</a:t>
            </a:r>
            <a:r>
              <a:rPr lang="en-IN" dirty="0">
                <a:latin typeface="Calibri" panose="020F0502020204030204" pitchFamily="34" charset="0"/>
                <a:ea typeface="Calibri" panose="020F0502020204030204" pitchFamily="34" charset="0"/>
                <a:cs typeface="Calibri" panose="020F0502020204030204" pitchFamily="34" charset="0"/>
              </a:rPr>
              <a:t> creates one </a:t>
            </a:r>
            <a:r>
              <a:rPr lang="en-IN" b="1" dirty="0">
                <a:latin typeface="Calibri" panose="020F0502020204030204" pitchFamily="34" charset="0"/>
                <a:ea typeface="Calibri" panose="020F0502020204030204" pitchFamily="34" charset="0"/>
                <a:cs typeface="Calibri" panose="020F0502020204030204" pitchFamily="34" charset="0"/>
              </a:rPr>
              <a:t>main thread</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This thread executes everything inside the Main() method.</a:t>
            </a:r>
          </a:p>
          <a:p>
            <a:r>
              <a:rPr lang="en-IN" dirty="0">
                <a:latin typeface="Calibri" panose="020F0502020204030204" pitchFamily="34" charset="0"/>
                <a:ea typeface="Calibri" panose="020F0502020204030204" pitchFamily="34" charset="0"/>
                <a:cs typeface="Calibri" panose="020F0502020204030204" pitchFamily="34" charset="0"/>
              </a:rPr>
              <a:t>All your code (by default) runs on this </a:t>
            </a:r>
            <a:r>
              <a:rPr lang="en-IN" b="1" dirty="0">
                <a:latin typeface="Calibri" panose="020F0502020204030204" pitchFamily="34" charset="0"/>
                <a:ea typeface="Calibri" panose="020F0502020204030204" pitchFamily="34" charset="0"/>
                <a:cs typeface="Calibri" panose="020F0502020204030204" pitchFamily="34" charset="0"/>
              </a:rPr>
              <a:t>main thread</a:t>
            </a:r>
            <a:r>
              <a:rPr lang="en-IN" dirty="0">
                <a:latin typeface="Calibri" panose="020F0502020204030204" pitchFamily="34" charset="0"/>
                <a:ea typeface="Calibri" panose="020F0502020204030204" pitchFamily="34" charset="0"/>
                <a:cs typeface="Calibri" panose="020F0502020204030204" pitchFamily="34" charset="0"/>
              </a:rPr>
              <a:t> unless you create more.</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072944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4DE3E-DEEE-6AE4-BE91-897610644C9C}"/>
              </a:ext>
            </a:extLst>
          </p:cNvPr>
          <p:cNvSpPr>
            <a:spLocks noGrp="1"/>
          </p:cNvSpPr>
          <p:nvPr>
            <p:ph type="title"/>
          </p:nvPr>
        </p:nvSpPr>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MULTITHREAD</a:t>
            </a:r>
          </a:p>
        </p:txBody>
      </p:sp>
      <p:sp>
        <p:nvSpPr>
          <p:cNvPr id="3" name="Text Placeholder 2">
            <a:extLst>
              <a:ext uri="{FF2B5EF4-FFF2-40B4-BE49-F238E27FC236}">
                <a16:creationId xmlns:a16="http://schemas.microsoft.com/office/drawing/2014/main" id="{7E4966F3-1E5A-5385-A6E4-F981D8F5D734}"/>
              </a:ext>
            </a:extLst>
          </p:cNvPr>
          <p:cNvSpPr>
            <a:spLocks noGrp="1"/>
          </p:cNvSpPr>
          <p:nvPr>
            <p:ph type="body" idx="1"/>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Multithreading</a:t>
            </a:r>
            <a:r>
              <a:rPr lang="en-IN" dirty="0">
                <a:latin typeface="Calibri" panose="020F0502020204030204" pitchFamily="34" charset="0"/>
                <a:ea typeface="Calibri" panose="020F0502020204030204" pitchFamily="34" charset="0"/>
                <a:cs typeface="Calibri" panose="020F0502020204030204" pitchFamily="34" charset="0"/>
              </a:rPr>
              <a:t> is a technique that allows </a:t>
            </a:r>
            <a:r>
              <a:rPr lang="en-IN" b="1" dirty="0">
                <a:latin typeface="Calibri" panose="020F0502020204030204" pitchFamily="34" charset="0"/>
                <a:ea typeface="Calibri" panose="020F0502020204030204" pitchFamily="34" charset="0"/>
                <a:cs typeface="Calibri" panose="020F0502020204030204" pitchFamily="34" charset="0"/>
              </a:rPr>
              <a:t>multiple threads</a:t>
            </a:r>
            <a:r>
              <a:rPr lang="en-IN" dirty="0">
                <a:latin typeface="Calibri" panose="020F0502020204030204" pitchFamily="34" charset="0"/>
                <a:ea typeface="Calibri" panose="020F0502020204030204" pitchFamily="34" charset="0"/>
                <a:cs typeface="Calibri" panose="020F0502020204030204" pitchFamily="34" charset="0"/>
              </a:rPr>
              <a:t> to run </a:t>
            </a:r>
            <a:r>
              <a:rPr lang="en-IN" b="1" dirty="0">
                <a:latin typeface="Calibri" panose="020F0502020204030204" pitchFamily="34" charset="0"/>
                <a:ea typeface="Calibri" panose="020F0502020204030204" pitchFamily="34" charset="0"/>
                <a:cs typeface="Calibri" panose="020F0502020204030204" pitchFamily="34" charset="0"/>
              </a:rPr>
              <a:t>at the same time</a:t>
            </a:r>
            <a:r>
              <a:rPr lang="en-IN" dirty="0">
                <a:latin typeface="Calibri" panose="020F0502020204030204" pitchFamily="34" charset="0"/>
                <a:ea typeface="Calibri" panose="020F0502020204030204" pitchFamily="34" charset="0"/>
                <a:cs typeface="Calibri" panose="020F0502020204030204" pitchFamily="34" charset="0"/>
              </a:rPr>
              <a:t> within a </a:t>
            </a:r>
            <a:r>
              <a:rPr lang="en-IN" b="1" dirty="0">
                <a:latin typeface="Calibri" panose="020F0502020204030204" pitchFamily="34" charset="0"/>
                <a:ea typeface="Calibri" panose="020F0502020204030204" pitchFamily="34" charset="0"/>
                <a:cs typeface="Calibri" panose="020F0502020204030204" pitchFamily="34" charset="0"/>
              </a:rPr>
              <a:t>single process</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Each thread performs a separate task, enabling the program to execute </a:t>
            </a:r>
            <a:r>
              <a:rPr lang="en-IN" b="1" dirty="0">
                <a:latin typeface="Calibri" panose="020F0502020204030204" pitchFamily="34" charset="0"/>
                <a:ea typeface="Calibri" panose="020F0502020204030204" pitchFamily="34" charset="0"/>
                <a:cs typeface="Calibri" panose="020F0502020204030204" pitchFamily="34" charset="0"/>
              </a:rPr>
              <a:t>multiple operations concurrently</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This makes programs </a:t>
            </a:r>
            <a:r>
              <a:rPr lang="en-IN" b="1" dirty="0">
                <a:latin typeface="Calibri" panose="020F0502020204030204" pitchFamily="34" charset="0"/>
                <a:ea typeface="Calibri" panose="020F0502020204030204" pitchFamily="34" charset="0"/>
                <a:cs typeface="Calibri" panose="020F0502020204030204" pitchFamily="34" charset="0"/>
              </a:rPr>
              <a:t>faster, smoother, and more efficient</a:t>
            </a:r>
            <a:r>
              <a:rPr lang="en-IN" dirty="0">
                <a:latin typeface="Calibri" panose="020F0502020204030204" pitchFamily="34" charset="0"/>
                <a:ea typeface="Calibri" panose="020F0502020204030204" pitchFamily="34" charset="0"/>
                <a:cs typeface="Calibri" panose="020F0502020204030204" pitchFamily="34" charset="0"/>
              </a:rPr>
              <a:t>, especially when dealing with tasks like computation, file handling, or background operations.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2698978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DA3F0C-2CDF-BFC3-060B-F2073410A796}"/>
              </a:ext>
            </a:extLst>
          </p:cNvPr>
          <p:cNvSpPr>
            <a:spLocks noGrp="1"/>
          </p:cNvSpPr>
          <p:nvPr>
            <p:ph type="body" idx="1"/>
          </p:nvPr>
        </p:nvSpPr>
        <p:spPr>
          <a:xfrm>
            <a:off x="625862" y="909939"/>
            <a:ext cx="8115300" cy="3610022"/>
          </a:xfrm>
        </p:spPr>
        <p:txBody>
          <a:bodyPr>
            <a:noAutofit/>
          </a:bodyPr>
          <a:lstStyle/>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Multiple Threads Running Together</a:t>
            </a:r>
          </a:p>
          <a:p>
            <a:r>
              <a:rPr lang="en-IN" sz="1600" dirty="0">
                <a:latin typeface="Calibri" panose="020F0502020204030204" pitchFamily="34" charset="0"/>
                <a:ea typeface="Calibri" panose="020F0502020204030204" pitchFamily="34" charset="0"/>
                <a:cs typeface="Calibri" panose="020F0502020204030204" pitchFamily="34" charset="0"/>
              </a:rPr>
              <a:t>In a multithreaded program, </a:t>
            </a:r>
            <a:r>
              <a:rPr lang="en-IN" sz="1600" b="1" dirty="0">
                <a:latin typeface="Calibri" panose="020F0502020204030204" pitchFamily="34" charset="0"/>
                <a:ea typeface="Calibri" panose="020F0502020204030204" pitchFamily="34" charset="0"/>
                <a:cs typeface="Calibri" panose="020F0502020204030204" pitchFamily="34" charset="0"/>
              </a:rPr>
              <a:t>two or more threads</a:t>
            </a:r>
            <a:r>
              <a:rPr lang="en-IN" sz="1600" dirty="0">
                <a:latin typeface="Calibri" panose="020F0502020204030204" pitchFamily="34" charset="0"/>
                <a:ea typeface="Calibri" panose="020F0502020204030204" pitchFamily="34" charset="0"/>
                <a:cs typeface="Calibri" panose="020F0502020204030204" pitchFamily="34" charset="0"/>
              </a:rPr>
              <a:t> execute code </a:t>
            </a:r>
            <a:r>
              <a:rPr lang="en-IN" sz="1600" b="1" dirty="0">
                <a:latin typeface="Calibri" panose="020F0502020204030204" pitchFamily="34" charset="0"/>
                <a:ea typeface="Calibri" panose="020F0502020204030204" pitchFamily="34" charset="0"/>
                <a:cs typeface="Calibri" panose="020F0502020204030204" pitchFamily="34" charset="0"/>
              </a:rPr>
              <a:t>simultaneously</a:t>
            </a:r>
            <a:r>
              <a:rPr lang="en-IN" sz="1600" dirty="0">
                <a:latin typeface="Calibri" panose="020F0502020204030204" pitchFamily="34" charset="0"/>
                <a:ea typeface="Calibri" panose="020F0502020204030204" pitchFamily="34" charset="0"/>
                <a:cs typeface="Calibri" panose="020F0502020204030204" pitchFamily="34" charset="0"/>
              </a:rPr>
              <a:t>.</a:t>
            </a:r>
          </a:p>
          <a:p>
            <a:r>
              <a:rPr lang="en-IN" sz="1600" dirty="0">
                <a:latin typeface="Calibri" panose="020F0502020204030204" pitchFamily="34" charset="0"/>
                <a:ea typeface="Calibri" panose="020F0502020204030204" pitchFamily="34" charset="0"/>
                <a:cs typeface="Calibri" panose="020F0502020204030204" pitchFamily="34" charset="0"/>
              </a:rPr>
              <a:t>They share the same memory space (process), which allows them to </a:t>
            </a:r>
            <a:r>
              <a:rPr lang="en-IN" sz="1600" b="1" dirty="0">
                <a:latin typeface="Calibri" panose="020F0502020204030204" pitchFamily="34" charset="0"/>
                <a:ea typeface="Calibri" panose="020F0502020204030204" pitchFamily="34" charset="0"/>
                <a:cs typeface="Calibri" panose="020F0502020204030204" pitchFamily="34" charset="0"/>
              </a:rPr>
              <a:t>communicate and coordinate easily</a:t>
            </a:r>
            <a:r>
              <a:rPr lang="en-IN" sz="1600" dirty="0">
                <a:latin typeface="Calibri" panose="020F0502020204030204" pitchFamily="34" charset="0"/>
                <a:ea typeface="Calibri" panose="020F0502020204030204" pitchFamily="34" charset="0"/>
                <a:cs typeface="Calibri" panose="020F0502020204030204" pitchFamily="34" charset="0"/>
              </a:rPr>
              <a:t>.</a:t>
            </a:r>
          </a:p>
          <a:p>
            <a:r>
              <a:rPr lang="en-IN" sz="1600" dirty="0">
                <a:latin typeface="Calibri" panose="020F0502020204030204" pitchFamily="34" charset="0"/>
                <a:ea typeface="Calibri" panose="020F0502020204030204" pitchFamily="34" charset="0"/>
                <a:cs typeface="Calibri" panose="020F0502020204030204" pitchFamily="34" charset="0"/>
              </a:rPr>
              <a:t>However, this also means you must manage shared resources carefully to prevent </a:t>
            </a:r>
            <a:r>
              <a:rPr lang="en-IN" sz="1600" b="1" dirty="0">
                <a:latin typeface="Calibri" panose="020F0502020204030204" pitchFamily="34" charset="0"/>
                <a:ea typeface="Calibri" panose="020F0502020204030204" pitchFamily="34" charset="0"/>
                <a:cs typeface="Calibri" panose="020F0502020204030204" pitchFamily="34" charset="0"/>
              </a:rPr>
              <a:t>conflicts or data corruption</a:t>
            </a:r>
            <a:r>
              <a:rPr lang="en-IN" sz="1600" dirty="0">
                <a:latin typeface="Calibri" panose="020F0502020204030204" pitchFamily="34" charset="0"/>
                <a:ea typeface="Calibri" panose="020F0502020204030204" pitchFamily="34" charset="0"/>
                <a:cs typeface="Calibri" panose="020F0502020204030204" pitchFamily="34" charset="0"/>
              </a:rPr>
              <a:t>.</a:t>
            </a:r>
          </a:p>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Example:</a:t>
            </a:r>
            <a:br>
              <a:rPr lang="en-IN" sz="1600" dirty="0">
                <a:latin typeface="Calibri" panose="020F0502020204030204" pitchFamily="34" charset="0"/>
                <a:ea typeface="Calibri" panose="020F0502020204030204" pitchFamily="34" charset="0"/>
                <a:cs typeface="Calibri" panose="020F0502020204030204" pitchFamily="34" charset="0"/>
              </a:rPr>
            </a:br>
            <a:r>
              <a:rPr lang="en-IN" sz="1600" dirty="0">
                <a:latin typeface="Calibri" panose="020F0502020204030204" pitchFamily="34" charset="0"/>
                <a:ea typeface="Calibri" panose="020F0502020204030204" pitchFamily="34" charset="0"/>
                <a:cs typeface="Calibri" panose="020F0502020204030204" pitchFamily="34" charset="0"/>
              </a:rPr>
              <a:t>	In a chat application:</a:t>
            </a:r>
          </a:p>
          <a:p>
            <a:pPr lvl="2"/>
            <a:r>
              <a:rPr lang="en-IN" sz="1600" dirty="0">
                <a:latin typeface="Calibri" panose="020F0502020204030204" pitchFamily="34" charset="0"/>
                <a:ea typeface="Calibri" panose="020F0502020204030204" pitchFamily="34" charset="0"/>
                <a:cs typeface="Calibri" panose="020F0502020204030204" pitchFamily="34" charset="0"/>
              </a:rPr>
              <a:t>One thread receives messages.</a:t>
            </a:r>
          </a:p>
          <a:p>
            <a:pPr lvl="2"/>
            <a:r>
              <a:rPr lang="en-IN" sz="1600" dirty="0">
                <a:latin typeface="Calibri" panose="020F0502020204030204" pitchFamily="34" charset="0"/>
                <a:ea typeface="Calibri" panose="020F0502020204030204" pitchFamily="34" charset="0"/>
                <a:cs typeface="Calibri" panose="020F0502020204030204" pitchFamily="34" charset="0"/>
              </a:rPr>
              <a:t>Another thread sends messages.</a:t>
            </a:r>
          </a:p>
          <a:p>
            <a:pPr lvl="2"/>
            <a:r>
              <a:rPr lang="en-IN" sz="1600" dirty="0">
                <a:latin typeface="Calibri" panose="020F0502020204030204" pitchFamily="34" charset="0"/>
                <a:ea typeface="Calibri" panose="020F0502020204030204" pitchFamily="34" charset="0"/>
                <a:cs typeface="Calibri" panose="020F0502020204030204" pitchFamily="34" charset="0"/>
              </a:rPr>
              <a:t>A third thread updates the user interface.</a:t>
            </a:r>
          </a:p>
          <a:p>
            <a:pPr marL="1054100" lvl="2" indent="0">
              <a:buNone/>
            </a:pPr>
            <a:r>
              <a:rPr lang="en-IN" sz="1600" dirty="0">
                <a:latin typeface="Calibri" panose="020F0502020204030204" pitchFamily="34" charset="0"/>
                <a:ea typeface="Calibri" panose="020F0502020204030204" pitchFamily="34" charset="0"/>
                <a:cs typeface="Calibri" panose="020F0502020204030204" pitchFamily="34" charset="0"/>
              </a:rPr>
              <a:t>All threads work </a:t>
            </a:r>
            <a:r>
              <a:rPr lang="en-IN" sz="1600" b="1" dirty="0">
                <a:latin typeface="Calibri" panose="020F0502020204030204" pitchFamily="34" charset="0"/>
                <a:ea typeface="Calibri" panose="020F0502020204030204" pitchFamily="34" charset="0"/>
                <a:cs typeface="Calibri" panose="020F0502020204030204" pitchFamily="34" charset="0"/>
              </a:rPr>
              <a:t>together in parallel</a:t>
            </a:r>
            <a:r>
              <a:rPr lang="en-IN" sz="1600" dirty="0">
                <a:latin typeface="Calibri" panose="020F0502020204030204" pitchFamily="34" charset="0"/>
                <a:ea typeface="Calibri" panose="020F0502020204030204" pitchFamily="34" charset="0"/>
                <a:cs typeface="Calibri" panose="020F0502020204030204" pitchFamily="34" charset="0"/>
              </a:rPr>
              <a:t> to make the app feel instant and responsive.</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36268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FC6094-3C88-D822-4D68-46C9CAD51C13}"/>
              </a:ext>
            </a:extLst>
          </p:cNvPr>
          <p:cNvSpPr>
            <a:spLocks noGrp="1"/>
          </p:cNvSpPr>
          <p:nvPr>
            <p:ph type="body" idx="1"/>
          </p:nvPr>
        </p:nvSpPr>
        <p:spPr>
          <a:xfrm>
            <a:off x="573824" y="1177569"/>
            <a:ext cx="8115300" cy="3018094"/>
          </a:xfrm>
        </p:spPr>
        <p:txBody>
          <a:bodyPr>
            <a:normAutofit/>
          </a:bodyPr>
          <a:lstStyle/>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Perform Many Operations Simultaneously</a:t>
            </a:r>
          </a:p>
          <a:p>
            <a:r>
              <a:rPr lang="en-IN" sz="1600" dirty="0">
                <a:latin typeface="Calibri" panose="020F0502020204030204" pitchFamily="34" charset="0"/>
                <a:ea typeface="Calibri" panose="020F0502020204030204" pitchFamily="34" charset="0"/>
                <a:cs typeface="Calibri" panose="020F0502020204030204" pitchFamily="34" charset="0"/>
              </a:rPr>
              <a:t>Multithreading is especially useful for </a:t>
            </a:r>
            <a:r>
              <a:rPr lang="en-IN" sz="1600" b="1" dirty="0">
                <a:latin typeface="Calibri" panose="020F0502020204030204" pitchFamily="34" charset="0"/>
                <a:ea typeface="Calibri" panose="020F0502020204030204" pitchFamily="34" charset="0"/>
                <a:cs typeface="Calibri" panose="020F0502020204030204" pitchFamily="34" charset="0"/>
              </a:rPr>
              <a:t>CPU-bound</a:t>
            </a:r>
            <a:r>
              <a:rPr lang="en-IN" sz="1600" dirty="0">
                <a:latin typeface="Calibri" panose="020F0502020204030204" pitchFamily="34" charset="0"/>
                <a:ea typeface="Calibri" panose="020F0502020204030204" pitchFamily="34" charset="0"/>
                <a:cs typeface="Calibri" panose="020F0502020204030204" pitchFamily="34" charset="0"/>
              </a:rPr>
              <a:t> or </a:t>
            </a:r>
            <a:r>
              <a:rPr lang="en-IN" sz="1600" b="1" dirty="0">
                <a:latin typeface="Calibri" panose="020F0502020204030204" pitchFamily="34" charset="0"/>
                <a:ea typeface="Calibri" panose="020F0502020204030204" pitchFamily="34" charset="0"/>
                <a:cs typeface="Calibri" panose="020F0502020204030204" pitchFamily="34" charset="0"/>
              </a:rPr>
              <a:t>I/O-bound</a:t>
            </a:r>
            <a:r>
              <a:rPr lang="en-IN" sz="1600" dirty="0">
                <a:latin typeface="Calibri" panose="020F0502020204030204" pitchFamily="34" charset="0"/>
                <a:ea typeface="Calibri" panose="020F0502020204030204" pitchFamily="34" charset="0"/>
                <a:cs typeface="Calibri" panose="020F0502020204030204" pitchFamily="34" charset="0"/>
              </a:rPr>
              <a:t> tasks.</a:t>
            </a:r>
          </a:p>
          <a:p>
            <a:r>
              <a:rPr lang="en-IN" sz="1600" dirty="0">
                <a:latin typeface="Calibri" panose="020F0502020204030204" pitchFamily="34" charset="0"/>
                <a:ea typeface="Calibri" panose="020F0502020204030204" pitchFamily="34" charset="0"/>
                <a:cs typeface="Calibri" panose="020F0502020204030204" pitchFamily="34" charset="0"/>
              </a:rPr>
              <a:t>You can divide a big task into smaller chunks and let each thread handle one piece.</a:t>
            </a:r>
          </a:p>
          <a:p>
            <a:r>
              <a:rPr lang="en-IN" sz="1600" dirty="0">
                <a:latin typeface="Calibri" panose="020F0502020204030204" pitchFamily="34" charset="0"/>
                <a:ea typeface="Calibri" panose="020F0502020204030204" pitchFamily="34" charset="0"/>
                <a:cs typeface="Calibri" panose="020F0502020204030204" pitchFamily="34" charset="0"/>
              </a:rPr>
              <a:t>This leads to </a:t>
            </a:r>
            <a:r>
              <a:rPr lang="en-IN" sz="1600" b="1" dirty="0">
                <a:latin typeface="Calibri" panose="020F0502020204030204" pitchFamily="34" charset="0"/>
                <a:ea typeface="Calibri" panose="020F0502020204030204" pitchFamily="34" charset="0"/>
                <a:cs typeface="Calibri" panose="020F0502020204030204" pitchFamily="34" charset="0"/>
              </a:rPr>
              <a:t>better utilization</a:t>
            </a:r>
            <a:r>
              <a:rPr lang="en-IN" sz="1600" dirty="0">
                <a:latin typeface="Calibri" panose="020F0502020204030204" pitchFamily="34" charset="0"/>
                <a:ea typeface="Calibri" panose="020F0502020204030204" pitchFamily="34" charset="0"/>
                <a:cs typeface="Calibri" panose="020F0502020204030204" pitchFamily="34" charset="0"/>
              </a:rPr>
              <a:t> of system resources.</a:t>
            </a:r>
          </a:p>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Example:</a:t>
            </a:r>
            <a:br>
              <a:rPr lang="en-IN" sz="1600" dirty="0">
                <a:latin typeface="Calibri" panose="020F0502020204030204" pitchFamily="34" charset="0"/>
                <a:ea typeface="Calibri" panose="020F0502020204030204" pitchFamily="34" charset="0"/>
                <a:cs typeface="Calibri" panose="020F0502020204030204" pitchFamily="34" charset="0"/>
              </a:rPr>
            </a:br>
            <a:r>
              <a:rPr lang="en-IN" sz="1600" dirty="0">
                <a:latin typeface="Calibri" panose="020F0502020204030204" pitchFamily="34" charset="0"/>
                <a:ea typeface="Calibri" panose="020F0502020204030204" pitchFamily="34" charset="0"/>
                <a:cs typeface="Calibri" panose="020F0502020204030204" pitchFamily="34" charset="0"/>
              </a:rPr>
              <a:t>	In an image-processing app:</a:t>
            </a:r>
          </a:p>
          <a:p>
            <a:pPr lvl="2"/>
            <a:r>
              <a:rPr lang="en-IN" sz="1600" dirty="0">
                <a:latin typeface="Calibri" panose="020F0502020204030204" pitchFamily="34" charset="0"/>
                <a:ea typeface="Calibri" panose="020F0502020204030204" pitchFamily="34" charset="0"/>
                <a:cs typeface="Calibri" panose="020F0502020204030204" pitchFamily="34" charset="0"/>
              </a:rPr>
              <a:t>One thread sharpens part of the image.</a:t>
            </a:r>
          </a:p>
          <a:p>
            <a:pPr lvl="2"/>
            <a:r>
              <a:rPr lang="en-IN" sz="1600" dirty="0">
                <a:latin typeface="Calibri" panose="020F0502020204030204" pitchFamily="34" charset="0"/>
                <a:ea typeface="Calibri" panose="020F0502020204030204" pitchFamily="34" charset="0"/>
                <a:cs typeface="Calibri" panose="020F0502020204030204" pitchFamily="34" charset="0"/>
              </a:rPr>
              <a:t>Another adjusts colours.</a:t>
            </a:r>
          </a:p>
          <a:p>
            <a:pPr lvl="2"/>
            <a:r>
              <a:rPr lang="en-IN" sz="1600" dirty="0">
                <a:latin typeface="Calibri" panose="020F0502020204030204" pitchFamily="34" charset="0"/>
                <a:ea typeface="Calibri" panose="020F0502020204030204" pitchFamily="34" charset="0"/>
                <a:cs typeface="Calibri" panose="020F0502020204030204" pitchFamily="34" charset="0"/>
              </a:rPr>
              <a:t>Another compresses the file.</a:t>
            </a:r>
          </a:p>
          <a:p>
            <a:pPr marL="1054100" lvl="2" indent="0">
              <a:buNone/>
            </a:pPr>
            <a:r>
              <a:rPr lang="en-IN" sz="1600" dirty="0">
                <a:latin typeface="Calibri" panose="020F0502020204030204" pitchFamily="34" charset="0"/>
                <a:ea typeface="Calibri" panose="020F0502020204030204" pitchFamily="34" charset="0"/>
                <a:cs typeface="Calibri" panose="020F0502020204030204" pitchFamily="34" charset="0"/>
              </a:rPr>
              <a:t>Together, the whole process completes </a:t>
            </a:r>
            <a:r>
              <a:rPr lang="en-IN" sz="1600" b="1" dirty="0">
                <a:latin typeface="Calibri" panose="020F0502020204030204" pitchFamily="34" charset="0"/>
                <a:ea typeface="Calibri" panose="020F0502020204030204" pitchFamily="34" charset="0"/>
                <a:cs typeface="Calibri" panose="020F0502020204030204" pitchFamily="34" charset="0"/>
              </a:rPr>
              <a:t>much faster</a:t>
            </a:r>
            <a:r>
              <a:rPr lang="en-IN" sz="1600" dirty="0">
                <a:latin typeface="Calibri" panose="020F0502020204030204" pitchFamily="34" charset="0"/>
                <a:ea typeface="Calibri" panose="020F0502020204030204" pitchFamily="34" charset="0"/>
                <a:cs typeface="Calibri" panose="020F0502020204030204" pitchFamily="34" charset="0"/>
              </a:rPr>
              <a:t> than if done sequentially.</a:t>
            </a: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9920896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5143-7D4D-5425-CAB4-A0CA7599D9C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1B4E147-4952-5F63-47F2-FED190DB9BFA}"/>
              </a:ext>
            </a:extLst>
          </p:cNvPr>
          <p:cNvSpPr>
            <a:spLocks noGrp="1"/>
          </p:cNvSpPr>
          <p:nvPr>
            <p:ph type="body" idx="1"/>
          </p:nvPr>
        </p:nvSpPr>
        <p:spPr/>
        <p:txBody>
          <a:bodyPr>
            <a:normAutofit/>
          </a:bodyPr>
          <a:lstStyle/>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Keeps Applications Responsive and Efficient</a:t>
            </a:r>
          </a:p>
          <a:p>
            <a:r>
              <a:rPr lang="en-IN" sz="1600" dirty="0">
                <a:latin typeface="Calibri" panose="020F0502020204030204" pitchFamily="34" charset="0"/>
                <a:ea typeface="Calibri" panose="020F0502020204030204" pitchFamily="34" charset="0"/>
                <a:cs typeface="Calibri" panose="020F0502020204030204" pitchFamily="34" charset="0"/>
              </a:rPr>
              <a:t>In user-facing programs (like Windows Forms or WPF apps), long-running operations can </a:t>
            </a:r>
            <a:r>
              <a:rPr lang="en-IN" sz="1600" b="1" dirty="0">
                <a:latin typeface="Calibri" panose="020F0502020204030204" pitchFamily="34" charset="0"/>
                <a:ea typeface="Calibri" panose="020F0502020204030204" pitchFamily="34" charset="0"/>
                <a:cs typeface="Calibri" panose="020F0502020204030204" pitchFamily="34" charset="0"/>
              </a:rPr>
              <a:t>freeze the UI</a:t>
            </a:r>
            <a:r>
              <a:rPr lang="en-IN" sz="1600" dirty="0">
                <a:latin typeface="Calibri" panose="020F0502020204030204" pitchFamily="34" charset="0"/>
                <a:ea typeface="Calibri" panose="020F0502020204030204" pitchFamily="34" charset="0"/>
                <a:cs typeface="Calibri" panose="020F0502020204030204" pitchFamily="34" charset="0"/>
              </a:rPr>
              <a:t> if executed on the main thread.</a:t>
            </a:r>
          </a:p>
          <a:p>
            <a:r>
              <a:rPr lang="en-IN" sz="1600" dirty="0">
                <a:latin typeface="Calibri" panose="020F0502020204030204" pitchFamily="34" charset="0"/>
                <a:ea typeface="Calibri" panose="020F0502020204030204" pitchFamily="34" charset="0"/>
                <a:cs typeface="Calibri" panose="020F0502020204030204" pitchFamily="34" charset="0"/>
              </a:rPr>
              <a:t>Using </a:t>
            </a:r>
            <a:r>
              <a:rPr lang="en-IN" sz="1600" b="1" dirty="0">
                <a:latin typeface="Calibri" panose="020F0502020204030204" pitchFamily="34" charset="0"/>
                <a:ea typeface="Calibri" panose="020F0502020204030204" pitchFamily="34" charset="0"/>
                <a:cs typeface="Calibri" panose="020F0502020204030204" pitchFamily="34" charset="0"/>
              </a:rPr>
              <a:t>multithreading</a:t>
            </a:r>
            <a:r>
              <a:rPr lang="en-IN" sz="1600" dirty="0">
                <a:latin typeface="Calibri" panose="020F0502020204030204" pitchFamily="34" charset="0"/>
                <a:ea typeface="Calibri" panose="020F0502020204030204" pitchFamily="34" charset="0"/>
                <a:cs typeface="Calibri" panose="020F0502020204030204" pitchFamily="34" charset="0"/>
              </a:rPr>
              <a:t> (or modern equivalents like Task or async/await) keeps the </a:t>
            </a:r>
            <a:r>
              <a:rPr lang="en-IN" sz="1600" b="1" dirty="0">
                <a:latin typeface="Calibri" panose="020F0502020204030204" pitchFamily="34" charset="0"/>
                <a:ea typeface="Calibri" panose="020F0502020204030204" pitchFamily="34" charset="0"/>
                <a:cs typeface="Calibri" panose="020F0502020204030204" pitchFamily="34" charset="0"/>
              </a:rPr>
              <a:t>main thread free</a:t>
            </a:r>
            <a:r>
              <a:rPr lang="en-IN" sz="1600" dirty="0">
                <a:latin typeface="Calibri" panose="020F0502020204030204" pitchFamily="34" charset="0"/>
                <a:ea typeface="Calibri" panose="020F0502020204030204" pitchFamily="34" charset="0"/>
                <a:cs typeface="Calibri" panose="020F0502020204030204" pitchFamily="34" charset="0"/>
              </a:rPr>
              <a:t>, allowing the app to respond to clicks and inputs.</a:t>
            </a:r>
          </a:p>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Example:</a:t>
            </a:r>
            <a:br>
              <a:rPr lang="en-IN" sz="1600" dirty="0">
                <a:latin typeface="Calibri" panose="020F0502020204030204" pitchFamily="34" charset="0"/>
                <a:ea typeface="Calibri" panose="020F0502020204030204" pitchFamily="34" charset="0"/>
                <a:cs typeface="Calibri" panose="020F0502020204030204" pitchFamily="34" charset="0"/>
              </a:rPr>
            </a:br>
            <a:r>
              <a:rPr lang="en-IN" sz="1600" dirty="0">
                <a:latin typeface="Calibri" panose="020F0502020204030204" pitchFamily="34" charset="0"/>
                <a:ea typeface="Calibri" panose="020F0502020204030204" pitchFamily="34" charset="0"/>
                <a:cs typeface="Calibri" panose="020F0502020204030204" pitchFamily="34" charset="0"/>
              </a:rPr>
              <a:t>	When downloading a file:</a:t>
            </a:r>
          </a:p>
          <a:p>
            <a:pPr lvl="2"/>
            <a:r>
              <a:rPr lang="en-IN" sz="1600" dirty="0">
                <a:latin typeface="Calibri" panose="020F0502020204030204" pitchFamily="34" charset="0"/>
                <a:ea typeface="Calibri" panose="020F0502020204030204" pitchFamily="34" charset="0"/>
                <a:cs typeface="Calibri" panose="020F0502020204030204" pitchFamily="34" charset="0"/>
              </a:rPr>
              <a:t>The main thread updates the progress bar.</a:t>
            </a:r>
          </a:p>
          <a:p>
            <a:pPr lvl="2"/>
            <a:r>
              <a:rPr lang="en-IN" sz="1600" dirty="0">
                <a:latin typeface="Calibri" panose="020F0502020204030204" pitchFamily="34" charset="0"/>
                <a:ea typeface="Calibri" panose="020F0502020204030204" pitchFamily="34" charset="0"/>
                <a:cs typeface="Calibri" panose="020F0502020204030204" pitchFamily="34" charset="0"/>
              </a:rPr>
              <a:t>A background thread handles the actual file download.</a:t>
            </a:r>
          </a:p>
          <a:p>
            <a:pPr marL="1054100" lvl="2" indent="0">
              <a:buNone/>
            </a:pPr>
            <a:r>
              <a:rPr lang="en-IN" sz="1600" dirty="0">
                <a:latin typeface="Calibri" panose="020F0502020204030204" pitchFamily="34" charset="0"/>
                <a:ea typeface="Calibri" panose="020F0502020204030204" pitchFamily="34" charset="0"/>
                <a:cs typeface="Calibri" panose="020F0502020204030204" pitchFamily="34" charset="0"/>
              </a:rPr>
              <a:t>The user interface stays active throughout the operation.</a:t>
            </a: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84104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9AA1-4941-8F76-363C-999B6399283E}"/>
              </a:ext>
            </a:extLst>
          </p:cNvPr>
          <p:cNvSpPr>
            <a:spLocks noGrp="1"/>
          </p:cNvSpPr>
          <p:nvPr>
            <p:ph type="title"/>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ADVANTAGES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615B25E7-67A8-68CF-758A-2AF58AD9CD67}"/>
              </a:ext>
            </a:extLst>
          </p:cNvPr>
          <p:cNvSpPr>
            <a:spLocks noGrp="1"/>
          </p:cNvSpPr>
          <p:nvPr>
            <p:ph type="body" idx="1"/>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Faster Execution</a:t>
            </a:r>
            <a:r>
              <a:rPr lang="en-IN" dirty="0">
                <a:latin typeface="Calibri" panose="020F0502020204030204" pitchFamily="34" charset="0"/>
                <a:ea typeface="Calibri" panose="020F0502020204030204" pitchFamily="34" charset="0"/>
                <a:cs typeface="Calibri" panose="020F0502020204030204" pitchFamily="34" charset="0"/>
              </a:rPr>
              <a:t> – Tasks run at the same time, reducing total running time.</a:t>
            </a:r>
          </a:p>
          <a:p>
            <a:r>
              <a:rPr lang="en-IN" b="1" dirty="0">
                <a:latin typeface="Calibri" panose="020F0502020204030204" pitchFamily="34" charset="0"/>
                <a:ea typeface="Calibri" panose="020F0502020204030204" pitchFamily="34" charset="0"/>
                <a:cs typeface="Calibri" panose="020F0502020204030204" pitchFamily="34" charset="0"/>
              </a:rPr>
              <a:t>Better CPU Usage</a:t>
            </a:r>
            <a:r>
              <a:rPr lang="en-IN" dirty="0">
                <a:latin typeface="Calibri" panose="020F0502020204030204" pitchFamily="34" charset="0"/>
                <a:ea typeface="Calibri" panose="020F0502020204030204" pitchFamily="34" charset="0"/>
                <a:cs typeface="Calibri" panose="020F0502020204030204" pitchFamily="34" charset="0"/>
              </a:rPr>
              <a:t> – Makes full use of all processor cores.</a:t>
            </a:r>
          </a:p>
          <a:p>
            <a:r>
              <a:rPr lang="en-IN" b="1" dirty="0">
                <a:latin typeface="Calibri" panose="020F0502020204030204" pitchFamily="34" charset="0"/>
                <a:ea typeface="Calibri" panose="020F0502020204030204" pitchFamily="34" charset="0"/>
                <a:cs typeface="Calibri" panose="020F0502020204030204" pitchFamily="34" charset="0"/>
              </a:rPr>
              <a:t>Responsive Applications</a:t>
            </a:r>
            <a:r>
              <a:rPr lang="en-IN" dirty="0">
                <a:latin typeface="Calibri" panose="020F0502020204030204" pitchFamily="34" charset="0"/>
                <a:ea typeface="Calibri" panose="020F0502020204030204" pitchFamily="34" charset="0"/>
                <a:cs typeface="Calibri" panose="020F0502020204030204" pitchFamily="34" charset="0"/>
              </a:rPr>
              <a:t> – Keeps the program (especially UI) active while doing background work.</a:t>
            </a:r>
          </a:p>
          <a:p>
            <a:r>
              <a:rPr lang="en-IN" b="1" dirty="0">
                <a:latin typeface="Calibri" panose="020F0502020204030204" pitchFamily="34" charset="0"/>
                <a:ea typeface="Calibri" panose="020F0502020204030204" pitchFamily="34" charset="0"/>
                <a:cs typeface="Calibri" panose="020F0502020204030204" pitchFamily="34" charset="0"/>
              </a:rPr>
              <a:t>Efficient Task Management</a:t>
            </a:r>
            <a:r>
              <a:rPr lang="en-IN" dirty="0">
                <a:latin typeface="Calibri" panose="020F0502020204030204" pitchFamily="34" charset="0"/>
                <a:ea typeface="Calibri" panose="020F0502020204030204" pitchFamily="34" charset="0"/>
                <a:cs typeface="Calibri" panose="020F0502020204030204" pitchFamily="34" charset="0"/>
              </a:rPr>
              <a:t> – Multiple tasks can be done together instead of one by one.</a:t>
            </a:r>
          </a:p>
          <a:p>
            <a:r>
              <a:rPr lang="en-IN" b="1" dirty="0">
                <a:latin typeface="Calibri" panose="020F0502020204030204" pitchFamily="34" charset="0"/>
                <a:ea typeface="Calibri" panose="020F0502020204030204" pitchFamily="34" charset="0"/>
                <a:cs typeface="Calibri" panose="020F0502020204030204" pitchFamily="34" charset="0"/>
              </a:rPr>
              <a:t>Shared Memory</a:t>
            </a:r>
            <a:r>
              <a:rPr lang="en-IN" dirty="0">
                <a:latin typeface="Calibri" panose="020F0502020204030204" pitchFamily="34" charset="0"/>
                <a:ea typeface="Calibri" panose="020F0502020204030204" pitchFamily="34" charset="0"/>
                <a:cs typeface="Calibri" panose="020F0502020204030204" pitchFamily="34" charset="0"/>
              </a:rPr>
              <a:t> – Threads in the same program can easily share data.</a:t>
            </a:r>
          </a:p>
        </p:txBody>
      </p:sp>
    </p:spTree>
    <p:extLst>
      <p:ext uri="{BB962C8B-B14F-4D97-AF65-F5344CB8AC3E}">
        <p14:creationId xmlns:p14="http://schemas.microsoft.com/office/powerpoint/2010/main" val="397648752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C3C8D-3682-5B3B-AAF6-BC64CCFE87B2}"/>
              </a:ext>
            </a:extLst>
          </p:cNvPr>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DISADVANTAGES</a:t>
            </a:r>
          </a:p>
        </p:txBody>
      </p:sp>
      <p:sp>
        <p:nvSpPr>
          <p:cNvPr id="3" name="Text Placeholder 2">
            <a:extLst>
              <a:ext uri="{FF2B5EF4-FFF2-40B4-BE49-F238E27FC236}">
                <a16:creationId xmlns:a16="http://schemas.microsoft.com/office/drawing/2014/main" id="{1FBCF945-5EDD-643C-B4D1-4011C5AC4DD9}"/>
              </a:ext>
            </a:extLst>
          </p:cNvPr>
          <p:cNvSpPr>
            <a:spLocks noGrp="1"/>
          </p:cNvSpPr>
          <p:nvPr>
            <p:ph type="body" idx="1"/>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Complex to Manage</a:t>
            </a:r>
            <a:r>
              <a:rPr lang="en-IN" dirty="0">
                <a:latin typeface="Calibri" panose="020F0502020204030204" pitchFamily="34" charset="0"/>
                <a:ea typeface="Calibri" panose="020F0502020204030204" pitchFamily="34" charset="0"/>
                <a:cs typeface="Calibri" panose="020F0502020204030204" pitchFamily="34" charset="0"/>
              </a:rPr>
              <a:t> – Writing and debugging multithreaded code is harder.</a:t>
            </a:r>
          </a:p>
          <a:p>
            <a:r>
              <a:rPr lang="en-IN" b="1" dirty="0">
                <a:latin typeface="Calibri" panose="020F0502020204030204" pitchFamily="34" charset="0"/>
                <a:ea typeface="Calibri" panose="020F0502020204030204" pitchFamily="34" charset="0"/>
                <a:cs typeface="Calibri" panose="020F0502020204030204" pitchFamily="34" charset="0"/>
              </a:rPr>
              <a:t>Data Conflicts</a:t>
            </a:r>
            <a:r>
              <a:rPr lang="en-IN" dirty="0">
                <a:latin typeface="Calibri" panose="020F0502020204030204" pitchFamily="34" charset="0"/>
                <a:ea typeface="Calibri" panose="020F0502020204030204" pitchFamily="34" charset="0"/>
                <a:cs typeface="Calibri" panose="020F0502020204030204" pitchFamily="34" charset="0"/>
              </a:rPr>
              <a:t> – Threads sharing the same data may cause errors if not synchronized properly.</a:t>
            </a:r>
          </a:p>
          <a:p>
            <a:r>
              <a:rPr lang="en-IN" b="1" dirty="0">
                <a:latin typeface="Calibri" panose="020F0502020204030204" pitchFamily="34" charset="0"/>
                <a:ea typeface="Calibri" panose="020F0502020204030204" pitchFamily="34" charset="0"/>
                <a:cs typeface="Calibri" panose="020F0502020204030204" pitchFamily="34" charset="0"/>
              </a:rPr>
              <a:t>Deadlocks</a:t>
            </a:r>
            <a:r>
              <a:rPr lang="en-IN" dirty="0">
                <a:latin typeface="Calibri" panose="020F0502020204030204" pitchFamily="34" charset="0"/>
                <a:ea typeface="Calibri" panose="020F0502020204030204" pitchFamily="34" charset="0"/>
                <a:cs typeface="Calibri" panose="020F0502020204030204" pitchFamily="34" charset="0"/>
              </a:rPr>
              <a:t> – Two or more threads may wait for each other and get stuck.</a:t>
            </a:r>
          </a:p>
          <a:p>
            <a:r>
              <a:rPr lang="en-IN" b="1" dirty="0">
                <a:latin typeface="Calibri" panose="020F0502020204030204" pitchFamily="34" charset="0"/>
                <a:ea typeface="Calibri" panose="020F0502020204030204" pitchFamily="34" charset="0"/>
                <a:cs typeface="Calibri" panose="020F0502020204030204" pitchFamily="34" charset="0"/>
              </a:rPr>
              <a:t>High Resource Use</a:t>
            </a:r>
            <a:r>
              <a:rPr lang="en-IN" dirty="0">
                <a:latin typeface="Calibri" panose="020F0502020204030204" pitchFamily="34" charset="0"/>
                <a:ea typeface="Calibri" panose="020F0502020204030204" pitchFamily="34" charset="0"/>
                <a:cs typeface="Calibri" panose="020F0502020204030204" pitchFamily="34" charset="0"/>
              </a:rPr>
              <a:t> – Too many threads can slow down performance.</a:t>
            </a:r>
          </a:p>
          <a:p>
            <a:r>
              <a:rPr lang="en-IN" b="1" dirty="0">
                <a:latin typeface="Calibri" panose="020F0502020204030204" pitchFamily="34" charset="0"/>
                <a:ea typeface="Calibri" panose="020F0502020204030204" pitchFamily="34" charset="0"/>
                <a:cs typeface="Calibri" panose="020F0502020204030204" pitchFamily="34" charset="0"/>
              </a:rPr>
              <a:t>Unpredictable Results</a:t>
            </a:r>
            <a:r>
              <a:rPr lang="en-IN" dirty="0">
                <a:latin typeface="Calibri" panose="020F0502020204030204" pitchFamily="34" charset="0"/>
                <a:ea typeface="Calibri" panose="020F0502020204030204" pitchFamily="34" charset="0"/>
                <a:cs typeface="Calibri" panose="020F0502020204030204" pitchFamily="34" charset="0"/>
              </a:rPr>
              <a:t> – The order of thread execution may change each time the program runs.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25335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20F3BB-3BA3-0085-F6E8-DB2C5F12F61D}"/>
              </a:ext>
            </a:extLst>
          </p:cNvPr>
          <p:cNvSpPr>
            <a:spLocks noGrp="1"/>
          </p:cNvSpPr>
          <p:nvPr>
            <p:ph type="ctrTitle"/>
          </p:nvPr>
        </p:nvSpPr>
        <p:spPr/>
        <p:txBody>
          <a:bodyPr/>
          <a:lstStyle/>
          <a:p>
            <a:pPr algn="r"/>
            <a:r>
              <a:rPr lang="en-US" dirty="0"/>
              <a:t>TASK</a:t>
            </a:r>
          </a:p>
        </p:txBody>
      </p:sp>
      <p:sp>
        <p:nvSpPr>
          <p:cNvPr id="5" name="Subtitle 4">
            <a:extLst>
              <a:ext uri="{FF2B5EF4-FFF2-40B4-BE49-F238E27FC236}">
                <a16:creationId xmlns:a16="http://schemas.microsoft.com/office/drawing/2014/main" id="{C2D7A3EA-DD6D-31E5-9095-9F7B05CC632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971792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656D7-A831-9CB9-7BF5-E212B977DFD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D0C330D-E687-2616-39EC-82B9A96A6935}"/>
              </a:ext>
            </a:extLst>
          </p:cNvPr>
          <p:cNvSpPr>
            <a:spLocks noGrp="1"/>
          </p:cNvSpPr>
          <p:nvPr>
            <p:ph type="body" idx="1"/>
          </p:nvPr>
        </p:nvSpPr>
        <p:spPr/>
        <p:txBody>
          <a:bodyPr>
            <a:normAutofit fontScale="92500"/>
          </a:bodyPr>
          <a:lstStyle/>
          <a:p>
            <a:r>
              <a:rPr lang="en-IN" dirty="0">
                <a:latin typeface="Calibri" panose="020F0502020204030204" pitchFamily="34" charset="0"/>
                <a:ea typeface="Calibri" panose="020F0502020204030204" pitchFamily="34" charset="0"/>
                <a:cs typeface="Calibri" panose="020F0502020204030204" pitchFamily="34" charset="0"/>
              </a:rPr>
              <a:t>In </a:t>
            </a:r>
            <a:r>
              <a:rPr lang="en-IN" b="1" dirty="0">
                <a:latin typeface="Calibri" panose="020F0502020204030204" pitchFamily="34" charset="0"/>
                <a:ea typeface="Calibri" panose="020F0502020204030204" pitchFamily="34" charset="0"/>
                <a:cs typeface="Calibri" panose="020F0502020204030204" pitchFamily="34" charset="0"/>
              </a:rPr>
              <a:t>C#</a:t>
            </a:r>
            <a:r>
              <a:rPr lang="en-IN" dirty="0">
                <a:latin typeface="Calibri" panose="020F0502020204030204" pitchFamily="34" charset="0"/>
                <a:ea typeface="Calibri" panose="020F0502020204030204" pitchFamily="34" charset="0"/>
                <a:cs typeface="Calibri" panose="020F0502020204030204" pitchFamily="34" charset="0"/>
              </a:rPr>
              <a:t>, a </a:t>
            </a:r>
            <a:r>
              <a:rPr lang="en-IN" b="1" dirty="0">
                <a:latin typeface="Calibri" panose="020F0502020204030204" pitchFamily="34" charset="0"/>
                <a:ea typeface="Calibri" panose="020F0502020204030204" pitchFamily="34" charset="0"/>
                <a:cs typeface="Calibri" panose="020F0502020204030204" pitchFamily="34" charset="0"/>
              </a:rPr>
              <a:t>Task</a:t>
            </a:r>
            <a:r>
              <a:rPr lang="en-IN" dirty="0">
                <a:latin typeface="Calibri" panose="020F0502020204030204" pitchFamily="34" charset="0"/>
                <a:ea typeface="Calibri" panose="020F0502020204030204" pitchFamily="34" charset="0"/>
                <a:cs typeface="Calibri" panose="020F0502020204030204" pitchFamily="34" charset="0"/>
              </a:rPr>
              <a:t> represents an </a:t>
            </a:r>
            <a:r>
              <a:rPr lang="en-IN" b="1" dirty="0">
                <a:latin typeface="Calibri" panose="020F0502020204030204" pitchFamily="34" charset="0"/>
                <a:ea typeface="Calibri" panose="020F0502020204030204" pitchFamily="34" charset="0"/>
                <a:cs typeface="Calibri" panose="020F0502020204030204" pitchFamily="34" charset="0"/>
              </a:rPr>
              <a:t>asynchronous operation</a:t>
            </a:r>
            <a:r>
              <a:rPr lang="en-IN" dirty="0">
                <a:latin typeface="Calibri" panose="020F0502020204030204" pitchFamily="34" charset="0"/>
                <a:ea typeface="Calibri" panose="020F0502020204030204" pitchFamily="34" charset="0"/>
                <a:cs typeface="Calibri" panose="020F0502020204030204" pitchFamily="34" charset="0"/>
              </a:rPr>
              <a:t> — meaning it allows your program to perform work </a:t>
            </a:r>
            <a:r>
              <a:rPr lang="en-IN" b="1" dirty="0">
                <a:latin typeface="Calibri" panose="020F0502020204030204" pitchFamily="34" charset="0"/>
                <a:ea typeface="Calibri" panose="020F0502020204030204" pitchFamily="34" charset="0"/>
                <a:cs typeface="Calibri" panose="020F0502020204030204" pitchFamily="34" charset="0"/>
              </a:rPr>
              <a:t>in the background</a:t>
            </a:r>
            <a:r>
              <a:rPr lang="en-IN" dirty="0">
                <a:latin typeface="Calibri" panose="020F0502020204030204" pitchFamily="34" charset="0"/>
                <a:ea typeface="Calibri" panose="020F0502020204030204" pitchFamily="34" charset="0"/>
                <a:cs typeface="Calibri" panose="020F0502020204030204" pitchFamily="34" charset="0"/>
              </a:rPr>
              <a:t> without freezing or blocking the main thread.</a:t>
            </a:r>
          </a:p>
          <a:p>
            <a:r>
              <a:rPr lang="en-IN" dirty="0">
                <a:latin typeface="Calibri" panose="020F0502020204030204" pitchFamily="34" charset="0"/>
                <a:ea typeface="Calibri" panose="020F0502020204030204" pitchFamily="34" charset="0"/>
                <a:cs typeface="Calibri" panose="020F0502020204030204" pitchFamily="34" charset="0"/>
              </a:rPr>
              <a:t>It is part of the </a:t>
            </a:r>
            <a:r>
              <a:rPr lang="en-IN" b="1" dirty="0">
                <a:latin typeface="Calibri" panose="020F0502020204030204" pitchFamily="34" charset="0"/>
                <a:ea typeface="Calibri" panose="020F0502020204030204" pitchFamily="34" charset="0"/>
                <a:cs typeface="Calibri" panose="020F0502020204030204" pitchFamily="34" charset="0"/>
              </a:rPr>
              <a:t>Task Parallel Library (TPL)</a:t>
            </a:r>
            <a:r>
              <a:rPr lang="en-IN" dirty="0">
                <a:latin typeface="Calibri" panose="020F0502020204030204" pitchFamily="34" charset="0"/>
                <a:ea typeface="Calibri" panose="020F0502020204030204" pitchFamily="34" charset="0"/>
                <a:cs typeface="Calibri" panose="020F0502020204030204" pitchFamily="34" charset="0"/>
              </a:rPr>
              <a:t>, found in the </a:t>
            </a:r>
            <a:r>
              <a:rPr lang="en-IN" b="1" dirty="0" err="1">
                <a:latin typeface="Calibri" panose="020F0502020204030204" pitchFamily="34" charset="0"/>
                <a:ea typeface="Calibri" panose="020F0502020204030204" pitchFamily="34" charset="0"/>
                <a:cs typeface="Calibri" panose="020F0502020204030204" pitchFamily="34" charset="0"/>
              </a:rPr>
              <a:t>System.Threading.Tasks</a:t>
            </a:r>
            <a:r>
              <a:rPr lang="en-IN" dirty="0">
                <a:latin typeface="Calibri" panose="020F0502020204030204" pitchFamily="34" charset="0"/>
                <a:ea typeface="Calibri" panose="020F0502020204030204" pitchFamily="34" charset="0"/>
                <a:cs typeface="Calibri" panose="020F0502020204030204" pitchFamily="34" charset="0"/>
              </a:rPr>
              <a:t> namespace.</a:t>
            </a:r>
          </a:p>
          <a:p>
            <a:r>
              <a:rPr lang="en-IN" dirty="0">
                <a:latin typeface="Calibri" panose="020F0502020204030204" pitchFamily="34" charset="0"/>
                <a:ea typeface="Calibri" panose="020F0502020204030204" pitchFamily="34" charset="0"/>
                <a:cs typeface="Calibri" panose="020F0502020204030204" pitchFamily="34" charset="0"/>
              </a:rPr>
              <a:t>The </a:t>
            </a:r>
            <a:r>
              <a:rPr lang="en-IN" b="1" dirty="0">
                <a:latin typeface="Calibri" panose="020F0502020204030204" pitchFamily="34" charset="0"/>
                <a:ea typeface="Calibri" panose="020F0502020204030204" pitchFamily="34" charset="0"/>
                <a:cs typeface="Calibri" panose="020F0502020204030204" pitchFamily="34" charset="0"/>
              </a:rPr>
              <a:t>Task Parallel Library (TPL)</a:t>
            </a:r>
            <a:r>
              <a:rPr lang="en-IN" dirty="0">
                <a:latin typeface="Calibri" panose="020F0502020204030204" pitchFamily="34" charset="0"/>
                <a:ea typeface="Calibri" panose="020F0502020204030204" pitchFamily="34" charset="0"/>
                <a:cs typeface="Calibri" panose="020F0502020204030204" pitchFamily="34" charset="0"/>
              </a:rPr>
              <a:t> is a set of public types and APIs in the </a:t>
            </a:r>
            <a:r>
              <a:rPr lang="en-IN" b="1" dirty="0" err="1">
                <a:latin typeface="Calibri" panose="020F0502020204030204" pitchFamily="34" charset="0"/>
                <a:ea typeface="Calibri" panose="020F0502020204030204" pitchFamily="34" charset="0"/>
                <a:cs typeface="Calibri" panose="020F0502020204030204" pitchFamily="34" charset="0"/>
              </a:rPr>
              <a:t>System.Threading.Tasks</a:t>
            </a:r>
            <a:r>
              <a:rPr lang="en-IN" dirty="0">
                <a:latin typeface="Calibri" panose="020F0502020204030204" pitchFamily="34" charset="0"/>
                <a:ea typeface="Calibri" panose="020F0502020204030204" pitchFamily="34" charset="0"/>
                <a:cs typeface="Calibri" panose="020F0502020204030204" pitchFamily="34" charset="0"/>
              </a:rPr>
              <a:t> namespace that make it </a:t>
            </a:r>
            <a:r>
              <a:rPr lang="en-IN" b="1" dirty="0">
                <a:latin typeface="Calibri" panose="020F0502020204030204" pitchFamily="34" charset="0"/>
                <a:ea typeface="Calibri" panose="020F0502020204030204" pitchFamily="34" charset="0"/>
                <a:cs typeface="Calibri" panose="020F0502020204030204" pitchFamily="34" charset="0"/>
              </a:rPr>
              <a:t>easy to write multithreaded and parallel code</a:t>
            </a:r>
            <a:r>
              <a:rPr lang="en-IN" dirty="0">
                <a:latin typeface="Calibri" panose="020F0502020204030204" pitchFamily="34" charset="0"/>
                <a:ea typeface="Calibri" panose="020F0502020204030204" pitchFamily="34" charset="0"/>
                <a:cs typeface="Calibri" panose="020F0502020204030204" pitchFamily="34" charset="0"/>
              </a:rPr>
              <a:t> in C#.</a:t>
            </a:r>
          </a:p>
          <a:p>
            <a:r>
              <a:rPr lang="en-IN" dirty="0">
                <a:latin typeface="Calibri" panose="020F0502020204030204" pitchFamily="34" charset="0"/>
                <a:ea typeface="Calibri" panose="020F0502020204030204" pitchFamily="34" charset="0"/>
                <a:cs typeface="Calibri" panose="020F0502020204030204" pitchFamily="34" charset="0"/>
              </a:rPr>
              <a:t>It simplifies working with threads by using </a:t>
            </a:r>
            <a:r>
              <a:rPr lang="en-IN" b="1" dirty="0">
                <a:latin typeface="Calibri" panose="020F0502020204030204" pitchFamily="34" charset="0"/>
                <a:ea typeface="Calibri" panose="020F0502020204030204" pitchFamily="34" charset="0"/>
                <a:cs typeface="Calibri" panose="020F0502020204030204" pitchFamily="34" charset="0"/>
              </a:rPr>
              <a:t>Tasks</a:t>
            </a:r>
            <a:r>
              <a:rPr lang="en-IN" dirty="0">
                <a:latin typeface="Calibri" panose="020F0502020204030204" pitchFamily="34" charset="0"/>
                <a:ea typeface="Calibri" panose="020F0502020204030204" pitchFamily="34" charset="0"/>
                <a:cs typeface="Calibri" panose="020F0502020204030204" pitchFamily="34" charset="0"/>
              </a:rPr>
              <a:t> instead of manually creating and managing Thread objects.</a:t>
            </a:r>
          </a:p>
          <a:p>
            <a:r>
              <a:rPr lang="en-IN" dirty="0">
                <a:latin typeface="Calibri" panose="020F0502020204030204" pitchFamily="34" charset="0"/>
                <a:ea typeface="Calibri" panose="020F0502020204030204" pitchFamily="34" charset="0"/>
                <a:cs typeface="Calibri" panose="020F0502020204030204" pitchFamily="34" charset="0"/>
              </a:rPr>
              <a:t>The TPL automatically uses the </a:t>
            </a:r>
            <a:r>
              <a:rPr lang="en-IN" b="1" dirty="0" err="1">
                <a:latin typeface="Calibri" panose="020F0502020204030204" pitchFamily="34" charset="0"/>
                <a:ea typeface="Calibri" panose="020F0502020204030204" pitchFamily="34" charset="0"/>
                <a:cs typeface="Calibri" panose="020F0502020204030204" pitchFamily="34" charset="0"/>
              </a:rPr>
              <a:t>ThreadPool</a:t>
            </a:r>
            <a:r>
              <a:rPr lang="en-IN" dirty="0">
                <a:latin typeface="Calibri" panose="020F0502020204030204" pitchFamily="34" charset="0"/>
                <a:ea typeface="Calibri" panose="020F0502020204030204" pitchFamily="34" charset="0"/>
                <a:cs typeface="Calibri" panose="020F0502020204030204" pitchFamily="34" charset="0"/>
              </a:rPr>
              <a:t> to efficiently schedule and run tasks across multiple processor cores.</a:t>
            </a:r>
          </a:p>
        </p:txBody>
      </p:sp>
    </p:spTree>
    <p:extLst>
      <p:ext uri="{BB962C8B-B14F-4D97-AF65-F5344CB8AC3E}">
        <p14:creationId xmlns:p14="http://schemas.microsoft.com/office/powerpoint/2010/main" val="160618080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5330A-DCFC-2E46-2C4D-4005C95E34CB}"/>
              </a:ext>
            </a:extLst>
          </p:cNvPr>
          <p:cNvSpPr>
            <a:spLocks noGrp="1"/>
          </p:cNvSpPr>
          <p:nvPr>
            <p:ph type="title"/>
          </p:nvPr>
        </p:nvSpPr>
        <p:spPr/>
        <p:txBody>
          <a:bodyPr/>
          <a:lstStyle/>
          <a:p>
            <a:r>
              <a:rPr lang="en-US" dirty="0"/>
              <a:t>KEY ASPECTS OF TASK IN C#</a:t>
            </a:r>
          </a:p>
        </p:txBody>
      </p:sp>
      <p:sp>
        <p:nvSpPr>
          <p:cNvPr id="3" name="Text Placeholder 2">
            <a:extLst>
              <a:ext uri="{FF2B5EF4-FFF2-40B4-BE49-F238E27FC236}">
                <a16:creationId xmlns:a16="http://schemas.microsoft.com/office/drawing/2014/main" id="{D761A802-9BEA-0FEA-D236-0CC63F821E93}"/>
              </a:ext>
            </a:extLst>
          </p:cNvPr>
          <p:cNvSpPr>
            <a:spLocks noGrp="1"/>
          </p:cNvSpPr>
          <p:nvPr>
            <p:ph type="body" idx="1"/>
          </p:nvPr>
        </p:nvSpPr>
        <p:spPr/>
        <p:txBody>
          <a:bodyPr>
            <a:normAutofit/>
          </a:bodyPr>
          <a:lstStyle/>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1. Asynchronous Operations</a:t>
            </a:r>
          </a:p>
          <a:p>
            <a:pPr lvl="1"/>
            <a:r>
              <a:rPr lang="en-IN" sz="1600" dirty="0">
                <a:latin typeface="Calibri" panose="020F0502020204030204" pitchFamily="34" charset="0"/>
                <a:ea typeface="Calibri" panose="020F0502020204030204" pitchFamily="34" charset="0"/>
                <a:cs typeface="Calibri" panose="020F0502020204030204" pitchFamily="34" charset="0"/>
              </a:rPr>
              <a:t>Tasks enable you to perform operations </a:t>
            </a:r>
            <a:r>
              <a:rPr lang="en-IN" sz="1600" b="1" dirty="0">
                <a:latin typeface="Calibri" panose="020F0502020204030204" pitchFamily="34" charset="0"/>
                <a:ea typeface="Calibri" panose="020F0502020204030204" pitchFamily="34" charset="0"/>
                <a:cs typeface="Calibri" panose="020F0502020204030204" pitchFamily="34" charset="0"/>
              </a:rPr>
              <a:t>without blocking the main thread</a:t>
            </a:r>
            <a:r>
              <a:rPr lang="en-IN" sz="1600" dirty="0">
                <a:latin typeface="Calibri" panose="020F0502020204030204" pitchFamily="34" charset="0"/>
                <a:ea typeface="Calibri" panose="020F0502020204030204" pitchFamily="34" charset="0"/>
                <a:cs typeface="Calibri" panose="020F0502020204030204" pitchFamily="34" charset="0"/>
              </a:rPr>
              <a:t>, ensuring smooth performance — especially in UI-based or long-running applications.</a:t>
            </a:r>
          </a:p>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2. Namespace</a:t>
            </a:r>
          </a:p>
          <a:p>
            <a:pPr lvl="1"/>
            <a:r>
              <a:rPr lang="en-IN" sz="1600" dirty="0">
                <a:latin typeface="Calibri" panose="020F0502020204030204" pitchFamily="34" charset="0"/>
                <a:ea typeface="Calibri" panose="020F0502020204030204" pitchFamily="34" charset="0"/>
                <a:cs typeface="Calibri" panose="020F0502020204030204" pitchFamily="34" charset="0"/>
              </a:rPr>
              <a:t>Tasks belong to the </a:t>
            </a:r>
            <a:r>
              <a:rPr lang="en-IN" sz="1600" b="1" dirty="0" err="1">
                <a:latin typeface="Calibri" panose="020F0502020204030204" pitchFamily="34" charset="0"/>
                <a:ea typeface="Calibri" panose="020F0502020204030204" pitchFamily="34" charset="0"/>
                <a:cs typeface="Calibri" panose="020F0502020204030204" pitchFamily="34" charset="0"/>
              </a:rPr>
              <a:t>System.Threading.Tasks</a:t>
            </a:r>
            <a:r>
              <a:rPr lang="en-IN" sz="1600" dirty="0">
                <a:latin typeface="Calibri" panose="020F0502020204030204" pitchFamily="34" charset="0"/>
                <a:ea typeface="Calibri" panose="020F0502020204030204" pitchFamily="34" charset="0"/>
                <a:cs typeface="Calibri" panose="020F0502020204030204" pitchFamily="34" charset="0"/>
              </a:rPr>
              <a:t> namespace.</a:t>
            </a:r>
          </a:p>
          <a:p>
            <a:pPr marL="139700" indent="0">
              <a:buNone/>
            </a:pPr>
            <a:r>
              <a:rPr lang="en-IN" sz="1600" b="1" dirty="0">
                <a:latin typeface="Calibri" panose="020F0502020204030204" pitchFamily="34" charset="0"/>
                <a:ea typeface="Calibri" panose="020F0502020204030204" pitchFamily="34" charset="0"/>
                <a:cs typeface="Calibri" panose="020F0502020204030204" pitchFamily="34" charset="0"/>
              </a:rPr>
              <a:t>3. Task vs. Task&lt;</a:t>
            </a:r>
            <a:r>
              <a:rPr lang="en-IN" sz="1600" b="1" dirty="0" err="1">
                <a:latin typeface="Calibri" panose="020F0502020204030204" pitchFamily="34" charset="0"/>
                <a:ea typeface="Calibri" panose="020F0502020204030204" pitchFamily="34" charset="0"/>
                <a:cs typeface="Calibri" panose="020F0502020204030204" pitchFamily="34" charset="0"/>
              </a:rPr>
              <a:t>TResult</a:t>
            </a:r>
            <a:r>
              <a:rPr lang="en-IN" sz="1600" b="1" dirty="0">
                <a:latin typeface="Calibri" panose="020F0502020204030204" pitchFamily="34" charset="0"/>
                <a:ea typeface="Calibri" panose="020F0502020204030204" pitchFamily="34" charset="0"/>
                <a:cs typeface="Calibri" panose="020F0502020204030204" pitchFamily="34" charset="0"/>
              </a:rPr>
              <a:t>&gt;</a:t>
            </a:r>
          </a:p>
          <a:p>
            <a:pPr lvl="1"/>
            <a:r>
              <a:rPr lang="en-IN" sz="1600" b="1" dirty="0">
                <a:latin typeface="Calibri" panose="020F0502020204030204" pitchFamily="34" charset="0"/>
                <a:ea typeface="Calibri" panose="020F0502020204030204" pitchFamily="34" charset="0"/>
                <a:cs typeface="Calibri" panose="020F0502020204030204" pitchFamily="34" charset="0"/>
              </a:rPr>
              <a:t>Task</a:t>
            </a:r>
            <a:r>
              <a:rPr lang="en-IN" sz="1600" dirty="0">
                <a:latin typeface="Calibri" panose="020F0502020204030204" pitchFamily="34" charset="0"/>
                <a:ea typeface="Calibri" panose="020F0502020204030204" pitchFamily="34" charset="0"/>
                <a:cs typeface="Calibri" panose="020F0502020204030204" pitchFamily="34" charset="0"/>
              </a:rPr>
              <a:t> → Represents an asynchronous operation that </a:t>
            </a:r>
            <a:r>
              <a:rPr lang="en-IN" sz="1600" b="1" dirty="0">
                <a:latin typeface="Calibri" panose="020F0502020204030204" pitchFamily="34" charset="0"/>
                <a:ea typeface="Calibri" panose="020F0502020204030204" pitchFamily="34" charset="0"/>
                <a:cs typeface="Calibri" panose="020F0502020204030204" pitchFamily="34" charset="0"/>
              </a:rPr>
              <a:t>does not return a value</a:t>
            </a:r>
            <a:r>
              <a:rPr lang="en-IN" sz="1600" dirty="0">
                <a:latin typeface="Calibri" panose="020F0502020204030204" pitchFamily="34" charset="0"/>
                <a:ea typeface="Calibri" panose="020F0502020204030204" pitchFamily="34" charset="0"/>
                <a:cs typeface="Calibri" panose="020F0502020204030204" pitchFamily="34" charset="0"/>
              </a:rPr>
              <a:t> (like void).</a:t>
            </a:r>
          </a:p>
          <a:p>
            <a:pPr lvl="1"/>
            <a:r>
              <a:rPr lang="en-IN" sz="1600" b="1" dirty="0">
                <a:latin typeface="Calibri" panose="020F0502020204030204" pitchFamily="34" charset="0"/>
                <a:ea typeface="Calibri" panose="020F0502020204030204" pitchFamily="34" charset="0"/>
                <a:cs typeface="Calibri" panose="020F0502020204030204" pitchFamily="34" charset="0"/>
              </a:rPr>
              <a:t>Task&lt;</a:t>
            </a:r>
            <a:r>
              <a:rPr lang="en-IN" sz="1600" b="1" dirty="0" err="1">
                <a:latin typeface="Calibri" panose="020F0502020204030204" pitchFamily="34" charset="0"/>
                <a:ea typeface="Calibri" panose="020F0502020204030204" pitchFamily="34" charset="0"/>
                <a:cs typeface="Calibri" panose="020F0502020204030204" pitchFamily="34" charset="0"/>
              </a:rPr>
              <a:t>TResult</a:t>
            </a:r>
            <a:r>
              <a:rPr lang="en-IN" sz="1600" b="1" dirty="0">
                <a:latin typeface="Calibri" panose="020F0502020204030204" pitchFamily="34" charset="0"/>
                <a:ea typeface="Calibri" panose="020F0502020204030204" pitchFamily="34" charset="0"/>
                <a:cs typeface="Calibri" panose="020F0502020204030204" pitchFamily="34" charset="0"/>
              </a:rPr>
              <a:t>&gt;</a:t>
            </a:r>
            <a:r>
              <a:rPr lang="en-IN" sz="1600" dirty="0">
                <a:latin typeface="Calibri" panose="020F0502020204030204" pitchFamily="34" charset="0"/>
                <a:ea typeface="Calibri" panose="020F0502020204030204" pitchFamily="34" charset="0"/>
                <a:cs typeface="Calibri" panose="020F0502020204030204" pitchFamily="34" charset="0"/>
              </a:rPr>
              <a:t> → Represents an asynchronous operation that </a:t>
            </a:r>
            <a:r>
              <a:rPr lang="en-IN" sz="1600" b="1" dirty="0">
                <a:latin typeface="Calibri" panose="020F0502020204030204" pitchFamily="34" charset="0"/>
                <a:ea typeface="Calibri" panose="020F0502020204030204" pitchFamily="34" charset="0"/>
                <a:cs typeface="Calibri" panose="020F0502020204030204" pitchFamily="34" charset="0"/>
              </a:rPr>
              <a:t>returns a result</a:t>
            </a:r>
            <a:r>
              <a:rPr lang="en-IN" sz="1600" dirty="0">
                <a:latin typeface="Calibri" panose="020F0502020204030204" pitchFamily="34" charset="0"/>
                <a:ea typeface="Calibri" panose="020F0502020204030204" pitchFamily="34" charset="0"/>
                <a:cs typeface="Calibri" panose="020F0502020204030204" pitchFamily="34" charset="0"/>
              </a:rPr>
              <a:t>.</a:t>
            </a:r>
          </a:p>
          <a:p>
            <a:pPr marL="139700" indent="0">
              <a:buNone/>
            </a:pP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57241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E009E-F377-4633-9807-9C241BF31AB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586BE09-A579-B052-74CD-22ABF606AC19}"/>
              </a:ext>
            </a:extLst>
          </p:cNvPr>
          <p:cNvSpPr>
            <a:spLocks noGrp="1"/>
          </p:cNvSpPr>
          <p:nvPr>
            <p:ph type="body" idx="1"/>
          </p:nvPr>
        </p:nvSpPr>
        <p:spPr/>
        <p:txBody>
          <a:bodyPr/>
          <a:lstStyle/>
          <a:p>
            <a:pPr marL="139700" indent="0">
              <a:buNone/>
            </a:pPr>
            <a:r>
              <a:rPr lang="en-US" dirty="0"/>
              <a:t>4.</a:t>
            </a:r>
            <a:r>
              <a:rPr lang="en-IN" dirty="0"/>
              <a:t> Creating and Running Tasks: </a:t>
            </a:r>
          </a:p>
          <a:p>
            <a:pPr lvl="1"/>
            <a:r>
              <a:rPr lang="en-IN" dirty="0" err="1"/>
              <a:t>Task.Run</a:t>
            </a:r>
            <a:r>
              <a:rPr lang="en-IN" dirty="0"/>
              <a:t>(): A common and convenient way to start a new task on a thread pool thread, often used with lambda expressions to define the work to be done. </a:t>
            </a:r>
          </a:p>
          <a:p>
            <a:pPr lvl="1"/>
            <a:r>
              <a:rPr lang="en-IN" dirty="0" err="1"/>
              <a:t>Task.Factory.StartNew</a:t>
            </a:r>
            <a:r>
              <a:rPr lang="en-IN" dirty="0"/>
              <a:t>(): Offers more control over task creation options, though </a:t>
            </a:r>
            <a:r>
              <a:rPr lang="en-IN" dirty="0" err="1"/>
              <a:t>Task.Run</a:t>
            </a:r>
            <a:r>
              <a:rPr lang="en-IN" dirty="0"/>
              <a:t> is generally preferred for simpler scenarios.</a:t>
            </a:r>
          </a:p>
          <a:p>
            <a:pPr marL="139700" indent="0">
              <a:buNone/>
            </a:pPr>
            <a:r>
              <a:rPr lang="en-IN" b="1" dirty="0"/>
              <a:t>5. Async and Await</a:t>
            </a:r>
          </a:p>
          <a:p>
            <a:pPr lvl="1"/>
            <a:r>
              <a:rPr lang="en-IN" dirty="0"/>
              <a:t>The </a:t>
            </a:r>
            <a:r>
              <a:rPr lang="en-IN" b="1" dirty="0"/>
              <a:t>async</a:t>
            </a:r>
            <a:r>
              <a:rPr lang="en-IN" dirty="0"/>
              <a:t> and </a:t>
            </a:r>
            <a:r>
              <a:rPr lang="en-IN" b="1" dirty="0"/>
              <a:t>await</a:t>
            </a:r>
            <a:r>
              <a:rPr lang="en-IN" dirty="0"/>
              <a:t> keywords make asynchronous programming </a:t>
            </a:r>
            <a:r>
              <a:rPr lang="en-IN" b="1" dirty="0"/>
              <a:t>more readable and efficient</a:t>
            </a:r>
            <a:r>
              <a:rPr lang="en-IN" dirty="0"/>
              <a:t>.</a:t>
            </a:r>
          </a:p>
          <a:p>
            <a:pPr lvl="1"/>
            <a:r>
              <a:rPr lang="en-IN" dirty="0"/>
              <a:t>They automatically handle continuation and don’t block the calling thread.</a:t>
            </a:r>
          </a:p>
          <a:p>
            <a:pPr marL="139700" indent="0">
              <a:buNone/>
            </a:pPr>
            <a:endParaRPr lang="en-US" dirty="0"/>
          </a:p>
        </p:txBody>
      </p:sp>
    </p:spTree>
    <p:extLst>
      <p:ext uri="{BB962C8B-B14F-4D97-AF65-F5344CB8AC3E}">
        <p14:creationId xmlns:p14="http://schemas.microsoft.com/office/powerpoint/2010/main" val="124316182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73212E-BC40-87DB-BBA2-51C80FD06003}"/>
              </a:ext>
            </a:extLst>
          </p:cNvPr>
          <p:cNvSpPr>
            <a:spLocks noGrp="1"/>
          </p:cNvSpPr>
          <p:nvPr>
            <p:ph type="body" idx="1"/>
          </p:nvPr>
        </p:nvSpPr>
        <p:spPr>
          <a:xfrm>
            <a:off x="514350" y="1257300"/>
            <a:ext cx="8115300" cy="3368040"/>
          </a:xfrm>
        </p:spPr>
        <p:txBody>
          <a:bodyPr>
            <a:noAutofit/>
          </a:bodyPr>
          <a:lstStyle/>
          <a:p>
            <a:pPr marL="139700" indent="0">
              <a:buNone/>
            </a:pPr>
            <a:r>
              <a:rPr lang="en-IN" sz="1600" dirty="0">
                <a:latin typeface="Calibri" panose="020F0502020204030204" pitchFamily="34" charset="0"/>
                <a:ea typeface="Calibri" panose="020F0502020204030204" pitchFamily="34" charset="0"/>
                <a:cs typeface="Calibri" panose="020F0502020204030204" pitchFamily="34" charset="0"/>
              </a:rPr>
              <a:t>6.Waiting for Task Completion: </a:t>
            </a:r>
          </a:p>
          <a:p>
            <a:pPr lvl="1"/>
            <a:r>
              <a:rPr lang="en-IN" sz="1600" dirty="0" err="1">
                <a:latin typeface="Calibri" panose="020F0502020204030204" pitchFamily="34" charset="0"/>
                <a:ea typeface="Calibri" panose="020F0502020204030204" pitchFamily="34" charset="0"/>
                <a:cs typeface="Calibri" panose="020F0502020204030204" pitchFamily="34" charset="0"/>
              </a:rPr>
              <a:t>Task.Wait</a:t>
            </a:r>
            <a:r>
              <a:rPr lang="en-IN" sz="1600" dirty="0">
                <a:latin typeface="Calibri" panose="020F0502020204030204" pitchFamily="34" charset="0"/>
                <a:ea typeface="Calibri" panose="020F0502020204030204" pitchFamily="34" charset="0"/>
                <a:cs typeface="Calibri" panose="020F0502020204030204" pitchFamily="34" charset="0"/>
              </a:rPr>
              <a:t>(): Blocks the calling thread until the task completes. This should be used with caution as it can negate the benefits of asynchronous programming if used on the main thread. </a:t>
            </a:r>
          </a:p>
          <a:p>
            <a:pPr lvl="1"/>
            <a:r>
              <a:rPr lang="en-IN" sz="1600" dirty="0">
                <a:latin typeface="Calibri" panose="020F0502020204030204" pitchFamily="34" charset="0"/>
                <a:ea typeface="Calibri" panose="020F0502020204030204" pitchFamily="34" charset="0"/>
                <a:cs typeface="Calibri" panose="020F0502020204030204" pitchFamily="34" charset="0"/>
              </a:rPr>
              <a:t>await keyword: When used with an async method, await asynchronously waits for a task to complete without blocking the calling thread</a:t>
            </a:r>
          </a:p>
          <a:p>
            <a:pPr marL="139700" indent="0">
              <a:buNone/>
            </a:pPr>
            <a:r>
              <a:rPr lang="en-US" sz="1600" dirty="0">
                <a:latin typeface="Calibri" panose="020F0502020204030204" pitchFamily="34" charset="0"/>
                <a:ea typeface="Calibri" panose="020F0502020204030204" pitchFamily="34" charset="0"/>
                <a:cs typeface="Calibri" panose="020F0502020204030204" pitchFamily="34" charset="0"/>
              </a:rPr>
              <a:t>7.</a:t>
            </a:r>
            <a:r>
              <a:rPr lang="en-IN" sz="1600" dirty="0">
                <a:latin typeface="Calibri" panose="020F0502020204030204" pitchFamily="34" charset="0"/>
                <a:ea typeface="Calibri" panose="020F0502020204030204" pitchFamily="34" charset="0"/>
                <a:cs typeface="Calibri" panose="020F0502020204030204" pitchFamily="34" charset="0"/>
              </a:rPr>
              <a:t> Cancellation: </a:t>
            </a:r>
          </a:p>
          <a:p>
            <a:pPr lvl="1"/>
            <a:r>
              <a:rPr lang="en-IN" sz="1600" dirty="0">
                <a:latin typeface="Calibri" panose="020F0502020204030204" pitchFamily="34" charset="0"/>
                <a:ea typeface="Calibri" panose="020F0502020204030204" pitchFamily="34" charset="0"/>
                <a:cs typeface="Calibri" panose="020F0502020204030204" pitchFamily="34" charset="0"/>
              </a:rPr>
              <a:t>Tasks support cancellation through </a:t>
            </a:r>
            <a:r>
              <a:rPr lang="en-IN" sz="1600" dirty="0" err="1">
                <a:latin typeface="Calibri" panose="020F0502020204030204" pitchFamily="34" charset="0"/>
                <a:ea typeface="Calibri" panose="020F0502020204030204" pitchFamily="34" charset="0"/>
                <a:cs typeface="Calibri" panose="020F0502020204030204" pitchFamily="34" charset="0"/>
              </a:rPr>
              <a:t>CancellationToken</a:t>
            </a:r>
            <a:r>
              <a:rPr lang="en-IN" sz="1600" dirty="0">
                <a:latin typeface="Calibri" panose="020F0502020204030204" pitchFamily="34" charset="0"/>
                <a:ea typeface="Calibri" panose="020F0502020204030204" pitchFamily="34" charset="0"/>
                <a:cs typeface="Calibri" panose="020F0502020204030204" pitchFamily="34" charset="0"/>
              </a:rPr>
              <a:t> and </a:t>
            </a:r>
            <a:r>
              <a:rPr lang="en-IN" sz="1600" dirty="0" err="1">
                <a:latin typeface="Calibri" panose="020F0502020204030204" pitchFamily="34" charset="0"/>
                <a:ea typeface="Calibri" panose="020F0502020204030204" pitchFamily="34" charset="0"/>
                <a:cs typeface="Calibri" panose="020F0502020204030204" pitchFamily="34" charset="0"/>
              </a:rPr>
              <a:t>CancellationTokenSource</a:t>
            </a:r>
            <a:r>
              <a:rPr lang="en-IN" sz="1600" dirty="0">
                <a:latin typeface="Calibri" panose="020F0502020204030204" pitchFamily="34" charset="0"/>
                <a:ea typeface="Calibri" panose="020F0502020204030204" pitchFamily="34" charset="0"/>
                <a:cs typeface="Calibri" panose="020F0502020204030204" pitchFamily="34" charset="0"/>
              </a:rPr>
              <a:t>, allowing you to gracefully stop long-running operations. </a:t>
            </a:r>
          </a:p>
          <a:p>
            <a:pPr marL="139700" indent="0">
              <a:buNone/>
            </a:pPr>
            <a:r>
              <a:rPr lang="en-IN" sz="1600" dirty="0">
                <a:latin typeface="Calibri" panose="020F0502020204030204" pitchFamily="34" charset="0"/>
                <a:ea typeface="Calibri" panose="020F0502020204030204" pitchFamily="34" charset="0"/>
                <a:cs typeface="Calibri" panose="020F0502020204030204" pitchFamily="34" charset="0"/>
              </a:rPr>
              <a:t>8.Exception Handling: </a:t>
            </a:r>
          </a:p>
          <a:p>
            <a:pPr lvl="1"/>
            <a:r>
              <a:rPr lang="en-IN" sz="1600" dirty="0">
                <a:latin typeface="Calibri" panose="020F0502020204030204" pitchFamily="34" charset="0"/>
                <a:ea typeface="Calibri" panose="020F0502020204030204" pitchFamily="34" charset="0"/>
                <a:cs typeface="Calibri" panose="020F0502020204030204" pitchFamily="34" charset="0"/>
              </a:rPr>
              <a:t>Tasks handle exceptions by encapsulating them within an </a:t>
            </a:r>
            <a:r>
              <a:rPr lang="en-IN" sz="1600" dirty="0" err="1">
                <a:latin typeface="Calibri" panose="020F0502020204030204" pitchFamily="34" charset="0"/>
                <a:ea typeface="Calibri" panose="020F0502020204030204" pitchFamily="34" charset="0"/>
                <a:cs typeface="Calibri" panose="020F0502020204030204" pitchFamily="34" charset="0"/>
              </a:rPr>
              <a:t>AggregateException</a:t>
            </a:r>
            <a:r>
              <a:rPr lang="en-IN" sz="1600" dirty="0">
                <a:latin typeface="Calibri" panose="020F0502020204030204" pitchFamily="34" charset="0"/>
                <a:ea typeface="Calibri" panose="020F0502020204030204" pitchFamily="34" charset="0"/>
                <a:cs typeface="Calibri" panose="020F0502020204030204" pitchFamily="34" charset="0"/>
              </a:rPr>
              <a:t> (though await will re-throw the first inner exception directly).</a:t>
            </a:r>
          </a:p>
        </p:txBody>
      </p:sp>
    </p:spTree>
    <p:extLst>
      <p:ext uri="{BB962C8B-B14F-4D97-AF65-F5344CB8AC3E}">
        <p14:creationId xmlns:p14="http://schemas.microsoft.com/office/powerpoint/2010/main" val="143149593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CDE40-60EF-BC67-2088-4F7D2F49C4F1}"/>
              </a:ext>
            </a:extLst>
          </p:cNvPr>
          <p:cNvSpPr>
            <a:spLocks noGrp="1"/>
          </p:cNvSpPr>
          <p:nvPr>
            <p:ph type="title"/>
          </p:nvPr>
        </p:nvSpPr>
        <p:spPr/>
        <p:txBody>
          <a:bodyPr/>
          <a:lstStyle/>
          <a:p>
            <a:r>
              <a:rPr lang="en-US" dirty="0"/>
              <a:t>DIFFERENCE BETWEEN THREAD VS TASK</a:t>
            </a:r>
          </a:p>
        </p:txBody>
      </p:sp>
      <p:graphicFrame>
        <p:nvGraphicFramePr>
          <p:cNvPr id="4" name="Table 3">
            <a:extLst>
              <a:ext uri="{FF2B5EF4-FFF2-40B4-BE49-F238E27FC236}">
                <a16:creationId xmlns:a16="http://schemas.microsoft.com/office/drawing/2014/main" id="{083E833C-9A87-814A-9A76-E9EE31C01E1B}"/>
              </a:ext>
            </a:extLst>
          </p:cNvPr>
          <p:cNvGraphicFramePr>
            <a:graphicFrameLocks noGrp="1"/>
          </p:cNvGraphicFramePr>
          <p:nvPr>
            <p:extLst>
              <p:ext uri="{D42A27DB-BD31-4B8C-83A1-F6EECF244321}">
                <p14:modId xmlns:p14="http://schemas.microsoft.com/office/powerpoint/2010/main" val="347643894"/>
              </p:ext>
            </p:extLst>
          </p:nvPr>
        </p:nvGraphicFramePr>
        <p:xfrm>
          <a:off x="988742" y="1645920"/>
          <a:ext cx="7367238" cy="3307080"/>
        </p:xfrm>
        <a:graphic>
          <a:graphicData uri="http://schemas.openxmlformats.org/drawingml/2006/table">
            <a:tbl>
              <a:tblPr firstRow="1" bandRow="1">
                <a:tableStyleId>{AE08A2B5-FEC1-4821-B64D-F3B82E1F7B7F}</a:tableStyleId>
              </a:tblPr>
              <a:tblGrid>
                <a:gridCol w="1591262">
                  <a:extLst>
                    <a:ext uri="{9D8B030D-6E8A-4147-A177-3AD203B41FA5}">
                      <a16:colId xmlns:a16="http://schemas.microsoft.com/office/drawing/2014/main" val="345981050"/>
                    </a:ext>
                  </a:extLst>
                </a:gridCol>
                <a:gridCol w="2715857">
                  <a:extLst>
                    <a:ext uri="{9D8B030D-6E8A-4147-A177-3AD203B41FA5}">
                      <a16:colId xmlns:a16="http://schemas.microsoft.com/office/drawing/2014/main" val="2418692736"/>
                    </a:ext>
                  </a:extLst>
                </a:gridCol>
                <a:gridCol w="3060119">
                  <a:extLst>
                    <a:ext uri="{9D8B030D-6E8A-4147-A177-3AD203B41FA5}">
                      <a16:colId xmlns:a16="http://schemas.microsoft.com/office/drawing/2014/main" val="2805532692"/>
                    </a:ext>
                  </a:extLst>
                </a:gridCol>
              </a:tblGrid>
              <a:tr h="370840">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Feature</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Thread</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Task</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503858150"/>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Definition</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A </a:t>
                      </a:r>
                      <a:r>
                        <a:rPr lang="en-IN" i="1">
                          <a:latin typeface="Calibri" panose="020F0502020204030204" pitchFamily="34" charset="0"/>
                          <a:ea typeface="Calibri" panose="020F0502020204030204" pitchFamily="34" charset="0"/>
                          <a:cs typeface="Calibri" panose="020F0502020204030204" pitchFamily="34" charset="0"/>
                        </a:rPr>
                        <a:t>Thread</a:t>
                      </a:r>
                      <a:r>
                        <a:rPr lang="en-IN">
                          <a:latin typeface="Calibri" panose="020F0502020204030204" pitchFamily="34" charset="0"/>
                          <a:ea typeface="Calibri" panose="020F0502020204030204" pitchFamily="34" charset="0"/>
                          <a:cs typeface="Calibri" panose="020F0502020204030204" pitchFamily="34" charset="0"/>
                        </a:rPr>
                        <a:t> is the basic unit of CPU execution. It represents an independent path of execution in a program.</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A </a:t>
                      </a:r>
                      <a:r>
                        <a:rPr lang="en-IN" i="1" dirty="0">
                          <a:latin typeface="Calibri" panose="020F0502020204030204" pitchFamily="34" charset="0"/>
                          <a:ea typeface="Calibri" panose="020F0502020204030204" pitchFamily="34" charset="0"/>
                          <a:cs typeface="Calibri" panose="020F0502020204030204" pitchFamily="34" charset="0"/>
                        </a:rPr>
                        <a:t>Task</a:t>
                      </a:r>
                      <a:r>
                        <a:rPr lang="en-IN" dirty="0">
                          <a:latin typeface="Calibri" panose="020F0502020204030204" pitchFamily="34" charset="0"/>
                          <a:ea typeface="Calibri" panose="020F0502020204030204" pitchFamily="34" charset="0"/>
                          <a:cs typeface="Calibri" panose="020F0502020204030204" pitchFamily="34" charset="0"/>
                        </a:rPr>
                        <a:t> is a higher-level abstraction that represents an </a:t>
                      </a:r>
                      <a:r>
                        <a:rPr lang="en-IN" b="1" dirty="0">
                          <a:latin typeface="Calibri" panose="020F0502020204030204" pitchFamily="34" charset="0"/>
                          <a:ea typeface="Calibri" panose="020F0502020204030204" pitchFamily="34" charset="0"/>
                          <a:cs typeface="Calibri" panose="020F0502020204030204" pitchFamily="34" charset="0"/>
                        </a:rPr>
                        <a:t>asynchronous operation</a:t>
                      </a:r>
                      <a:r>
                        <a:rPr lang="en-IN" dirty="0">
                          <a:latin typeface="Calibri" panose="020F0502020204030204" pitchFamily="34" charset="0"/>
                          <a:ea typeface="Calibri" panose="020F0502020204030204" pitchFamily="34" charset="0"/>
                          <a:cs typeface="Calibri" panose="020F0502020204030204" pitchFamily="34" charset="0"/>
                        </a:rPr>
                        <a:t>, built on top of threads.</a:t>
                      </a:r>
                    </a:p>
                  </a:txBody>
                  <a:tcPr anchor="ctr"/>
                </a:tc>
                <a:extLst>
                  <a:ext uri="{0D108BD9-81ED-4DB2-BD59-A6C34878D82A}">
                    <a16:rowId xmlns:a16="http://schemas.microsoft.com/office/drawing/2014/main" val="1478131304"/>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Namespace</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System.Threading</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System.Threading.Tasks</a:t>
                      </a:r>
                    </a:p>
                  </a:txBody>
                  <a:tcPr anchor="ctr"/>
                </a:tc>
                <a:extLst>
                  <a:ext uri="{0D108BD9-81ED-4DB2-BD59-A6C34878D82A}">
                    <a16:rowId xmlns:a16="http://schemas.microsoft.com/office/drawing/2014/main" val="1337217342"/>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Creation</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Created manually using the Thread class.</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Created easily using Task.Run() or Task.Factory.StartNew().</a:t>
                      </a:r>
                    </a:p>
                  </a:txBody>
                  <a:tcPr anchor="ctr"/>
                </a:tc>
                <a:extLst>
                  <a:ext uri="{0D108BD9-81ED-4DB2-BD59-A6C34878D82A}">
                    <a16:rowId xmlns:a16="http://schemas.microsoft.com/office/drawing/2014/main" val="425777230"/>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Return Value</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Cannot directly return a value.</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Can return a value using Task&lt;TResult&gt;.</a:t>
                      </a:r>
                    </a:p>
                  </a:txBody>
                  <a:tcPr anchor="ctr"/>
                </a:tc>
                <a:extLst>
                  <a:ext uri="{0D108BD9-81ED-4DB2-BD59-A6C34878D82A}">
                    <a16:rowId xmlns:a16="http://schemas.microsoft.com/office/drawing/2014/main" val="2281727634"/>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Exception Handling</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Must be handled manually (e.g., try-catch inside the thread method).</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Exception handling is built-in; can be caught with await or </a:t>
                      </a:r>
                      <a:r>
                        <a:rPr lang="en-IN" dirty="0" err="1">
                          <a:latin typeface="Calibri" panose="020F0502020204030204" pitchFamily="34" charset="0"/>
                          <a:ea typeface="Calibri" panose="020F0502020204030204" pitchFamily="34" charset="0"/>
                          <a:cs typeface="Calibri" panose="020F0502020204030204" pitchFamily="34" charset="0"/>
                        </a:rPr>
                        <a:t>Task.Exception</a:t>
                      </a:r>
                      <a:r>
                        <a:rPr lang="en-IN" dirty="0">
                          <a:latin typeface="Calibri" panose="020F0502020204030204" pitchFamily="34" charset="0"/>
                          <a:ea typeface="Calibri" panose="020F0502020204030204" pitchFamily="34" charset="0"/>
                          <a:cs typeface="Calibri" panose="020F0502020204030204" pitchFamily="34" charset="0"/>
                        </a:rPr>
                        <a:t>.</a:t>
                      </a:r>
                    </a:p>
                  </a:txBody>
                  <a:tcPr anchor="ctr"/>
                </a:tc>
                <a:extLst>
                  <a:ext uri="{0D108BD9-81ED-4DB2-BD59-A6C34878D82A}">
                    <a16:rowId xmlns:a16="http://schemas.microsoft.com/office/drawing/2014/main" val="549195620"/>
                  </a:ext>
                </a:extLst>
              </a:tr>
            </a:tbl>
          </a:graphicData>
        </a:graphic>
      </p:graphicFrame>
    </p:spTree>
    <p:extLst>
      <p:ext uri="{BB962C8B-B14F-4D97-AF65-F5344CB8AC3E}">
        <p14:creationId xmlns:p14="http://schemas.microsoft.com/office/powerpoint/2010/main" val="373821865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C7DFD9-1FB9-B1D4-B29A-7FC3FD1A9C53}"/>
              </a:ext>
            </a:extLst>
          </p:cNvPr>
          <p:cNvGraphicFramePr>
            <a:graphicFrameLocks noGrp="1"/>
          </p:cNvGraphicFramePr>
          <p:nvPr>
            <p:extLst>
              <p:ext uri="{D42A27DB-BD31-4B8C-83A1-F6EECF244321}">
                <p14:modId xmlns:p14="http://schemas.microsoft.com/office/powerpoint/2010/main" val="2500654080"/>
              </p:ext>
            </p:extLst>
          </p:nvPr>
        </p:nvGraphicFramePr>
        <p:xfrm>
          <a:off x="1029628" y="1367094"/>
          <a:ext cx="7084743" cy="3296920"/>
        </p:xfrm>
        <a:graphic>
          <a:graphicData uri="http://schemas.openxmlformats.org/drawingml/2006/table">
            <a:tbl>
              <a:tblPr firstRow="1" bandRow="1">
                <a:tableStyleId>{AE08A2B5-FEC1-4821-B64D-F3B82E1F7B7F}</a:tableStyleId>
              </a:tblPr>
              <a:tblGrid>
                <a:gridCol w="1887660">
                  <a:extLst>
                    <a:ext uri="{9D8B030D-6E8A-4147-A177-3AD203B41FA5}">
                      <a16:colId xmlns:a16="http://schemas.microsoft.com/office/drawing/2014/main" val="652464565"/>
                    </a:ext>
                  </a:extLst>
                </a:gridCol>
                <a:gridCol w="2939927">
                  <a:extLst>
                    <a:ext uri="{9D8B030D-6E8A-4147-A177-3AD203B41FA5}">
                      <a16:colId xmlns:a16="http://schemas.microsoft.com/office/drawing/2014/main" val="3937436088"/>
                    </a:ext>
                  </a:extLst>
                </a:gridCol>
                <a:gridCol w="2257156">
                  <a:extLst>
                    <a:ext uri="{9D8B030D-6E8A-4147-A177-3AD203B41FA5}">
                      <a16:colId xmlns:a16="http://schemas.microsoft.com/office/drawing/2014/main" val="2249894363"/>
                    </a:ext>
                  </a:extLst>
                </a:gridCol>
              </a:tblGrid>
              <a:tr h="370840">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Feature</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Thread</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US" b="1" dirty="0">
                          <a:latin typeface="Calibri" panose="020F0502020204030204" pitchFamily="34" charset="0"/>
                          <a:ea typeface="Calibri" panose="020F0502020204030204" pitchFamily="34" charset="0"/>
                          <a:cs typeface="Calibri" panose="020F0502020204030204" pitchFamily="34" charset="0"/>
                        </a:rPr>
                        <a:t>Task</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432115824"/>
                  </a:ext>
                </a:extLst>
              </a:tr>
              <a:tr h="370840">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Synchronization</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You must manually handle synchronization and joining (thread.Join()).</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Automatically managed when you use await or Task.Wait().</a:t>
                      </a:r>
                    </a:p>
                  </a:txBody>
                  <a:tcPr anchor="ctr"/>
                </a:tc>
                <a:extLst>
                  <a:ext uri="{0D108BD9-81ED-4DB2-BD59-A6C34878D82A}">
                    <a16:rowId xmlns:a16="http://schemas.microsoft.com/office/drawing/2014/main" val="2377956298"/>
                  </a:ext>
                </a:extLst>
              </a:tr>
              <a:tr h="370840">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Performance</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Slightly lower-level; more control but harder to manage.</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More efficient for most async operations; uses thread pool automatically.</a:t>
                      </a:r>
                    </a:p>
                  </a:txBody>
                  <a:tcPr anchor="ctr"/>
                </a:tc>
                <a:extLst>
                  <a:ext uri="{0D108BD9-81ED-4DB2-BD59-A6C34878D82A}">
                    <a16:rowId xmlns:a16="http://schemas.microsoft.com/office/drawing/2014/main" val="4025273681"/>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Cancellation Support</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Must be manually implemented.</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Has built-in cancellation via CancellationToken.</a:t>
                      </a:r>
                    </a:p>
                  </a:txBody>
                  <a:tcPr anchor="ctr"/>
                </a:tc>
                <a:extLst>
                  <a:ext uri="{0D108BD9-81ED-4DB2-BD59-A6C34878D82A}">
                    <a16:rowId xmlns:a16="http://schemas.microsoft.com/office/drawing/2014/main" val="894252977"/>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Use Case</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When you need full control of thread behavior or background service threads.</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When you want to run async work, parallel tasks, or background operations easily.</a:t>
                      </a:r>
                    </a:p>
                  </a:txBody>
                  <a:tcPr anchor="ctr"/>
                </a:tc>
                <a:extLst>
                  <a:ext uri="{0D108BD9-81ED-4DB2-BD59-A6C34878D82A}">
                    <a16:rowId xmlns:a16="http://schemas.microsoft.com/office/drawing/2014/main" val="3276690957"/>
                  </a:ext>
                </a:extLst>
              </a:tr>
            </a:tbl>
          </a:graphicData>
        </a:graphic>
      </p:graphicFrame>
    </p:spTree>
    <p:extLst>
      <p:ext uri="{BB962C8B-B14F-4D97-AF65-F5344CB8AC3E}">
        <p14:creationId xmlns:p14="http://schemas.microsoft.com/office/powerpoint/2010/main" val="918161992"/>
      </p:ext>
    </p:extLst>
  </p:cSld>
  <p:clrMapOvr>
    <a:masterClrMapping/>
  </p:clrMapOvr>
</p:sld>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694</TotalTime>
  <Words>17215</Words>
  <Application>Microsoft Office PowerPoint</Application>
  <PresentationFormat>On-screen Show (16:9)</PresentationFormat>
  <Paragraphs>1576</Paragraphs>
  <Slides>215</Slides>
  <Notes>177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215</vt:i4>
      </vt:variant>
    </vt:vector>
  </HeadingPairs>
  <TitlesOfParts>
    <vt:vector size="225" baseType="lpstr">
      <vt:lpstr>Arial</vt:lpstr>
      <vt:lpstr>Century Gothic</vt:lpstr>
      <vt:lpstr>Roboto</vt:lpstr>
      <vt:lpstr>Courier New</vt:lpstr>
      <vt:lpstr>Nunito</vt:lpstr>
      <vt:lpstr>Noto Sans Symbols</vt:lpstr>
      <vt:lpstr>Roboto Mono</vt:lpstr>
      <vt:lpstr>Verdana</vt:lpstr>
      <vt:lpstr>Calibri</vt:lpstr>
      <vt:lpstr>Vapor Trail</vt:lpstr>
      <vt:lpstr>C# INTRODUCTION</vt:lpstr>
      <vt:lpstr>C# OVERVIEW</vt:lpstr>
      <vt:lpstr>KEY CHARACTERISTICS OF C#</vt:lpstr>
      <vt:lpstr>PowerPoint Presentation</vt:lpstr>
      <vt:lpstr>PowerPoint Presentation</vt:lpstr>
      <vt:lpstr>PowerPoint Presentation</vt:lpstr>
      <vt:lpstr>WHY C#</vt:lpstr>
      <vt:lpstr>PowerPoint Presentation</vt:lpstr>
      <vt:lpstr>PowerPoint Presentation</vt:lpstr>
      <vt:lpstr>C# APPLICATION</vt:lpstr>
      <vt:lpstr>VISUAL OF C#</vt:lpstr>
      <vt:lpstr>COMMON LANGUAGE RUNTIME (CLR)</vt:lpstr>
      <vt:lpstr>WHAT IS CLR?</vt:lpstr>
      <vt:lpstr>KEY RESPONSIBILITIES OF CLR</vt:lpstr>
      <vt:lpstr>PowerPoint Presentation</vt:lpstr>
      <vt:lpstr>PowerPoint Presentation</vt:lpstr>
      <vt:lpstr>CLR ARCHITECTURE</vt:lpstr>
      <vt:lpstr>HOW CLR WORKS: STEP BY STEP</vt:lpstr>
      <vt:lpstr>COMMON TYPE SYSTEM(CTS)</vt:lpstr>
      <vt:lpstr>CTS OVERVIEW</vt:lpstr>
      <vt:lpstr>PURPOSE OF CTS</vt:lpstr>
      <vt:lpstr>CATEGORIES OF CTS TYPES</vt:lpstr>
      <vt:lpstr>PowerPoint Presentation</vt:lpstr>
      <vt:lpstr>MODEL, VIEW,CONTROLLER</vt:lpstr>
      <vt:lpstr>WHAT IS MVC?</vt:lpstr>
      <vt:lpstr>FEATURES OF MVC</vt:lpstr>
      <vt:lpstr>MVC ARCHITECTURE</vt:lpstr>
      <vt:lpstr>CONTROLLER</vt:lpstr>
      <vt:lpstr>VIEW</vt:lpstr>
      <vt:lpstr>MODEL</vt:lpstr>
      <vt:lpstr>ADVANTAGES OF MVC</vt:lpstr>
      <vt:lpstr>DISADVANTAGES OF MVC</vt:lpstr>
      <vt:lpstr>LANAGUAGE INTEGRATED QUERY (LINQ)</vt:lpstr>
      <vt:lpstr>WHAT IS LINQ?</vt:lpstr>
      <vt:lpstr>WHY LINQ</vt:lpstr>
      <vt:lpstr>PowerPoint Presentation</vt:lpstr>
      <vt:lpstr>ADVANTAGES OF LINQ</vt:lpstr>
      <vt:lpstr>DISADVANTAGES OF LINQ</vt:lpstr>
      <vt:lpstr>WHY SHOULD WE LEARN LINQ?</vt:lpstr>
      <vt:lpstr>WORKFLOW OF LINQ?</vt:lpstr>
      <vt:lpstr>PowerPoint Presentation</vt:lpstr>
      <vt:lpstr>LINQ ARCHITECTURE</vt:lpstr>
      <vt:lpstr>LINQ ARCHITECTURE</vt:lpstr>
      <vt:lpstr>PowerPoint Presentation</vt:lpstr>
      <vt:lpstr>PowerPoint Presentation</vt:lpstr>
      <vt:lpstr>PowerPoint Presentation</vt:lpstr>
      <vt:lpstr>QUERY SYNTAX</vt:lpstr>
      <vt:lpstr>EXPLANATION OF CLAUSES:</vt:lpstr>
      <vt:lpstr>ADVANTAGES AND LIMITATION</vt:lpstr>
      <vt:lpstr>METHOD SYNTAX</vt:lpstr>
      <vt:lpstr>EXPLANATION OF COMPONENT:</vt:lpstr>
      <vt:lpstr>COMPARISON BETWEEN QUERY SYNTAX AND METHOD SYNTAX IN LINQ</vt:lpstr>
      <vt:lpstr>PowerPoint Presentation</vt:lpstr>
      <vt:lpstr>VARIABLLES, DATA TYPES</vt:lpstr>
      <vt:lpstr>VARIABLES</vt:lpstr>
      <vt:lpstr>DATA TYPES</vt:lpstr>
      <vt:lpstr>PowerPoint Presentation</vt:lpstr>
      <vt:lpstr>REFERENCE DATA TYPES </vt:lpstr>
      <vt:lpstr>KEY DIFFERENCES BETWEEN VALUE AND REFERENCE TYPES</vt:lpstr>
      <vt:lpstr>OPERATORS</vt:lpstr>
      <vt:lpstr>PowerPoint Presentation</vt:lpstr>
      <vt:lpstr>TYPE CASTING</vt:lpstr>
      <vt:lpstr>What is type casting</vt:lpstr>
      <vt:lpstr>Implicit Casting</vt:lpstr>
      <vt:lpstr>PowerPoint Presentation</vt:lpstr>
      <vt:lpstr>PowerPoint Presentation</vt:lpstr>
      <vt:lpstr>Explicit Type Casting</vt:lpstr>
      <vt:lpstr>Type Conversion Methods </vt:lpstr>
      <vt:lpstr>PowerPoint Presentation</vt:lpstr>
      <vt:lpstr>NAMESPACE</vt:lpstr>
      <vt:lpstr>What is namespace</vt:lpstr>
      <vt:lpstr>DECISION MAKING</vt:lpstr>
      <vt:lpstr>WHAT IS DECISION MAKING</vt:lpstr>
      <vt:lpstr>Conditional statements of c#</vt:lpstr>
      <vt:lpstr>TYPES OF DECISION MAKING STATEMENTS</vt:lpstr>
      <vt:lpstr>IF Statement</vt:lpstr>
      <vt:lpstr>IF-ELSE Statement</vt:lpstr>
      <vt:lpstr>IF-ELSE-IF Statement</vt:lpstr>
      <vt:lpstr>NESTED-IF Statement</vt:lpstr>
      <vt:lpstr>SWITCH Statement</vt:lpstr>
      <vt:lpstr>LOOPING STATEMENTS</vt:lpstr>
      <vt:lpstr>Looping Statements</vt:lpstr>
      <vt:lpstr>TYPES OF LOOP</vt:lpstr>
      <vt:lpstr>WHILE LOOP</vt:lpstr>
      <vt:lpstr>PowerPoint Presentation</vt:lpstr>
      <vt:lpstr>FOR LOOP</vt:lpstr>
      <vt:lpstr>Control Flow of For Loop</vt:lpstr>
      <vt:lpstr>DO-WHILE LOOP</vt:lpstr>
      <vt:lpstr>PowerPoint Presentation</vt:lpstr>
      <vt:lpstr>NESTED LOOPvs</vt:lpstr>
      <vt:lpstr>CONTINUE LOOP</vt:lpstr>
      <vt:lpstr>BREAK LOOP</vt:lpstr>
      <vt:lpstr>OBJECT-ORIENTED PROGRAMMING</vt:lpstr>
      <vt:lpstr>What is OOPs</vt:lpstr>
      <vt:lpstr>What are Class and Objects</vt:lpstr>
      <vt:lpstr>PILLARS OF OOPs</vt:lpstr>
      <vt:lpstr>ENCAPSULATION</vt:lpstr>
      <vt:lpstr>Key aspects of encapsulation in C#:</vt:lpstr>
      <vt:lpstr>PowerPoint Presentation</vt:lpstr>
      <vt:lpstr>ABSTRACTION</vt:lpstr>
      <vt:lpstr>Key aspects of abstraction in C#</vt:lpstr>
      <vt:lpstr>PowerPoint Presentation</vt:lpstr>
      <vt:lpstr>INHERITANCE</vt:lpstr>
      <vt:lpstr>Key Concepts of Inheritance in C#</vt:lpstr>
      <vt:lpstr>PowerPoint Presentation</vt:lpstr>
      <vt:lpstr>PowerPoint Presentation</vt:lpstr>
      <vt:lpstr>Compile-time Polymorphism (Static Polymorphism). </vt:lpstr>
      <vt:lpstr>Run-time Polymorphism (Dynamic Polymorphism)</vt:lpstr>
      <vt:lpstr>PowerPoint Presentation</vt:lpstr>
      <vt:lpstr>ACCESS MODIFIERS</vt:lpstr>
      <vt:lpstr>What is Access Modifiers</vt:lpstr>
      <vt:lpstr>PUBLIC MODIFIER</vt:lpstr>
      <vt:lpstr>PRIVATE MODIFIER</vt:lpstr>
      <vt:lpstr>PROTECTED MODIFIER</vt:lpstr>
      <vt:lpstr>INTERNAL MODIFIER</vt:lpstr>
      <vt:lpstr>PROTECTED INTERNAL</vt:lpstr>
      <vt:lpstr>PRIVATE PROTECTED</vt:lpstr>
      <vt:lpstr>PowerPoint Presentation</vt:lpstr>
      <vt:lpstr>VIRTUAL, ABSTRACT,SEALED, NEW KEYWORD</vt:lpstr>
      <vt:lpstr>VIRTUAL KEYWORD</vt:lpstr>
      <vt:lpstr>ABSTRACT KEYWORD</vt:lpstr>
      <vt:lpstr>SEALED KEYWORD</vt:lpstr>
      <vt:lpstr>NEW KEYWORD</vt:lpstr>
      <vt:lpstr>INTERFACE</vt:lpstr>
      <vt:lpstr>KEY CHARACTERISTIC OF INTERFACE</vt:lpstr>
      <vt:lpstr>PowerPoint Presentation</vt:lpstr>
      <vt:lpstr>DIFFERENCE OF ABSTRACT AND INTERFACE</vt:lpstr>
      <vt:lpstr>PowerPoint Presentation</vt:lpstr>
      <vt:lpstr>PARTIAL CLASS AND METHOD</vt:lpstr>
      <vt:lpstr>PARTIAL CLASS</vt:lpstr>
      <vt:lpstr>KEY POINTS OF PARTIAL CLASS</vt:lpstr>
      <vt:lpstr>RULES OF PARTIAL KEYWORD</vt:lpstr>
      <vt:lpstr>PowerPoint Presentation</vt:lpstr>
      <vt:lpstr>PARTIAL METHOD</vt:lpstr>
      <vt:lpstr>KEY POINTS</vt:lpstr>
      <vt:lpstr>RULES OF PARTIAL METHOD</vt:lpstr>
      <vt:lpstr>STATIC MEMBER</vt:lpstr>
      <vt:lpstr>STATIC MEMBER</vt:lpstr>
      <vt:lpstr>KEY CHARACTERISTICS OF STATIC MEMBERS</vt:lpstr>
      <vt:lpstr>TYPES OF STATIC MEMBERS</vt:lpstr>
      <vt:lpstr>PowerPoint Presentation</vt:lpstr>
      <vt:lpstr>PowerPoint Presentation</vt:lpstr>
      <vt:lpstr>ARRAY &amp; STRINGS</vt:lpstr>
      <vt:lpstr>ARRAY</vt:lpstr>
      <vt:lpstr>TYPES OF ARRAY</vt:lpstr>
      <vt:lpstr>MEMORY STRUCTURE AND PERFORMANCE</vt:lpstr>
      <vt:lpstr>KEY CHARACTERISTICS OF ARRAY</vt:lpstr>
      <vt:lpstr>PowerPoint Presentation</vt:lpstr>
      <vt:lpstr>STRING</vt:lpstr>
      <vt:lpstr>STRING PROPERTIES</vt:lpstr>
      <vt:lpstr>KEY CHARACTERISTICS OF STRING</vt:lpstr>
      <vt:lpstr>COLLECTION</vt:lpstr>
      <vt:lpstr>WHAT IS COLLECTION</vt:lpstr>
      <vt:lpstr>KEY CHARACTERISTICS OF COLLECTION</vt:lpstr>
      <vt:lpstr>PowerPoint Presentation</vt:lpstr>
      <vt:lpstr>NON-GENRIC COLLECTIONS</vt:lpstr>
      <vt:lpstr>PowerPoint Presentation</vt:lpstr>
      <vt:lpstr>PowerPoint Presentation</vt:lpstr>
      <vt:lpstr>PowerPoint Presentation</vt:lpstr>
      <vt:lpstr>PowerPoint Presentation</vt:lpstr>
      <vt:lpstr>PowerPoint Presentation</vt:lpstr>
      <vt:lpstr>GENERIC COLLECTION</vt:lpstr>
      <vt:lpstr>KEY FEATURES OF GENERIC COLLECTION</vt:lpstr>
      <vt:lpstr>PowerPoint Presentation</vt:lpstr>
      <vt:lpstr>GENERIC COLLECTION DATA TYPES</vt:lpstr>
      <vt:lpstr>Dictionary&lt;TKey, TValue&gt;</vt:lpstr>
      <vt:lpstr>SortedList&lt;TKey, TValue&gt;</vt:lpstr>
      <vt:lpstr>Queue&lt;T&gt;</vt:lpstr>
      <vt:lpstr>Stack&lt;T&gt;</vt:lpstr>
      <vt:lpstr>HashSet&lt;T&gt;</vt:lpstr>
      <vt:lpstr>WHAT IS GENERIC</vt:lpstr>
      <vt:lpstr>GENERIC CLASS</vt:lpstr>
      <vt:lpstr>KEY FEATURES OF GENERIC CLASS</vt:lpstr>
      <vt:lpstr>GENERIC METHOD</vt:lpstr>
      <vt:lpstr>KEY FEATURES OF GENERIC METHOD</vt:lpstr>
      <vt:lpstr>DELEGATE, ANONYMOUS METHOD, LAMBDA EXPRESSION</vt:lpstr>
      <vt:lpstr>DELEGATE</vt:lpstr>
      <vt:lpstr>SINGLE CAST DELEGATE</vt:lpstr>
      <vt:lpstr>MULTI CAST DELEGATE</vt:lpstr>
      <vt:lpstr>ANONYMOUS DELEGATE</vt:lpstr>
      <vt:lpstr>ANONYMOUS METHOD</vt:lpstr>
      <vt:lpstr>KEY CHARACTERISTICS OF ANONYMOUS</vt:lpstr>
      <vt:lpstr>LAMBDA EXPRESSION</vt:lpstr>
      <vt:lpstr>KEY CHARACTERISTICS OF LAMBDA</vt:lpstr>
      <vt:lpstr>FILE HANDLING</vt:lpstr>
      <vt:lpstr>WHY FILE HANDLING IS IMPORTANT IN C#</vt:lpstr>
      <vt:lpstr>WHAT IS FILE HANDLING</vt:lpstr>
      <vt:lpstr>KEY CLASSES FOR FILE HANDLING</vt:lpstr>
      <vt:lpstr>PowerPoint Presentation</vt:lpstr>
      <vt:lpstr>STEPS IN FILE HANDLING</vt:lpstr>
      <vt:lpstr>EXCEPTION HANDLING</vt:lpstr>
      <vt:lpstr>WHAT IS EXCEPTION</vt:lpstr>
      <vt:lpstr>WHAT IS EXCEPTION HANDLING</vt:lpstr>
      <vt:lpstr>ADVANTAGES OF EXCEPTION HANDLING</vt:lpstr>
      <vt:lpstr>WHAT IS THE PROCEDURE TO HANDLE EXCEPTIONS IN C#</vt:lpstr>
      <vt:lpstr>Main Components of Exception Handling in C#</vt:lpstr>
      <vt:lpstr>PowerPoint Presentation</vt:lpstr>
      <vt:lpstr>THREAD &amp; MULTITHREADING</vt:lpstr>
      <vt:lpstr>THREAD</vt:lpstr>
      <vt:lpstr>PowerPoint Presentation</vt:lpstr>
      <vt:lpstr>PowerPoint Presentation</vt:lpstr>
      <vt:lpstr>HOW DOES A C# PROGRAM START WITH A MAIN THREAD?</vt:lpstr>
      <vt:lpstr>MULTITHREAD</vt:lpstr>
      <vt:lpstr>PowerPoint Presentation</vt:lpstr>
      <vt:lpstr>PowerPoint Presentation</vt:lpstr>
      <vt:lpstr>PowerPoint Presentation</vt:lpstr>
      <vt:lpstr>ADVANTAGES</vt:lpstr>
      <vt:lpstr>DISADVANTAGES</vt:lpstr>
      <vt:lpstr>TASK</vt:lpstr>
      <vt:lpstr>PowerPoint Presentation</vt:lpstr>
      <vt:lpstr>KEY ASPECTS OF TASK IN C#</vt:lpstr>
      <vt:lpstr>PowerPoint Presentation</vt:lpstr>
      <vt:lpstr>PowerPoint Presentation</vt:lpstr>
      <vt:lpstr>DIFFERENCE BETWEEN THREAD VS TASK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Abcom</dc:creator>
  <cp:lastModifiedBy>Abcom</cp:lastModifiedBy>
  <cp:revision>6</cp:revision>
  <dcterms:modified xsi:type="dcterms:W3CDTF">2025-11-11T02:35:57Z</dcterms:modified>
</cp:coreProperties>
</file>